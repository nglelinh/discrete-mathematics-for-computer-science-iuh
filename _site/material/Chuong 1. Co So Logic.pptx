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76"/>
  </p:notesMasterIdLst>
  <p:handoutMasterIdLst>
    <p:handoutMasterId r:id="rId77"/>
  </p:handout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303" r:id="rId15"/>
    <p:sldId id="271" r:id="rId16"/>
    <p:sldId id="329" r:id="rId17"/>
    <p:sldId id="330" r:id="rId18"/>
    <p:sldId id="331" r:id="rId19"/>
    <p:sldId id="272" r:id="rId20"/>
    <p:sldId id="273" r:id="rId21"/>
    <p:sldId id="274" r:id="rId22"/>
    <p:sldId id="275" r:id="rId23"/>
    <p:sldId id="276" r:id="rId24"/>
    <p:sldId id="315" r:id="rId25"/>
    <p:sldId id="304" r:id="rId26"/>
    <p:sldId id="332" r:id="rId27"/>
    <p:sldId id="333" r:id="rId28"/>
    <p:sldId id="338" r:id="rId29"/>
    <p:sldId id="349" r:id="rId30"/>
    <p:sldId id="339" r:id="rId31"/>
    <p:sldId id="340" r:id="rId32"/>
    <p:sldId id="341" r:id="rId33"/>
    <p:sldId id="351" r:id="rId34"/>
    <p:sldId id="305" r:id="rId35"/>
    <p:sldId id="306" r:id="rId36"/>
    <p:sldId id="342" r:id="rId37"/>
    <p:sldId id="277" r:id="rId38"/>
    <p:sldId id="343" r:id="rId39"/>
    <p:sldId id="279" r:id="rId40"/>
    <p:sldId id="344" r:id="rId41"/>
    <p:sldId id="278" r:id="rId42"/>
    <p:sldId id="345" r:id="rId43"/>
    <p:sldId id="328" r:id="rId44"/>
    <p:sldId id="346" r:id="rId45"/>
    <p:sldId id="307" r:id="rId46"/>
    <p:sldId id="347" r:id="rId47"/>
    <p:sldId id="280" r:id="rId48"/>
    <p:sldId id="301" r:id="rId49"/>
    <p:sldId id="348" r:id="rId50"/>
    <p:sldId id="281" r:id="rId51"/>
    <p:sldId id="308" r:id="rId52"/>
    <p:sldId id="302" r:id="rId53"/>
    <p:sldId id="318" r:id="rId54"/>
    <p:sldId id="316" r:id="rId55"/>
    <p:sldId id="317" r:id="rId56"/>
    <p:sldId id="350" r:id="rId57"/>
    <p:sldId id="285" r:id="rId58"/>
    <p:sldId id="286" r:id="rId59"/>
    <p:sldId id="287" r:id="rId60"/>
    <p:sldId id="323" r:id="rId61"/>
    <p:sldId id="288" r:id="rId62"/>
    <p:sldId id="289" r:id="rId63"/>
    <p:sldId id="320" r:id="rId64"/>
    <p:sldId id="322" r:id="rId65"/>
    <p:sldId id="290" r:id="rId66"/>
    <p:sldId id="291" r:id="rId67"/>
    <p:sldId id="292" r:id="rId68"/>
    <p:sldId id="324" r:id="rId69"/>
    <p:sldId id="352" r:id="rId70"/>
    <p:sldId id="298" r:id="rId71"/>
    <p:sldId id="295" r:id="rId72"/>
    <p:sldId id="355" r:id="rId73"/>
    <p:sldId id="300" r:id="rId74"/>
    <p:sldId id="334" r:id="rId7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00"/>
    <a:srgbClr val="6666FF"/>
    <a:srgbClr val="009900"/>
    <a:srgbClr val="CC3300"/>
    <a:srgbClr val="800080"/>
    <a:srgbClr val="339966"/>
    <a:srgbClr val="99CC00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>
      <p:cViewPr varScale="1">
        <p:scale>
          <a:sx n="83" d="100"/>
          <a:sy n="83" d="100"/>
        </p:scale>
        <p:origin x="147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5BE480-82EC-4904-BAA0-BD7F86682068}" type="datetime1">
              <a:rPr lang="vi-VN" smtClean="0"/>
              <a:pPr/>
              <a:t>13/09/2024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097089-306A-46FA-B4B0-8EA863B941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770384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C1882F-4F2C-4A8C-BFB3-80EDA1D39399}" type="datetime1">
              <a:rPr lang="vi-VN" smtClean="0"/>
              <a:pPr/>
              <a:t>13/09/2024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F91533-D538-474A-B255-53BD35DAA75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331535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1B047EB-3FF8-44B8-B26B-487C8BB7DFA9}" type="datetime1">
              <a:rPr lang="vi-VN" smtClean="0"/>
              <a:pPr/>
              <a:t>13/09/2024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3554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C1882F-4F2C-4A8C-BFB3-80EDA1D39399}" type="datetime1">
              <a:rPr lang="vi-VN" smtClean="0"/>
              <a:pPr/>
              <a:t>13/09/2024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0055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C1882F-4F2C-4A8C-BFB3-80EDA1D39399}" type="datetime1">
              <a:rPr lang="vi-VN" smtClean="0"/>
              <a:pPr/>
              <a:t>13/09/2024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4307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C1882F-4F2C-4A8C-BFB3-80EDA1D39399}" type="datetime1">
              <a:rPr lang="vi-VN" smtClean="0"/>
              <a:pPr/>
              <a:t>13/09/2024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2840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C1882F-4F2C-4A8C-BFB3-80EDA1D39399}" type="datetime1">
              <a:rPr lang="vi-VN" smtClean="0"/>
              <a:pPr/>
              <a:t>13/09/2024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22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C1882F-4F2C-4A8C-BFB3-80EDA1D39399}" type="datetime1">
              <a:rPr lang="vi-VN" smtClean="0"/>
              <a:pPr/>
              <a:t>13/09/2024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3503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C1882F-4F2C-4A8C-BFB3-80EDA1D39399}" type="datetime1">
              <a:rPr lang="vi-VN" smtClean="0"/>
              <a:pPr/>
              <a:t>13/09/2024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746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C1882F-4F2C-4A8C-BFB3-80EDA1D39399}" type="datetime1">
              <a:rPr lang="vi-VN" smtClean="0"/>
              <a:pPr/>
              <a:t>13/09/2024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1865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C1882F-4F2C-4A8C-BFB3-80EDA1D39399}" type="datetime1">
              <a:rPr lang="vi-VN" smtClean="0"/>
              <a:pPr/>
              <a:t>13/09/2024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0328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C1882F-4F2C-4A8C-BFB3-80EDA1D39399}" type="datetime1">
              <a:rPr lang="vi-VN" smtClean="0"/>
              <a:pPr/>
              <a:t>13/09/2024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4901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C1882F-4F2C-4A8C-BFB3-80EDA1D39399}" type="datetime1">
              <a:rPr lang="vi-VN" smtClean="0"/>
              <a:pPr/>
              <a:t>13/09/2024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2069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C1882F-4F2C-4A8C-BFB3-80EDA1D39399}" type="datetime1">
              <a:rPr lang="vi-VN" smtClean="0"/>
              <a:pPr/>
              <a:t>13/09/2024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F91533-D538-474A-B255-53BD35DAA75B}" type="slidenum">
              <a:rPr lang="en-US" smtClean="0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797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0" y="0"/>
            <a:ext cx="8763000" cy="5943600"/>
            <a:chOff x="0" y="0"/>
            <a:chExt cx="5520" cy="3744"/>
          </a:xfrm>
        </p:grpSpPr>
        <p:sp>
          <p:nvSpPr>
            <p:cNvPr id="263170" name="Rectangle 2"/>
            <p:cNvSpPr>
              <a:spLocks noChangeArrowheads="1"/>
            </p:cNvSpPr>
            <p:nvPr/>
          </p:nvSpPr>
          <p:spPr bwMode="auto"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400">
                <a:latin typeface="Times New Roman" charset="0"/>
              </a:endParaRPr>
            </a:p>
          </p:txBody>
        </p:sp>
        <p:grpSp>
          <p:nvGrpSpPr>
            <p:cNvPr id="3" name="Group 14"/>
            <p:cNvGrpSpPr>
              <a:grpSpLocks/>
            </p:cNvGrpSpPr>
            <p:nvPr userDrawn="1"/>
          </p:nvGrpSpPr>
          <p:grpSpPr bwMode="auto"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263171" name="Rectangle 3"/>
              <p:cNvSpPr>
                <a:spLocks noChangeArrowheads="1"/>
              </p:cNvSpPr>
              <p:nvPr/>
            </p:nvSpPr>
            <p:spPr bwMode="ltGray"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sz="2400">
                  <a:latin typeface="Times New Roman" charset="0"/>
                </a:endParaRPr>
              </a:p>
            </p:txBody>
          </p:sp>
          <p:sp>
            <p:nvSpPr>
              <p:cNvPr id="263172" name="Rectangle 4"/>
              <p:cNvSpPr>
                <a:spLocks noChangeArrowheads="1"/>
              </p:cNvSpPr>
              <p:nvPr/>
            </p:nvSpPr>
            <p:spPr bwMode="white">
              <a:xfrm>
                <a:off x="654" y="2352"/>
                <a:ext cx="4818" cy="1347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sz="2400">
                  <a:latin typeface="Times New Roman" charset="0"/>
                </a:endParaRPr>
              </a:p>
            </p:txBody>
          </p:sp>
          <p:sp>
            <p:nvSpPr>
              <p:cNvPr id="263178" name="Line 10"/>
              <p:cNvSpPr>
                <a:spLocks noChangeShapeType="1"/>
              </p:cNvSpPr>
              <p:nvPr/>
            </p:nvSpPr>
            <p:spPr bwMode="auto">
              <a:xfrm>
                <a:off x="0" y="3072"/>
                <a:ext cx="624" cy="0"/>
              </a:xfrm>
              <a:prstGeom prst="line">
                <a:avLst/>
              </a:prstGeom>
              <a:noFill/>
              <a:ln w="508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" name="Group 15"/>
            <p:cNvGrpSpPr>
              <a:grpSpLocks/>
            </p:cNvGrpSpPr>
            <p:nvPr userDrawn="1"/>
          </p:nvGrpSpPr>
          <p:grpSpPr bwMode="auto"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263179" name="Rectangle 11"/>
              <p:cNvSpPr>
                <a:spLocks noChangeArrowheads="1"/>
              </p:cNvSpPr>
              <p:nvPr/>
            </p:nvSpPr>
            <p:spPr bwMode="auto">
              <a:xfrm>
                <a:off x="3952" y="336"/>
                <a:ext cx="1536" cy="19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sz="2400">
                  <a:latin typeface="Times New Roman" charset="0"/>
                </a:endParaRPr>
              </a:p>
            </p:txBody>
          </p:sp>
          <p:sp>
            <p:nvSpPr>
              <p:cNvPr id="263180" name="Line 12"/>
              <p:cNvSpPr>
                <a:spLocks noChangeShapeType="1"/>
              </p:cNvSpPr>
              <p:nvPr/>
            </p:nvSpPr>
            <p:spPr bwMode="auto">
              <a:xfrm>
                <a:off x="400" y="432"/>
                <a:ext cx="5088" cy="0"/>
              </a:xfrm>
              <a:prstGeom prst="line">
                <a:avLst/>
              </a:prstGeom>
              <a:noFill/>
              <a:ln w="444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63173" name="Rectangle 5"/>
          <p:cNvSpPr>
            <a:spLocks noGrp="1" noChangeArrowheads="1"/>
          </p:cNvSpPr>
          <p:nvPr>
            <p:ph type="ctrTitle"/>
          </p:nvPr>
        </p:nvSpPr>
        <p:spPr>
          <a:xfrm>
            <a:off x="2057400" y="1143000"/>
            <a:ext cx="6629400" cy="22098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63174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962400"/>
            <a:ext cx="6858000" cy="1600200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63175" name="Rectangle 7"/>
          <p:cNvSpPr>
            <a:spLocks noGrp="1" noChangeArrowheads="1"/>
          </p:cNvSpPr>
          <p:nvPr>
            <p:ph type="dt" sz="half" idx="2"/>
          </p:nvPr>
        </p:nvSpPr>
        <p:spPr>
          <a:xfrm>
            <a:off x="912813" y="6251575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Chương 1. Cơ sở lôgic</a:t>
            </a:r>
          </a:p>
        </p:txBody>
      </p:sp>
      <p:sp>
        <p:nvSpPr>
          <p:cNvPr id="26317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3354388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263177" name="Rectangle 9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4FC18A56-02AF-4E34-A4B4-7465085CE6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Chương 1. Cơ sở lôgic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9E56B6-077A-4A36-A778-66B152E4D6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Chương 1. Cơ sở lôgic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2E8974-8525-48C6-8B8B-0CF1E605D2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600200"/>
            <a:ext cx="38100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38100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Chương 1. Cơ sở lôgic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F1462C-95F2-4338-9725-C420CDFDE0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Chương 1. Cơ sở lôgic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A3DE1C-4BDA-440A-A41F-E16C4E2D53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Chương 1. Cơ sở lôgic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C7534F-29FB-4919-8BAB-5FEBEEEB81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Chương 1. Cơ sở lôgic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4600A1-4633-4F5B-897C-D8E656B3F1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Chương 1. Cơ sở lôgic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8A9772-CA93-4EB4-9EBF-42A5979DC0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Chương 1. Cơ sở lôgic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E5C556-580B-475C-AFB0-CFDBA8156D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Chương 1. Cơ sở lôgic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5A1CE8-D3B8-43CA-81C2-73EAD8A6CFF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277813"/>
            <a:ext cx="19431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7813"/>
            <a:ext cx="56769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Chương 1. Cơ sở lôgic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D5E666-5980-4488-BF3C-D9BF1569460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0" y="0"/>
            <a:ext cx="8686800" cy="4876800"/>
            <a:chOff x="0" y="0"/>
            <a:chExt cx="5472" cy="3072"/>
          </a:xfrm>
        </p:grpSpPr>
        <p:sp>
          <p:nvSpPr>
            <p:cNvPr id="262147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384" cy="3072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2400">
                <a:latin typeface="Times New Roman" charset="0"/>
              </a:endParaRPr>
            </a:p>
          </p:txBody>
        </p:sp>
        <p:grpSp>
          <p:nvGrpSpPr>
            <p:cNvPr id="3" name="Group 11"/>
            <p:cNvGrpSpPr>
              <a:grpSpLocks/>
            </p:cNvGrpSpPr>
            <p:nvPr/>
          </p:nvGrpSpPr>
          <p:grpSpPr bwMode="auto">
            <a:xfrm>
              <a:off x="240" y="893"/>
              <a:ext cx="5232" cy="115"/>
              <a:chOff x="240" y="893"/>
              <a:chExt cx="5232" cy="115"/>
            </a:xfrm>
          </p:grpSpPr>
          <p:sp>
            <p:nvSpPr>
              <p:cNvPr id="262146" name="Rectangle 2"/>
              <p:cNvSpPr>
                <a:spLocks noChangeArrowheads="1"/>
              </p:cNvSpPr>
              <p:nvPr/>
            </p:nvSpPr>
            <p:spPr bwMode="auto">
              <a:xfrm>
                <a:off x="4320" y="893"/>
                <a:ext cx="1152" cy="11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sz="2400">
                  <a:latin typeface="Times New Roman" charset="0"/>
                </a:endParaRPr>
              </a:p>
            </p:txBody>
          </p:sp>
          <p:sp>
            <p:nvSpPr>
              <p:cNvPr id="262148" name="Line 4"/>
              <p:cNvSpPr>
                <a:spLocks noChangeShapeType="1"/>
              </p:cNvSpPr>
              <p:nvPr/>
            </p:nvSpPr>
            <p:spPr bwMode="auto">
              <a:xfrm>
                <a:off x="240" y="941"/>
                <a:ext cx="5232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6214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77813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6215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600200"/>
            <a:ext cx="77724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2151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51575"/>
            <a:ext cx="198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r>
              <a:rPr lang="en-US"/>
              <a:t>Chương 1. Cơ sở lôgic</a:t>
            </a:r>
          </a:p>
        </p:txBody>
      </p:sp>
      <p:sp>
        <p:nvSpPr>
          <p:cNvPr id="262152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2484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endParaRPr lang="en-US"/>
          </a:p>
        </p:txBody>
      </p:sp>
      <p:sp>
        <p:nvSpPr>
          <p:cNvPr id="262153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7E771C45-088B-4C6D-8E84-CBEAD85176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2154" name="Line 10"/>
          <p:cNvSpPr>
            <a:spLocks noChangeShapeType="1"/>
          </p:cNvSpPr>
          <p:nvPr/>
        </p:nvSpPr>
        <p:spPr bwMode="auto">
          <a:xfrm>
            <a:off x="0" y="4876800"/>
            <a:ext cx="609600" cy="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sz="26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itchFamily="2" charset="2"/>
        <a:buChar char="n"/>
        <a:defRPr sz="23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10.wmf"/><Relationship Id="rId7" Type="http://schemas.openxmlformats.org/officeDocument/2006/relationships/image" Target="../media/image12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4.wmf"/><Relationship Id="rId5" Type="http://schemas.openxmlformats.org/officeDocument/2006/relationships/image" Target="../media/image11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13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7" Type="http://schemas.openxmlformats.org/officeDocument/2006/relationships/image" Target="../media/image17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0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wmf"/><Relationship Id="rId4" Type="http://schemas.openxmlformats.org/officeDocument/2006/relationships/oleObject" Target="../embeddings/oleObject13.bin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wmf"/><Relationship Id="rId4" Type="http://schemas.openxmlformats.org/officeDocument/2006/relationships/oleObject" Target="../embeddings/oleObject16.bin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39.wmf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13" Type="http://schemas.openxmlformats.org/officeDocument/2006/relationships/oleObject" Target="../embeddings/oleObject26.bin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47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46.wmf"/><Relationship Id="rId4" Type="http://schemas.openxmlformats.org/officeDocument/2006/relationships/image" Target="../media/image43.wmf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48.wmf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wmf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wmf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54.wmf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981200" y="1143000"/>
            <a:ext cx="7010400" cy="2209800"/>
          </a:xfrm>
        </p:spPr>
        <p:txBody>
          <a:bodyPr/>
          <a:lstStyle/>
          <a:p>
            <a:r>
              <a:rPr lang="en-US" sz="5400" b="1" dirty="0"/>
              <a:t>CẤU TRÚC RỜI RẠC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C18A56-02AF-4E34-A4B4-7465085CE680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057400" y="4191000"/>
            <a:ext cx="594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Discrete Mathematics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800000"/>
                </a:solidFill>
              </a:rPr>
              <a:t>CHƯƠNG I: CƠ SỞ LÔGIC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endParaRPr lang="en-US" sz="3200" dirty="0">
              <a:solidFill>
                <a:srgbClr val="0070C0"/>
              </a:solidFill>
            </a:endParaRPr>
          </a:p>
          <a:p>
            <a:pPr marL="742950" indent="-742950">
              <a:buClr>
                <a:schemeClr val="accent2"/>
              </a:buClr>
              <a:buFont typeface="+mj-ea"/>
              <a:buAutoNum type="circleNumDbPlain"/>
            </a:pPr>
            <a:r>
              <a:rPr lang="vi-VN" sz="3600" dirty="0">
                <a:solidFill>
                  <a:srgbClr val="800000"/>
                </a:solidFill>
              </a:rPr>
              <a:t>Mệnh đề</a:t>
            </a:r>
          </a:p>
          <a:p>
            <a:pPr marL="742950" indent="-742950">
              <a:buClr>
                <a:schemeClr val="accent2"/>
              </a:buClr>
              <a:buFont typeface="+mj-ea"/>
              <a:buAutoNum type="circleNumDbPlain"/>
            </a:pPr>
            <a:r>
              <a:rPr lang="en-US" sz="3600" dirty="0" err="1">
                <a:solidFill>
                  <a:srgbClr val="800000"/>
                </a:solidFill>
              </a:rPr>
              <a:t>Biểu</a:t>
            </a:r>
            <a:r>
              <a:rPr lang="en-US" sz="3600" dirty="0">
                <a:solidFill>
                  <a:srgbClr val="800000"/>
                </a:solidFill>
              </a:rPr>
              <a:t> </a:t>
            </a:r>
            <a:r>
              <a:rPr lang="en-US" sz="3600" dirty="0" err="1">
                <a:solidFill>
                  <a:srgbClr val="800000"/>
                </a:solidFill>
              </a:rPr>
              <a:t>thức</a:t>
            </a:r>
            <a:r>
              <a:rPr lang="en-US" sz="3600" dirty="0">
                <a:solidFill>
                  <a:srgbClr val="800000"/>
                </a:solidFill>
              </a:rPr>
              <a:t> logic (</a:t>
            </a:r>
            <a:r>
              <a:rPr lang="en-US" sz="3600" dirty="0" err="1">
                <a:solidFill>
                  <a:srgbClr val="800000"/>
                </a:solidFill>
              </a:rPr>
              <a:t>Dạng</a:t>
            </a:r>
            <a:r>
              <a:rPr lang="en-US" sz="3600" dirty="0">
                <a:solidFill>
                  <a:srgbClr val="800000"/>
                </a:solidFill>
              </a:rPr>
              <a:t> </a:t>
            </a:r>
            <a:r>
              <a:rPr lang="en-US" sz="3600" dirty="0" err="1">
                <a:solidFill>
                  <a:srgbClr val="800000"/>
                </a:solidFill>
              </a:rPr>
              <a:t>mệnh</a:t>
            </a:r>
            <a:r>
              <a:rPr lang="en-US" sz="3600" dirty="0">
                <a:solidFill>
                  <a:srgbClr val="800000"/>
                </a:solidFill>
              </a:rPr>
              <a:t> </a:t>
            </a:r>
            <a:r>
              <a:rPr lang="en-US" sz="3600" dirty="0" err="1">
                <a:solidFill>
                  <a:srgbClr val="800000"/>
                </a:solidFill>
              </a:rPr>
              <a:t>đề</a:t>
            </a:r>
            <a:r>
              <a:rPr lang="en-US" sz="3600" dirty="0">
                <a:solidFill>
                  <a:srgbClr val="800000"/>
                </a:solidFill>
              </a:rPr>
              <a:t>)</a:t>
            </a:r>
            <a:endParaRPr lang="vi-VN" sz="3600" dirty="0">
              <a:solidFill>
                <a:srgbClr val="800000"/>
              </a:solidFill>
            </a:endParaRPr>
          </a:p>
          <a:p>
            <a:pPr marL="742950" indent="-742950">
              <a:buClr>
                <a:schemeClr val="accent2"/>
              </a:buClr>
              <a:buFont typeface="+mj-ea"/>
              <a:buAutoNum type="circleNumDbPlain"/>
            </a:pPr>
            <a:r>
              <a:rPr lang="vi-VN" sz="3600" dirty="0">
                <a:solidFill>
                  <a:srgbClr val="800000"/>
                </a:solidFill>
              </a:rPr>
              <a:t>Qui tắc suy diễn</a:t>
            </a:r>
          </a:p>
          <a:p>
            <a:pPr marL="742950" indent="-742950">
              <a:buClr>
                <a:schemeClr val="accent2"/>
              </a:buClr>
              <a:buFont typeface="+mj-ea"/>
              <a:buAutoNum type="circleNumDbPlain"/>
            </a:pPr>
            <a:r>
              <a:rPr lang="vi-VN" sz="3600" dirty="0">
                <a:solidFill>
                  <a:srgbClr val="800000"/>
                </a:solidFill>
              </a:rPr>
              <a:t>Vị từ, lượng từ</a:t>
            </a:r>
          </a:p>
          <a:p>
            <a:pPr marL="742950" indent="-742950">
              <a:buClr>
                <a:schemeClr val="accent2"/>
              </a:buClr>
              <a:buFont typeface="+mj-ea"/>
              <a:buAutoNum type="circleNumDbPlain"/>
            </a:pPr>
            <a:r>
              <a:rPr lang="vi-VN" sz="3600" dirty="0">
                <a:solidFill>
                  <a:srgbClr val="800000"/>
                </a:solidFill>
              </a:rPr>
              <a:t>Quy nạp toán học</a:t>
            </a:r>
            <a:endParaRPr lang="en-US" sz="3600" dirty="0">
              <a:solidFill>
                <a:srgbClr val="8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1. </a:t>
            </a:r>
            <a:r>
              <a:rPr lang="en-US" sz="4400" b="1" dirty="0" err="1"/>
              <a:t>Mệnh</a:t>
            </a:r>
            <a:r>
              <a:rPr lang="en-US" sz="4400" b="1" dirty="0"/>
              <a:t> </a:t>
            </a:r>
            <a:r>
              <a:rPr lang="en-US" sz="4400" b="1" dirty="0" err="1"/>
              <a:t>đề</a:t>
            </a:r>
            <a:endParaRPr lang="en-US" sz="4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vi-VN" b="1" dirty="0">
                <a:solidFill>
                  <a:srgbClr val="0070C0"/>
                </a:solidFill>
              </a:rPr>
              <a:t>Định nghĩa: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vi-VN" dirty="0"/>
              <a:t>Mệnh đề là một khẳng định/phát biểu có giá trị chân lý</a:t>
            </a:r>
            <a:r>
              <a:rPr lang="en-US" dirty="0"/>
              <a:t> </a:t>
            </a:r>
            <a:r>
              <a:rPr lang="vi-VN" dirty="0"/>
              <a:t>xác định; đúng hoặc sai.</a:t>
            </a:r>
          </a:p>
          <a:p>
            <a:pPr marL="0" indent="0">
              <a:buNone/>
            </a:pPr>
            <a:r>
              <a:rPr lang="vi-VN" dirty="0"/>
              <a:t>Câu hỏi, câu cảm thán, mệnh lệnh… không là mệnh đề.</a:t>
            </a:r>
            <a:endParaRPr lang="en-US" dirty="0"/>
          </a:p>
          <a:p>
            <a:pPr>
              <a:buNone/>
            </a:pPr>
            <a:r>
              <a:rPr lang="vi-VN" dirty="0">
                <a:solidFill>
                  <a:srgbClr val="CC3300"/>
                </a:solidFill>
              </a:rPr>
              <a:t>Ví dụ: </a:t>
            </a:r>
          </a:p>
          <a:p>
            <a:pPr>
              <a:buFont typeface="Arial"/>
              <a:buChar char="•"/>
            </a:pPr>
            <a:r>
              <a:rPr lang="vi-VN" dirty="0"/>
              <a:t>1+</a:t>
            </a:r>
            <a:r>
              <a:rPr lang="en-US" dirty="0"/>
              <a:t>7</a:t>
            </a:r>
            <a:r>
              <a:rPr lang="vi-VN" dirty="0"/>
              <a:t>=</a:t>
            </a:r>
            <a:r>
              <a:rPr lang="en-US" dirty="0"/>
              <a:t>8</a:t>
            </a:r>
            <a:endParaRPr lang="vi-VN" dirty="0"/>
          </a:p>
          <a:p>
            <a:pPr>
              <a:buFont typeface="Arial"/>
              <a:buChar char="•"/>
            </a:pPr>
            <a:r>
              <a:rPr lang="vi-VN" dirty="0"/>
              <a:t>Hôm nay </a:t>
            </a:r>
            <a:r>
              <a:rPr lang="en-US" dirty="0" err="1"/>
              <a:t>bạn</a:t>
            </a:r>
            <a:r>
              <a:rPr lang="vi-VN" dirty="0"/>
              <a:t> đẹp quá!  (k</a:t>
            </a:r>
            <a:r>
              <a:rPr lang="en-US" dirty="0" err="1"/>
              <a:t>hông</a:t>
            </a:r>
            <a:r>
              <a:rPr lang="vi-VN" dirty="0"/>
              <a:t> là mệnh đề)</a:t>
            </a:r>
          </a:p>
          <a:p>
            <a:pPr>
              <a:buFont typeface="Arial"/>
              <a:buChar char="•"/>
            </a:pPr>
            <a:r>
              <a:rPr lang="en-US" dirty="0" err="1"/>
              <a:t>Hôm</a:t>
            </a:r>
            <a:r>
              <a:rPr lang="en-US" dirty="0"/>
              <a:t> nay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mấy</a:t>
            </a:r>
            <a:r>
              <a:rPr lang="en-US" dirty="0"/>
              <a:t>?</a:t>
            </a:r>
            <a:r>
              <a:rPr lang="vi-VN" dirty="0"/>
              <a:t> (k</a:t>
            </a:r>
            <a:r>
              <a:rPr lang="en-US" dirty="0" err="1"/>
              <a:t>hông</a:t>
            </a:r>
            <a:r>
              <a:rPr lang="vi-VN" dirty="0"/>
              <a:t> là mệnh đề)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Mệnh</a:t>
            </a:r>
            <a:r>
              <a:rPr lang="en-US" sz="4800" b="1" dirty="0"/>
              <a:t> </a:t>
            </a:r>
            <a:r>
              <a:rPr lang="en-US" sz="4800" b="1" dirty="0" err="1"/>
              <a:t>đề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Arial"/>
              <a:buChar char="•"/>
            </a:pPr>
            <a:r>
              <a:rPr lang="vi-VN" dirty="0">
                <a:solidFill>
                  <a:srgbClr val="CC3300"/>
                </a:solidFill>
              </a:rPr>
              <a:t>Ký hiệu: </a:t>
            </a:r>
            <a:r>
              <a:rPr lang="vi-VN" dirty="0"/>
              <a:t>Người ta dùng các ký hiệu P, Q, R… </a:t>
            </a:r>
            <a:r>
              <a:rPr lang="en-US" dirty="0"/>
              <a:t>(</a:t>
            </a:r>
            <a:r>
              <a:rPr lang="en-US" dirty="0" err="1"/>
              <a:t>p,q,r</a:t>
            </a:r>
            <a:r>
              <a:rPr lang="en-US" dirty="0"/>
              <a:t>,…) </a:t>
            </a:r>
            <a:r>
              <a:rPr lang="vi-VN" dirty="0"/>
              <a:t>để chỉ mệnh đề.</a:t>
            </a:r>
          </a:p>
          <a:p>
            <a:pPr algn="just">
              <a:buFont typeface="Arial"/>
              <a:buChar char="•"/>
            </a:pPr>
            <a:r>
              <a:rPr lang="vi-VN" dirty="0">
                <a:solidFill>
                  <a:srgbClr val="CC3300"/>
                </a:solidFill>
              </a:rPr>
              <a:t>Chân trị của mệnh đề: </a:t>
            </a:r>
            <a:r>
              <a:rPr lang="vi-VN" dirty="0"/>
              <a:t>Một mệnh đề chỉ có thể đúng hoặc sai, không thể</a:t>
            </a:r>
            <a:r>
              <a:rPr lang="en-US" dirty="0"/>
              <a:t> </a:t>
            </a:r>
            <a:r>
              <a:rPr lang="vi-VN" dirty="0"/>
              <a:t>đồng thời vừa đúng vừa sai. Khi mệnh đề P đúng ta nói P có chân trị đúng, ngược lại ta nói P có chân</a:t>
            </a:r>
            <a:r>
              <a:rPr lang="en-US" dirty="0"/>
              <a:t> </a:t>
            </a:r>
            <a:r>
              <a:rPr lang="vi-VN" dirty="0"/>
              <a:t>trị sai. </a:t>
            </a:r>
          </a:p>
          <a:p>
            <a:pPr algn="just">
              <a:buFont typeface="Arial"/>
              <a:buChar char="•"/>
            </a:pPr>
            <a:r>
              <a:rPr lang="vi-VN" dirty="0"/>
              <a:t>Chân trị đúng và chân trị sai sẽ được ký hiệu lần lượt là 1 (hay Đ,T) và 0 (hay S,F)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Mệnh</a:t>
            </a:r>
            <a:r>
              <a:rPr lang="en-US" sz="4800" b="1" dirty="0"/>
              <a:t> </a:t>
            </a:r>
            <a:r>
              <a:rPr lang="en-US" sz="4800" b="1" dirty="0" err="1"/>
              <a:t>đề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vi-VN" dirty="0">
                <a:solidFill>
                  <a:srgbClr val="0070C0"/>
                </a:solidFill>
              </a:rPr>
              <a:t>Phân loại: </a:t>
            </a:r>
            <a:r>
              <a:rPr lang="vi-VN" dirty="0"/>
              <a:t>Gồm 2 loại</a:t>
            </a:r>
          </a:p>
          <a:p>
            <a:pPr algn="just">
              <a:buFont typeface="Arial"/>
              <a:buChar char="•"/>
            </a:pPr>
            <a:r>
              <a:rPr lang="vi-VN" dirty="0">
                <a:solidFill>
                  <a:srgbClr val="CC3300"/>
                </a:solidFill>
              </a:rPr>
              <a:t>Mệnh đề sơ cấp (nguyên thủy): </a:t>
            </a:r>
            <a:r>
              <a:rPr lang="vi-VN" dirty="0"/>
              <a:t>Là mệnh đề không thể</a:t>
            </a:r>
            <a:r>
              <a:rPr lang="en-US" dirty="0"/>
              <a:t> </a:t>
            </a:r>
            <a:r>
              <a:rPr lang="vi-VN" dirty="0"/>
              <a:t>xây dựng từ các mệnh đề khác thông qua liên từ hoặc</a:t>
            </a:r>
            <a:r>
              <a:rPr lang="en-US" dirty="0"/>
              <a:t> </a:t>
            </a:r>
            <a:r>
              <a:rPr lang="vi-VN" dirty="0"/>
              <a:t>trạng từ “không”</a:t>
            </a:r>
            <a:endParaRPr lang="vi-VN" dirty="0">
              <a:solidFill>
                <a:srgbClr val="CC3300"/>
              </a:solidFill>
            </a:endParaRPr>
          </a:p>
          <a:p>
            <a:pPr algn="just">
              <a:buFont typeface="Arial"/>
              <a:buChar char="•"/>
            </a:pPr>
            <a:r>
              <a:rPr lang="vi-VN" dirty="0">
                <a:solidFill>
                  <a:srgbClr val="CC3300"/>
                </a:solidFill>
              </a:rPr>
              <a:t>Mệnh đề phức hợp: </a:t>
            </a:r>
            <a:r>
              <a:rPr lang="vi-VN" dirty="0"/>
              <a:t>là mệnh đề được xây dựng từ các</a:t>
            </a:r>
            <a:r>
              <a:rPr lang="en-US" dirty="0"/>
              <a:t> </a:t>
            </a:r>
            <a:r>
              <a:rPr lang="vi-VN" dirty="0"/>
              <a:t>mệnh đề khác nhờ liên kết bằng các liên từ (và, hay, khi</a:t>
            </a:r>
            <a:r>
              <a:rPr lang="en-US" dirty="0"/>
              <a:t> </a:t>
            </a:r>
            <a:r>
              <a:rPr lang="vi-VN" dirty="0"/>
              <a:t>và chỉ khi,…) hoặc trạng từ “không”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Mệnh</a:t>
            </a:r>
            <a:r>
              <a:rPr lang="en-US" sz="4800" b="1" dirty="0"/>
              <a:t> </a:t>
            </a:r>
            <a:r>
              <a:rPr lang="en-US" sz="4800" b="1" dirty="0" err="1"/>
              <a:t>đề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vi-VN" dirty="0">
                <a:solidFill>
                  <a:schemeClr val="accent2"/>
                </a:solidFill>
              </a:rPr>
              <a:t>Ví dụ:</a:t>
            </a:r>
          </a:p>
          <a:p>
            <a:pPr algn="just">
              <a:buFont typeface="Arial"/>
              <a:buChar char="•"/>
            </a:pPr>
            <a:r>
              <a:rPr lang="vi-VN" dirty="0"/>
              <a:t>2 là số nguyên tố</a:t>
            </a:r>
            <a:r>
              <a:rPr lang="en-US" dirty="0"/>
              <a:t>.</a:t>
            </a:r>
            <a:endParaRPr lang="vi-VN" dirty="0"/>
          </a:p>
          <a:p>
            <a:pPr algn="just">
              <a:buFont typeface="Arial"/>
              <a:buChar char="•"/>
            </a:pPr>
            <a:r>
              <a:rPr lang="vi-VN" dirty="0"/>
              <a:t>2 </a:t>
            </a:r>
            <a:r>
              <a:rPr lang="en-US" dirty="0" err="1"/>
              <a:t>không</a:t>
            </a:r>
            <a:r>
              <a:rPr lang="en-US" dirty="0"/>
              <a:t> l</a:t>
            </a:r>
            <a:r>
              <a:rPr lang="vi-VN" dirty="0"/>
              <a:t>à số nguyên tố</a:t>
            </a:r>
            <a:r>
              <a:rPr lang="en-US" dirty="0"/>
              <a:t>.</a:t>
            </a:r>
            <a:endParaRPr lang="vi-VN" dirty="0"/>
          </a:p>
          <a:p>
            <a:pPr algn="just">
              <a:buFont typeface="Arial"/>
              <a:buChar char="•"/>
            </a:pPr>
            <a:r>
              <a:rPr lang="en-US" dirty="0"/>
              <a:t>2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tố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lẻ</a:t>
            </a:r>
            <a:r>
              <a:rPr lang="en-US" dirty="0"/>
              <a:t>.</a:t>
            </a:r>
            <a:endParaRPr lang="vi-VN" dirty="0"/>
          </a:p>
          <a:p>
            <a:pPr algn="just">
              <a:buFont typeface="Arial"/>
              <a:buChar char="•"/>
            </a:pPr>
            <a:r>
              <a:rPr lang="en-US" dirty="0"/>
              <a:t>An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ti</a:t>
            </a:r>
            <a:r>
              <a:rPr lang="en-US" dirty="0"/>
              <a:t> vi hay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7772400" cy="5029200"/>
          </a:xfrm>
        </p:spPr>
        <p:txBody>
          <a:bodyPr/>
          <a:lstStyle/>
          <a:p>
            <a:pPr algn="just">
              <a:buNone/>
            </a:pPr>
            <a:r>
              <a:rPr lang="vi-VN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Các phép toán</a:t>
            </a:r>
            <a:r>
              <a:rPr lang="vi-VN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có 5 phép toán cơ bản</a:t>
            </a:r>
          </a:p>
          <a:p>
            <a:pPr marL="4763" indent="400050" algn="just">
              <a:buClr>
                <a:srgbClr val="FF0000"/>
              </a:buClr>
              <a:buFont typeface="+mj-lt"/>
              <a:buAutoNum type="arabicPeriod"/>
            </a:pPr>
            <a:r>
              <a:rPr lang="vi-VN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Phép</a:t>
            </a:r>
            <a:r>
              <a:rPr 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vi-VN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phủ định: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vi-VN" dirty="0"/>
              <a:t>P</a:t>
            </a:r>
            <a:r>
              <a:rPr lang="vi-VN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hủ định của mệnh đề P </a:t>
            </a:r>
            <a:r>
              <a:rPr lang="en-US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là</a:t>
            </a:r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một</a:t>
            </a:r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mệnh</a:t>
            </a:r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đề</a:t>
            </a:r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vi-VN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ký</a:t>
            </a:r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vi-VN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hiệu là</a:t>
            </a:r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  <a:sym typeface="Symbol"/>
              </a:rPr>
              <a:t></a:t>
            </a:r>
            <a:r>
              <a:rPr lang="vi-VN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 hay    (đọc là “không” P hay “phủ định</a:t>
            </a:r>
            <a:r>
              <a:rPr lang="en-US" dirty="0"/>
              <a:t> c</a:t>
            </a:r>
            <a:r>
              <a:rPr lang="vi-VN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ủa” P</a:t>
            </a:r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</a:t>
            </a:r>
            <a:r>
              <a:rPr lang="en-US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có</a:t>
            </a:r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giá</a:t>
            </a:r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trị</a:t>
            </a:r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ngược</a:t>
            </a:r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lại</a:t>
            </a:r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với</a:t>
            </a:r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</a:t>
            </a:r>
            <a:r>
              <a:rPr lang="vi-VN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</a:p>
          <a:p>
            <a:pPr algn="just">
              <a:buNone/>
            </a:pPr>
            <a:r>
              <a:rPr lang="vi-VN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Bảng chân trị : </a:t>
            </a:r>
          </a:p>
          <a:p>
            <a:pPr algn="just">
              <a:buNone/>
            </a:pPr>
            <a:r>
              <a:rPr lang="vi-VN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Ví dụ:</a:t>
            </a:r>
          </a:p>
          <a:p>
            <a:pPr algn="just">
              <a:buFont typeface="Arial"/>
              <a:buChar char="•"/>
            </a:pPr>
            <a:r>
              <a:rPr lang="vi-VN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 là số nguyên tố</a:t>
            </a:r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vi-VN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400050" lvl="1" indent="0" algn="just">
              <a:buNone/>
            </a:pPr>
            <a:r>
              <a:rPr lang="vi-VN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Phủ định: 2 không là số nguyên tố</a:t>
            </a:r>
          </a:p>
          <a:p>
            <a:pPr algn="just">
              <a:buFont typeface="Arial"/>
              <a:buChar char="•"/>
            </a:pPr>
            <a:r>
              <a:rPr lang="en-US" dirty="0"/>
              <a:t>n</a:t>
            </a:r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&gt; 5</a:t>
            </a:r>
            <a:r>
              <a:rPr lang="vi-VN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vi-VN" dirty="0"/>
              <a:t>p</a:t>
            </a:r>
            <a:r>
              <a:rPr lang="vi-VN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hủ định: </a:t>
            </a:r>
            <a:r>
              <a:rPr lang="vi-VN" dirty="0"/>
              <a:t>n</a:t>
            </a:r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vi-VN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≤ </a:t>
            </a:r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</a:t>
            </a:r>
          </a:p>
          <a:p>
            <a:pPr algn="just">
              <a:buFontTx/>
              <a:buChar char="-"/>
            </a:pPr>
            <a:endParaRPr lang="en-US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0" y="3505200"/>
          <a:ext cx="2438400" cy="1259840"/>
        </p:xfrm>
        <a:graphic>
          <a:graphicData uri="http://schemas.openxmlformats.org/drawingml/2006/table">
            <a:tbl>
              <a:tblPr firstRow="1" bandRow="1">
                <a:effectLst/>
                <a:tableStyleId>{7DF18680-E054-41AD-8BC1-D1AEF772440D}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Mệnh</a:t>
            </a:r>
            <a:r>
              <a:rPr lang="en-US" sz="4800" b="1" dirty="0"/>
              <a:t> </a:t>
            </a:r>
            <a:r>
              <a:rPr lang="en-US" sz="4800" b="1" dirty="0" err="1"/>
              <a:t>đề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7175281" y="3519268"/>
          <a:ext cx="306387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1200" imgH="406080" progId="Equation.DSMT4">
                  <p:embed/>
                </p:oleObj>
              </mc:Choice>
              <mc:Fallback>
                <p:oleObj name="Equation" r:id="rId2" imgW="241200" imgH="406080" progId="Equation.DSMT4">
                  <p:embed/>
                  <p:pic>
                    <p:nvPicPr>
                      <p:cNvPr id="1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281" y="3519268"/>
                        <a:ext cx="306387" cy="41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6934200" y="2514600"/>
          <a:ext cx="306387" cy="457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1200" imgH="406080" progId="Equation.DSMT4">
                  <p:embed/>
                </p:oleObj>
              </mc:Choice>
              <mc:Fallback>
                <p:oleObj name="Equation" r:id="rId4" imgW="241200" imgH="406080" progId="Equation.DSMT4">
                  <p:embed/>
                  <p:pic>
                    <p:nvPicPr>
                      <p:cNvPr id="1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2514600"/>
                        <a:ext cx="306387" cy="4574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8001000" cy="4953000"/>
          </a:xfrm>
        </p:spPr>
        <p:txBody>
          <a:bodyPr/>
          <a:lstStyle/>
          <a:p>
            <a:pPr marL="0" indent="1588" algn="just">
              <a:buClr>
                <a:srgbClr val="FF0000"/>
              </a:buClr>
              <a:buFont typeface="+mj-lt"/>
              <a:buAutoNum type="arabicPeriod" startAt="2"/>
            </a:pPr>
            <a:r>
              <a:rPr lang="vi-VN" dirty="0">
                <a:latin typeface="+mn-lt"/>
                <a:ea typeface="+mn-ea"/>
                <a:cs typeface="+mn-cs"/>
              </a:rPr>
              <a:t> </a:t>
            </a:r>
            <a:r>
              <a:rPr lang="vi-VN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Phép hội (nối liền, giao): </a:t>
            </a:r>
            <a:r>
              <a:rPr lang="vi-VN" dirty="0">
                <a:latin typeface="+mn-lt"/>
                <a:ea typeface="+mn-ea"/>
                <a:cs typeface="+mn-cs"/>
              </a:rPr>
              <a:t>của hai mệnh đề P, Q </a:t>
            </a:r>
            <a:r>
              <a:rPr lang="en-US" dirty="0" err="1">
                <a:latin typeface="+mn-lt"/>
                <a:ea typeface="+mn-ea"/>
                <a:cs typeface="+mn-cs"/>
              </a:rPr>
              <a:t>là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một</a:t>
            </a:r>
            <a:r>
              <a:rPr lang="en-US" dirty="0"/>
              <a:t> </a:t>
            </a:r>
            <a:r>
              <a:rPr lang="en-US" dirty="0" err="1"/>
              <a:t>mệnh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,</a:t>
            </a:r>
            <a:r>
              <a:rPr lang="vi-VN" dirty="0">
                <a:latin typeface="+mn-lt"/>
                <a:ea typeface="+mn-ea"/>
                <a:cs typeface="+mn-cs"/>
              </a:rPr>
              <a:t> kí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vi-VN" dirty="0">
                <a:latin typeface="+mn-lt"/>
                <a:ea typeface="+mn-ea"/>
                <a:cs typeface="+mn-cs"/>
              </a:rPr>
              <a:t>hiệu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vi-VN" dirty="0">
                <a:latin typeface="+mn-lt"/>
                <a:ea typeface="+mn-ea"/>
                <a:cs typeface="+mn-cs"/>
              </a:rPr>
              <a:t>P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vi-VN" dirty="0">
                <a:latin typeface="+mn-lt"/>
                <a:ea typeface="+mn-ea"/>
                <a:cs typeface="+mn-cs"/>
                <a:sym typeface="Symbol"/>
              </a:rPr>
              <a:t></a:t>
            </a:r>
            <a:r>
              <a:rPr lang="vi-VN" dirty="0">
                <a:latin typeface="+mn-lt"/>
                <a:ea typeface="+mn-ea"/>
                <a:cs typeface="+mn-cs"/>
              </a:rPr>
              <a:t> Q (đọc là “P và Q</a:t>
            </a:r>
            <a:r>
              <a:rPr lang="en-US" dirty="0">
                <a:latin typeface="+mn-lt"/>
                <a:ea typeface="+mn-ea"/>
                <a:cs typeface="+mn-cs"/>
              </a:rPr>
              <a:t>)</a:t>
            </a:r>
            <a:r>
              <a:rPr lang="vi-VN" dirty="0"/>
              <a:t> và có b</a:t>
            </a:r>
            <a:r>
              <a:rPr lang="vi-VN" dirty="0">
                <a:latin typeface="+mn-lt"/>
                <a:ea typeface="+mn-ea"/>
                <a:cs typeface="+mn-cs"/>
              </a:rPr>
              <a:t>ảng chân trị</a:t>
            </a:r>
            <a:r>
              <a:rPr lang="en-US" dirty="0"/>
              <a:t> </a:t>
            </a:r>
            <a:r>
              <a:rPr lang="en-US" dirty="0" err="1"/>
              <a:t>ở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.</a:t>
            </a:r>
            <a:endParaRPr lang="en-US" dirty="0">
              <a:latin typeface="+mn-lt"/>
              <a:ea typeface="+mn-ea"/>
              <a:cs typeface="+mn-cs"/>
            </a:endParaRPr>
          </a:p>
          <a:p>
            <a:pPr marL="1651000" indent="-1651000" algn="just">
              <a:buNone/>
            </a:pPr>
            <a:r>
              <a:rPr lang="en-US" dirty="0" err="1">
                <a:solidFill>
                  <a:schemeClr val="accent2"/>
                </a:solidFill>
              </a:rPr>
              <a:t>Nhận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xét</a:t>
            </a:r>
            <a:r>
              <a:rPr lang="en-US" dirty="0"/>
              <a:t>: </a:t>
            </a:r>
            <a:r>
              <a:rPr lang="vi-VN" dirty="0"/>
              <a:t>P</a:t>
            </a:r>
            <a:r>
              <a:rPr lang="vi-VN" dirty="0">
                <a:sym typeface="Symbol"/>
              </a:rPr>
              <a:t></a:t>
            </a:r>
            <a:r>
              <a:rPr lang="vi-VN" dirty="0"/>
              <a:t>Q đúng khi và chỉ khi P và Q</a:t>
            </a:r>
            <a:r>
              <a:rPr lang="en-US" dirty="0"/>
              <a:t> </a:t>
            </a:r>
            <a:r>
              <a:rPr lang="vi-VN" dirty="0"/>
              <a:t>đồng thời đúng.</a:t>
            </a:r>
            <a:endParaRPr lang="vi-VN" dirty="0">
              <a:latin typeface="+mn-lt"/>
              <a:ea typeface="+mn-ea"/>
              <a:cs typeface="+mn-cs"/>
            </a:endParaRPr>
          </a:p>
          <a:p>
            <a:pPr algn="just">
              <a:buNone/>
            </a:pPr>
            <a:r>
              <a:rPr lang="vi-VN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Ví dụ:</a:t>
            </a:r>
          </a:p>
          <a:p>
            <a:pPr indent="-231775" algn="just">
              <a:buFont typeface="Arial"/>
              <a:buChar char="•"/>
            </a:pPr>
            <a:r>
              <a:rPr lang="en-US" dirty="0"/>
              <a:t> </a:t>
            </a:r>
            <a:r>
              <a:rPr lang="vi-VN" dirty="0">
                <a:latin typeface="+mn-lt"/>
                <a:ea typeface="+mn-ea"/>
                <a:cs typeface="+mn-cs"/>
              </a:rPr>
              <a:t> </a:t>
            </a:r>
            <a:r>
              <a:rPr lang="en-US" dirty="0">
                <a:latin typeface="+mn-lt"/>
                <a:ea typeface="+mn-ea"/>
                <a:cs typeface="+mn-cs"/>
              </a:rPr>
              <a:t>P: “</a:t>
            </a:r>
            <a:r>
              <a:rPr lang="en-US" dirty="0" err="1">
                <a:latin typeface="+mn-lt"/>
                <a:ea typeface="+mn-ea"/>
                <a:cs typeface="+mn-cs"/>
              </a:rPr>
              <a:t>Hôm</a:t>
            </a:r>
            <a:r>
              <a:rPr lang="en-US" dirty="0">
                <a:latin typeface="+mn-lt"/>
                <a:ea typeface="+mn-ea"/>
                <a:cs typeface="+mn-cs"/>
              </a:rPr>
              <a:t> nay </a:t>
            </a:r>
            <a:r>
              <a:rPr lang="en-US" dirty="0" err="1">
                <a:latin typeface="+mn-lt"/>
                <a:ea typeface="+mn-ea"/>
                <a:cs typeface="+mn-cs"/>
              </a:rPr>
              <a:t>là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chủ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nhật</a:t>
            </a:r>
            <a:r>
              <a:rPr lang="en-US" dirty="0">
                <a:latin typeface="+mn-lt"/>
                <a:ea typeface="+mn-ea"/>
                <a:cs typeface="+mn-cs"/>
              </a:rPr>
              <a:t>”</a:t>
            </a:r>
            <a:endParaRPr lang="vi-VN" dirty="0">
              <a:latin typeface="+mn-lt"/>
              <a:ea typeface="+mn-ea"/>
              <a:cs typeface="+mn-cs"/>
            </a:endParaRPr>
          </a:p>
          <a:p>
            <a:pPr indent="-231775" algn="just">
              <a:buFont typeface="Arial"/>
              <a:buChar char="•"/>
            </a:pPr>
            <a:r>
              <a:rPr lang="en-US" dirty="0">
                <a:latin typeface="+mn-lt"/>
                <a:ea typeface="+mn-ea"/>
                <a:cs typeface="+mn-cs"/>
              </a:rPr>
              <a:t>  Q: “</a:t>
            </a:r>
            <a:r>
              <a:rPr lang="en-US" dirty="0" err="1">
                <a:latin typeface="+mn-lt"/>
                <a:ea typeface="+mn-ea"/>
                <a:cs typeface="+mn-cs"/>
              </a:rPr>
              <a:t>Hôm</a:t>
            </a:r>
            <a:r>
              <a:rPr lang="en-US" dirty="0">
                <a:latin typeface="+mn-lt"/>
                <a:ea typeface="+mn-ea"/>
                <a:cs typeface="+mn-cs"/>
              </a:rPr>
              <a:t> nay </a:t>
            </a:r>
            <a:r>
              <a:rPr lang="en-US" dirty="0" err="1">
                <a:latin typeface="+mn-lt"/>
                <a:ea typeface="+mn-ea"/>
                <a:cs typeface="+mn-cs"/>
              </a:rPr>
              <a:t>trời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mưa</a:t>
            </a:r>
            <a:r>
              <a:rPr lang="en-US" dirty="0">
                <a:latin typeface="+mn-lt"/>
                <a:ea typeface="+mn-ea"/>
                <a:cs typeface="+mn-cs"/>
              </a:rPr>
              <a:t>”</a:t>
            </a:r>
          </a:p>
          <a:p>
            <a:pPr indent="-231775" algn="just">
              <a:buFont typeface="Arial"/>
              <a:buChar char="•"/>
            </a:pPr>
            <a:r>
              <a:rPr lang="en-US" dirty="0"/>
              <a:t>  </a:t>
            </a:r>
            <a:r>
              <a:rPr lang="vi-VN" dirty="0">
                <a:latin typeface="+mn-lt"/>
                <a:ea typeface="+mn-ea"/>
                <a:cs typeface="+mn-cs"/>
              </a:rPr>
              <a:t>P </a:t>
            </a:r>
            <a:r>
              <a:rPr lang="vi-VN" dirty="0">
                <a:latin typeface="+mn-lt"/>
                <a:ea typeface="+mn-ea"/>
                <a:cs typeface="+mn-cs"/>
                <a:sym typeface="Symbol"/>
              </a:rPr>
              <a:t></a:t>
            </a:r>
            <a:r>
              <a:rPr lang="vi-VN" dirty="0">
                <a:latin typeface="+mn-lt"/>
                <a:ea typeface="+mn-ea"/>
                <a:cs typeface="+mn-cs"/>
              </a:rPr>
              <a:t> Q</a:t>
            </a:r>
            <a:r>
              <a:rPr lang="en-US" dirty="0">
                <a:latin typeface="+mn-lt"/>
                <a:ea typeface="+mn-ea"/>
                <a:cs typeface="+mn-cs"/>
              </a:rPr>
              <a:t>: “</a:t>
            </a:r>
            <a:r>
              <a:rPr lang="en-US" dirty="0" err="1">
                <a:latin typeface="+mn-lt"/>
                <a:ea typeface="+mn-ea"/>
                <a:cs typeface="+mn-cs"/>
              </a:rPr>
              <a:t>Hôm</a:t>
            </a:r>
            <a:r>
              <a:rPr lang="en-US" dirty="0">
                <a:latin typeface="+mn-lt"/>
                <a:ea typeface="+mn-ea"/>
                <a:cs typeface="+mn-cs"/>
              </a:rPr>
              <a:t> nay </a:t>
            </a:r>
            <a:r>
              <a:rPr lang="en-US" dirty="0" err="1">
                <a:latin typeface="+mn-lt"/>
                <a:ea typeface="+mn-ea"/>
                <a:cs typeface="+mn-cs"/>
              </a:rPr>
              <a:t>là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chủ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nhật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và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trời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mưa</a:t>
            </a:r>
            <a:r>
              <a:rPr lang="en-US" dirty="0">
                <a:latin typeface="+mn-lt"/>
                <a:ea typeface="+mn-ea"/>
                <a:cs typeface="+mn-cs"/>
              </a:rPr>
              <a:t>”</a:t>
            </a:r>
            <a:endParaRPr lang="en-US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3616178"/>
              </p:ext>
            </p:extLst>
          </p:nvPr>
        </p:nvGraphicFramePr>
        <p:xfrm>
          <a:off x="5715000" y="3733800"/>
          <a:ext cx="2755245" cy="1706880"/>
        </p:xfrm>
        <a:graphic>
          <a:graphicData uri="http://schemas.openxmlformats.org/drawingml/2006/table">
            <a:tbl>
              <a:tblPr firstRow="1" bandRow="1">
                <a:effectLst/>
                <a:tableStyleId>{7DF18680-E054-41AD-8BC1-D1AEF772440D}</a:tableStyleId>
              </a:tblPr>
              <a:tblGrid>
                <a:gridCol w="918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8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8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2643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P</a:t>
                      </a:r>
                      <a:r>
                        <a:rPr lang="vi-VN" sz="2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/>
                        </a:rPr>
                        <a:t>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13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Mệnh</a:t>
            </a:r>
            <a:r>
              <a:rPr lang="en-US" sz="4800" b="1" dirty="0"/>
              <a:t> </a:t>
            </a:r>
            <a:r>
              <a:rPr lang="en-US" sz="4800" b="1" dirty="0" err="1"/>
              <a:t>đề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8077200" cy="4876800"/>
          </a:xfrm>
        </p:spPr>
        <p:txBody>
          <a:bodyPr/>
          <a:lstStyle/>
          <a:p>
            <a:pPr marL="0" indent="1588" algn="just">
              <a:buClr>
                <a:srgbClr val="FF0000"/>
              </a:buClr>
              <a:buFont typeface="+mj-lt"/>
              <a:buAutoNum type="arabicPeriod" startAt="3"/>
            </a:pPr>
            <a:r>
              <a:rPr lang="vi-VN" dirty="0">
                <a:latin typeface="+mn-lt"/>
                <a:ea typeface="+mn-ea"/>
                <a:cs typeface="+mn-cs"/>
              </a:rPr>
              <a:t> </a:t>
            </a:r>
            <a:r>
              <a:rPr lang="vi-VN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Phép tuyển (nối rời,</a:t>
            </a:r>
            <a:r>
              <a:rPr 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vi-VN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hợp): </a:t>
            </a:r>
            <a:r>
              <a:rPr lang="vi-VN" dirty="0">
                <a:latin typeface="+mn-lt"/>
                <a:ea typeface="+mn-ea"/>
                <a:cs typeface="+mn-cs"/>
              </a:rPr>
              <a:t>của hai mệnh đề P, Q </a:t>
            </a:r>
            <a:r>
              <a:rPr lang="en-US" dirty="0" err="1">
                <a:latin typeface="+mn-lt"/>
                <a:ea typeface="+mn-ea"/>
                <a:cs typeface="+mn-cs"/>
              </a:rPr>
              <a:t>là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mộ</a:t>
            </a:r>
            <a:r>
              <a:rPr lang="en-US" dirty="0" err="1"/>
              <a:t>t</a:t>
            </a:r>
            <a:r>
              <a:rPr lang="en-US" dirty="0"/>
              <a:t> </a:t>
            </a:r>
            <a:r>
              <a:rPr lang="en-US" dirty="0" err="1"/>
              <a:t>mệnh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,</a:t>
            </a:r>
            <a:r>
              <a:rPr lang="vi-VN" dirty="0">
                <a:latin typeface="+mn-lt"/>
                <a:ea typeface="+mn-ea"/>
                <a:cs typeface="+mn-cs"/>
              </a:rPr>
              <a:t> kí hiệu P </a:t>
            </a:r>
            <a:r>
              <a:rPr lang="vi-VN" dirty="0">
                <a:latin typeface="+mn-lt"/>
                <a:ea typeface="+mn-ea"/>
                <a:cs typeface="+mn-cs"/>
                <a:sym typeface="Symbol"/>
              </a:rPr>
              <a:t></a:t>
            </a:r>
            <a:r>
              <a:rPr lang="en-US" dirty="0">
                <a:latin typeface="+mn-lt"/>
                <a:ea typeface="+mn-ea"/>
                <a:cs typeface="+mn-cs"/>
                <a:sym typeface="Symbol"/>
              </a:rPr>
              <a:t> </a:t>
            </a:r>
            <a:r>
              <a:rPr lang="vi-VN" dirty="0">
                <a:latin typeface="+mn-lt"/>
                <a:ea typeface="+mn-ea"/>
                <a:cs typeface="+mn-cs"/>
              </a:rPr>
              <a:t>Q (đọc là “P hay Q”)</a:t>
            </a:r>
            <a:r>
              <a:rPr lang="en-US" dirty="0">
                <a:latin typeface="+mn-lt"/>
                <a:ea typeface="+mn-ea"/>
                <a:cs typeface="+mn-cs"/>
              </a:rPr>
              <a:t>.</a:t>
            </a:r>
            <a:r>
              <a:rPr lang="vi-VN" dirty="0">
                <a:latin typeface="+mn-lt"/>
                <a:ea typeface="+mn-ea"/>
                <a:cs typeface="+mn-cs"/>
              </a:rPr>
              <a:t> Bảng chân trị</a:t>
            </a:r>
            <a:r>
              <a:rPr lang="en-US" dirty="0">
                <a:latin typeface="+mn-lt"/>
                <a:ea typeface="+mn-ea"/>
                <a:cs typeface="+mn-cs"/>
              </a:rPr>
              <a:t>:</a:t>
            </a:r>
          </a:p>
          <a:p>
            <a:pPr marL="0" indent="1588" algn="just">
              <a:buClr>
                <a:srgbClr val="FF0000"/>
              </a:buClr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1588" algn="just">
              <a:buClr>
                <a:srgbClr val="FF0000"/>
              </a:buClr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1588" algn="just">
              <a:buClr>
                <a:srgbClr val="FF0000"/>
              </a:buClr>
              <a:buNone/>
            </a:pPr>
            <a:r>
              <a:rPr lang="en-US" dirty="0" err="1">
                <a:solidFill>
                  <a:srgbClr val="FF0000"/>
                </a:solidFill>
              </a:rPr>
              <a:t>Nhận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xét</a:t>
            </a:r>
            <a:r>
              <a:rPr lang="en-US" dirty="0">
                <a:solidFill>
                  <a:srgbClr val="FF0000"/>
                </a:solidFill>
              </a:rPr>
              <a:t>:</a:t>
            </a:r>
            <a:r>
              <a:rPr lang="vi-VN" dirty="0"/>
              <a:t> 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vi-VN" dirty="0"/>
              <a:t>P</a:t>
            </a:r>
            <a:r>
              <a:rPr lang="en-US" dirty="0"/>
              <a:t> </a:t>
            </a:r>
            <a:r>
              <a:rPr lang="vi-VN" dirty="0">
                <a:sym typeface="Symbol"/>
              </a:rPr>
              <a:t></a:t>
            </a:r>
            <a:r>
              <a:rPr lang="en-US" dirty="0">
                <a:sym typeface="Symbol"/>
              </a:rPr>
              <a:t> </a:t>
            </a:r>
            <a:r>
              <a:rPr lang="vi-VN" dirty="0"/>
              <a:t>Q sai khi và chỉ khi P và Q đồng thời sai.</a:t>
            </a:r>
            <a:endParaRPr lang="en-US" dirty="0">
              <a:solidFill>
                <a:srgbClr val="FF0000"/>
              </a:solidFill>
            </a:endParaRPr>
          </a:p>
          <a:p>
            <a:pPr marL="0" indent="1588" algn="just">
              <a:buClr>
                <a:srgbClr val="FF0000"/>
              </a:buClr>
              <a:buNone/>
            </a:pPr>
            <a:r>
              <a:rPr 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vi-VN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Ví dụ:</a:t>
            </a:r>
          </a:p>
          <a:p>
            <a:pPr algn="just">
              <a:buClr>
                <a:srgbClr val="FF0000"/>
              </a:buClr>
              <a:buFont typeface="Arial"/>
              <a:buChar char="•"/>
            </a:pPr>
            <a:r>
              <a:rPr lang="en-US" dirty="0"/>
              <a:t>e </a:t>
            </a:r>
            <a:r>
              <a:rPr lang="vi-VN" dirty="0">
                <a:latin typeface="+mn-lt"/>
                <a:ea typeface="+mn-ea"/>
                <a:cs typeface="+mn-cs"/>
              </a:rPr>
              <a:t>&gt;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vi-VN" dirty="0">
                <a:latin typeface="+mn-lt"/>
                <a:ea typeface="+mn-ea"/>
                <a:cs typeface="+mn-cs"/>
              </a:rPr>
              <a:t>4 hay </a:t>
            </a:r>
            <a:r>
              <a:rPr lang="en-US" dirty="0"/>
              <a:t>e </a:t>
            </a:r>
            <a:r>
              <a:rPr lang="vi-VN" dirty="0">
                <a:latin typeface="+mn-lt"/>
                <a:ea typeface="+mn-ea"/>
                <a:cs typeface="+mn-cs"/>
              </a:rPr>
              <a:t>&gt;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vi-VN" dirty="0">
                <a:latin typeface="+mn-lt"/>
                <a:ea typeface="+mn-ea"/>
                <a:cs typeface="+mn-cs"/>
              </a:rPr>
              <a:t>5 (S)</a:t>
            </a:r>
          </a:p>
          <a:p>
            <a:pPr algn="just">
              <a:buClr>
                <a:srgbClr val="FF0000"/>
              </a:buClr>
              <a:buFont typeface="Arial"/>
              <a:buChar char="•"/>
            </a:pPr>
            <a:r>
              <a:rPr lang="vi-VN" dirty="0">
                <a:latin typeface="+mn-lt"/>
                <a:ea typeface="+mn-ea"/>
                <a:cs typeface="+mn-cs"/>
              </a:rPr>
              <a:t>2 là số nguyên tố hay là số </a:t>
            </a:r>
            <a:r>
              <a:rPr lang="en-US" dirty="0" err="1">
                <a:latin typeface="+mn-lt"/>
                <a:ea typeface="+mn-ea"/>
                <a:cs typeface="+mn-cs"/>
              </a:rPr>
              <a:t>lẻ</a:t>
            </a:r>
            <a:r>
              <a:rPr lang="vi-VN" dirty="0">
                <a:latin typeface="+mn-lt"/>
                <a:ea typeface="+mn-ea"/>
                <a:cs typeface="+mn-cs"/>
              </a:rPr>
              <a:t> (Đ)</a:t>
            </a:r>
            <a:endParaRPr lang="en-US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632019"/>
              </p:ext>
            </p:extLst>
          </p:nvPr>
        </p:nvGraphicFramePr>
        <p:xfrm>
          <a:off x="5715000" y="2590800"/>
          <a:ext cx="2755245" cy="1706880"/>
        </p:xfrm>
        <a:graphic>
          <a:graphicData uri="http://schemas.openxmlformats.org/drawingml/2006/table">
            <a:tbl>
              <a:tblPr firstRow="1" bandRow="1">
                <a:effectLst/>
                <a:tableStyleId>{7DF18680-E054-41AD-8BC1-D1AEF772440D}</a:tableStyleId>
              </a:tblPr>
              <a:tblGrid>
                <a:gridCol w="918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8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8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P</a:t>
                      </a:r>
                      <a:r>
                        <a:rPr lang="vi-VN" sz="2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/>
                        </a:rPr>
                        <a:t>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Mệnh</a:t>
            </a:r>
            <a:r>
              <a:rPr lang="en-US" sz="4800" b="1" dirty="0"/>
              <a:t> </a:t>
            </a:r>
            <a:r>
              <a:rPr lang="en-US" sz="4800" b="1" dirty="0" err="1"/>
              <a:t>đề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8077200" cy="4606925"/>
          </a:xfrm>
        </p:spPr>
        <p:txBody>
          <a:bodyPr/>
          <a:lstStyle/>
          <a:p>
            <a:pPr marL="0" indent="1588" algn="just">
              <a:buClr>
                <a:srgbClr val="FF0000"/>
              </a:buClr>
              <a:buFont typeface="+mj-lt"/>
              <a:buAutoNum type="arabicPeriod" startAt="4"/>
            </a:pPr>
            <a:r>
              <a:rPr lang="en-US" dirty="0"/>
              <a:t> </a:t>
            </a:r>
            <a:r>
              <a:rPr lang="vi-VN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Phép kéo theo: </a:t>
            </a:r>
            <a:r>
              <a:rPr lang="vi-VN" dirty="0">
                <a:latin typeface="+mn-lt"/>
                <a:ea typeface="+mn-ea"/>
                <a:cs typeface="+mn-cs"/>
              </a:rPr>
              <a:t>Mệnh đề P kéo theo </a:t>
            </a:r>
            <a:r>
              <a:rPr lang="en-US" dirty="0" err="1">
                <a:latin typeface="+mn-lt"/>
                <a:ea typeface="+mn-ea"/>
                <a:cs typeface="+mn-cs"/>
              </a:rPr>
              <a:t>mệnh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đề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vi-VN" dirty="0">
                <a:latin typeface="+mn-lt"/>
                <a:ea typeface="+mn-ea"/>
                <a:cs typeface="+mn-cs"/>
              </a:rPr>
              <a:t>Q </a:t>
            </a:r>
            <a:r>
              <a:rPr lang="en-US" dirty="0" err="1">
                <a:latin typeface="+mn-lt"/>
                <a:ea typeface="+mn-ea"/>
                <a:cs typeface="+mn-cs"/>
              </a:rPr>
              <a:t>là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một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vi-VN" dirty="0">
                <a:latin typeface="+mn-lt"/>
                <a:ea typeface="+mn-ea"/>
                <a:cs typeface="+mn-cs"/>
              </a:rPr>
              <a:t>mệnh đề, kí hiệu P </a:t>
            </a:r>
            <a:r>
              <a:rPr lang="vi-VN" dirty="0">
                <a:sym typeface="Symbol"/>
              </a:rPr>
              <a:t></a:t>
            </a:r>
            <a:r>
              <a:rPr lang="vi-VN" dirty="0">
                <a:latin typeface="+mn-lt"/>
                <a:ea typeface="+mn-ea"/>
                <a:cs typeface="+mn-cs"/>
              </a:rPr>
              <a:t> Q (đọc là “P kéo theo Q” hay “Nếu P thì Q” hay “P là điều kiện đủ của Q” hay “Q là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vi-VN" dirty="0">
                <a:latin typeface="+mn-lt"/>
                <a:ea typeface="+mn-ea"/>
                <a:cs typeface="+mn-cs"/>
              </a:rPr>
              <a:t>điều kiện cần của P”)</a:t>
            </a:r>
            <a:r>
              <a:rPr lang="en-US" dirty="0">
                <a:latin typeface="+mn-lt"/>
                <a:ea typeface="+mn-ea"/>
                <a:cs typeface="+mn-cs"/>
              </a:rPr>
              <a:t>.</a:t>
            </a:r>
            <a:r>
              <a:rPr lang="vi-VN" dirty="0">
                <a:latin typeface="+mn-lt"/>
                <a:ea typeface="+mn-ea"/>
                <a:cs typeface="+mn-cs"/>
              </a:rPr>
              <a:t> 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vi-VN" dirty="0">
                <a:latin typeface="+mn-lt"/>
                <a:ea typeface="+mn-ea"/>
                <a:cs typeface="+mn-cs"/>
              </a:rPr>
              <a:t>Bảng chân trị</a:t>
            </a:r>
            <a:r>
              <a:rPr lang="en-US" dirty="0">
                <a:latin typeface="+mn-lt"/>
                <a:ea typeface="+mn-ea"/>
                <a:cs typeface="+mn-cs"/>
              </a:rPr>
              <a:t>: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NX:</a:t>
            </a:r>
            <a:r>
              <a:rPr lang="en-US" dirty="0"/>
              <a:t> </a:t>
            </a:r>
            <a:r>
              <a:rPr lang="vi-VN" dirty="0"/>
              <a:t>P </a:t>
            </a:r>
            <a:r>
              <a:rPr lang="vi-VN" dirty="0">
                <a:sym typeface="Symbol"/>
              </a:rPr>
              <a:t></a:t>
            </a:r>
            <a:r>
              <a:rPr lang="vi-VN" dirty="0"/>
              <a:t> Q sai khi và chỉ </a:t>
            </a:r>
            <a:endParaRPr lang="en-US" dirty="0"/>
          </a:p>
          <a:p>
            <a:pPr marL="0" indent="1588" algn="just">
              <a:buClr>
                <a:srgbClr val="FF0000"/>
              </a:buClr>
              <a:buNone/>
            </a:pPr>
            <a:r>
              <a:rPr lang="vi-VN" dirty="0"/>
              <a:t>khi P đúng mà Q sai.</a:t>
            </a:r>
            <a:endParaRPr lang="en-US" dirty="0">
              <a:latin typeface="+mn-lt"/>
              <a:ea typeface="+mn-ea"/>
              <a:cs typeface="+mn-cs"/>
            </a:endParaRPr>
          </a:p>
          <a:p>
            <a:pPr marL="0" indent="1588" algn="just">
              <a:buClr>
                <a:srgbClr val="FF0000"/>
              </a:buClr>
              <a:buNone/>
            </a:pPr>
            <a:r>
              <a:rPr 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Ví</a:t>
            </a:r>
            <a:r>
              <a:rPr 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dụ</a:t>
            </a:r>
            <a:r>
              <a:rPr 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: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en-US" dirty="0"/>
              <a:t> 3 &gt;4 </a:t>
            </a:r>
            <a:r>
              <a:rPr lang="en-US" dirty="0" err="1"/>
              <a:t>kéo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5&gt;6</a:t>
            </a:r>
          </a:p>
          <a:p>
            <a:pPr marL="0" indent="1588" algn="just">
              <a:buClr>
                <a:srgbClr val="FF0000"/>
              </a:buClr>
              <a:buNone/>
            </a:pPr>
            <a:endParaRPr lang="vi-VN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marL="0" indent="1588" algn="just">
              <a:buClr>
                <a:srgbClr val="FF0000"/>
              </a:buClr>
              <a:buNone/>
            </a:pPr>
            <a:endParaRPr lang="en-US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110400" y="3429000"/>
          <a:ext cx="3429000" cy="1706880"/>
        </p:xfrm>
        <a:graphic>
          <a:graphicData uri="http://schemas.openxmlformats.org/drawingml/2006/table">
            <a:tbl>
              <a:tblPr firstRow="1" bandRow="1">
                <a:effectLst/>
                <a:tableStyleId>{7DF18680-E054-41AD-8BC1-D1AEF772440D}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907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P</a:t>
                      </a:r>
                      <a:r>
                        <a:rPr lang="vi-VN" sz="2800" dirty="0">
                          <a:solidFill>
                            <a:schemeClr val="tx1"/>
                          </a:solidFill>
                          <a:sym typeface="Symbol"/>
                        </a:rPr>
                        <a:t>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74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Mệnh</a:t>
            </a:r>
            <a:r>
              <a:rPr lang="en-US" sz="4800" b="1" dirty="0"/>
              <a:t> </a:t>
            </a:r>
            <a:r>
              <a:rPr lang="en-US" sz="4800" b="1" dirty="0" err="1"/>
              <a:t>đề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8229600" cy="5257800"/>
          </a:xfrm>
        </p:spPr>
        <p:txBody>
          <a:bodyPr/>
          <a:lstStyle/>
          <a:p>
            <a:pPr marL="0" indent="1588" algn="just">
              <a:buClr>
                <a:srgbClr val="FF0000"/>
              </a:buClr>
              <a:buFont typeface="+mj-lt"/>
              <a:buAutoNum type="arabicPeriod" startAt="5"/>
            </a:pPr>
            <a:r>
              <a:rPr lang="en-US" dirty="0"/>
              <a:t> </a:t>
            </a:r>
            <a:r>
              <a:rPr lang="vi-VN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Phép kéo theo hai chiều</a:t>
            </a:r>
            <a:r>
              <a:rPr 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(</a:t>
            </a:r>
            <a:r>
              <a:rPr lang="en-US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phép</a:t>
            </a:r>
            <a:r>
              <a:rPr 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tương</a:t>
            </a:r>
            <a:r>
              <a:rPr 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đương</a:t>
            </a:r>
            <a:r>
              <a:rPr 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)</a:t>
            </a:r>
            <a:r>
              <a:rPr lang="vi-VN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: </a:t>
            </a:r>
            <a:r>
              <a:rPr lang="vi-VN" dirty="0">
                <a:latin typeface="+mn-lt"/>
                <a:ea typeface="+mn-ea"/>
                <a:cs typeface="+mn-cs"/>
              </a:rPr>
              <a:t>Mệnh đề P kéo theo </a:t>
            </a:r>
            <a:r>
              <a:rPr lang="en-US" dirty="0" err="1">
                <a:latin typeface="+mn-lt"/>
                <a:ea typeface="+mn-ea"/>
                <a:cs typeface="+mn-cs"/>
              </a:rPr>
              <a:t>mệnh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đề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vi-VN" dirty="0">
                <a:latin typeface="+mn-lt"/>
                <a:ea typeface="+mn-ea"/>
                <a:cs typeface="+mn-cs"/>
              </a:rPr>
              <a:t>Q và ngược lại </a:t>
            </a:r>
            <a:r>
              <a:rPr lang="en-US" dirty="0">
                <a:latin typeface="+mn-lt"/>
                <a:ea typeface="+mn-ea"/>
                <a:cs typeface="+mn-cs"/>
              </a:rPr>
              <a:t>(</a:t>
            </a:r>
            <a:r>
              <a:rPr lang="en-US" dirty="0" err="1">
                <a:latin typeface="+mn-lt"/>
                <a:ea typeface="+mn-ea"/>
                <a:cs typeface="+mn-cs"/>
              </a:rPr>
              <a:t>mệnh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đề</a:t>
            </a:r>
            <a:r>
              <a:rPr lang="en-US" dirty="0">
                <a:latin typeface="+mn-lt"/>
                <a:ea typeface="+mn-ea"/>
                <a:cs typeface="+mn-cs"/>
              </a:rPr>
              <a:t> P </a:t>
            </a:r>
            <a:r>
              <a:rPr lang="en-US" dirty="0" err="1">
                <a:latin typeface="+mn-lt"/>
                <a:ea typeface="+mn-ea"/>
                <a:cs typeface="+mn-cs"/>
              </a:rPr>
              <a:t>tương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đương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với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mệnh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đề</a:t>
            </a:r>
            <a:r>
              <a:rPr lang="en-US" dirty="0">
                <a:latin typeface="+mn-lt"/>
                <a:ea typeface="+mn-ea"/>
                <a:cs typeface="+mn-cs"/>
              </a:rPr>
              <a:t> Q) </a:t>
            </a:r>
            <a:r>
              <a:rPr lang="en-US" dirty="0" err="1">
                <a:latin typeface="+mn-lt"/>
                <a:ea typeface="+mn-ea"/>
                <a:cs typeface="+mn-cs"/>
              </a:rPr>
              <a:t>là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một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mệnh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đề</a:t>
            </a:r>
            <a:r>
              <a:rPr lang="vi-VN" dirty="0">
                <a:latin typeface="+mn-lt"/>
                <a:ea typeface="+mn-ea"/>
                <a:cs typeface="+mn-cs"/>
              </a:rPr>
              <a:t>, ký hiệu P </a:t>
            </a:r>
            <a:r>
              <a:rPr lang="vi-VN" dirty="0">
                <a:latin typeface="+mn-lt"/>
                <a:ea typeface="+mn-ea"/>
                <a:cs typeface="+mn-cs"/>
                <a:sym typeface="Symbol"/>
              </a:rPr>
              <a:t></a:t>
            </a:r>
            <a:r>
              <a:rPr lang="vi-VN" dirty="0">
                <a:latin typeface="+mn-lt"/>
                <a:ea typeface="+mn-ea"/>
                <a:cs typeface="+mn-cs"/>
              </a:rPr>
              <a:t> Q (đọc là “P nếu và chỉ nếu Q” hay “P khi và chỉ khi Q” hay “P là điều  kiện cần và đủ của Q”)</a:t>
            </a:r>
            <a:r>
              <a:rPr lang="en-US" dirty="0">
                <a:latin typeface="+mn-lt"/>
                <a:ea typeface="+mn-ea"/>
                <a:cs typeface="+mn-cs"/>
              </a:rPr>
              <a:t>.</a:t>
            </a:r>
            <a:r>
              <a:rPr lang="vi-VN" dirty="0">
                <a:latin typeface="+mn-lt"/>
                <a:ea typeface="+mn-ea"/>
                <a:cs typeface="+mn-cs"/>
              </a:rPr>
              <a:t> 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vi-VN" dirty="0">
                <a:latin typeface="+mn-lt"/>
                <a:ea typeface="+mn-ea"/>
                <a:cs typeface="+mn-cs"/>
              </a:rPr>
              <a:t>Bảng chân trị</a:t>
            </a:r>
            <a:r>
              <a:rPr lang="en-US" dirty="0">
                <a:latin typeface="+mn-lt"/>
                <a:ea typeface="+mn-ea"/>
                <a:cs typeface="+mn-cs"/>
              </a:rPr>
              <a:t>: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en-US" dirty="0">
                <a:solidFill>
                  <a:schemeClr val="accent2"/>
                </a:solidFill>
              </a:rPr>
              <a:t>NX:</a:t>
            </a:r>
            <a:r>
              <a:rPr lang="vi-VN" dirty="0"/>
              <a:t> P </a:t>
            </a:r>
            <a:r>
              <a:rPr lang="vi-VN" dirty="0">
                <a:sym typeface="Symbol"/>
              </a:rPr>
              <a:t></a:t>
            </a:r>
            <a:r>
              <a:rPr lang="vi-VN" dirty="0"/>
              <a:t> Q đúng khi và chỉ</a:t>
            </a:r>
            <a:endParaRPr lang="en-US" dirty="0"/>
          </a:p>
          <a:p>
            <a:pPr marL="0" indent="1588" algn="just">
              <a:buClr>
                <a:srgbClr val="FF0000"/>
              </a:buClr>
              <a:buNone/>
            </a:pPr>
            <a:r>
              <a:rPr lang="vi-VN" dirty="0"/>
              <a:t> khi P và Q có cùng chân trị</a:t>
            </a:r>
            <a:endParaRPr lang="vi-VN" dirty="0">
              <a:latin typeface="+mn-lt"/>
              <a:ea typeface="+mn-ea"/>
              <a:cs typeface="+mn-cs"/>
            </a:endParaRPr>
          </a:p>
          <a:p>
            <a:pPr marL="0" indent="1588" algn="just">
              <a:buClr>
                <a:srgbClr val="FF0000"/>
              </a:buClr>
              <a:buNone/>
            </a:pPr>
            <a:r>
              <a:rPr lang="en-US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Ví</a:t>
            </a:r>
            <a:r>
              <a:rPr 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dụ</a:t>
            </a:r>
            <a:r>
              <a:rPr 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:</a:t>
            </a:r>
            <a:r>
              <a:rPr lang="en-US" dirty="0"/>
              <a:t> </a:t>
            </a:r>
            <a:r>
              <a:rPr lang="it-IT" dirty="0"/>
              <a:t>6 chia hết cho 3 khi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it-IT" dirty="0"/>
              <a:t>và chỉ khi 6 chia hết cho 2</a:t>
            </a:r>
            <a:endParaRPr lang="en-US" dirty="0"/>
          </a:p>
          <a:p>
            <a:pPr marL="0" indent="1588" algn="just">
              <a:buClr>
                <a:srgbClr val="FF0000"/>
              </a:buClr>
              <a:buNone/>
            </a:pPr>
            <a:endParaRPr lang="vi-VN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marL="0" indent="1588" algn="just">
              <a:buClr>
                <a:srgbClr val="FF0000"/>
              </a:buClr>
              <a:buNone/>
            </a:pPr>
            <a:endParaRPr lang="en-US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562600" y="4191000"/>
          <a:ext cx="3276600" cy="2032363"/>
        </p:xfrm>
        <a:graphic>
          <a:graphicData uri="http://schemas.openxmlformats.org/drawingml/2006/table">
            <a:tbl>
              <a:tblPr firstRow="1" bandRow="1">
                <a:effectLst/>
                <a:tableStyleId>{7DF18680-E054-41AD-8BC1-D1AEF772440D}</a:tableStyleId>
              </a:tblPr>
              <a:tblGrid>
                <a:gridCol w="109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3643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P</a:t>
                      </a:r>
                      <a:r>
                        <a:rPr lang="vi-VN" sz="2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/>
                        </a:rPr>
                        <a:t>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13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0</a:t>
                      </a:r>
                    </a:p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Mệnh</a:t>
            </a:r>
            <a:r>
              <a:rPr lang="en-US" sz="4800" b="1" dirty="0"/>
              <a:t> </a:t>
            </a:r>
            <a:r>
              <a:rPr lang="en-US" sz="4800" b="1" dirty="0" err="1"/>
              <a:t>đề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8001000" cy="5029200"/>
          </a:xfrm>
        </p:spPr>
        <p:txBody>
          <a:bodyPr/>
          <a:lstStyle/>
          <a:p>
            <a:pPr marL="0" indent="1588" algn="just">
              <a:buClr>
                <a:srgbClr val="FF0000"/>
              </a:buClr>
              <a:buNone/>
            </a:pPr>
            <a:r>
              <a:rPr lang="vi-VN" dirty="0">
                <a:solidFill>
                  <a:srgbClr val="FF0000"/>
                </a:solidFill>
              </a:rPr>
              <a:t> Định nghĩa: </a:t>
            </a:r>
            <a:r>
              <a:rPr lang="en-US" dirty="0"/>
              <a:t>B</a:t>
            </a:r>
            <a:r>
              <a:rPr lang="vi-VN" dirty="0"/>
              <a:t>iểu thức </a:t>
            </a:r>
            <a:r>
              <a:rPr lang="en-US" dirty="0"/>
              <a:t>logic </a:t>
            </a:r>
            <a:r>
              <a:rPr lang="vi-VN" dirty="0"/>
              <a:t>được cấu tạo từ: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en-US" dirty="0"/>
              <a:t> </a:t>
            </a:r>
            <a:r>
              <a:rPr lang="vi-VN" dirty="0"/>
              <a:t>- Các mệnh đề (các hằng mệnh đề)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en-US" dirty="0"/>
              <a:t> </a:t>
            </a:r>
            <a:r>
              <a:rPr lang="vi-VN" dirty="0"/>
              <a:t>-</a:t>
            </a:r>
            <a:r>
              <a:rPr lang="en-US" dirty="0"/>
              <a:t> </a:t>
            </a:r>
            <a:r>
              <a:rPr lang="vi-VN" dirty="0"/>
              <a:t>Các biến mệnh đề p, q, r, …, tức là các biến lấy giá trị là</a:t>
            </a:r>
            <a:r>
              <a:rPr lang="en-US" dirty="0"/>
              <a:t> </a:t>
            </a:r>
            <a:r>
              <a:rPr lang="vi-VN" dirty="0"/>
              <a:t>các mệnh đề nào đó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en-US" dirty="0"/>
              <a:t> </a:t>
            </a:r>
            <a:r>
              <a:rPr lang="vi-VN" dirty="0"/>
              <a:t>- Các phép toán </a:t>
            </a:r>
            <a:r>
              <a:rPr lang="en-US" dirty="0"/>
              <a:t>logic </a:t>
            </a:r>
            <a:r>
              <a:rPr lang="vi-VN" dirty="0">
                <a:sym typeface="Symbol"/>
              </a:rPr>
              <a:t></a:t>
            </a:r>
            <a:r>
              <a:rPr lang="en-US" dirty="0">
                <a:sym typeface="Symbol"/>
              </a:rPr>
              <a:t>, </a:t>
            </a:r>
            <a:r>
              <a:rPr lang="vi-VN" dirty="0">
                <a:sym typeface="Symbol"/>
              </a:rPr>
              <a:t></a:t>
            </a:r>
            <a:r>
              <a:rPr lang="en-US" dirty="0">
                <a:sym typeface="Symbol"/>
              </a:rPr>
              <a:t>, </a:t>
            </a:r>
            <a:r>
              <a:rPr lang="vi-VN" dirty="0">
                <a:sym typeface="Symbol"/>
              </a:rPr>
              <a:t></a:t>
            </a:r>
            <a:r>
              <a:rPr lang="en-US" dirty="0">
                <a:sym typeface="Symbol"/>
              </a:rPr>
              <a:t>, , </a:t>
            </a:r>
            <a:r>
              <a:rPr lang="vi-VN" dirty="0"/>
              <a:t> và dấu đóng mở ngoặc ()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rõ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.</a:t>
            </a:r>
            <a:endParaRPr lang="vi-VN" dirty="0"/>
          </a:p>
          <a:p>
            <a:pPr marL="0" indent="1588" algn="just">
              <a:buClr>
                <a:srgbClr val="FF0000"/>
              </a:buClr>
              <a:buNone/>
            </a:pPr>
            <a:r>
              <a:rPr lang="vi-VN" dirty="0">
                <a:solidFill>
                  <a:srgbClr val="FF0000"/>
                </a:solidFill>
              </a:rPr>
              <a:t>Ví dụ: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vi-VN" dirty="0"/>
              <a:t>E(p,q) =</a:t>
            </a:r>
            <a:r>
              <a:rPr lang="vi-VN" dirty="0">
                <a:sym typeface="Symbol"/>
              </a:rPr>
              <a:t> </a:t>
            </a:r>
            <a:r>
              <a:rPr lang="vi-VN" dirty="0"/>
              <a:t>(</a:t>
            </a:r>
            <a:r>
              <a:rPr lang="vi-VN" dirty="0">
                <a:sym typeface="Symbol"/>
              </a:rPr>
              <a:t></a:t>
            </a:r>
            <a:r>
              <a:rPr lang="vi-VN" dirty="0"/>
              <a:t>p </a:t>
            </a:r>
            <a:r>
              <a:rPr lang="vi-VN" dirty="0">
                <a:sym typeface="Symbol"/>
              </a:rPr>
              <a:t> </a:t>
            </a:r>
            <a:r>
              <a:rPr lang="vi-VN" dirty="0"/>
              <a:t>q)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vi-VN" dirty="0"/>
              <a:t>F(p,q,r) = (p </a:t>
            </a:r>
            <a:r>
              <a:rPr lang="vi-VN" dirty="0">
                <a:sym typeface="Symbol"/>
              </a:rPr>
              <a:t></a:t>
            </a:r>
            <a:r>
              <a:rPr lang="vi-VN" dirty="0"/>
              <a:t> q) </a:t>
            </a:r>
            <a:r>
              <a:rPr lang="en-US" dirty="0">
                <a:sym typeface="Symbol"/>
              </a:rPr>
              <a:t></a:t>
            </a:r>
            <a:r>
              <a:rPr lang="vi-VN" dirty="0"/>
              <a:t> </a:t>
            </a:r>
            <a:r>
              <a:rPr lang="vi-VN" dirty="0">
                <a:sym typeface="Symbol"/>
              </a:rPr>
              <a:t></a:t>
            </a:r>
            <a:r>
              <a:rPr lang="vi-VN" dirty="0"/>
              <a:t>(q </a:t>
            </a:r>
            <a:r>
              <a:rPr lang="vi-VN" dirty="0">
                <a:sym typeface="Symbol"/>
              </a:rPr>
              <a:t> </a:t>
            </a:r>
            <a:r>
              <a:rPr lang="vi-VN" dirty="0"/>
              <a:t>r)</a:t>
            </a:r>
            <a:endParaRPr lang="en-US" dirty="0"/>
          </a:p>
          <a:p>
            <a:pPr marL="0" indent="1588" algn="just">
              <a:buClr>
                <a:srgbClr val="FF0000"/>
              </a:buClr>
              <a:buNone/>
            </a:pPr>
            <a:endParaRPr lang="vi-VN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marL="0" indent="1588" algn="just">
              <a:buClr>
                <a:srgbClr val="FF0000"/>
              </a:buClr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7813"/>
            <a:ext cx="8458200" cy="1143000"/>
          </a:xfrm>
        </p:spPr>
        <p:txBody>
          <a:bodyPr/>
          <a:lstStyle/>
          <a:p>
            <a:r>
              <a:rPr lang="en-US" sz="4400" b="1" dirty="0"/>
              <a:t>2. </a:t>
            </a:r>
            <a:r>
              <a:rPr lang="en-US" sz="4400" b="1" dirty="0" err="1"/>
              <a:t>Biểu</a:t>
            </a:r>
            <a:r>
              <a:rPr lang="en-US" sz="4400" b="1" dirty="0"/>
              <a:t> </a:t>
            </a:r>
            <a:r>
              <a:rPr lang="en-US" sz="4400" b="1" dirty="0" err="1"/>
              <a:t>thức</a:t>
            </a:r>
            <a:r>
              <a:rPr lang="en-US" sz="4400" b="1" dirty="0"/>
              <a:t> logic (</a:t>
            </a:r>
            <a:r>
              <a:rPr lang="en-US" sz="4400" b="1" dirty="0" err="1"/>
              <a:t>Dạng</a:t>
            </a:r>
            <a:r>
              <a:rPr lang="en-US" sz="4400" b="1" dirty="0"/>
              <a:t> </a:t>
            </a:r>
            <a:r>
              <a:rPr lang="en-US" sz="4400" b="1" dirty="0" err="1"/>
              <a:t>mệnh</a:t>
            </a:r>
            <a:r>
              <a:rPr lang="en-US" sz="4400" b="1" dirty="0"/>
              <a:t> </a:t>
            </a:r>
            <a:r>
              <a:rPr lang="en-US" sz="4400" b="1" dirty="0" err="1"/>
              <a:t>đề</a:t>
            </a:r>
            <a:r>
              <a:rPr lang="en-US" sz="4400" b="1" dirty="0"/>
              <a:t>)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vi-VN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Độ</a:t>
            </a:r>
            <a:r>
              <a:rPr lang="en-US" sz="26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ưu</a:t>
            </a:r>
            <a:r>
              <a:rPr lang="en-US" sz="26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tiên</a:t>
            </a:r>
            <a:r>
              <a:rPr lang="en-US" sz="26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của</a:t>
            </a:r>
            <a:r>
              <a:rPr lang="en-US" sz="26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các</a:t>
            </a:r>
            <a:r>
              <a:rPr lang="en-US" sz="26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toán</a:t>
            </a:r>
            <a:r>
              <a:rPr lang="en-US" sz="26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tử</a:t>
            </a:r>
            <a:r>
              <a:rPr lang="en-US" sz="26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logic: </a:t>
            </a:r>
          </a:p>
          <a:p>
            <a:pPr>
              <a:buNone/>
            </a:pPr>
            <a:r>
              <a:rPr lang="en-US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</a:t>
            </a:r>
            <a:r>
              <a:rPr lang="en-US" sz="26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Ưu</a:t>
            </a:r>
            <a:r>
              <a:rPr lang="en-US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tiên</a:t>
            </a:r>
            <a:r>
              <a:rPr lang="en-US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mức</a:t>
            </a:r>
            <a:r>
              <a:rPr lang="en-US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1: ()</a:t>
            </a:r>
          </a:p>
          <a:p>
            <a:pPr>
              <a:buNone/>
            </a:pPr>
            <a:r>
              <a:rPr lang="en-US" sz="2600" dirty="0"/>
              <a:t>- </a:t>
            </a:r>
            <a:r>
              <a:rPr lang="en-US" sz="26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Ưu</a:t>
            </a:r>
            <a:r>
              <a:rPr lang="en-US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tiên</a:t>
            </a:r>
            <a:r>
              <a:rPr lang="en-US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mức</a:t>
            </a:r>
            <a:r>
              <a:rPr lang="en-US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2: </a:t>
            </a:r>
            <a:r>
              <a:rPr lang="vi-VN" sz="2600" dirty="0">
                <a:sym typeface="Symbol"/>
              </a:rPr>
              <a:t></a:t>
            </a:r>
            <a:endParaRPr lang="en-US" sz="26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buNone/>
            </a:pPr>
            <a:r>
              <a:rPr lang="en-US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</a:t>
            </a:r>
            <a:r>
              <a:rPr lang="en-US" sz="26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Ưu</a:t>
            </a:r>
            <a:r>
              <a:rPr lang="en-US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tiên</a:t>
            </a:r>
            <a:r>
              <a:rPr lang="en-US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mức</a:t>
            </a:r>
            <a:r>
              <a:rPr lang="en-US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3: </a:t>
            </a:r>
            <a:r>
              <a:rPr lang="vi-VN" sz="2600" dirty="0">
                <a:sym typeface="Symbol"/>
              </a:rPr>
              <a:t></a:t>
            </a:r>
            <a:r>
              <a:rPr lang="en-US" sz="2600" dirty="0">
                <a:sym typeface="Symbol"/>
              </a:rPr>
              <a:t>, </a:t>
            </a:r>
            <a:r>
              <a:rPr lang="vi-VN" sz="2600" dirty="0">
                <a:sym typeface="Symbol"/>
              </a:rPr>
              <a:t></a:t>
            </a:r>
            <a:endParaRPr lang="en-US" sz="26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buNone/>
            </a:pPr>
            <a:r>
              <a:rPr lang="en-US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</a:t>
            </a:r>
            <a:r>
              <a:rPr lang="en-US" sz="26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Ưu</a:t>
            </a:r>
            <a:r>
              <a:rPr lang="en-US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tiên</a:t>
            </a:r>
            <a:r>
              <a:rPr lang="en-US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6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mức</a:t>
            </a:r>
            <a:r>
              <a:rPr lang="en-US" sz="26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4: </a:t>
            </a:r>
            <a:r>
              <a:rPr lang="en-US" sz="2600" dirty="0">
                <a:sym typeface="Symbol"/>
              </a:rPr>
              <a:t>, </a:t>
            </a:r>
            <a:r>
              <a:rPr lang="vi-VN" sz="2600" dirty="0"/>
              <a:t> </a:t>
            </a:r>
            <a:endParaRPr lang="en-US" sz="26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1588" algn="just">
              <a:buClr>
                <a:srgbClr val="FF0000"/>
              </a:buClr>
              <a:buNone/>
            </a:pPr>
            <a:r>
              <a:rPr lang="vi-VN" sz="2600" dirty="0">
                <a:solidFill>
                  <a:srgbClr val="FF0000"/>
                </a:solidFill>
              </a:rPr>
              <a:t>Bảng chân trị của </a:t>
            </a:r>
            <a:r>
              <a:rPr lang="en-US" sz="2600" dirty="0" err="1">
                <a:solidFill>
                  <a:srgbClr val="FF0000"/>
                </a:solidFill>
              </a:rPr>
              <a:t>một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biểu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thức</a:t>
            </a:r>
            <a:r>
              <a:rPr lang="en-US" sz="2600" dirty="0">
                <a:solidFill>
                  <a:srgbClr val="FF0000"/>
                </a:solidFill>
              </a:rPr>
              <a:t> logic: </a:t>
            </a:r>
            <a:r>
              <a:rPr lang="vi-VN" sz="2600" dirty="0"/>
              <a:t>là bảng </a:t>
            </a:r>
            <a:r>
              <a:rPr lang="en-US" sz="2600" dirty="0" err="1"/>
              <a:t>liệt</a:t>
            </a:r>
            <a:r>
              <a:rPr lang="en-US" sz="2600" dirty="0"/>
              <a:t> </a:t>
            </a:r>
            <a:r>
              <a:rPr lang="en-US" sz="2600" dirty="0" err="1"/>
              <a:t>kê</a:t>
            </a:r>
            <a:r>
              <a:rPr lang="en-US" sz="2600" dirty="0"/>
              <a:t> </a:t>
            </a:r>
            <a:r>
              <a:rPr lang="vi-VN" sz="2600" dirty="0"/>
              <a:t>chân trị c</a:t>
            </a:r>
            <a:r>
              <a:rPr lang="en-US" sz="2600" dirty="0" err="1"/>
              <a:t>ủa</a:t>
            </a:r>
            <a:r>
              <a:rPr lang="en-US" sz="2600" dirty="0"/>
              <a:t> </a:t>
            </a:r>
            <a:r>
              <a:rPr lang="en-US" sz="2600" dirty="0" err="1"/>
              <a:t>biểu</a:t>
            </a:r>
            <a:r>
              <a:rPr lang="en-US" sz="2600" dirty="0"/>
              <a:t> </a:t>
            </a:r>
            <a:r>
              <a:rPr lang="en-US" sz="2600" dirty="0" err="1"/>
              <a:t>thức</a:t>
            </a:r>
            <a:r>
              <a:rPr lang="en-US" sz="2600" dirty="0"/>
              <a:t> logic </a:t>
            </a:r>
            <a:r>
              <a:rPr lang="en-US" sz="2600" dirty="0" err="1"/>
              <a:t>theo</a:t>
            </a:r>
            <a:r>
              <a:rPr lang="en-US" sz="2600" dirty="0"/>
              <a:t> </a:t>
            </a:r>
            <a:r>
              <a:rPr lang="en-US" sz="2600" dirty="0" err="1"/>
              <a:t>các</a:t>
            </a:r>
            <a:r>
              <a:rPr lang="en-US" sz="2600" dirty="0"/>
              <a:t> </a:t>
            </a:r>
            <a:r>
              <a:rPr lang="en-US" sz="2600" dirty="0" err="1"/>
              <a:t>trường</a:t>
            </a:r>
            <a:r>
              <a:rPr lang="en-US" sz="2600" dirty="0"/>
              <a:t> </a:t>
            </a:r>
            <a:r>
              <a:rPr lang="en-US" sz="2600" dirty="0" err="1"/>
              <a:t>hợp</a:t>
            </a:r>
            <a:r>
              <a:rPr lang="en-US" sz="2600" dirty="0"/>
              <a:t> </a:t>
            </a:r>
            <a:r>
              <a:rPr lang="en-US" sz="2600" dirty="0" err="1"/>
              <a:t>về</a:t>
            </a:r>
            <a:r>
              <a:rPr lang="vi-VN" sz="2600" dirty="0"/>
              <a:t> chân trị của </a:t>
            </a:r>
            <a:r>
              <a:rPr lang="en-US" sz="2600" dirty="0" err="1"/>
              <a:t>tất</a:t>
            </a:r>
            <a:r>
              <a:rPr lang="en-US" sz="2600" dirty="0"/>
              <a:t> </a:t>
            </a:r>
            <a:r>
              <a:rPr lang="en-US" sz="2600" dirty="0" err="1"/>
              <a:t>cả</a:t>
            </a:r>
            <a:r>
              <a:rPr lang="en-US" sz="2600" dirty="0"/>
              <a:t> </a:t>
            </a:r>
            <a:r>
              <a:rPr lang="vi-VN" sz="2600" dirty="0"/>
              <a:t>các biến mệnh đề</a:t>
            </a:r>
            <a:r>
              <a:rPr lang="en-US" sz="2600" dirty="0"/>
              <a:t> </a:t>
            </a:r>
            <a:r>
              <a:rPr lang="en-US" sz="2600" dirty="0" err="1"/>
              <a:t>trong</a:t>
            </a:r>
            <a:r>
              <a:rPr lang="en-US" sz="2600" dirty="0"/>
              <a:t> </a:t>
            </a:r>
            <a:r>
              <a:rPr lang="en-US" sz="2600" dirty="0" err="1"/>
              <a:t>biểu</a:t>
            </a:r>
            <a:r>
              <a:rPr lang="en-US" sz="2600" dirty="0"/>
              <a:t> </a:t>
            </a:r>
            <a:r>
              <a:rPr lang="en-US" sz="2600" dirty="0" err="1"/>
              <a:t>thức</a:t>
            </a:r>
            <a:r>
              <a:rPr lang="en-US" sz="2600" dirty="0"/>
              <a:t> logic hay </a:t>
            </a:r>
            <a:r>
              <a:rPr lang="en-US" sz="2600" dirty="0" err="1"/>
              <a:t>theo</a:t>
            </a:r>
            <a:r>
              <a:rPr lang="en-US" sz="2600" dirty="0"/>
              <a:t> </a:t>
            </a:r>
            <a:r>
              <a:rPr lang="en-US" sz="2600" dirty="0" err="1"/>
              <a:t>các</a:t>
            </a:r>
            <a:r>
              <a:rPr lang="en-US" sz="2600" dirty="0"/>
              <a:t> </a:t>
            </a:r>
            <a:r>
              <a:rPr lang="en-US" sz="2600" dirty="0" err="1"/>
              <a:t>bộ</a:t>
            </a:r>
            <a:r>
              <a:rPr lang="en-US" sz="2600" dirty="0"/>
              <a:t> </a:t>
            </a:r>
            <a:r>
              <a:rPr lang="en-US" sz="2600" dirty="0" err="1"/>
              <a:t>giá</a:t>
            </a:r>
            <a:r>
              <a:rPr lang="en-US" sz="2600" dirty="0"/>
              <a:t> </a:t>
            </a:r>
            <a:r>
              <a:rPr lang="en-US" sz="2600" dirty="0" err="1"/>
              <a:t>trị</a:t>
            </a:r>
            <a:r>
              <a:rPr lang="en-US" sz="2600" dirty="0"/>
              <a:t> </a:t>
            </a:r>
            <a:r>
              <a:rPr lang="en-US" sz="2600" dirty="0" err="1"/>
              <a:t>của</a:t>
            </a:r>
            <a:r>
              <a:rPr lang="en-US" sz="2600" dirty="0"/>
              <a:t> </a:t>
            </a:r>
            <a:r>
              <a:rPr lang="en-US" sz="2600" dirty="0" err="1"/>
              <a:t>bộ</a:t>
            </a:r>
            <a:r>
              <a:rPr lang="en-US" sz="2600" dirty="0"/>
              <a:t> </a:t>
            </a:r>
            <a:r>
              <a:rPr lang="en-US" sz="2600" dirty="0" err="1"/>
              <a:t>biến</a:t>
            </a:r>
            <a:r>
              <a:rPr lang="en-US" sz="2600" dirty="0"/>
              <a:t> </a:t>
            </a:r>
            <a:r>
              <a:rPr lang="en-US" sz="2600" dirty="0" err="1"/>
              <a:t>mệnh</a:t>
            </a:r>
            <a:r>
              <a:rPr lang="en-US" sz="2600" dirty="0"/>
              <a:t> </a:t>
            </a:r>
            <a:r>
              <a:rPr lang="en-US" sz="2600" dirty="0" err="1"/>
              <a:t>đề</a:t>
            </a:r>
            <a:r>
              <a:rPr lang="vi-VN" sz="2600" dirty="0"/>
              <a:t>.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Biểu</a:t>
            </a:r>
            <a:r>
              <a:rPr lang="en-US" sz="4800" b="1" dirty="0"/>
              <a:t> </a:t>
            </a:r>
            <a:r>
              <a:rPr lang="en-US" sz="4800" b="1" dirty="0" err="1"/>
              <a:t>thức</a:t>
            </a:r>
            <a:r>
              <a:rPr lang="en-US" sz="4800" b="1" dirty="0"/>
              <a:t> logic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1588" algn="just">
              <a:buClr>
                <a:srgbClr val="FF0000"/>
              </a:buClr>
              <a:buNone/>
            </a:pPr>
            <a:r>
              <a:rPr lang="vi-VN" sz="2600" dirty="0">
                <a:solidFill>
                  <a:srgbClr val="FF0000"/>
                </a:solidFill>
              </a:rPr>
              <a:t>Bảng chân trị của </a:t>
            </a:r>
            <a:r>
              <a:rPr lang="en-US" sz="2600" dirty="0" err="1">
                <a:solidFill>
                  <a:srgbClr val="FF0000"/>
                </a:solidFill>
              </a:rPr>
              <a:t>một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biểu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thức</a:t>
            </a:r>
            <a:r>
              <a:rPr lang="en-US" sz="2600" dirty="0">
                <a:solidFill>
                  <a:srgbClr val="FF0000"/>
                </a:solidFill>
              </a:rPr>
              <a:t> logic.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en-US" sz="2600" dirty="0" err="1">
                <a:solidFill>
                  <a:srgbClr val="FF0000"/>
                </a:solidFill>
              </a:rPr>
              <a:t>Ví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dụ</a:t>
            </a:r>
            <a:r>
              <a:rPr lang="en-US" sz="2600" dirty="0">
                <a:solidFill>
                  <a:srgbClr val="FF0000"/>
                </a:solidFill>
              </a:rPr>
              <a:t>: 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en-US" sz="2600" dirty="0" err="1"/>
              <a:t>Với</a:t>
            </a:r>
            <a:r>
              <a:rPr lang="en-US" sz="2600" dirty="0"/>
              <a:t> </a:t>
            </a:r>
            <a:r>
              <a:rPr lang="en-US" sz="2600" dirty="0" err="1"/>
              <a:t>một</a:t>
            </a:r>
            <a:r>
              <a:rPr lang="en-US" sz="2600" dirty="0"/>
              <a:t> </a:t>
            </a:r>
            <a:r>
              <a:rPr lang="en-US" sz="2600" dirty="0" err="1"/>
              <a:t>biến</a:t>
            </a:r>
            <a:r>
              <a:rPr lang="en-US" sz="2600" dirty="0"/>
              <a:t> </a:t>
            </a:r>
            <a:r>
              <a:rPr lang="en-US" sz="2600" dirty="0" err="1"/>
              <a:t>mệnh</a:t>
            </a:r>
            <a:r>
              <a:rPr lang="en-US" sz="2600" dirty="0"/>
              <a:t> </a:t>
            </a:r>
            <a:r>
              <a:rPr lang="en-US" sz="2600" dirty="0" err="1"/>
              <a:t>đề</a:t>
            </a:r>
            <a:r>
              <a:rPr lang="en-US" sz="2600" dirty="0"/>
              <a:t>, </a:t>
            </a:r>
            <a:r>
              <a:rPr lang="en-US" sz="2600" dirty="0" err="1"/>
              <a:t>ta</a:t>
            </a:r>
            <a:r>
              <a:rPr lang="en-US" sz="2600" dirty="0"/>
              <a:t>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hai</a:t>
            </a:r>
            <a:r>
              <a:rPr lang="en-US" sz="2600" dirty="0"/>
              <a:t> </a:t>
            </a:r>
            <a:r>
              <a:rPr lang="en-US" sz="2600" dirty="0" err="1"/>
              <a:t>trường</a:t>
            </a:r>
            <a:r>
              <a:rPr lang="en-US" sz="2600" dirty="0"/>
              <a:t> </a:t>
            </a:r>
            <a:r>
              <a:rPr lang="en-US" sz="2600" dirty="0" err="1"/>
              <a:t>hợp</a:t>
            </a:r>
            <a:r>
              <a:rPr lang="en-US" sz="2600" dirty="0"/>
              <a:t> </a:t>
            </a:r>
            <a:r>
              <a:rPr lang="en-US" sz="2600" dirty="0" err="1"/>
              <a:t>là</a:t>
            </a:r>
            <a:r>
              <a:rPr lang="en-US" sz="2600" dirty="0"/>
              <a:t> 0 </a:t>
            </a:r>
            <a:r>
              <a:rPr lang="en-US" sz="2600" dirty="0" err="1"/>
              <a:t>hoặc</a:t>
            </a:r>
            <a:r>
              <a:rPr lang="en-US" sz="2600" dirty="0"/>
              <a:t> 1.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en-US" sz="2600" dirty="0" err="1"/>
              <a:t>Với</a:t>
            </a:r>
            <a:r>
              <a:rPr lang="en-US" sz="2600" dirty="0"/>
              <a:t> </a:t>
            </a:r>
            <a:r>
              <a:rPr lang="en-US" sz="2600" dirty="0" err="1"/>
              <a:t>hai</a:t>
            </a:r>
            <a:r>
              <a:rPr lang="en-US" sz="2600" dirty="0"/>
              <a:t> </a:t>
            </a:r>
            <a:r>
              <a:rPr lang="en-US" sz="2600" dirty="0" err="1"/>
              <a:t>biến</a:t>
            </a:r>
            <a:r>
              <a:rPr lang="en-US" sz="2600" dirty="0"/>
              <a:t> </a:t>
            </a:r>
            <a:r>
              <a:rPr lang="en-US" sz="2600" dirty="0" err="1"/>
              <a:t>mệnh</a:t>
            </a:r>
            <a:r>
              <a:rPr lang="en-US" sz="2600" dirty="0"/>
              <a:t> </a:t>
            </a:r>
            <a:r>
              <a:rPr lang="en-US" sz="2600" dirty="0" err="1"/>
              <a:t>đề</a:t>
            </a:r>
            <a:r>
              <a:rPr lang="en-US" sz="2600" dirty="0"/>
              <a:t> </a:t>
            </a:r>
            <a:r>
              <a:rPr lang="en-US" sz="2600" dirty="0" err="1"/>
              <a:t>p,q</a:t>
            </a:r>
            <a:r>
              <a:rPr lang="en-US" sz="2600" dirty="0"/>
              <a:t> </a:t>
            </a:r>
            <a:r>
              <a:rPr lang="en-US" sz="2600" dirty="0" err="1"/>
              <a:t>ta</a:t>
            </a:r>
            <a:r>
              <a:rPr lang="en-US" sz="2600" dirty="0"/>
              <a:t>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bốn</a:t>
            </a:r>
            <a:r>
              <a:rPr lang="en-US" sz="2600" dirty="0"/>
              <a:t> </a:t>
            </a:r>
            <a:r>
              <a:rPr lang="en-US" sz="2600" dirty="0" err="1"/>
              <a:t>trường</a:t>
            </a:r>
            <a:r>
              <a:rPr lang="en-US" sz="2600" dirty="0"/>
              <a:t> </a:t>
            </a:r>
            <a:r>
              <a:rPr lang="en-US" sz="2600" dirty="0" err="1"/>
              <a:t>hợp</a:t>
            </a:r>
            <a:r>
              <a:rPr lang="en-US" sz="2600" dirty="0"/>
              <a:t> </a:t>
            </a:r>
            <a:r>
              <a:rPr lang="en-US" sz="2600" dirty="0" err="1"/>
              <a:t>chân</a:t>
            </a:r>
            <a:r>
              <a:rPr lang="en-US" sz="2600" dirty="0"/>
              <a:t> </a:t>
            </a:r>
            <a:r>
              <a:rPr lang="en-US" sz="2600" dirty="0" err="1"/>
              <a:t>trị</a:t>
            </a:r>
            <a:r>
              <a:rPr lang="en-US" sz="2600" dirty="0"/>
              <a:t> </a:t>
            </a:r>
            <a:r>
              <a:rPr lang="en-US" sz="2600" dirty="0" err="1"/>
              <a:t>của</a:t>
            </a:r>
            <a:r>
              <a:rPr lang="en-US" sz="2600" dirty="0"/>
              <a:t> </a:t>
            </a:r>
            <a:r>
              <a:rPr lang="en-US" sz="2600" dirty="0" err="1"/>
              <a:t>bộ</a:t>
            </a:r>
            <a:r>
              <a:rPr lang="en-US" sz="2600" dirty="0"/>
              <a:t> </a:t>
            </a:r>
            <a:r>
              <a:rPr lang="en-US" sz="2600" dirty="0" err="1"/>
              <a:t>biến</a:t>
            </a:r>
            <a:r>
              <a:rPr lang="en-US" sz="2600" dirty="0"/>
              <a:t> (</a:t>
            </a:r>
            <a:r>
              <a:rPr lang="en-US" sz="2600" dirty="0" err="1"/>
              <a:t>p,q</a:t>
            </a:r>
            <a:r>
              <a:rPr lang="en-US" sz="2600" dirty="0"/>
              <a:t>) </a:t>
            </a:r>
            <a:r>
              <a:rPr lang="en-US" sz="2600" dirty="0" err="1"/>
              <a:t>là</a:t>
            </a:r>
            <a:r>
              <a:rPr lang="en-US" sz="2600" dirty="0"/>
              <a:t> </a:t>
            </a:r>
            <a:r>
              <a:rPr lang="en-US" sz="2600" dirty="0" err="1"/>
              <a:t>các</a:t>
            </a:r>
            <a:r>
              <a:rPr lang="en-US" sz="2600" dirty="0"/>
              <a:t> </a:t>
            </a:r>
            <a:r>
              <a:rPr lang="en-US" sz="2600" dirty="0" err="1"/>
              <a:t>bộ</a:t>
            </a:r>
            <a:r>
              <a:rPr lang="en-US" sz="2600" dirty="0"/>
              <a:t> </a:t>
            </a:r>
            <a:r>
              <a:rPr lang="en-US" sz="2600" dirty="0" err="1"/>
              <a:t>giá</a:t>
            </a:r>
            <a:r>
              <a:rPr lang="en-US" sz="2600" dirty="0"/>
              <a:t> </a:t>
            </a:r>
            <a:r>
              <a:rPr lang="en-US" sz="2600" dirty="0" err="1"/>
              <a:t>trị</a:t>
            </a:r>
            <a:r>
              <a:rPr lang="en-US" sz="2600" dirty="0"/>
              <a:t> (0,0), (0,1), (1,0) </a:t>
            </a:r>
            <a:r>
              <a:rPr lang="en-US" sz="2600" dirty="0" err="1"/>
              <a:t>và</a:t>
            </a:r>
            <a:r>
              <a:rPr lang="en-US" sz="2600" dirty="0"/>
              <a:t> (1,1).</a:t>
            </a:r>
          </a:p>
          <a:p>
            <a:pPr marL="0" indent="1588" algn="just">
              <a:buClr>
                <a:srgbClr val="FF0000"/>
              </a:buClr>
              <a:buNone/>
            </a:pPr>
            <a:r>
              <a:rPr lang="en-US" sz="2600" dirty="0">
                <a:solidFill>
                  <a:schemeClr val="accent2"/>
                </a:solidFill>
              </a:rPr>
              <a:t>NX: </a:t>
            </a:r>
            <a:r>
              <a:rPr lang="en-US" sz="2600" dirty="0" err="1"/>
              <a:t>Trong</a:t>
            </a:r>
            <a:r>
              <a:rPr lang="en-US" sz="2600" dirty="0"/>
              <a:t> </a:t>
            </a:r>
            <a:r>
              <a:rPr lang="en-US" sz="2600" dirty="0" err="1"/>
              <a:t>trường</a:t>
            </a:r>
            <a:r>
              <a:rPr lang="en-US" sz="2600" dirty="0"/>
              <a:t> </a:t>
            </a:r>
            <a:r>
              <a:rPr lang="en-US" sz="2600" dirty="0" err="1"/>
              <a:t>hợp</a:t>
            </a:r>
            <a:r>
              <a:rPr lang="en-US" sz="2600" dirty="0"/>
              <a:t> </a:t>
            </a:r>
            <a:r>
              <a:rPr lang="en-US" sz="2600" dirty="0" err="1"/>
              <a:t>tổng</a:t>
            </a:r>
            <a:r>
              <a:rPr lang="en-US" sz="2600" dirty="0"/>
              <a:t> </a:t>
            </a:r>
            <a:r>
              <a:rPr lang="en-US" sz="2600" dirty="0" err="1"/>
              <a:t>quát</a:t>
            </a:r>
            <a:r>
              <a:rPr lang="en-US" sz="2600" dirty="0"/>
              <a:t>, n</a:t>
            </a:r>
            <a:r>
              <a:rPr lang="vi-VN" sz="2600" dirty="0"/>
              <a:t>ếu có n biến</a:t>
            </a:r>
            <a:r>
              <a:rPr lang="en-US" sz="2600" dirty="0"/>
              <a:t> </a:t>
            </a:r>
            <a:r>
              <a:rPr lang="en-US" sz="2600" dirty="0" err="1"/>
              <a:t>mệnh</a:t>
            </a:r>
            <a:r>
              <a:rPr lang="en-US" sz="2600" dirty="0"/>
              <a:t> </a:t>
            </a:r>
            <a:r>
              <a:rPr lang="en-US" sz="2600" dirty="0" err="1"/>
              <a:t>đề</a:t>
            </a:r>
            <a:r>
              <a:rPr lang="en-US" sz="2600" dirty="0"/>
              <a:t> </a:t>
            </a:r>
            <a:r>
              <a:rPr lang="en-US" sz="2600" dirty="0" err="1"/>
              <a:t>thì</a:t>
            </a:r>
            <a:r>
              <a:rPr lang="en-US" sz="2600" dirty="0"/>
              <a:t> </a:t>
            </a:r>
            <a:r>
              <a:rPr lang="en-US" sz="2600" dirty="0" err="1"/>
              <a:t>ta</a:t>
            </a:r>
            <a:r>
              <a:rPr lang="en-US" sz="2600" dirty="0"/>
              <a:t> </a:t>
            </a:r>
            <a:r>
              <a:rPr lang="en-US" sz="2600" dirty="0" err="1"/>
              <a:t>có</a:t>
            </a:r>
            <a:r>
              <a:rPr lang="en-US" sz="2600" dirty="0"/>
              <a:t>    </a:t>
            </a:r>
            <a:r>
              <a:rPr lang="vi-VN" sz="2600" dirty="0"/>
              <a:t> </a:t>
            </a:r>
            <a:r>
              <a:rPr lang="en-US" sz="2600" dirty="0" err="1"/>
              <a:t>trường</a:t>
            </a:r>
            <a:r>
              <a:rPr lang="en-US" sz="2600" dirty="0"/>
              <a:t> </a:t>
            </a:r>
            <a:r>
              <a:rPr lang="en-US" sz="2600" dirty="0" err="1"/>
              <a:t>hợp</a:t>
            </a:r>
            <a:r>
              <a:rPr lang="en-US" sz="2600" dirty="0"/>
              <a:t> </a:t>
            </a:r>
            <a:r>
              <a:rPr lang="en-US" sz="2600" dirty="0" err="1"/>
              <a:t>chân</a:t>
            </a:r>
            <a:r>
              <a:rPr lang="en-US" sz="2600" dirty="0"/>
              <a:t> </a:t>
            </a:r>
            <a:r>
              <a:rPr lang="en-US" sz="2600" dirty="0" err="1"/>
              <a:t>trị</a:t>
            </a:r>
            <a:r>
              <a:rPr lang="en-US" sz="2600" dirty="0"/>
              <a:t> </a:t>
            </a:r>
            <a:r>
              <a:rPr lang="en-US" sz="2600" dirty="0" err="1"/>
              <a:t>cho</a:t>
            </a:r>
            <a:r>
              <a:rPr lang="en-US" sz="2600" dirty="0"/>
              <a:t> </a:t>
            </a:r>
            <a:r>
              <a:rPr lang="vi-VN" sz="2600" dirty="0"/>
              <a:t>b</a:t>
            </a:r>
            <a:r>
              <a:rPr lang="en-US" sz="2600" dirty="0"/>
              <a:t>ộ n </a:t>
            </a:r>
            <a:r>
              <a:rPr lang="en-US" sz="2600" dirty="0" err="1"/>
              <a:t>biến</a:t>
            </a:r>
            <a:r>
              <a:rPr lang="en-US" sz="2600" dirty="0"/>
              <a:t>.</a:t>
            </a:r>
            <a:r>
              <a:rPr lang="vi-VN" sz="2600" dirty="0"/>
              <a:t>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Biểu</a:t>
            </a:r>
            <a:r>
              <a:rPr lang="en-US" sz="4800" b="1" dirty="0"/>
              <a:t> </a:t>
            </a:r>
            <a:r>
              <a:rPr lang="en-US" sz="4800" b="1" dirty="0" err="1"/>
              <a:t>thức</a:t>
            </a:r>
            <a:r>
              <a:rPr lang="en-US" sz="4800" b="1" dirty="0"/>
              <a:t> logic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14</a:t>
            </a:fld>
            <a:endParaRPr lang="en-US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3771900" y="5092700"/>
          <a:ext cx="304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4560" imgH="380880" progId="Equation.DSMT4">
                  <p:embed/>
                </p:oleObj>
              </mc:Choice>
              <mc:Fallback>
                <p:oleObj name="Equation" r:id="rId2" imgW="304560" imgH="380880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1900" y="5092700"/>
                        <a:ext cx="3048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7772400" cy="5105400"/>
          </a:xfrm>
        </p:spPr>
        <p:txBody>
          <a:bodyPr/>
          <a:lstStyle/>
          <a:p>
            <a:pPr>
              <a:buNone/>
            </a:pP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Ví</a:t>
            </a:r>
            <a:r>
              <a:rPr 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dụ</a:t>
            </a:r>
            <a:r>
              <a:rPr 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: </a:t>
            </a:r>
            <a:r>
              <a:rPr lang="en-US" dirty="0">
                <a:latin typeface="+mn-lt"/>
                <a:ea typeface="+mn-ea"/>
                <a:cs typeface="+mn-cs"/>
              </a:rPr>
              <a:t>Cho</a:t>
            </a:r>
            <a:r>
              <a:rPr lang="en-US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dirty="0">
                <a:latin typeface="+mn-lt"/>
                <a:ea typeface="+mn-ea"/>
                <a:cs typeface="+mn-cs"/>
              </a:rPr>
              <a:t>E(</a:t>
            </a:r>
            <a:r>
              <a:rPr lang="en-US" dirty="0" err="1">
                <a:latin typeface="+mn-lt"/>
                <a:ea typeface="+mn-ea"/>
                <a:cs typeface="+mn-cs"/>
              </a:rPr>
              <a:t>p,q,r</a:t>
            </a:r>
            <a:r>
              <a:rPr lang="en-US" dirty="0">
                <a:latin typeface="+mn-lt"/>
                <a:ea typeface="+mn-ea"/>
                <a:cs typeface="+mn-cs"/>
              </a:rPr>
              <a:t>) =(p </a:t>
            </a:r>
            <a:r>
              <a:rPr lang="vi-VN" dirty="0">
                <a:sym typeface="Symbol"/>
              </a:rPr>
              <a:t> </a:t>
            </a:r>
            <a:r>
              <a:rPr lang="en-US" dirty="0">
                <a:latin typeface="+mn-lt"/>
                <a:ea typeface="+mn-ea"/>
                <a:cs typeface="+mn-cs"/>
              </a:rPr>
              <a:t>q) </a:t>
            </a:r>
            <a:r>
              <a:rPr lang="en-US" dirty="0">
                <a:sym typeface="Symbol"/>
              </a:rPr>
              <a:t> </a:t>
            </a:r>
            <a:r>
              <a:rPr lang="en-US" dirty="0">
                <a:latin typeface="+mn-lt"/>
                <a:ea typeface="+mn-ea"/>
                <a:cs typeface="+mn-cs"/>
              </a:rPr>
              <a:t>r . </a:t>
            </a:r>
          </a:p>
          <a:p>
            <a:pPr>
              <a:buNone/>
            </a:pPr>
            <a:r>
              <a:rPr lang="en-US" dirty="0">
                <a:latin typeface="+mn-lt"/>
                <a:ea typeface="+mn-ea"/>
                <a:cs typeface="+mn-cs"/>
              </a:rPr>
              <a:t>Ta </a:t>
            </a:r>
            <a:r>
              <a:rPr lang="en-US" dirty="0" err="1">
                <a:latin typeface="+mn-lt"/>
                <a:ea typeface="+mn-ea"/>
                <a:cs typeface="+mn-cs"/>
              </a:rPr>
              <a:t>có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bảng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chân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trị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sau</a:t>
            </a:r>
            <a:r>
              <a:rPr lang="en-US" dirty="0">
                <a:latin typeface="+mn-lt"/>
                <a:ea typeface="+mn-ea"/>
                <a:cs typeface="+mn-cs"/>
              </a:rPr>
              <a:t>: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Biểu</a:t>
            </a:r>
            <a:r>
              <a:rPr lang="en-US" sz="4800" b="1" dirty="0"/>
              <a:t> </a:t>
            </a:r>
            <a:r>
              <a:rPr lang="en-US" sz="4800" b="1" dirty="0" err="1"/>
              <a:t>thức</a:t>
            </a:r>
            <a:r>
              <a:rPr lang="en-US" sz="4800" b="1" dirty="0"/>
              <a:t> logic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15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24000" y="2743203"/>
          <a:ext cx="6781800" cy="351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313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ea typeface="+mn-ea"/>
                          <a:cs typeface="+mn-cs"/>
                        </a:rPr>
                        <a:t>p </a:t>
                      </a:r>
                      <a:r>
                        <a:rPr lang="vi-VN" dirty="0">
                          <a:sym typeface="Symbol"/>
                        </a:rPr>
                        <a:t> </a:t>
                      </a:r>
                      <a:r>
                        <a:rPr lang="en-US" dirty="0">
                          <a:latin typeface="+mn-lt"/>
                          <a:ea typeface="+mn-ea"/>
                          <a:cs typeface="+mn-cs"/>
                        </a:rPr>
                        <a:t>q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ea typeface="+mn-ea"/>
                          <a:cs typeface="+mn-cs"/>
                        </a:rPr>
                        <a:t>(p </a:t>
                      </a:r>
                      <a:r>
                        <a:rPr lang="vi-VN" dirty="0">
                          <a:sym typeface="Symbol"/>
                        </a:rPr>
                        <a:t> </a:t>
                      </a:r>
                      <a:r>
                        <a:rPr lang="en-US" dirty="0">
                          <a:latin typeface="+mn-lt"/>
                          <a:ea typeface="+mn-ea"/>
                          <a:cs typeface="+mn-cs"/>
                        </a:rPr>
                        <a:t>q) </a:t>
                      </a:r>
                      <a:r>
                        <a:rPr lang="en-US" dirty="0">
                          <a:sym typeface="Symbol"/>
                        </a:rPr>
                        <a:t> </a:t>
                      </a:r>
                      <a:r>
                        <a:rPr lang="en-US" dirty="0">
                          <a:latin typeface="+mn-lt"/>
                          <a:ea typeface="+mn-ea"/>
                          <a:cs typeface="+mn-cs"/>
                        </a:rPr>
                        <a:t>r 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00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00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00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00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00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00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400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400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3"/>
            <a:ext cx="7391400" cy="1143000"/>
          </a:xfrm>
        </p:spPr>
        <p:txBody>
          <a:bodyPr/>
          <a:lstStyle/>
          <a:p>
            <a:r>
              <a:rPr lang="en-US" sz="2800" b="1" dirty="0" err="1">
                <a:solidFill>
                  <a:srgbClr val="FF0000"/>
                </a:solidFill>
              </a:rPr>
              <a:t>Bài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tập</a:t>
            </a:r>
            <a:r>
              <a:rPr lang="en-US" sz="2800" b="1" dirty="0">
                <a:solidFill>
                  <a:srgbClr val="FF0000"/>
                </a:solidFill>
              </a:rPr>
              <a:t> 1: </a:t>
            </a:r>
            <a:r>
              <a:rPr lang="en-US" sz="2800" dirty="0"/>
              <a:t>Cho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mệnh</a:t>
            </a:r>
            <a:r>
              <a:rPr lang="en-US" sz="2800" dirty="0"/>
              <a:t> </a:t>
            </a:r>
            <a:r>
              <a:rPr lang="en-US" sz="2800" dirty="0" err="1"/>
              <a:t>đề</a:t>
            </a:r>
            <a:r>
              <a:rPr lang="en-US" sz="2800" dirty="0"/>
              <a:t> </a:t>
            </a:r>
            <a:r>
              <a:rPr lang="en-US" sz="2800" dirty="0" err="1"/>
              <a:t>tham</a:t>
            </a:r>
            <a:r>
              <a:rPr lang="en-US" sz="2800" dirty="0"/>
              <a:t> </a:t>
            </a:r>
            <a:r>
              <a:rPr lang="en-US" sz="2800" dirty="0" err="1"/>
              <a:t>biến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FF0000"/>
                </a:solidFill>
              </a:rPr>
              <a:t>P: x&lt;0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FF0000"/>
                </a:solidFill>
              </a:rPr>
              <a:t>Q: y&gt;0.</a:t>
            </a:r>
            <a:r>
              <a:rPr lang="en-US" sz="2800" dirty="0"/>
              <a:t> </a:t>
            </a:r>
            <a:r>
              <a:rPr lang="en-US" sz="2800" dirty="0" err="1"/>
              <a:t>Hoàn</a:t>
            </a:r>
            <a:r>
              <a:rPr lang="en-US" sz="2800" dirty="0"/>
              <a:t> </a:t>
            </a:r>
            <a:r>
              <a:rPr lang="en-US" sz="2800" dirty="0" err="1"/>
              <a:t>thành</a:t>
            </a:r>
            <a:r>
              <a:rPr lang="en-US" sz="2800" dirty="0"/>
              <a:t> </a:t>
            </a:r>
            <a:r>
              <a:rPr lang="en-US" sz="2800" dirty="0" err="1"/>
              <a:t>bảng</a:t>
            </a:r>
            <a:r>
              <a:rPr lang="en-US" sz="2800" dirty="0"/>
              <a:t> </a:t>
            </a:r>
            <a:r>
              <a:rPr lang="en-US" sz="2800" dirty="0" err="1"/>
              <a:t>chân</a:t>
            </a:r>
            <a:r>
              <a:rPr lang="en-US" sz="2800" dirty="0"/>
              <a:t> </a:t>
            </a:r>
            <a:r>
              <a:rPr lang="en-US" sz="2800" dirty="0" err="1"/>
              <a:t>trị</a:t>
            </a:r>
            <a:r>
              <a:rPr lang="en-US" sz="2800" dirty="0"/>
              <a:t> </a:t>
            </a:r>
            <a:r>
              <a:rPr lang="en-US" sz="2800" dirty="0" err="1"/>
              <a:t>dưới</a:t>
            </a:r>
            <a:r>
              <a:rPr lang="en-US" sz="2800" dirty="0"/>
              <a:t> </a:t>
            </a:r>
            <a:r>
              <a:rPr lang="en-US" sz="2800" dirty="0" err="1"/>
              <a:t>đây</a:t>
            </a:r>
            <a:r>
              <a:rPr lang="en-US" sz="2800" dirty="0"/>
              <a:t>: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7534F-29FB-4919-8BAB-5FEBEEEB81F6}" type="slidenum">
              <a:rPr lang="en-US" smtClean="0"/>
              <a:pPr/>
              <a:t>16</a:t>
            </a:fld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4097653"/>
              </p:ext>
            </p:extLst>
          </p:nvPr>
        </p:nvGraphicFramePr>
        <p:xfrm>
          <a:off x="762000" y="1752600"/>
          <a:ext cx="792480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P(x&lt;0)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Q(y&gt;0)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P 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Times New Roman"/>
                          <a:ea typeface="ＭＳ ゴシック"/>
                          <a:cs typeface="Times New Roman"/>
                        </a:rPr>
                        <a:t>∨Q</a:t>
                      </a:r>
                      <a:endParaRPr lang="en-US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Times New Roman"/>
                          <a:ea typeface="ＭＳ ゴシック"/>
                          <a:cs typeface="Times New Roman"/>
                        </a:rPr>
                        <a:t>∧Q</a:t>
                      </a:r>
                      <a:endParaRPr lang="en-US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lang="en-US" baseline="0" dirty="0">
                          <a:solidFill>
                            <a:srgbClr val="FF0000"/>
                          </a:solidFill>
                          <a:latin typeface="Times New Roman"/>
                          <a:ea typeface="Wingdings"/>
                          <a:cs typeface="Times New Roman"/>
                          <a:sym typeface="Wingdings"/>
                        </a:rPr>
                        <a:t> 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Times New Roman"/>
                          <a:ea typeface="Wingdings"/>
                          <a:cs typeface="Times New Roman"/>
                          <a:sym typeface="Wingdings"/>
                        </a:rPr>
                        <a:t>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P 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  <a:sym typeface="Wingdings"/>
                        </a:rPr>
                        <a:t> 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62443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3"/>
            <a:ext cx="8077200" cy="1143000"/>
          </a:xfrm>
        </p:spPr>
        <p:txBody>
          <a:bodyPr/>
          <a:lstStyle/>
          <a:p>
            <a:pPr algn="just"/>
            <a:r>
              <a:rPr lang="en-US" sz="2800" b="1" dirty="0" err="1">
                <a:solidFill>
                  <a:srgbClr val="FF0000"/>
                </a:solidFill>
              </a:rPr>
              <a:t>Bài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tập</a:t>
            </a:r>
            <a:r>
              <a:rPr lang="en-US" sz="2800" b="1" dirty="0">
                <a:solidFill>
                  <a:srgbClr val="FF0000"/>
                </a:solidFill>
              </a:rPr>
              <a:t> 2: </a:t>
            </a:r>
            <a:r>
              <a:rPr lang="en-US" sz="2800" dirty="0" err="1">
                <a:solidFill>
                  <a:schemeClr val="tx1"/>
                </a:solidFill>
              </a:rPr>
              <a:t>Viết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biểu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thức</a:t>
            </a:r>
            <a:r>
              <a:rPr lang="en-US" sz="2800" b="1" dirty="0">
                <a:solidFill>
                  <a:schemeClr val="tx1"/>
                </a:solidFill>
              </a:rPr>
              <a:t> logic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mệnh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đề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cho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các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mô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tả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dưới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đây</a:t>
            </a:r>
            <a:r>
              <a:rPr lang="en-US" sz="2800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7534F-29FB-4919-8BAB-5FEBEEEB81F6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09600" y="1524000"/>
            <a:ext cx="83058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6400" indent="-406400" algn="just"/>
            <a:r>
              <a:rPr lang="en-US" sz="2400" b="1" dirty="0">
                <a:solidFill>
                  <a:schemeClr val="accent2"/>
                </a:solidFill>
              </a:rPr>
              <a:t>1. </a:t>
            </a:r>
            <a:r>
              <a:rPr lang="en-US" sz="2400" dirty="0" err="1"/>
              <a:t>Điều</a:t>
            </a:r>
            <a:r>
              <a:rPr lang="en-US" sz="2400" dirty="0"/>
              <a:t> </a:t>
            </a:r>
            <a:r>
              <a:rPr lang="en-US" sz="2400" dirty="0" err="1"/>
              <a:t>kiện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tháng</a:t>
            </a:r>
            <a:r>
              <a:rPr lang="en-US" sz="2400" dirty="0"/>
              <a:t> (m)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 </a:t>
            </a:r>
            <a:r>
              <a:rPr lang="en-US" sz="2400" dirty="0" err="1"/>
              <a:t>lệ</a:t>
            </a:r>
            <a:endParaRPr lang="en-US" sz="2400" dirty="0"/>
          </a:p>
          <a:p>
            <a:pPr marL="406400" indent="-406400" algn="just"/>
            <a:r>
              <a:rPr lang="en-US" sz="2400" b="1" dirty="0">
                <a:solidFill>
                  <a:srgbClr val="0000FF"/>
                </a:solidFill>
              </a:rPr>
              <a:t>2.</a:t>
            </a:r>
            <a:r>
              <a:rPr lang="en-US" sz="2400" dirty="0"/>
              <a:t> </a:t>
            </a:r>
            <a:r>
              <a:rPr lang="en-US" sz="2400" dirty="0" err="1"/>
              <a:t>Điều</a:t>
            </a:r>
            <a:r>
              <a:rPr lang="en-US" sz="2400" dirty="0"/>
              <a:t> </a:t>
            </a:r>
            <a:r>
              <a:rPr lang="en-US" sz="2400" dirty="0" err="1"/>
              <a:t>kiện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tháng</a:t>
            </a:r>
            <a:r>
              <a:rPr lang="en-US" sz="2400" dirty="0"/>
              <a:t> m </a:t>
            </a:r>
            <a:r>
              <a:rPr lang="en-US" sz="2400" dirty="0" err="1"/>
              <a:t>có</a:t>
            </a:r>
            <a:r>
              <a:rPr lang="en-US" sz="2400" dirty="0"/>
              <a:t> 30 </a:t>
            </a:r>
            <a:r>
              <a:rPr lang="en-US" sz="2400" dirty="0" err="1"/>
              <a:t>ngày</a:t>
            </a:r>
            <a:endParaRPr lang="en-US" sz="2400" dirty="0"/>
          </a:p>
          <a:p>
            <a:pPr marL="406400" indent="-406400" algn="just"/>
            <a:r>
              <a:rPr lang="en-US" sz="2400" b="1" dirty="0">
                <a:solidFill>
                  <a:schemeClr val="accent6"/>
                </a:solidFill>
              </a:rPr>
              <a:t>3.</a:t>
            </a:r>
            <a:r>
              <a:rPr lang="en-US" sz="2400" dirty="0"/>
              <a:t> </a:t>
            </a:r>
            <a:r>
              <a:rPr lang="en-US" sz="2400" dirty="0" err="1"/>
              <a:t>Điều</a:t>
            </a:r>
            <a:r>
              <a:rPr lang="en-US" sz="2400" dirty="0"/>
              <a:t> </a:t>
            </a:r>
            <a:r>
              <a:rPr lang="en-US" sz="2400" dirty="0" err="1"/>
              <a:t>kiện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tháng</a:t>
            </a:r>
            <a:r>
              <a:rPr lang="en-US" sz="2400" dirty="0"/>
              <a:t> 2 </a:t>
            </a:r>
            <a:r>
              <a:rPr lang="en-US" sz="2400" dirty="0" err="1"/>
              <a:t>có</a:t>
            </a:r>
            <a:r>
              <a:rPr lang="en-US" sz="2400" dirty="0"/>
              <a:t> 29 </a:t>
            </a:r>
            <a:r>
              <a:rPr lang="en-US" sz="2400" dirty="0" err="1"/>
              <a:t>ngày</a:t>
            </a:r>
            <a:endParaRPr lang="en-US" sz="2400" dirty="0"/>
          </a:p>
          <a:p>
            <a:pPr marL="406400" indent="-406400" algn="just"/>
            <a:r>
              <a:rPr lang="en-US" sz="2400" b="1" dirty="0">
                <a:solidFill>
                  <a:srgbClr val="0000FF"/>
                </a:solidFill>
              </a:rPr>
              <a:t>4.</a:t>
            </a:r>
            <a:r>
              <a:rPr lang="en-US" sz="2400" dirty="0"/>
              <a:t> </a:t>
            </a:r>
            <a:r>
              <a:rPr lang="en-US" sz="2400" dirty="0" err="1"/>
              <a:t>Điều</a:t>
            </a:r>
            <a:r>
              <a:rPr lang="en-US" sz="2400" dirty="0"/>
              <a:t> </a:t>
            </a:r>
            <a:r>
              <a:rPr lang="en-US" sz="2400" dirty="0" err="1"/>
              <a:t>kiện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A, B, C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góc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tam </a:t>
            </a:r>
            <a:r>
              <a:rPr lang="en-US" sz="2400" dirty="0" err="1"/>
              <a:t>giác</a:t>
            </a:r>
            <a:endParaRPr lang="en-US" sz="2400" dirty="0"/>
          </a:p>
          <a:p>
            <a:pPr marL="406400" indent="-406400" algn="just"/>
            <a:r>
              <a:rPr lang="en-US" sz="2400" b="1" dirty="0">
                <a:solidFill>
                  <a:srgbClr val="E70000"/>
                </a:solidFill>
              </a:rPr>
              <a:t>5.</a:t>
            </a:r>
            <a:r>
              <a:rPr lang="en-US" sz="2400" dirty="0"/>
              <a:t> </a:t>
            </a:r>
            <a:r>
              <a:rPr lang="en-US" sz="2400" dirty="0" err="1"/>
              <a:t>Điều</a:t>
            </a:r>
            <a:r>
              <a:rPr lang="en-US" sz="2400" dirty="0"/>
              <a:t> </a:t>
            </a:r>
            <a:r>
              <a:rPr lang="en-US" sz="2400" dirty="0" err="1"/>
              <a:t>kiện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A, B, C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góc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tam </a:t>
            </a:r>
            <a:r>
              <a:rPr lang="en-US" sz="2400" dirty="0" err="1"/>
              <a:t>giác</a:t>
            </a:r>
            <a:r>
              <a:rPr lang="en-US" sz="2400" dirty="0"/>
              <a:t> </a:t>
            </a:r>
            <a:r>
              <a:rPr lang="en-US" sz="2400" dirty="0" err="1"/>
              <a:t>vuông</a:t>
            </a:r>
            <a:endParaRPr lang="en-US" sz="2400" dirty="0"/>
          </a:p>
          <a:p>
            <a:pPr marL="406400" indent="-406400" algn="just"/>
            <a:r>
              <a:rPr lang="en-US" sz="2400" b="1" dirty="0">
                <a:solidFill>
                  <a:srgbClr val="0000FF"/>
                </a:solidFill>
              </a:rPr>
              <a:t>6.</a:t>
            </a:r>
            <a:r>
              <a:rPr lang="en-US" sz="2400" dirty="0"/>
              <a:t> </a:t>
            </a:r>
            <a:r>
              <a:rPr lang="en-US" sz="2400" dirty="0" err="1"/>
              <a:t>Điều</a:t>
            </a:r>
            <a:r>
              <a:rPr lang="en-US" sz="2400" dirty="0"/>
              <a:t> </a:t>
            </a:r>
            <a:r>
              <a:rPr lang="en-US" sz="2400" dirty="0" err="1"/>
              <a:t>kiện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A, B, C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góc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tam </a:t>
            </a:r>
            <a:r>
              <a:rPr lang="en-US" sz="2400" dirty="0" err="1"/>
              <a:t>giác</a:t>
            </a:r>
            <a:r>
              <a:rPr lang="en-US" sz="2400" dirty="0"/>
              <a:t> </a:t>
            </a:r>
            <a:r>
              <a:rPr lang="en-US" sz="2400" dirty="0" err="1"/>
              <a:t>cân</a:t>
            </a:r>
            <a:endParaRPr lang="en-US" sz="2400" dirty="0"/>
          </a:p>
          <a:p>
            <a:pPr marL="406400" indent="-406400" algn="just"/>
            <a:r>
              <a:rPr lang="en-US" sz="2400" b="1" dirty="0">
                <a:solidFill>
                  <a:srgbClr val="E70000"/>
                </a:solidFill>
              </a:rPr>
              <a:t>7. </a:t>
            </a:r>
            <a:r>
              <a:rPr lang="en-US" sz="2400" dirty="0" err="1"/>
              <a:t>Điều</a:t>
            </a:r>
            <a:r>
              <a:rPr lang="en-US" sz="2400" dirty="0"/>
              <a:t> </a:t>
            </a:r>
            <a:r>
              <a:rPr lang="en-US" sz="2400" dirty="0" err="1"/>
              <a:t>kiện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A, B, C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góc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tam </a:t>
            </a:r>
            <a:r>
              <a:rPr lang="en-US" sz="2400" dirty="0" err="1"/>
              <a:t>giác</a:t>
            </a:r>
            <a:r>
              <a:rPr lang="en-US" sz="2400" dirty="0"/>
              <a:t> </a:t>
            </a:r>
            <a:r>
              <a:rPr lang="en-US" sz="2400" dirty="0" err="1"/>
              <a:t>đều</a:t>
            </a:r>
            <a:r>
              <a:rPr lang="en-US" sz="2400" dirty="0"/>
              <a:t>.</a:t>
            </a:r>
          </a:p>
          <a:p>
            <a:pPr marL="406400" indent="-406400" algn="just"/>
            <a:r>
              <a:rPr lang="en-US" sz="2400" b="1" dirty="0">
                <a:solidFill>
                  <a:srgbClr val="0000FF"/>
                </a:solidFill>
              </a:rPr>
              <a:t>8.</a:t>
            </a:r>
            <a:r>
              <a:rPr lang="en-US" sz="2400" dirty="0"/>
              <a:t> </a:t>
            </a:r>
            <a:r>
              <a:rPr lang="en-US" sz="2400" dirty="0" err="1"/>
              <a:t>Điều</a:t>
            </a:r>
            <a:r>
              <a:rPr lang="en-US" sz="2400" dirty="0"/>
              <a:t> </a:t>
            </a:r>
            <a:r>
              <a:rPr lang="en-US" sz="2400" dirty="0" err="1"/>
              <a:t>kiện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học</a:t>
            </a:r>
            <a:r>
              <a:rPr lang="en-US" sz="2400" dirty="0"/>
              <a:t> </a:t>
            </a:r>
            <a:r>
              <a:rPr lang="en-US" sz="2400" dirty="0" err="1"/>
              <a:t>sinh</a:t>
            </a:r>
            <a:r>
              <a:rPr lang="en-US" sz="2400" dirty="0"/>
              <a:t> A </a:t>
            </a:r>
            <a:r>
              <a:rPr lang="en-US" sz="2400" dirty="0" err="1"/>
              <a:t>xét</a:t>
            </a:r>
            <a:r>
              <a:rPr lang="en-US" sz="2400" dirty="0"/>
              <a:t> </a:t>
            </a:r>
            <a:r>
              <a:rPr lang="en-US" sz="2400" dirty="0" err="1"/>
              <a:t>điểm</a:t>
            </a:r>
            <a:r>
              <a:rPr lang="en-US" sz="2400" dirty="0"/>
              <a:t> </a:t>
            </a:r>
            <a:r>
              <a:rPr lang="en-US" sz="2400" dirty="0" err="1"/>
              <a:t>theo</a:t>
            </a:r>
            <a:r>
              <a:rPr lang="en-US" sz="2400" dirty="0"/>
              <a:t> </a:t>
            </a:r>
            <a:r>
              <a:rPr lang="en-US" sz="2400" dirty="0" err="1"/>
              <a:t>tổ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 A0 </a:t>
            </a:r>
            <a:r>
              <a:rPr lang="en-US" sz="2400" dirty="0" err="1"/>
              <a:t>đậu</a:t>
            </a:r>
            <a:r>
              <a:rPr lang="en-US" sz="2400" dirty="0"/>
              <a:t> </a:t>
            </a:r>
            <a:r>
              <a:rPr lang="en-US" sz="2400" dirty="0" err="1"/>
              <a:t>vào</a:t>
            </a:r>
            <a:r>
              <a:rPr lang="en-US" sz="2400" dirty="0"/>
              <a:t> </a:t>
            </a:r>
            <a:r>
              <a:rPr lang="en-US" sz="2400" dirty="0" err="1"/>
              <a:t>khoa</a:t>
            </a:r>
            <a:r>
              <a:rPr lang="en-US" sz="2400" dirty="0"/>
              <a:t> CNTT IUH </a:t>
            </a:r>
            <a:r>
              <a:rPr lang="en-US" sz="2400" dirty="0" err="1"/>
              <a:t>năm</a:t>
            </a:r>
            <a:r>
              <a:rPr lang="en-US" sz="2400" dirty="0"/>
              <a:t> 2019</a:t>
            </a:r>
          </a:p>
          <a:p>
            <a:pPr marL="406400" indent="-406400" algn="just"/>
            <a:r>
              <a:rPr lang="en-US" sz="2400" b="1" dirty="0">
                <a:solidFill>
                  <a:srgbClr val="E70000"/>
                </a:solidFill>
              </a:rPr>
              <a:t>9.</a:t>
            </a:r>
            <a:r>
              <a:rPr lang="en-US" sz="2400" dirty="0"/>
              <a:t> </a:t>
            </a:r>
            <a:r>
              <a:rPr lang="en-US" sz="2400" dirty="0" err="1"/>
              <a:t>Điều</a:t>
            </a:r>
            <a:r>
              <a:rPr lang="en-US" sz="2400" dirty="0"/>
              <a:t> </a:t>
            </a:r>
            <a:r>
              <a:rPr lang="en-US" sz="2400" dirty="0" err="1"/>
              <a:t>kiện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bạn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nhận</a:t>
            </a:r>
            <a:r>
              <a:rPr lang="en-US" sz="2400" dirty="0"/>
              <a:t> </a:t>
            </a:r>
            <a:r>
              <a:rPr lang="en-US" sz="2400" dirty="0" err="1"/>
              <a:t>học</a:t>
            </a:r>
            <a:r>
              <a:rPr lang="en-US" sz="2400" dirty="0"/>
              <a:t> </a:t>
            </a:r>
            <a:r>
              <a:rPr lang="en-US" sz="2400" dirty="0" err="1"/>
              <a:t>bổng</a:t>
            </a:r>
            <a:r>
              <a:rPr lang="en-US" sz="2400" dirty="0"/>
              <a:t> 100%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học</a:t>
            </a:r>
            <a:r>
              <a:rPr lang="en-US" sz="2400" dirty="0"/>
              <a:t> </a:t>
            </a:r>
            <a:r>
              <a:rPr lang="en-US" sz="2400" dirty="0" err="1"/>
              <a:t>kỳ</a:t>
            </a:r>
            <a:r>
              <a:rPr lang="en-US" sz="2400" dirty="0"/>
              <a:t> 1 </a:t>
            </a:r>
            <a:r>
              <a:rPr lang="en-US" sz="2400" dirty="0" err="1"/>
              <a:t>năm</a:t>
            </a:r>
            <a:r>
              <a:rPr lang="en-US" sz="2400" dirty="0"/>
              <a:t> </a:t>
            </a:r>
            <a:r>
              <a:rPr lang="en-US" sz="2400" dirty="0" err="1"/>
              <a:t>học</a:t>
            </a:r>
            <a:r>
              <a:rPr lang="en-US" sz="2400" dirty="0"/>
              <a:t> 2020-2021.</a:t>
            </a:r>
          </a:p>
          <a:p>
            <a:pPr marL="406400" indent="-406400" algn="just"/>
            <a:r>
              <a:rPr lang="en-US" sz="2400" b="1" dirty="0">
                <a:solidFill>
                  <a:srgbClr val="0000FF"/>
                </a:solidFill>
              </a:rPr>
              <a:t>10.</a:t>
            </a:r>
            <a:r>
              <a:rPr lang="en-US" sz="2400" dirty="0"/>
              <a:t> </a:t>
            </a:r>
            <a:r>
              <a:rPr lang="en-US" sz="2400" dirty="0" err="1"/>
              <a:t>Điều</a:t>
            </a:r>
            <a:r>
              <a:rPr lang="en-US" sz="2400" dirty="0"/>
              <a:t> </a:t>
            </a:r>
            <a:r>
              <a:rPr lang="en-US" sz="2400" dirty="0" err="1"/>
              <a:t>kiện</a:t>
            </a:r>
            <a:r>
              <a:rPr lang="en-US" sz="2400" dirty="0"/>
              <a:t> </a:t>
            </a:r>
            <a:r>
              <a:rPr lang="en-US" sz="2400" dirty="0" err="1"/>
              <a:t>tiếng</a:t>
            </a:r>
            <a:r>
              <a:rPr lang="en-US" sz="2400" dirty="0"/>
              <a:t> </a:t>
            </a:r>
            <a:r>
              <a:rPr lang="en-US" sz="2400" dirty="0" err="1"/>
              <a:t>Anh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bạn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đăng</a:t>
            </a:r>
            <a:r>
              <a:rPr lang="en-US" sz="2400" dirty="0"/>
              <a:t> </a:t>
            </a:r>
            <a:r>
              <a:rPr lang="en-US" sz="2400" dirty="0" err="1"/>
              <a:t>ký</a:t>
            </a:r>
            <a:r>
              <a:rPr lang="en-US" sz="2400" dirty="0"/>
              <a:t> </a:t>
            </a:r>
            <a:r>
              <a:rPr lang="en-US" sz="2400" dirty="0" err="1"/>
              <a:t>học</a:t>
            </a:r>
            <a:r>
              <a:rPr lang="en-US" sz="2400" dirty="0"/>
              <a:t> </a:t>
            </a:r>
            <a:r>
              <a:rPr lang="en-US" sz="2400" dirty="0" err="1"/>
              <a:t>phần</a:t>
            </a:r>
            <a:r>
              <a:rPr lang="en-US" sz="2400" dirty="0"/>
              <a:t> </a:t>
            </a:r>
            <a:r>
              <a:rPr lang="en-US" sz="2400" dirty="0" err="1"/>
              <a:t>năm</a:t>
            </a:r>
            <a:r>
              <a:rPr lang="en-US" sz="2400" dirty="0"/>
              <a:t> 3</a:t>
            </a:r>
            <a:r>
              <a:rPr lang="en-US" dirty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529182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7534F-29FB-4919-8BAB-5FEBEEEB81F6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09600" y="1524000"/>
            <a:ext cx="8229600" cy="1447800"/>
          </a:xfrm>
        </p:spPr>
        <p:txBody>
          <a:bodyPr/>
          <a:lstStyle/>
          <a:p>
            <a:pPr algn="just"/>
            <a:r>
              <a:rPr lang="en-US" sz="2800" b="1" dirty="0" err="1">
                <a:solidFill>
                  <a:srgbClr val="FF0000"/>
                </a:solidFill>
              </a:rPr>
              <a:t>Bài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tập</a:t>
            </a:r>
            <a:r>
              <a:rPr lang="en-US" sz="2800" b="1" dirty="0">
                <a:solidFill>
                  <a:srgbClr val="FF0000"/>
                </a:solidFill>
              </a:rPr>
              <a:t> 3: </a:t>
            </a:r>
            <a:r>
              <a:rPr lang="en-US" sz="2400" dirty="0" err="1">
                <a:solidFill>
                  <a:schemeClr val="tx1"/>
                </a:solidFill>
              </a:rPr>
              <a:t>Hàm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eq</a:t>
            </a:r>
            <a:r>
              <a:rPr lang="en-US" sz="2400" dirty="0">
                <a:solidFill>
                  <a:schemeClr val="tx1"/>
                </a:solidFill>
              </a:rPr>
              <a:t>(X,Y) </a:t>
            </a:r>
            <a:r>
              <a:rPr lang="en-US" sz="2400" dirty="0" err="1">
                <a:solidFill>
                  <a:schemeClr val="tx1"/>
                </a:solidFill>
              </a:rPr>
              <a:t>trả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về</a:t>
            </a:r>
            <a:r>
              <a:rPr lang="en-US" sz="2400" dirty="0">
                <a:solidFill>
                  <a:schemeClr val="tx1"/>
                </a:solidFill>
              </a:rPr>
              <a:t> 1 </a:t>
            </a:r>
            <a:r>
              <a:rPr lang="en-US" sz="2400" dirty="0" err="1">
                <a:solidFill>
                  <a:schemeClr val="tx1"/>
                </a:solidFill>
              </a:rPr>
              <a:t>khi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giá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trị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của</a:t>
            </a:r>
            <a:r>
              <a:rPr lang="en-US" sz="2400" dirty="0">
                <a:solidFill>
                  <a:schemeClr val="tx1"/>
                </a:solidFill>
              </a:rPr>
              <a:t> X </a:t>
            </a:r>
            <a:r>
              <a:rPr lang="en-US" sz="2400" dirty="0" err="1">
                <a:solidFill>
                  <a:schemeClr val="tx1"/>
                </a:solidFill>
              </a:rPr>
              <a:t>và</a:t>
            </a:r>
            <a:r>
              <a:rPr lang="en-US" sz="2400" dirty="0">
                <a:solidFill>
                  <a:schemeClr val="tx1"/>
                </a:solidFill>
              </a:rPr>
              <a:t> Y </a:t>
            </a:r>
            <a:r>
              <a:rPr lang="en-US" sz="2400" dirty="0" err="1">
                <a:solidFill>
                  <a:schemeClr val="tx1"/>
                </a:solidFill>
              </a:rPr>
              <a:t>là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như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nhau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en-US" sz="2400" dirty="0" err="1">
                <a:solidFill>
                  <a:schemeClr val="tx1"/>
                </a:solidFill>
              </a:rPr>
              <a:t>trả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về</a:t>
            </a:r>
            <a:r>
              <a:rPr lang="en-US" sz="2400" dirty="0">
                <a:solidFill>
                  <a:schemeClr val="tx1"/>
                </a:solidFill>
              </a:rPr>
              <a:t> 0 </a:t>
            </a:r>
            <a:r>
              <a:rPr lang="en-US" sz="2400" dirty="0" err="1">
                <a:solidFill>
                  <a:schemeClr val="tx1"/>
                </a:solidFill>
              </a:rPr>
              <a:t>trong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các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trường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hợp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còn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lại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  <a:r>
              <a:rPr lang="en-US" sz="2400" dirty="0" err="1">
                <a:solidFill>
                  <a:schemeClr val="tx1"/>
                </a:solidFill>
              </a:rPr>
              <a:t>Biểu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thức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nào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dưới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đây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là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điều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kiện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cần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và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đủ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để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nhận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về</a:t>
            </a:r>
            <a:r>
              <a:rPr lang="en-US" sz="2400" dirty="0">
                <a:solidFill>
                  <a:schemeClr val="tx1"/>
                </a:solidFill>
              </a:rPr>
              <a:t> 1 </a:t>
            </a:r>
            <a:r>
              <a:rPr lang="en-US" sz="2400" dirty="0" err="1">
                <a:solidFill>
                  <a:schemeClr val="tx1"/>
                </a:solidFill>
              </a:rPr>
              <a:t>khi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hàm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eq</a:t>
            </a:r>
            <a:r>
              <a:rPr lang="en-US" sz="2400" dirty="0">
                <a:solidFill>
                  <a:schemeClr val="tx1"/>
                </a:solidFill>
              </a:rPr>
              <a:t>(</a:t>
            </a:r>
            <a:r>
              <a:rPr lang="en-US" sz="2400" dirty="0" err="1">
                <a:solidFill>
                  <a:schemeClr val="tx1"/>
                </a:solidFill>
              </a:rPr>
              <a:t>eq</a:t>
            </a:r>
            <a:r>
              <a:rPr lang="en-US" sz="2400" dirty="0">
                <a:solidFill>
                  <a:schemeClr val="tx1"/>
                </a:solidFill>
              </a:rPr>
              <a:t>(A,B), </a:t>
            </a:r>
            <a:r>
              <a:rPr lang="en-US" sz="2400" dirty="0" err="1">
                <a:solidFill>
                  <a:schemeClr val="tx1"/>
                </a:solidFill>
              </a:rPr>
              <a:t>eq</a:t>
            </a:r>
            <a:r>
              <a:rPr lang="en-US" sz="2400" dirty="0">
                <a:solidFill>
                  <a:schemeClr val="tx1"/>
                </a:solidFill>
              </a:rPr>
              <a:t>(B,C)) </a:t>
            </a:r>
            <a:r>
              <a:rPr lang="en-US" sz="2400" dirty="0" err="1">
                <a:solidFill>
                  <a:schemeClr val="tx1"/>
                </a:solidFill>
              </a:rPr>
              <a:t>được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gọi</a:t>
            </a:r>
            <a:r>
              <a:rPr lang="en-US" sz="2400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276600"/>
            <a:ext cx="7848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r>
              <a:rPr lang="en-US" sz="2400" dirty="0"/>
              <a:t>(A=B </a:t>
            </a:r>
            <a:r>
              <a:rPr lang="en-US" sz="2400" dirty="0" err="1"/>
              <a:t>và</a:t>
            </a:r>
            <a:r>
              <a:rPr lang="en-US" sz="2400" dirty="0"/>
              <a:t> B=C) </a:t>
            </a:r>
            <a:r>
              <a:rPr lang="en-US" sz="2400" dirty="0" err="1"/>
              <a:t>hoặc</a:t>
            </a:r>
            <a:r>
              <a:rPr lang="en-US" sz="2400" dirty="0"/>
              <a:t> (A#B </a:t>
            </a:r>
            <a:r>
              <a:rPr lang="en-US" sz="2400" dirty="0" err="1"/>
              <a:t>và</a:t>
            </a:r>
            <a:r>
              <a:rPr lang="en-US" sz="2400" dirty="0"/>
              <a:t> B#C)</a:t>
            </a:r>
          </a:p>
          <a:p>
            <a:pPr marL="342900" indent="-342900">
              <a:buFontTx/>
              <a:buAutoNum type="alphaLcParenR"/>
            </a:pPr>
            <a:r>
              <a:rPr lang="en-US" sz="2400" dirty="0"/>
              <a:t>(A=B </a:t>
            </a:r>
            <a:r>
              <a:rPr lang="en-US" sz="2400" dirty="0" err="1"/>
              <a:t>và</a:t>
            </a:r>
            <a:r>
              <a:rPr lang="en-US" sz="2400" dirty="0"/>
              <a:t> B=C) </a:t>
            </a:r>
            <a:r>
              <a:rPr lang="en-US" sz="2400" dirty="0" err="1"/>
              <a:t>hoặc</a:t>
            </a:r>
            <a:r>
              <a:rPr lang="en-US" sz="2400" dirty="0"/>
              <a:t> (A#B </a:t>
            </a:r>
            <a:r>
              <a:rPr lang="en-US" sz="2400" dirty="0" err="1"/>
              <a:t>hoặc</a:t>
            </a:r>
            <a:r>
              <a:rPr lang="en-US" sz="2400" dirty="0"/>
              <a:t> B#C)</a:t>
            </a:r>
          </a:p>
          <a:p>
            <a:pPr marL="342900" indent="-342900">
              <a:buFontTx/>
              <a:buAutoNum type="alphaLcParenR"/>
            </a:pPr>
            <a:r>
              <a:rPr lang="en-US" sz="2400" dirty="0"/>
              <a:t>(A=B </a:t>
            </a:r>
            <a:r>
              <a:rPr lang="en-US" sz="2400" dirty="0" err="1"/>
              <a:t>và</a:t>
            </a:r>
            <a:r>
              <a:rPr lang="en-US" sz="2400" dirty="0"/>
              <a:t> B=C) </a:t>
            </a:r>
            <a:r>
              <a:rPr lang="en-US" sz="2400" dirty="0" err="1"/>
              <a:t>hoặc</a:t>
            </a:r>
            <a:r>
              <a:rPr lang="en-US" sz="2400" dirty="0"/>
              <a:t> (A=C)</a:t>
            </a:r>
          </a:p>
          <a:p>
            <a:pPr marL="342900" indent="-342900">
              <a:buFontTx/>
              <a:buAutoNum type="alphaLcParenR"/>
            </a:pPr>
            <a:r>
              <a:rPr lang="en-US" sz="2400" dirty="0"/>
              <a:t>(A=B </a:t>
            </a:r>
            <a:r>
              <a:rPr lang="en-US" sz="2400" dirty="0" err="1"/>
              <a:t>hoặc</a:t>
            </a:r>
            <a:r>
              <a:rPr lang="en-US" sz="2400" dirty="0"/>
              <a:t> B=C) </a:t>
            </a:r>
            <a:r>
              <a:rPr lang="en-US" sz="2400" dirty="0" err="1"/>
              <a:t>hoặc</a:t>
            </a:r>
            <a:r>
              <a:rPr lang="en-US" sz="2400" dirty="0"/>
              <a:t> (A=C)</a:t>
            </a:r>
          </a:p>
          <a:p>
            <a:endParaRPr lang="en-US" dirty="0"/>
          </a:p>
          <a:p>
            <a:pPr marL="342900" indent="-342900">
              <a:buFontTx/>
              <a:buAutoNum type="alphaLcParenR"/>
            </a:pPr>
            <a:endParaRPr lang="en-US" dirty="0"/>
          </a:p>
          <a:p>
            <a:pPr marL="342900" indent="-342900">
              <a:buAutoNum type="alphaLcParenR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176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8153400" cy="4953000"/>
          </a:xfrm>
        </p:spPr>
        <p:txBody>
          <a:bodyPr/>
          <a:lstStyle/>
          <a:p>
            <a:pPr marL="0" indent="165100" algn="just">
              <a:buNone/>
            </a:pPr>
            <a:r>
              <a:rPr lang="vi-VN" dirty="0">
                <a:solidFill>
                  <a:srgbClr val="FF0000"/>
                </a:solidFill>
              </a:rPr>
              <a:t>Tương đương logic: </a:t>
            </a:r>
            <a:r>
              <a:rPr lang="vi-VN" dirty="0"/>
              <a:t>Hai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logic </a:t>
            </a:r>
            <a:r>
              <a:rPr lang="vi-VN" dirty="0"/>
              <a:t>E và F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mệnh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vi-VN" dirty="0"/>
              <a:t> được gọi là</a:t>
            </a:r>
            <a:r>
              <a:rPr lang="en-US" dirty="0"/>
              <a:t> </a:t>
            </a:r>
            <a:r>
              <a:rPr lang="vi-VN" dirty="0"/>
              <a:t>tương đương logic nếu chúng có cùng bảng chân trị.</a:t>
            </a:r>
          </a:p>
          <a:p>
            <a:pPr>
              <a:buNone/>
            </a:pPr>
            <a:r>
              <a:rPr lang="vi-VN" dirty="0"/>
              <a:t>Ký hiệu</a:t>
            </a:r>
            <a:r>
              <a:rPr lang="en-US" dirty="0"/>
              <a:t>:</a:t>
            </a:r>
            <a:r>
              <a:rPr lang="vi-VN" dirty="0"/>
              <a:t> E </a:t>
            </a:r>
            <a:r>
              <a:rPr lang="vi-VN" dirty="0">
                <a:sym typeface="Symbol"/>
              </a:rPr>
              <a:t></a:t>
            </a:r>
            <a:r>
              <a:rPr lang="en-US" dirty="0">
                <a:sym typeface="Symbol"/>
              </a:rPr>
              <a:t> </a:t>
            </a:r>
            <a:r>
              <a:rPr lang="vi-VN" dirty="0"/>
              <a:t>F</a:t>
            </a:r>
            <a:r>
              <a:rPr lang="en-US" dirty="0"/>
              <a:t>  (E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đương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F).</a:t>
            </a:r>
            <a:endParaRPr lang="vi-VN" dirty="0"/>
          </a:p>
          <a:p>
            <a:pPr>
              <a:buNone/>
            </a:pPr>
            <a:r>
              <a:rPr lang="vi-VN" dirty="0">
                <a:solidFill>
                  <a:srgbClr val="FF0000"/>
                </a:solidFill>
              </a:rPr>
              <a:t>Ví dụ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>
                <a:sym typeface="Symbol"/>
              </a:rPr>
              <a:t></a:t>
            </a:r>
            <a:r>
              <a:rPr lang="vi-VN" dirty="0"/>
              <a:t>(p </a:t>
            </a:r>
            <a:r>
              <a:rPr lang="vi-VN" dirty="0">
                <a:sym typeface="Symbol"/>
              </a:rPr>
              <a:t></a:t>
            </a:r>
            <a:r>
              <a:rPr lang="vi-VN" dirty="0"/>
              <a:t> q) </a:t>
            </a:r>
            <a:r>
              <a:rPr lang="vi-VN" dirty="0">
                <a:sym typeface="Symbol"/>
              </a:rPr>
              <a:t></a:t>
            </a:r>
            <a:r>
              <a:rPr lang="vi-VN" dirty="0"/>
              <a:t> </a:t>
            </a:r>
            <a:r>
              <a:rPr lang="vi-VN" dirty="0">
                <a:sym typeface="Symbol"/>
              </a:rPr>
              <a:t></a:t>
            </a:r>
            <a:r>
              <a:rPr lang="vi-VN" dirty="0"/>
              <a:t>p </a:t>
            </a:r>
            <a:r>
              <a:rPr lang="vi-VN" dirty="0">
                <a:sym typeface="Symbol"/>
              </a:rPr>
              <a:t></a:t>
            </a:r>
            <a:r>
              <a:rPr lang="vi-VN" dirty="0"/>
              <a:t> </a:t>
            </a:r>
            <a:r>
              <a:rPr lang="vi-VN" dirty="0">
                <a:sym typeface="Symbol"/>
              </a:rPr>
              <a:t></a:t>
            </a:r>
            <a:r>
              <a:rPr lang="vi-VN" dirty="0"/>
              <a:t>q</a:t>
            </a:r>
          </a:p>
          <a:p>
            <a:pPr marL="0" indent="0">
              <a:buNone/>
            </a:pP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logic E </a:t>
            </a:r>
            <a:r>
              <a:rPr lang="vi-VN" dirty="0"/>
              <a:t>được gọi là </a:t>
            </a:r>
            <a:r>
              <a:rPr lang="vi-VN" dirty="0">
                <a:solidFill>
                  <a:schemeClr val="accent2"/>
                </a:solidFill>
              </a:rPr>
              <a:t>hằng đúng </a:t>
            </a:r>
            <a:r>
              <a:rPr lang="vi-VN" dirty="0"/>
              <a:t>nếu </a:t>
            </a:r>
            <a:r>
              <a:rPr lang="en-US" dirty="0" err="1"/>
              <a:t>chân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E </a:t>
            </a:r>
            <a:r>
              <a:rPr lang="vi-VN" dirty="0"/>
              <a:t>luôn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vi-VN" dirty="0"/>
              <a:t>1</a:t>
            </a:r>
            <a:r>
              <a:rPr lang="en-US" dirty="0"/>
              <a:t>(</a:t>
            </a:r>
            <a:r>
              <a:rPr lang="en-US" dirty="0" err="1"/>
              <a:t>đúng</a:t>
            </a:r>
            <a:r>
              <a:rPr lang="en-US" dirty="0"/>
              <a:t>)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chân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mệnh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E. </a:t>
            </a:r>
            <a:r>
              <a:rPr lang="en-US" dirty="0" err="1"/>
              <a:t>Nói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, E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hằng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ta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vi-VN" dirty="0"/>
              <a:t>E </a:t>
            </a:r>
            <a:r>
              <a:rPr lang="vi-VN" dirty="0">
                <a:sym typeface="Symbol"/>
              </a:rPr>
              <a:t></a:t>
            </a:r>
            <a:r>
              <a:rPr lang="en-US" dirty="0">
                <a:sym typeface="Symbol"/>
              </a:rPr>
              <a:t> 1.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Biểu</a:t>
            </a:r>
            <a:r>
              <a:rPr lang="en-US" sz="4800" b="1" dirty="0"/>
              <a:t> </a:t>
            </a:r>
            <a:r>
              <a:rPr lang="en-US" sz="4800" b="1" dirty="0" err="1"/>
              <a:t>thức</a:t>
            </a:r>
            <a:r>
              <a:rPr lang="en-US" sz="4800" b="1" dirty="0"/>
              <a:t> logic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8001000" cy="4953000"/>
          </a:xfrm>
        </p:spPr>
        <p:txBody>
          <a:bodyPr/>
          <a:lstStyle/>
          <a:p>
            <a:pPr marL="0" indent="165100" algn="just">
              <a:buNone/>
            </a:pP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, E </a:t>
            </a:r>
            <a:r>
              <a:rPr lang="vi-VN" dirty="0"/>
              <a:t>là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vi-VN" dirty="0">
                <a:solidFill>
                  <a:schemeClr val="accent2"/>
                </a:solidFill>
              </a:rPr>
              <a:t>hằng sai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ta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vi-VN" dirty="0"/>
              <a:t> E </a:t>
            </a:r>
            <a:r>
              <a:rPr lang="vi-VN" dirty="0">
                <a:sym typeface="Symbol"/>
              </a:rPr>
              <a:t></a:t>
            </a:r>
            <a:r>
              <a:rPr lang="en-US" dirty="0">
                <a:sym typeface="Symbol"/>
              </a:rPr>
              <a:t> 0.</a:t>
            </a:r>
          </a:p>
          <a:p>
            <a:pPr marL="0" indent="165100" algn="just">
              <a:buNone/>
            </a:pPr>
            <a:r>
              <a:rPr lang="en-US" dirty="0" err="1">
                <a:solidFill>
                  <a:srgbClr val="FF0000"/>
                </a:solidFill>
                <a:sym typeface="Symbol"/>
              </a:rPr>
              <a:t>Ví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dụ</a:t>
            </a:r>
            <a:r>
              <a:rPr lang="en-US" dirty="0">
                <a:solidFill>
                  <a:srgbClr val="FF0000"/>
                </a:solidFill>
                <a:sym typeface="Symbol"/>
              </a:rPr>
              <a:t>: </a:t>
            </a:r>
            <a:r>
              <a:rPr lang="en-US" dirty="0">
                <a:sym typeface="Symbol"/>
              </a:rPr>
              <a:t>E(</a:t>
            </a:r>
            <a:r>
              <a:rPr lang="en-US" dirty="0" err="1">
                <a:sym typeface="Symbol"/>
              </a:rPr>
              <a:t>p,q</a:t>
            </a:r>
            <a:r>
              <a:rPr lang="en-US" dirty="0">
                <a:sym typeface="Symbol"/>
              </a:rPr>
              <a:t>) =</a:t>
            </a:r>
            <a:r>
              <a:rPr lang="vi-VN" dirty="0"/>
              <a:t> p </a:t>
            </a:r>
            <a:r>
              <a:rPr lang="vi-VN" dirty="0">
                <a:sym typeface="Symbol"/>
              </a:rPr>
              <a:t></a:t>
            </a:r>
            <a:r>
              <a:rPr lang="vi-VN" dirty="0"/>
              <a:t> </a:t>
            </a:r>
            <a:r>
              <a:rPr lang="vi-VN" dirty="0">
                <a:sym typeface="Symbol"/>
              </a:rPr>
              <a:t></a:t>
            </a:r>
            <a:r>
              <a:rPr lang="en-US" dirty="0">
                <a:sym typeface="Symbol"/>
              </a:rPr>
              <a:t>p </a:t>
            </a:r>
            <a:r>
              <a:rPr lang="en-US" dirty="0" err="1">
                <a:sym typeface="Symbol"/>
              </a:rPr>
              <a:t>là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hằng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sai</a:t>
            </a:r>
            <a:r>
              <a:rPr lang="en-US" dirty="0">
                <a:sym typeface="Symbol"/>
              </a:rPr>
              <a:t>.</a:t>
            </a:r>
          </a:p>
          <a:p>
            <a:pPr marL="0" indent="165100" algn="just">
              <a:buNone/>
            </a:pPr>
            <a:r>
              <a:rPr lang="en-US" dirty="0"/>
              <a:t>	   F(</a:t>
            </a:r>
            <a:r>
              <a:rPr lang="en-US" dirty="0" err="1"/>
              <a:t>p,q</a:t>
            </a:r>
            <a:r>
              <a:rPr lang="en-US" dirty="0"/>
              <a:t>) =(p</a:t>
            </a:r>
            <a:r>
              <a:rPr lang="vi-VN" dirty="0">
                <a:sym typeface="Symbol"/>
              </a:rPr>
              <a:t></a:t>
            </a:r>
            <a:r>
              <a:rPr lang="en-US" dirty="0">
                <a:sym typeface="Symbol"/>
              </a:rPr>
              <a:t>q)</a:t>
            </a:r>
            <a:r>
              <a:rPr lang="vi-VN" dirty="0">
                <a:sym typeface="Symbol"/>
              </a:rPr>
              <a:t> </a:t>
            </a:r>
            <a:r>
              <a:rPr lang="en-US" dirty="0">
                <a:sym typeface="Symbol"/>
              </a:rPr>
              <a:t> (</a:t>
            </a:r>
            <a:r>
              <a:rPr lang="vi-VN" dirty="0">
                <a:sym typeface="Symbol"/>
              </a:rPr>
              <a:t></a:t>
            </a:r>
            <a:r>
              <a:rPr lang="en-US" dirty="0">
                <a:sym typeface="Symbol"/>
              </a:rPr>
              <a:t>p </a:t>
            </a:r>
            <a:r>
              <a:rPr lang="vi-VN" dirty="0">
                <a:sym typeface="Symbol"/>
              </a:rPr>
              <a:t></a:t>
            </a:r>
            <a:r>
              <a:rPr lang="vi-VN" dirty="0"/>
              <a:t> q</a:t>
            </a:r>
            <a:r>
              <a:rPr lang="en-US" dirty="0"/>
              <a:t>)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hằng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.</a:t>
            </a:r>
          </a:p>
          <a:p>
            <a:pPr marL="0" indent="165100" algn="just">
              <a:buNone/>
            </a:pPr>
            <a:r>
              <a:rPr lang="vi-VN" dirty="0">
                <a:solidFill>
                  <a:srgbClr val="FF0000"/>
                </a:solidFill>
              </a:rPr>
              <a:t>Định lý: </a:t>
            </a:r>
            <a:r>
              <a:rPr lang="vi-VN" dirty="0"/>
              <a:t>Hai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logic </a:t>
            </a:r>
            <a:r>
              <a:rPr lang="vi-VN" dirty="0"/>
              <a:t>E và F tương đương với nhau khi</a:t>
            </a:r>
            <a:r>
              <a:rPr lang="en-US" dirty="0"/>
              <a:t> </a:t>
            </a:r>
            <a:r>
              <a:rPr lang="vi-VN" dirty="0"/>
              <a:t>và chỉ khi E</a:t>
            </a:r>
            <a:r>
              <a:rPr lang="en-US" dirty="0"/>
              <a:t> </a:t>
            </a:r>
            <a:r>
              <a:rPr lang="vi-VN" dirty="0">
                <a:sym typeface="Symbol"/>
              </a:rPr>
              <a:t></a:t>
            </a:r>
            <a:r>
              <a:rPr lang="en-US" dirty="0">
                <a:sym typeface="Symbol"/>
              </a:rPr>
              <a:t> </a:t>
            </a:r>
            <a:r>
              <a:rPr lang="vi-VN" dirty="0"/>
              <a:t>F là hằng đúng.</a:t>
            </a:r>
            <a:endParaRPr lang="en-US" dirty="0"/>
          </a:p>
          <a:p>
            <a:pPr marL="0" indent="165100" algn="just">
              <a:buNone/>
            </a:pPr>
            <a:r>
              <a:rPr lang="en-US" dirty="0" err="1">
                <a:solidFill>
                  <a:schemeClr val="accent2"/>
                </a:solidFill>
              </a:rPr>
              <a:t>Ví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dụ</a:t>
            </a:r>
            <a:r>
              <a:rPr lang="en-US" dirty="0">
                <a:solidFill>
                  <a:schemeClr val="accent2"/>
                </a:solidFill>
              </a:rPr>
              <a:t>: </a:t>
            </a:r>
            <a:r>
              <a:rPr lang="en-US" dirty="0"/>
              <a:t>(p</a:t>
            </a:r>
            <a:r>
              <a:rPr lang="vi-VN" dirty="0">
                <a:sym typeface="Symbol"/>
              </a:rPr>
              <a:t></a:t>
            </a:r>
            <a:r>
              <a:rPr lang="en-US" dirty="0">
                <a:sym typeface="Symbol"/>
              </a:rPr>
              <a:t>q)</a:t>
            </a:r>
            <a:r>
              <a:rPr lang="vi-VN" dirty="0">
                <a:sym typeface="Symbol"/>
              </a:rPr>
              <a:t> </a:t>
            </a:r>
            <a:r>
              <a:rPr lang="en-US" dirty="0">
                <a:sym typeface="Symbol"/>
              </a:rPr>
              <a:t> (</a:t>
            </a:r>
            <a:r>
              <a:rPr lang="vi-VN" dirty="0">
                <a:sym typeface="Symbol"/>
              </a:rPr>
              <a:t></a:t>
            </a:r>
            <a:r>
              <a:rPr lang="en-US" dirty="0">
                <a:sym typeface="Symbol"/>
              </a:rPr>
              <a:t>p </a:t>
            </a:r>
            <a:r>
              <a:rPr lang="vi-VN" dirty="0">
                <a:sym typeface="Symbol"/>
              </a:rPr>
              <a:t></a:t>
            </a:r>
            <a:r>
              <a:rPr lang="vi-VN" dirty="0"/>
              <a:t> q</a:t>
            </a:r>
            <a:r>
              <a:rPr lang="en-US" dirty="0"/>
              <a:t>)</a:t>
            </a:r>
            <a:endParaRPr lang="en-US" dirty="0">
              <a:solidFill>
                <a:schemeClr val="accent2"/>
              </a:solidFill>
            </a:endParaRPr>
          </a:p>
          <a:p>
            <a:pPr marL="0" indent="165100" algn="just">
              <a:buNone/>
            </a:pPr>
            <a:r>
              <a:rPr lang="vi-VN" dirty="0">
                <a:solidFill>
                  <a:srgbClr val="FF0000"/>
                </a:solidFill>
              </a:rPr>
              <a:t>Hệ quả logic: </a:t>
            </a:r>
            <a:r>
              <a:rPr lang="vi-VN" dirty="0"/>
              <a:t>F được gọi là hệ quả logic của E nếu E</a:t>
            </a:r>
            <a:r>
              <a:rPr lang="en-US" dirty="0"/>
              <a:t> </a:t>
            </a:r>
            <a:r>
              <a:rPr lang="vi-VN" dirty="0">
                <a:sym typeface="Symbol"/>
              </a:rPr>
              <a:t></a:t>
            </a:r>
            <a:r>
              <a:rPr lang="en-US" dirty="0">
                <a:sym typeface="Symbol"/>
              </a:rPr>
              <a:t> </a:t>
            </a:r>
            <a:r>
              <a:rPr lang="vi-VN" dirty="0"/>
              <a:t>F là</a:t>
            </a:r>
            <a:r>
              <a:rPr lang="en-US" dirty="0"/>
              <a:t> </a:t>
            </a:r>
            <a:r>
              <a:rPr lang="vi-VN" dirty="0"/>
              <a:t>hằng đúng.</a:t>
            </a:r>
          </a:p>
          <a:p>
            <a:pPr marL="0" indent="165100" algn="just">
              <a:buNone/>
            </a:pPr>
            <a:r>
              <a:rPr lang="vi-VN" dirty="0"/>
              <a:t>Ký hiệu</a:t>
            </a:r>
            <a:r>
              <a:rPr lang="en-US" dirty="0"/>
              <a:t>: </a:t>
            </a:r>
            <a:r>
              <a:rPr lang="vi-VN" dirty="0"/>
              <a:t>E</a:t>
            </a:r>
            <a:r>
              <a:rPr lang="en-US" dirty="0"/>
              <a:t> </a:t>
            </a:r>
            <a:r>
              <a:rPr lang="vi-VN" dirty="0">
                <a:sym typeface="Symbol"/>
              </a:rPr>
              <a:t></a:t>
            </a:r>
            <a:r>
              <a:rPr lang="en-US" dirty="0">
                <a:sym typeface="Symbol"/>
              </a:rPr>
              <a:t> </a:t>
            </a:r>
            <a:r>
              <a:rPr lang="vi-VN" dirty="0"/>
              <a:t>F</a:t>
            </a:r>
          </a:p>
          <a:p>
            <a:pPr marL="0" indent="165100" algn="just">
              <a:buNone/>
            </a:pPr>
            <a:r>
              <a:rPr lang="vi-VN" dirty="0">
                <a:solidFill>
                  <a:srgbClr val="FF0000"/>
                </a:solidFill>
              </a:rPr>
              <a:t>Ví dụ: </a:t>
            </a:r>
            <a:r>
              <a:rPr lang="vi-VN" dirty="0">
                <a:sym typeface="Symbol"/>
              </a:rPr>
              <a:t></a:t>
            </a:r>
            <a:r>
              <a:rPr lang="vi-VN" dirty="0"/>
              <a:t>(p </a:t>
            </a:r>
            <a:r>
              <a:rPr lang="vi-VN" dirty="0">
                <a:sym typeface="Symbol"/>
              </a:rPr>
              <a:t></a:t>
            </a:r>
            <a:r>
              <a:rPr lang="vi-VN" dirty="0"/>
              <a:t> q) </a:t>
            </a:r>
            <a:r>
              <a:rPr lang="vi-VN" dirty="0">
                <a:sym typeface="Symbol"/>
              </a:rPr>
              <a:t></a:t>
            </a:r>
            <a:r>
              <a:rPr lang="vi-VN" dirty="0"/>
              <a:t> </a:t>
            </a:r>
            <a:r>
              <a:rPr lang="vi-VN" dirty="0">
                <a:sym typeface="Symbol"/>
              </a:rPr>
              <a:t></a:t>
            </a:r>
            <a:r>
              <a:rPr lang="vi-VN" dirty="0"/>
              <a:t>p</a:t>
            </a:r>
            <a:endParaRPr lang="en-US" dirty="0"/>
          </a:p>
          <a:p>
            <a:pPr marL="0" indent="165100" algn="just"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Biểu</a:t>
            </a:r>
            <a:r>
              <a:rPr lang="en-US" sz="4800" b="1" dirty="0"/>
              <a:t> </a:t>
            </a:r>
            <a:r>
              <a:rPr lang="en-US" sz="4800" b="1" dirty="0" err="1"/>
              <a:t>thức</a:t>
            </a:r>
            <a:r>
              <a:rPr lang="en-US" sz="4800" b="1" dirty="0"/>
              <a:t> logic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81000"/>
          </a:xfrm>
        </p:spPr>
        <p:txBody>
          <a:bodyPr/>
          <a:lstStyle/>
          <a:p>
            <a:fld id="{3D9E56B6-077A-4A36-A778-66B152E4D643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8001000" cy="4530725"/>
          </a:xfrm>
        </p:spPr>
        <p:txBody>
          <a:bodyPr/>
          <a:lstStyle/>
          <a:p>
            <a:pPr marL="0" indent="344488" algn="just">
              <a:buClr>
                <a:srgbClr val="FF0000"/>
              </a:buClr>
              <a:buFont typeface="+mj-lt"/>
              <a:buAutoNum type="arabicPeriod"/>
            </a:pPr>
            <a:r>
              <a:rPr lang="vi-VN" dirty="0">
                <a:solidFill>
                  <a:srgbClr val="FF0000"/>
                </a:solidFill>
              </a:rPr>
              <a:t>Phủ định của phủ định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en-US" dirty="0">
                <a:sym typeface="Symbol"/>
              </a:rPr>
              <a:t></a:t>
            </a:r>
            <a:r>
              <a:rPr lang="vi-VN" dirty="0"/>
              <a:t>p </a:t>
            </a:r>
            <a:r>
              <a:rPr lang="vi-VN" dirty="0">
                <a:sym typeface="Symbol"/>
              </a:rPr>
              <a:t></a:t>
            </a:r>
            <a:r>
              <a:rPr lang="en-US" dirty="0">
                <a:sym typeface="Symbol"/>
              </a:rPr>
              <a:t> </a:t>
            </a:r>
            <a:r>
              <a:rPr lang="vi-VN" dirty="0"/>
              <a:t>p</a:t>
            </a:r>
            <a:endParaRPr lang="en-US" dirty="0"/>
          </a:p>
          <a:p>
            <a:pPr marL="0" indent="344488" algn="just">
              <a:buClr>
                <a:srgbClr val="FF0000"/>
              </a:buClr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Qui </a:t>
            </a:r>
            <a:r>
              <a:rPr lang="en-US" dirty="0" err="1">
                <a:solidFill>
                  <a:srgbClr val="FF0000"/>
                </a:solidFill>
              </a:rPr>
              <a:t>tắc</a:t>
            </a:r>
            <a:r>
              <a:rPr lang="en-US" dirty="0">
                <a:solidFill>
                  <a:srgbClr val="FF0000"/>
                </a:solidFill>
              </a:rPr>
              <a:t> De Morgan:</a:t>
            </a:r>
            <a:r>
              <a:rPr lang="en-US" dirty="0"/>
              <a:t>	</a:t>
            </a:r>
            <a:r>
              <a:rPr lang="en-US" dirty="0">
                <a:sym typeface="Symbol"/>
              </a:rPr>
              <a:t></a:t>
            </a:r>
            <a:r>
              <a:rPr lang="en-US" dirty="0"/>
              <a:t> (p </a:t>
            </a:r>
            <a:r>
              <a:rPr lang="en-US" dirty="0">
                <a:sym typeface="Symbol"/>
              </a:rPr>
              <a:t> </a:t>
            </a:r>
            <a:r>
              <a:rPr lang="en-US" dirty="0"/>
              <a:t>q) </a:t>
            </a:r>
            <a:r>
              <a:rPr lang="en-US" dirty="0">
                <a:sym typeface="Symbol"/>
              </a:rPr>
              <a:t>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</a:t>
            </a:r>
            <a:r>
              <a:rPr lang="en-US" dirty="0"/>
              <a:t> p </a:t>
            </a:r>
            <a:r>
              <a:rPr lang="en-US" dirty="0">
                <a:sym typeface="Symbol"/>
              </a:rPr>
              <a:t>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</a:t>
            </a:r>
            <a:r>
              <a:rPr lang="en-US" dirty="0"/>
              <a:t> q</a:t>
            </a:r>
          </a:p>
          <a:p>
            <a:pPr marL="0" indent="344488" algn="just">
              <a:buClr>
                <a:srgbClr val="FF0000"/>
              </a:buClr>
              <a:buNone/>
              <a:tabLst>
                <a:tab pos="3657600" algn="l"/>
              </a:tabLst>
            </a:pPr>
            <a:r>
              <a:rPr lang="en-US" dirty="0"/>
              <a:t>	</a:t>
            </a:r>
            <a:r>
              <a:rPr lang="en-US" dirty="0">
                <a:sym typeface="Symbol"/>
              </a:rPr>
              <a:t></a:t>
            </a:r>
            <a:r>
              <a:rPr lang="en-US" dirty="0"/>
              <a:t> (p </a:t>
            </a:r>
            <a:r>
              <a:rPr lang="en-US" dirty="0">
                <a:sym typeface="Symbol"/>
              </a:rPr>
              <a:t> </a:t>
            </a:r>
            <a:r>
              <a:rPr lang="en-US" dirty="0"/>
              <a:t>q) </a:t>
            </a:r>
            <a:r>
              <a:rPr lang="en-US" dirty="0">
                <a:sym typeface="Symbol"/>
              </a:rPr>
              <a:t>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</a:t>
            </a:r>
            <a:r>
              <a:rPr lang="en-US" dirty="0"/>
              <a:t> p </a:t>
            </a:r>
            <a:r>
              <a:rPr lang="en-US" dirty="0">
                <a:sym typeface="Symbol"/>
              </a:rPr>
              <a:t>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</a:t>
            </a:r>
            <a:r>
              <a:rPr lang="en-US" dirty="0"/>
              <a:t> q</a:t>
            </a:r>
          </a:p>
          <a:p>
            <a:pPr marL="0" indent="344488" algn="just">
              <a:buClr>
                <a:srgbClr val="FF0000"/>
              </a:buClr>
              <a:buFont typeface="+mj-lt"/>
              <a:buAutoNum type="arabicPeriod" startAt="3"/>
            </a:pPr>
            <a:r>
              <a:rPr lang="en-US" dirty="0" err="1">
                <a:solidFill>
                  <a:srgbClr val="FF0000"/>
                </a:solidFill>
              </a:rPr>
              <a:t>Luật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giao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hoán</a:t>
            </a:r>
            <a:r>
              <a:rPr lang="en-US" dirty="0">
                <a:solidFill>
                  <a:srgbClr val="FF0000"/>
                </a:solidFill>
              </a:rPr>
              <a:t>: 	</a:t>
            </a:r>
            <a:r>
              <a:rPr lang="en-US" dirty="0"/>
              <a:t>p </a:t>
            </a:r>
            <a:r>
              <a:rPr lang="en-US" dirty="0">
                <a:sym typeface="Symbol"/>
              </a:rPr>
              <a:t></a:t>
            </a:r>
            <a:r>
              <a:rPr lang="en-US" dirty="0"/>
              <a:t> q </a:t>
            </a:r>
            <a:r>
              <a:rPr lang="en-US" dirty="0">
                <a:sym typeface="Symbol"/>
              </a:rPr>
              <a:t></a:t>
            </a:r>
            <a:r>
              <a:rPr lang="en-US" dirty="0"/>
              <a:t> q </a:t>
            </a:r>
            <a:r>
              <a:rPr lang="en-US" dirty="0">
                <a:sym typeface="Symbol"/>
              </a:rPr>
              <a:t></a:t>
            </a:r>
            <a:r>
              <a:rPr lang="en-US" dirty="0"/>
              <a:t> p</a:t>
            </a:r>
          </a:p>
          <a:p>
            <a:pPr marL="0" indent="344488" algn="just">
              <a:buClr>
                <a:srgbClr val="FF0000"/>
              </a:buClr>
              <a:buNone/>
            </a:pPr>
            <a:r>
              <a:rPr lang="en-US" dirty="0"/>
              <a:t>				p </a:t>
            </a:r>
            <a:r>
              <a:rPr lang="en-US" dirty="0">
                <a:sym typeface="Symbol"/>
              </a:rPr>
              <a:t></a:t>
            </a:r>
            <a:r>
              <a:rPr lang="en-US" dirty="0"/>
              <a:t> q </a:t>
            </a:r>
            <a:r>
              <a:rPr lang="en-US" dirty="0">
                <a:sym typeface="Symbol"/>
              </a:rPr>
              <a:t></a:t>
            </a:r>
            <a:r>
              <a:rPr lang="en-US" dirty="0"/>
              <a:t> q </a:t>
            </a:r>
            <a:r>
              <a:rPr lang="en-US" dirty="0">
                <a:sym typeface="Symbol"/>
              </a:rPr>
              <a:t></a:t>
            </a:r>
            <a:r>
              <a:rPr lang="en-US" dirty="0"/>
              <a:t> p</a:t>
            </a:r>
          </a:p>
          <a:p>
            <a:pPr marL="0" indent="344488" algn="just">
              <a:buClr>
                <a:srgbClr val="FF0000"/>
              </a:buClr>
              <a:buFont typeface="+mj-lt"/>
              <a:buAutoNum type="arabicPeriod" startAt="4"/>
            </a:pPr>
            <a:r>
              <a:rPr lang="en-US" dirty="0" err="1">
                <a:solidFill>
                  <a:srgbClr val="FF0000"/>
                </a:solidFill>
              </a:rPr>
              <a:t>Luật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kết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hợp</a:t>
            </a:r>
            <a:r>
              <a:rPr lang="en-US" dirty="0">
                <a:solidFill>
                  <a:srgbClr val="FF0000"/>
                </a:solidFill>
              </a:rPr>
              <a:t>:	</a:t>
            </a:r>
            <a:r>
              <a:rPr lang="en-US" dirty="0"/>
              <a:t>(p </a:t>
            </a:r>
            <a:r>
              <a:rPr lang="en-US" dirty="0">
                <a:sym typeface="Symbol"/>
              </a:rPr>
              <a:t></a:t>
            </a:r>
            <a:r>
              <a:rPr lang="en-US" dirty="0"/>
              <a:t> q) </a:t>
            </a:r>
            <a:r>
              <a:rPr lang="en-US" dirty="0">
                <a:sym typeface="Symbol"/>
              </a:rPr>
              <a:t></a:t>
            </a:r>
            <a:r>
              <a:rPr lang="en-US" dirty="0"/>
              <a:t> r </a:t>
            </a:r>
            <a:r>
              <a:rPr lang="en-US" dirty="0">
                <a:sym typeface="Symbol"/>
              </a:rPr>
              <a:t></a:t>
            </a:r>
            <a:r>
              <a:rPr lang="en-US" dirty="0"/>
              <a:t> p </a:t>
            </a:r>
            <a:r>
              <a:rPr lang="en-US" dirty="0">
                <a:sym typeface="Symbol"/>
              </a:rPr>
              <a:t></a:t>
            </a:r>
            <a:r>
              <a:rPr lang="en-US" dirty="0"/>
              <a:t> (q </a:t>
            </a:r>
            <a:r>
              <a:rPr lang="en-US" dirty="0">
                <a:sym typeface="Symbol"/>
              </a:rPr>
              <a:t></a:t>
            </a:r>
            <a:r>
              <a:rPr lang="en-US" dirty="0"/>
              <a:t> r)</a:t>
            </a:r>
          </a:p>
          <a:p>
            <a:pPr marL="0" indent="344488" algn="just">
              <a:buClr>
                <a:srgbClr val="FF0000"/>
              </a:buClr>
              <a:buNone/>
            </a:pPr>
            <a:r>
              <a:rPr lang="en-US" dirty="0"/>
              <a:t>			(p </a:t>
            </a:r>
            <a:r>
              <a:rPr lang="en-US" dirty="0">
                <a:sym typeface="Symbol"/>
              </a:rPr>
              <a:t></a:t>
            </a:r>
            <a:r>
              <a:rPr lang="en-US" dirty="0"/>
              <a:t> q) </a:t>
            </a:r>
            <a:r>
              <a:rPr lang="en-US" dirty="0">
                <a:sym typeface="Symbol"/>
              </a:rPr>
              <a:t></a:t>
            </a:r>
            <a:r>
              <a:rPr lang="en-US" dirty="0"/>
              <a:t> r </a:t>
            </a:r>
            <a:r>
              <a:rPr lang="en-US" dirty="0">
                <a:sym typeface="Symbol"/>
              </a:rPr>
              <a:t></a:t>
            </a:r>
            <a:r>
              <a:rPr lang="en-US" dirty="0"/>
              <a:t> p</a:t>
            </a:r>
            <a:r>
              <a:rPr lang="en-US" dirty="0">
                <a:sym typeface="Symbol"/>
              </a:rPr>
              <a:t>  </a:t>
            </a:r>
            <a:r>
              <a:rPr lang="en-US" dirty="0"/>
              <a:t>(q </a:t>
            </a:r>
            <a:r>
              <a:rPr lang="en-US" dirty="0">
                <a:sym typeface="Symbol"/>
              </a:rPr>
              <a:t></a:t>
            </a:r>
            <a:r>
              <a:rPr lang="en-US" dirty="0"/>
              <a:t> r)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Các</a:t>
            </a:r>
            <a:r>
              <a:rPr lang="en-US" sz="4800" b="1" dirty="0"/>
              <a:t> </a:t>
            </a:r>
            <a:r>
              <a:rPr lang="en-US" sz="4800" b="1" dirty="0" err="1"/>
              <a:t>luật</a:t>
            </a:r>
            <a:r>
              <a:rPr lang="en-US" sz="4800" b="1" dirty="0"/>
              <a:t> logic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21</a:t>
            </a:fld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8001000" cy="4530725"/>
          </a:xfrm>
        </p:spPr>
        <p:txBody>
          <a:bodyPr/>
          <a:lstStyle/>
          <a:p>
            <a:pPr marL="0" indent="344488" algn="just">
              <a:buClr>
                <a:srgbClr val="FF0000"/>
              </a:buClr>
              <a:buFont typeface="+mj-lt"/>
              <a:buAutoNum type="arabicPeriod" startAt="5"/>
            </a:pPr>
            <a:r>
              <a:rPr lang="vi-VN" dirty="0">
                <a:solidFill>
                  <a:srgbClr val="FF0000"/>
                </a:solidFill>
              </a:rPr>
              <a:t>Luật phân phối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vi-VN" dirty="0"/>
              <a:t>p </a:t>
            </a:r>
            <a:r>
              <a:rPr lang="en-US" dirty="0">
                <a:sym typeface="Symbol"/>
              </a:rPr>
              <a:t></a:t>
            </a:r>
            <a:r>
              <a:rPr lang="vi-VN" dirty="0"/>
              <a:t> (q </a:t>
            </a:r>
            <a:r>
              <a:rPr lang="en-US" dirty="0">
                <a:sym typeface="Symbol"/>
              </a:rPr>
              <a:t></a:t>
            </a:r>
            <a:r>
              <a:rPr lang="vi-VN" dirty="0"/>
              <a:t> r) </a:t>
            </a:r>
            <a:r>
              <a:rPr lang="en-US" dirty="0">
                <a:sym typeface="Symbol"/>
              </a:rPr>
              <a:t></a:t>
            </a:r>
            <a:r>
              <a:rPr lang="vi-VN" dirty="0"/>
              <a:t> (p </a:t>
            </a:r>
            <a:r>
              <a:rPr lang="en-US" dirty="0">
                <a:sym typeface="Symbol"/>
              </a:rPr>
              <a:t></a:t>
            </a:r>
            <a:r>
              <a:rPr lang="vi-VN" dirty="0"/>
              <a:t> q) </a:t>
            </a:r>
            <a:r>
              <a:rPr lang="en-US" dirty="0">
                <a:sym typeface="Symbol"/>
              </a:rPr>
              <a:t></a:t>
            </a:r>
            <a:r>
              <a:rPr lang="vi-VN" dirty="0"/>
              <a:t> (p </a:t>
            </a:r>
            <a:r>
              <a:rPr lang="en-US" dirty="0">
                <a:sym typeface="Symbol"/>
              </a:rPr>
              <a:t></a:t>
            </a:r>
            <a:r>
              <a:rPr lang="vi-VN" dirty="0"/>
              <a:t> r)</a:t>
            </a:r>
          </a:p>
          <a:p>
            <a:pPr marL="0" indent="344488" algn="just">
              <a:buClr>
                <a:srgbClr val="FF0000"/>
              </a:buClr>
              <a:buNone/>
            </a:pPr>
            <a:r>
              <a:rPr lang="en-US" dirty="0"/>
              <a:t>			</a:t>
            </a:r>
            <a:r>
              <a:rPr lang="vi-VN" dirty="0"/>
              <a:t> p </a:t>
            </a:r>
            <a:r>
              <a:rPr lang="en-US" dirty="0">
                <a:sym typeface="Symbol"/>
              </a:rPr>
              <a:t></a:t>
            </a:r>
            <a:r>
              <a:rPr lang="vi-VN" dirty="0"/>
              <a:t> (q </a:t>
            </a:r>
            <a:r>
              <a:rPr lang="en-US" dirty="0">
                <a:sym typeface="Symbol"/>
              </a:rPr>
              <a:t></a:t>
            </a:r>
            <a:r>
              <a:rPr lang="vi-VN" dirty="0"/>
              <a:t> r) </a:t>
            </a:r>
            <a:r>
              <a:rPr lang="en-US" dirty="0">
                <a:sym typeface="Symbol"/>
              </a:rPr>
              <a:t></a:t>
            </a:r>
            <a:r>
              <a:rPr lang="vi-VN" dirty="0"/>
              <a:t> (p </a:t>
            </a:r>
            <a:r>
              <a:rPr lang="en-US" dirty="0">
                <a:sym typeface="Symbol"/>
              </a:rPr>
              <a:t></a:t>
            </a:r>
            <a:r>
              <a:rPr lang="vi-VN" dirty="0"/>
              <a:t> q) </a:t>
            </a:r>
            <a:r>
              <a:rPr lang="en-US" dirty="0">
                <a:sym typeface="Symbol"/>
              </a:rPr>
              <a:t></a:t>
            </a:r>
            <a:r>
              <a:rPr lang="vi-VN" dirty="0"/>
              <a:t> (p </a:t>
            </a:r>
            <a:r>
              <a:rPr lang="en-US" dirty="0">
                <a:sym typeface="Symbol"/>
              </a:rPr>
              <a:t></a:t>
            </a:r>
            <a:r>
              <a:rPr lang="vi-VN" dirty="0"/>
              <a:t> r)</a:t>
            </a:r>
            <a:endParaRPr lang="en-US" dirty="0"/>
          </a:p>
          <a:p>
            <a:pPr marL="0" indent="344488" algn="just">
              <a:buClr>
                <a:srgbClr val="FF0000"/>
              </a:buClr>
              <a:buFont typeface="+mj-lt"/>
              <a:buAutoNum type="arabicPeriod" startAt="6"/>
            </a:pPr>
            <a:r>
              <a:rPr lang="vi-VN" dirty="0">
                <a:solidFill>
                  <a:srgbClr val="FF0000"/>
                </a:solidFill>
              </a:rPr>
              <a:t>Luật lũy đẳng</a:t>
            </a:r>
            <a:r>
              <a:rPr lang="en-US" dirty="0">
                <a:solidFill>
                  <a:srgbClr val="FF0000"/>
                </a:solidFill>
              </a:rPr>
              <a:t>:	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	</a:t>
            </a:r>
            <a:r>
              <a:rPr lang="vi-VN" dirty="0"/>
              <a:t>p </a:t>
            </a:r>
            <a:r>
              <a:rPr lang="en-US" dirty="0">
                <a:sym typeface="Symbol"/>
              </a:rPr>
              <a:t></a:t>
            </a:r>
            <a:r>
              <a:rPr lang="vi-VN" dirty="0"/>
              <a:t> p </a:t>
            </a:r>
            <a:r>
              <a:rPr lang="en-US" dirty="0">
                <a:sym typeface="Symbol"/>
              </a:rPr>
              <a:t></a:t>
            </a:r>
            <a:r>
              <a:rPr lang="vi-VN" dirty="0"/>
              <a:t> p</a:t>
            </a:r>
          </a:p>
          <a:p>
            <a:pPr marL="0" indent="344488" algn="just">
              <a:buClr>
                <a:srgbClr val="FF0000"/>
              </a:buClr>
              <a:buNone/>
            </a:pPr>
            <a:r>
              <a:rPr lang="en-US" dirty="0"/>
              <a:t>			 	</a:t>
            </a:r>
            <a:r>
              <a:rPr lang="vi-VN" dirty="0"/>
              <a:t>p </a:t>
            </a:r>
            <a:r>
              <a:rPr lang="en-US" dirty="0">
                <a:sym typeface="Symbol"/>
              </a:rPr>
              <a:t></a:t>
            </a:r>
            <a:r>
              <a:rPr lang="vi-VN" dirty="0"/>
              <a:t> p </a:t>
            </a:r>
            <a:r>
              <a:rPr lang="en-US" dirty="0">
                <a:sym typeface="Symbol"/>
              </a:rPr>
              <a:t></a:t>
            </a:r>
            <a:r>
              <a:rPr lang="vi-VN" dirty="0"/>
              <a:t> p</a:t>
            </a:r>
            <a:endParaRPr lang="en-US" dirty="0"/>
          </a:p>
          <a:p>
            <a:pPr marL="0" indent="344488" algn="just">
              <a:buClr>
                <a:srgbClr val="FF0000"/>
              </a:buClr>
              <a:buFont typeface="+mj-lt"/>
              <a:buAutoNum type="arabicPeriod" startAt="7"/>
            </a:pPr>
            <a:r>
              <a:rPr lang="en-US" dirty="0" err="1">
                <a:solidFill>
                  <a:srgbClr val="FF0000"/>
                </a:solidFill>
              </a:rPr>
              <a:t>Luật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trung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hòa</a:t>
            </a:r>
            <a:r>
              <a:rPr lang="en-US" dirty="0">
                <a:solidFill>
                  <a:srgbClr val="FF0000"/>
                </a:solidFill>
              </a:rPr>
              <a:t>:		</a:t>
            </a:r>
            <a:r>
              <a:rPr lang="en-US" dirty="0"/>
              <a:t>p </a:t>
            </a:r>
            <a:r>
              <a:rPr lang="en-US" dirty="0">
                <a:sym typeface="Symbol"/>
              </a:rPr>
              <a:t></a:t>
            </a:r>
            <a:r>
              <a:rPr lang="en-US" dirty="0"/>
              <a:t> 0</a:t>
            </a:r>
            <a:r>
              <a:rPr lang="en-US" dirty="0">
                <a:sym typeface="Symbol"/>
              </a:rPr>
              <a:t> </a:t>
            </a:r>
            <a:r>
              <a:rPr lang="en-US" dirty="0"/>
              <a:t> p</a:t>
            </a:r>
          </a:p>
          <a:p>
            <a:pPr marL="0" indent="344488" algn="just">
              <a:buClr>
                <a:srgbClr val="FF0000"/>
              </a:buClr>
              <a:buNone/>
            </a:pPr>
            <a:r>
              <a:rPr lang="en-US" dirty="0"/>
              <a:t>				p </a:t>
            </a:r>
            <a:r>
              <a:rPr lang="en-US" dirty="0">
                <a:sym typeface="Symbol"/>
              </a:rPr>
              <a:t></a:t>
            </a:r>
            <a:r>
              <a:rPr lang="en-US" dirty="0"/>
              <a:t> 1 </a:t>
            </a:r>
            <a:r>
              <a:rPr lang="en-US" dirty="0">
                <a:sym typeface="Symbol"/>
              </a:rPr>
              <a:t></a:t>
            </a:r>
            <a:r>
              <a:rPr lang="en-US" dirty="0"/>
              <a:t> p</a:t>
            </a:r>
          </a:p>
          <a:p>
            <a:pPr marL="0" indent="344488" algn="just">
              <a:buClr>
                <a:srgbClr val="FF0000"/>
              </a:buClr>
              <a:buFont typeface="+mj-lt"/>
              <a:buAutoNum type="arabicPeriod" startAt="8"/>
            </a:pPr>
            <a:r>
              <a:rPr lang="en-US" dirty="0" err="1">
                <a:solidFill>
                  <a:srgbClr val="FF0000"/>
                </a:solidFill>
              </a:rPr>
              <a:t>Luật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về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phần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tử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bù</a:t>
            </a:r>
            <a:r>
              <a:rPr lang="en-US" dirty="0">
                <a:solidFill>
                  <a:srgbClr val="FF0000"/>
                </a:solidFill>
              </a:rPr>
              <a:t>:	</a:t>
            </a:r>
            <a:r>
              <a:rPr lang="en-US" dirty="0"/>
              <a:t>p </a:t>
            </a:r>
            <a:r>
              <a:rPr lang="en-US" dirty="0">
                <a:sym typeface="Symbol"/>
              </a:rPr>
              <a:t> </a:t>
            </a:r>
            <a:r>
              <a:rPr lang="en-US" dirty="0"/>
              <a:t>p </a:t>
            </a:r>
            <a:r>
              <a:rPr lang="en-US" dirty="0">
                <a:sym typeface="Symbol"/>
              </a:rPr>
              <a:t></a:t>
            </a:r>
            <a:r>
              <a:rPr lang="en-US" dirty="0"/>
              <a:t> 0 </a:t>
            </a:r>
          </a:p>
          <a:p>
            <a:pPr marL="0" indent="344488" algn="just">
              <a:buClr>
                <a:srgbClr val="FF0000"/>
              </a:buClr>
              <a:buNone/>
            </a:pPr>
            <a:r>
              <a:rPr lang="en-US" dirty="0"/>
              <a:t>				p </a:t>
            </a:r>
            <a:r>
              <a:rPr lang="en-US" dirty="0">
                <a:sym typeface="Symbol"/>
              </a:rPr>
              <a:t>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</a:t>
            </a:r>
            <a:r>
              <a:rPr lang="en-US" dirty="0"/>
              <a:t>p </a:t>
            </a:r>
            <a:r>
              <a:rPr lang="en-US" dirty="0">
                <a:sym typeface="Symbol"/>
              </a:rPr>
              <a:t></a:t>
            </a:r>
            <a:r>
              <a:rPr lang="en-US" dirty="0"/>
              <a:t> 1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Các</a:t>
            </a:r>
            <a:r>
              <a:rPr lang="en-US" sz="4800" b="1" dirty="0"/>
              <a:t> </a:t>
            </a:r>
            <a:r>
              <a:rPr lang="en-US" sz="4800" b="1" dirty="0" err="1"/>
              <a:t>luật</a:t>
            </a:r>
            <a:r>
              <a:rPr lang="en-US" sz="4800" b="1" dirty="0"/>
              <a:t> logic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22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80010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Font typeface="+mj-lt"/>
              <a:buAutoNum type="arabicPeriod" startAt="9"/>
            </a:pP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Luật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thống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trị</a:t>
            </a:r>
            <a:r>
              <a:rPr lang="en-US" dirty="0">
                <a:solidFill>
                  <a:srgbClr val="FF0000"/>
                </a:solidFill>
              </a:rPr>
              <a:t>: 		</a:t>
            </a:r>
            <a:r>
              <a:rPr lang="en-US" dirty="0"/>
              <a:t>p </a:t>
            </a:r>
            <a:r>
              <a:rPr lang="en-US" dirty="0">
                <a:sym typeface="Symbol"/>
              </a:rPr>
              <a:t></a:t>
            </a:r>
            <a:r>
              <a:rPr lang="en-US" dirty="0"/>
              <a:t> 0 </a:t>
            </a:r>
            <a:r>
              <a:rPr lang="en-US" dirty="0">
                <a:sym typeface="Symbol"/>
              </a:rPr>
              <a:t></a:t>
            </a:r>
            <a:r>
              <a:rPr lang="en-US" dirty="0"/>
              <a:t> 0 </a:t>
            </a:r>
          </a:p>
          <a:p>
            <a:pPr marL="0" indent="165100" algn="just">
              <a:buNone/>
            </a:pPr>
            <a:r>
              <a:rPr lang="en-US" dirty="0"/>
              <a:t>				p </a:t>
            </a:r>
            <a:r>
              <a:rPr lang="en-US" dirty="0">
                <a:sym typeface="Symbol"/>
              </a:rPr>
              <a:t></a:t>
            </a:r>
            <a:r>
              <a:rPr lang="en-US" dirty="0"/>
              <a:t> 1 </a:t>
            </a:r>
            <a:r>
              <a:rPr lang="en-US" dirty="0">
                <a:sym typeface="Symbol"/>
              </a:rPr>
              <a:t></a:t>
            </a:r>
            <a:r>
              <a:rPr lang="en-US" dirty="0"/>
              <a:t> 1</a:t>
            </a:r>
          </a:p>
          <a:p>
            <a:pPr marL="0" indent="165100" algn="just">
              <a:buClr>
                <a:srgbClr val="FF0000"/>
              </a:buClr>
              <a:buFont typeface="+mj-lt"/>
              <a:buAutoNum type="arabicPeriod" startAt="10"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Luật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hấp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thu</a:t>
            </a:r>
            <a:r>
              <a:rPr lang="en-US" dirty="0">
                <a:solidFill>
                  <a:srgbClr val="FF0000"/>
                </a:solidFill>
              </a:rPr>
              <a:t>: 		</a:t>
            </a:r>
            <a:r>
              <a:rPr lang="en-US" dirty="0"/>
              <a:t>p </a:t>
            </a:r>
            <a:r>
              <a:rPr lang="en-US" dirty="0">
                <a:sym typeface="Symbol"/>
              </a:rPr>
              <a:t></a:t>
            </a:r>
            <a:r>
              <a:rPr lang="en-US" dirty="0"/>
              <a:t> (p </a:t>
            </a:r>
            <a:r>
              <a:rPr lang="en-US" dirty="0">
                <a:sym typeface="Symbol"/>
              </a:rPr>
              <a:t></a:t>
            </a:r>
            <a:r>
              <a:rPr lang="en-US" dirty="0"/>
              <a:t> q)</a:t>
            </a:r>
            <a:r>
              <a:rPr lang="en-US" dirty="0">
                <a:sym typeface="Symbol"/>
              </a:rPr>
              <a:t> </a:t>
            </a:r>
            <a:r>
              <a:rPr lang="en-US" dirty="0"/>
              <a:t> p</a:t>
            </a:r>
          </a:p>
          <a:p>
            <a:pPr marL="0" indent="165100" algn="just">
              <a:buNone/>
            </a:pPr>
            <a:r>
              <a:rPr lang="en-US" dirty="0"/>
              <a:t>				p </a:t>
            </a:r>
            <a:r>
              <a:rPr lang="en-US" dirty="0">
                <a:sym typeface="Symbol"/>
              </a:rPr>
              <a:t></a:t>
            </a:r>
            <a:r>
              <a:rPr lang="en-US" dirty="0"/>
              <a:t> (p </a:t>
            </a:r>
            <a:r>
              <a:rPr lang="en-US" dirty="0">
                <a:sym typeface="Symbol"/>
              </a:rPr>
              <a:t></a:t>
            </a:r>
            <a:r>
              <a:rPr lang="en-US" dirty="0"/>
              <a:t> q) </a:t>
            </a:r>
            <a:r>
              <a:rPr lang="en-US" dirty="0">
                <a:sym typeface="Symbol"/>
              </a:rPr>
              <a:t></a:t>
            </a:r>
            <a:r>
              <a:rPr lang="en-US" dirty="0"/>
              <a:t> p</a:t>
            </a:r>
          </a:p>
          <a:p>
            <a:pPr marL="0" indent="165100" algn="just">
              <a:buClr>
                <a:srgbClr val="FF0000"/>
              </a:buClr>
              <a:buFont typeface="+mj-lt"/>
              <a:buAutoNum type="arabicPeriod" startAt="11"/>
            </a:pP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Luật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về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phép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kéo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theo</a:t>
            </a:r>
            <a:r>
              <a:rPr lang="en-US" dirty="0">
                <a:solidFill>
                  <a:srgbClr val="FF0000"/>
                </a:solidFill>
              </a:rPr>
              <a:t>:	</a:t>
            </a:r>
            <a:r>
              <a:rPr lang="en-US" dirty="0"/>
              <a:t>p </a:t>
            </a:r>
            <a:r>
              <a:rPr lang="en-US" dirty="0">
                <a:sym typeface="Symbol"/>
              </a:rPr>
              <a:t></a:t>
            </a:r>
            <a:r>
              <a:rPr lang="en-US" dirty="0"/>
              <a:t> q </a:t>
            </a:r>
            <a:r>
              <a:rPr lang="en-US" dirty="0">
                <a:sym typeface="Symbol"/>
              </a:rPr>
              <a:t>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</a:t>
            </a:r>
            <a:r>
              <a:rPr lang="en-US" dirty="0"/>
              <a:t>p </a:t>
            </a:r>
            <a:r>
              <a:rPr lang="en-US" dirty="0">
                <a:sym typeface="Symbol"/>
              </a:rPr>
              <a:t></a:t>
            </a:r>
            <a:r>
              <a:rPr lang="en-US" dirty="0"/>
              <a:t> q</a:t>
            </a:r>
          </a:p>
          <a:p>
            <a:pPr marL="0" indent="165100" algn="just">
              <a:buNone/>
            </a:pPr>
            <a:r>
              <a:rPr lang="en-US" dirty="0"/>
              <a:t>					</a:t>
            </a:r>
            <a:r>
              <a:rPr lang="en-US" dirty="0">
                <a:sym typeface="Symbol"/>
              </a:rPr>
              <a:t> 	 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 </a:t>
            </a:r>
            <a:r>
              <a:rPr lang="en-US" dirty="0"/>
              <a:t>q </a:t>
            </a:r>
            <a:r>
              <a:rPr lang="en-US" dirty="0">
                <a:sym typeface="Symbol"/>
              </a:rPr>
              <a:t>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</a:t>
            </a:r>
            <a:r>
              <a:rPr lang="en-US" dirty="0"/>
              <a:t> p</a:t>
            </a:r>
          </a:p>
          <a:p>
            <a:pPr marL="0" indent="165100" algn="just">
              <a:buNone/>
            </a:pPr>
            <a:r>
              <a:rPr lang="en-US" dirty="0" err="1">
                <a:solidFill>
                  <a:srgbClr val="FF0000"/>
                </a:solidFill>
              </a:rPr>
              <a:t>Ví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dụ</a:t>
            </a:r>
            <a:r>
              <a:rPr lang="en-US" dirty="0">
                <a:solidFill>
                  <a:srgbClr val="FF0000"/>
                </a:solidFill>
              </a:rPr>
              <a:t>: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/>
              <a:t>Cho p, q, r là các biến mệnh đề. Ch</a:t>
            </a:r>
            <a:r>
              <a:rPr lang="en-US" dirty="0" err="1"/>
              <a:t>ứng</a:t>
            </a:r>
            <a:r>
              <a:rPr lang="en-US" dirty="0"/>
              <a:t> minh </a:t>
            </a:r>
            <a:r>
              <a:rPr lang="en-US" dirty="0" err="1"/>
              <a:t>rằng</a:t>
            </a:r>
            <a:r>
              <a:rPr lang="en-US" dirty="0"/>
              <a:t>: </a:t>
            </a:r>
            <a:r>
              <a:rPr lang="vi-VN" dirty="0"/>
              <a:t>(</a:t>
            </a:r>
            <a:r>
              <a:rPr lang="vi-VN" dirty="0">
                <a:sym typeface="Symbol"/>
              </a:rPr>
              <a:t></a:t>
            </a:r>
            <a:r>
              <a:rPr lang="vi-VN" dirty="0"/>
              <a:t>p </a:t>
            </a:r>
            <a:r>
              <a:rPr lang="en-US" dirty="0">
                <a:sym typeface="Symbol"/>
              </a:rPr>
              <a:t></a:t>
            </a:r>
            <a:r>
              <a:rPr lang="vi-VN" dirty="0"/>
              <a:t> r) </a:t>
            </a:r>
            <a:r>
              <a:rPr lang="en-US" dirty="0">
                <a:sym typeface="Symbol"/>
              </a:rPr>
              <a:t></a:t>
            </a:r>
            <a:r>
              <a:rPr lang="vi-VN" dirty="0"/>
              <a:t> (q</a:t>
            </a:r>
            <a:r>
              <a:rPr lang="en-US" dirty="0">
                <a:sym typeface="Symbol"/>
              </a:rPr>
              <a:t> </a:t>
            </a:r>
            <a:r>
              <a:rPr lang="vi-VN" dirty="0"/>
              <a:t> r) </a:t>
            </a:r>
            <a:r>
              <a:rPr lang="en-US" dirty="0">
                <a:sym typeface="Symbol"/>
              </a:rPr>
              <a:t></a:t>
            </a:r>
            <a:r>
              <a:rPr lang="vi-VN" dirty="0"/>
              <a:t> (p </a:t>
            </a:r>
            <a:r>
              <a:rPr lang="en-US" dirty="0">
                <a:sym typeface="Symbol"/>
              </a:rPr>
              <a:t></a:t>
            </a:r>
            <a:r>
              <a:rPr lang="vi-VN" dirty="0"/>
              <a:t> q) </a:t>
            </a:r>
            <a:r>
              <a:rPr lang="en-US" dirty="0">
                <a:sym typeface="Symbol"/>
              </a:rPr>
              <a:t></a:t>
            </a:r>
            <a:r>
              <a:rPr lang="vi-VN" dirty="0"/>
              <a:t> r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Các</a:t>
            </a:r>
            <a:r>
              <a:rPr lang="en-US" sz="4800" b="1" dirty="0"/>
              <a:t> </a:t>
            </a:r>
            <a:r>
              <a:rPr lang="en-US" sz="4800" b="1" dirty="0" err="1"/>
              <a:t>luật</a:t>
            </a:r>
            <a:r>
              <a:rPr lang="en-US" sz="4800" b="1" dirty="0"/>
              <a:t> logic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23</a:t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 err="1"/>
              <a:t>Các</a:t>
            </a:r>
            <a:r>
              <a:rPr lang="en-US" sz="4400" b="1" dirty="0"/>
              <a:t> </a:t>
            </a:r>
            <a:r>
              <a:rPr lang="en-US" sz="4400" b="1" dirty="0" err="1"/>
              <a:t>luật</a:t>
            </a:r>
            <a:r>
              <a:rPr lang="en-US" sz="4400" b="1" dirty="0"/>
              <a:t> logic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14400" y="2828836"/>
            <a:ext cx="812292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344488" algn="just">
              <a:buClr>
                <a:srgbClr val="FF0000"/>
              </a:buClr>
            </a:pPr>
            <a:r>
              <a:rPr lang="en-US" sz="2800" dirty="0">
                <a:solidFill>
                  <a:srgbClr val="FF0000"/>
                </a:solidFill>
              </a:rPr>
              <a:t>Qui </a:t>
            </a:r>
            <a:r>
              <a:rPr lang="en-US" sz="2800" dirty="0" err="1">
                <a:solidFill>
                  <a:srgbClr val="FF0000"/>
                </a:solidFill>
              </a:rPr>
              <a:t>tắc</a:t>
            </a:r>
            <a:r>
              <a:rPr lang="en-US" sz="2800" dirty="0">
                <a:solidFill>
                  <a:srgbClr val="FF0000"/>
                </a:solidFill>
              </a:rPr>
              <a:t> De Morgan:</a:t>
            </a:r>
            <a:r>
              <a:rPr lang="en-US" sz="2800" dirty="0"/>
              <a:t>	</a:t>
            </a:r>
            <a:r>
              <a:rPr lang="en-US" sz="2800" dirty="0">
                <a:sym typeface="Symbol"/>
              </a:rPr>
              <a:t></a:t>
            </a:r>
            <a:r>
              <a:rPr lang="en-US" sz="2800" dirty="0"/>
              <a:t> (p </a:t>
            </a:r>
            <a:r>
              <a:rPr lang="en-US" sz="2800" dirty="0">
                <a:sym typeface="Symbol"/>
              </a:rPr>
              <a:t> </a:t>
            </a:r>
            <a:r>
              <a:rPr lang="en-US" sz="2800" dirty="0"/>
              <a:t>q) </a:t>
            </a:r>
            <a:r>
              <a:rPr lang="en-US" sz="2800" dirty="0">
                <a:sym typeface="Symbol"/>
              </a:rPr>
              <a:t></a:t>
            </a:r>
            <a:r>
              <a:rPr lang="en-US" sz="2800" dirty="0"/>
              <a:t> </a:t>
            </a:r>
            <a:r>
              <a:rPr lang="en-US" sz="2800" dirty="0">
                <a:sym typeface="Symbol"/>
              </a:rPr>
              <a:t></a:t>
            </a:r>
            <a:r>
              <a:rPr lang="en-US" sz="2800" dirty="0"/>
              <a:t> p </a:t>
            </a:r>
            <a:r>
              <a:rPr lang="en-US" sz="2800" dirty="0">
                <a:sym typeface="Symbol"/>
              </a:rPr>
              <a:t></a:t>
            </a:r>
            <a:r>
              <a:rPr lang="en-US" sz="2800" dirty="0"/>
              <a:t> </a:t>
            </a:r>
            <a:r>
              <a:rPr lang="en-US" sz="2800" dirty="0">
                <a:sym typeface="Symbol"/>
              </a:rPr>
              <a:t></a:t>
            </a:r>
            <a:r>
              <a:rPr lang="en-US" sz="2800" dirty="0"/>
              <a:t> q</a:t>
            </a:r>
          </a:p>
          <a:p>
            <a:pPr marL="0" indent="344488" algn="just">
              <a:buClr>
                <a:srgbClr val="FF0000"/>
              </a:buClr>
              <a:buNone/>
              <a:tabLst>
                <a:tab pos="3657600" algn="l"/>
              </a:tabLst>
            </a:pPr>
            <a:r>
              <a:rPr lang="en-US" sz="2800" dirty="0">
                <a:sym typeface="Symbol"/>
              </a:rPr>
              <a:t>                                  </a:t>
            </a:r>
            <a:r>
              <a:rPr lang="en-US" sz="2800" dirty="0"/>
              <a:t> (p </a:t>
            </a:r>
            <a:r>
              <a:rPr lang="en-US" sz="2800" dirty="0">
                <a:sym typeface="Symbol"/>
              </a:rPr>
              <a:t> </a:t>
            </a:r>
            <a:r>
              <a:rPr lang="en-US" sz="2800" dirty="0"/>
              <a:t>q) </a:t>
            </a:r>
            <a:r>
              <a:rPr lang="en-US" sz="2800" dirty="0">
                <a:sym typeface="Symbol"/>
              </a:rPr>
              <a:t></a:t>
            </a:r>
            <a:r>
              <a:rPr lang="en-US" sz="2800" dirty="0"/>
              <a:t> </a:t>
            </a:r>
            <a:r>
              <a:rPr lang="en-US" sz="2800" dirty="0">
                <a:sym typeface="Symbol"/>
              </a:rPr>
              <a:t></a:t>
            </a:r>
            <a:r>
              <a:rPr lang="en-US" sz="2800" dirty="0"/>
              <a:t> p </a:t>
            </a:r>
            <a:r>
              <a:rPr lang="en-US" sz="2800" dirty="0">
                <a:sym typeface="Symbol"/>
              </a:rPr>
              <a:t></a:t>
            </a:r>
            <a:r>
              <a:rPr lang="en-US" sz="2800" dirty="0"/>
              <a:t> </a:t>
            </a:r>
            <a:r>
              <a:rPr lang="en-US" sz="2800" dirty="0">
                <a:sym typeface="Symbol"/>
              </a:rPr>
              <a:t></a:t>
            </a:r>
            <a:r>
              <a:rPr lang="en-US" sz="2800" dirty="0"/>
              <a:t> q</a:t>
            </a:r>
          </a:p>
        </p:txBody>
      </p:sp>
      <p:sp>
        <p:nvSpPr>
          <p:cNvPr id="6" name="Rectangle 5"/>
          <p:cNvSpPr/>
          <p:nvPr/>
        </p:nvSpPr>
        <p:spPr>
          <a:xfrm>
            <a:off x="1295400" y="1828800"/>
            <a:ext cx="62484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VD: </a:t>
            </a:r>
            <a:r>
              <a:rPr lang="en-US" sz="2800" dirty="0" err="1"/>
              <a:t>Dùng</a:t>
            </a:r>
            <a:r>
              <a:rPr lang="en-US" sz="2800" dirty="0"/>
              <a:t> </a:t>
            </a:r>
            <a:r>
              <a:rPr lang="en-US" sz="2800" dirty="0" err="1"/>
              <a:t>bảng</a:t>
            </a:r>
            <a:r>
              <a:rPr lang="en-US" sz="2800" dirty="0"/>
              <a:t> </a:t>
            </a:r>
            <a:r>
              <a:rPr lang="en-US" sz="2800" dirty="0" err="1"/>
              <a:t>chân</a:t>
            </a:r>
            <a:r>
              <a:rPr lang="en-US" sz="2800" dirty="0"/>
              <a:t> </a:t>
            </a:r>
            <a:r>
              <a:rPr lang="en-US" sz="2800" dirty="0" err="1"/>
              <a:t>trị</a:t>
            </a:r>
            <a:r>
              <a:rPr lang="en-US" sz="2800" dirty="0"/>
              <a:t> </a:t>
            </a:r>
            <a:r>
              <a:rPr lang="en-US" sz="2800" dirty="0" err="1"/>
              <a:t>chứng</a:t>
            </a:r>
            <a:r>
              <a:rPr lang="en-US" sz="2800" dirty="0"/>
              <a:t> minh qui </a:t>
            </a:r>
            <a:r>
              <a:rPr lang="en-US" sz="2800" dirty="0" err="1"/>
              <a:t>tắc</a:t>
            </a:r>
            <a:r>
              <a:rPr lang="en-US" sz="2800" dirty="0"/>
              <a:t> De Morgan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8001000" cy="4530725"/>
          </a:xfrm>
        </p:spPr>
        <p:txBody>
          <a:bodyPr/>
          <a:lstStyle/>
          <a:p>
            <a:pPr marL="0" indent="165100" algn="just">
              <a:buNone/>
            </a:pPr>
            <a:r>
              <a:rPr lang="en-US" dirty="0" err="1">
                <a:solidFill>
                  <a:srgbClr val="FF0000"/>
                </a:solidFill>
              </a:rPr>
              <a:t>Ví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dụ</a:t>
            </a:r>
            <a:r>
              <a:rPr lang="en-US" dirty="0">
                <a:solidFill>
                  <a:srgbClr val="FF0000"/>
                </a:solidFill>
              </a:rPr>
              <a:t>: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/>
              <a:t>Cho p, q, r là các biến mệnh đề. Ch</a:t>
            </a:r>
            <a:r>
              <a:rPr lang="en-US" dirty="0" err="1"/>
              <a:t>ứng</a:t>
            </a:r>
            <a:r>
              <a:rPr lang="en-US" dirty="0"/>
              <a:t> minh </a:t>
            </a:r>
            <a:r>
              <a:rPr lang="en-US" dirty="0" err="1"/>
              <a:t>rằng</a:t>
            </a:r>
            <a:r>
              <a:rPr lang="en-US" dirty="0"/>
              <a:t>: </a:t>
            </a:r>
            <a:r>
              <a:rPr lang="vi-VN" dirty="0"/>
              <a:t>(</a:t>
            </a:r>
            <a:r>
              <a:rPr lang="vi-VN" dirty="0">
                <a:sym typeface="Symbol"/>
              </a:rPr>
              <a:t></a:t>
            </a:r>
            <a:r>
              <a:rPr lang="vi-VN" dirty="0"/>
              <a:t>p </a:t>
            </a:r>
            <a:r>
              <a:rPr lang="en-US" dirty="0">
                <a:sym typeface="Symbol"/>
              </a:rPr>
              <a:t></a:t>
            </a:r>
            <a:r>
              <a:rPr lang="vi-VN" dirty="0"/>
              <a:t> r) </a:t>
            </a:r>
            <a:r>
              <a:rPr lang="en-US" dirty="0">
                <a:sym typeface="Symbol"/>
              </a:rPr>
              <a:t></a:t>
            </a:r>
            <a:r>
              <a:rPr lang="vi-VN" dirty="0"/>
              <a:t> (q</a:t>
            </a:r>
            <a:r>
              <a:rPr lang="en-US" dirty="0">
                <a:sym typeface="Symbol"/>
              </a:rPr>
              <a:t> </a:t>
            </a:r>
            <a:r>
              <a:rPr lang="vi-VN" dirty="0"/>
              <a:t> r) </a:t>
            </a:r>
            <a:r>
              <a:rPr lang="en-US" dirty="0">
                <a:sym typeface="Symbol"/>
              </a:rPr>
              <a:t></a:t>
            </a:r>
            <a:r>
              <a:rPr lang="vi-VN" dirty="0"/>
              <a:t> (p </a:t>
            </a:r>
            <a:r>
              <a:rPr lang="en-US" dirty="0">
                <a:sym typeface="Symbol"/>
              </a:rPr>
              <a:t></a:t>
            </a:r>
            <a:r>
              <a:rPr lang="vi-VN" dirty="0"/>
              <a:t> q) </a:t>
            </a:r>
            <a:r>
              <a:rPr lang="en-US" dirty="0">
                <a:sym typeface="Symbol"/>
              </a:rPr>
              <a:t></a:t>
            </a:r>
            <a:r>
              <a:rPr lang="vi-VN" dirty="0"/>
              <a:t> r </a:t>
            </a:r>
            <a:r>
              <a:rPr lang="en-US" dirty="0"/>
              <a:t>.</a:t>
            </a:r>
          </a:p>
          <a:p>
            <a:pPr marL="0" indent="165100" algn="just">
              <a:buNone/>
            </a:pPr>
            <a:r>
              <a:rPr lang="en-US" dirty="0" err="1"/>
              <a:t>Giải</a:t>
            </a:r>
            <a:r>
              <a:rPr lang="en-US" dirty="0"/>
              <a:t>:</a:t>
            </a:r>
          </a:p>
          <a:p>
            <a:pPr marL="0" indent="165100" algn="just">
              <a:buNone/>
            </a:pPr>
            <a:r>
              <a:rPr lang="en-US" dirty="0"/>
              <a:t> 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Các</a:t>
            </a:r>
            <a:r>
              <a:rPr lang="en-US" sz="4800" b="1" dirty="0"/>
              <a:t> </a:t>
            </a:r>
            <a:r>
              <a:rPr lang="en-US" sz="4800" b="1" dirty="0" err="1"/>
              <a:t>luật</a:t>
            </a:r>
            <a:r>
              <a:rPr lang="en-US" sz="4800" b="1" dirty="0"/>
              <a:t> logic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286000" y="3352800"/>
            <a:ext cx="6096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 (</a:t>
            </a:r>
            <a:r>
              <a:rPr lang="en-US" sz="2800" dirty="0">
                <a:sym typeface="Symbol"/>
              </a:rPr>
              <a:t> </a:t>
            </a:r>
            <a:r>
              <a:rPr lang="en-US" sz="2800" dirty="0"/>
              <a:t>p </a:t>
            </a:r>
            <a:r>
              <a:rPr lang="en-US" sz="2800" dirty="0">
                <a:sym typeface="Symbol"/>
              </a:rPr>
              <a:t></a:t>
            </a:r>
            <a:r>
              <a:rPr lang="en-US" sz="2800" dirty="0"/>
              <a:t> r)</a:t>
            </a:r>
            <a:r>
              <a:rPr lang="en-US" sz="2800" dirty="0">
                <a:sym typeface="Symbol"/>
              </a:rPr>
              <a:t> </a:t>
            </a:r>
            <a:r>
              <a:rPr lang="en-US" sz="2800" dirty="0"/>
              <a:t>  (q </a:t>
            </a:r>
            <a:r>
              <a:rPr lang="en-US" sz="2800" dirty="0">
                <a:sym typeface="Symbol"/>
              </a:rPr>
              <a:t></a:t>
            </a:r>
            <a:r>
              <a:rPr lang="en-US" sz="2800" dirty="0"/>
              <a:t> r)</a:t>
            </a:r>
          </a:p>
          <a:p>
            <a:pPr>
              <a:buNone/>
            </a:pPr>
            <a:r>
              <a:rPr lang="en-US" sz="2800" dirty="0">
                <a:sym typeface="Symbol"/>
              </a:rPr>
              <a:t></a:t>
            </a:r>
            <a:r>
              <a:rPr lang="en-US" sz="2800" dirty="0"/>
              <a:t>  ( p </a:t>
            </a:r>
            <a:r>
              <a:rPr lang="en-US" sz="2800" dirty="0">
                <a:sym typeface="Symbol"/>
              </a:rPr>
              <a:t></a:t>
            </a:r>
            <a:r>
              <a:rPr lang="en-US" sz="2800" dirty="0"/>
              <a:t> r )</a:t>
            </a:r>
            <a:r>
              <a:rPr lang="en-US" sz="2800" dirty="0">
                <a:sym typeface="Symbol"/>
              </a:rPr>
              <a:t> </a:t>
            </a:r>
            <a:r>
              <a:rPr lang="en-US" sz="2800" dirty="0"/>
              <a:t>  (</a:t>
            </a:r>
            <a:r>
              <a:rPr lang="en-US" sz="2800" dirty="0">
                <a:sym typeface="Symbol"/>
              </a:rPr>
              <a:t></a:t>
            </a:r>
            <a:r>
              <a:rPr lang="en-US" sz="2800" dirty="0"/>
              <a:t> q </a:t>
            </a:r>
            <a:r>
              <a:rPr lang="en-US" sz="2800" dirty="0">
                <a:sym typeface="Symbol"/>
              </a:rPr>
              <a:t></a:t>
            </a:r>
            <a:r>
              <a:rPr lang="en-US" sz="2800" dirty="0"/>
              <a:t> r) //</a:t>
            </a:r>
            <a:r>
              <a:rPr lang="en-US" sz="2800" dirty="0" err="1"/>
              <a:t>kéo</a:t>
            </a:r>
            <a:r>
              <a:rPr lang="en-US" sz="2800" dirty="0"/>
              <a:t> </a:t>
            </a:r>
            <a:r>
              <a:rPr lang="en-US" sz="2800" dirty="0" err="1"/>
              <a:t>theo</a:t>
            </a:r>
            <a:endParaRPr lang="en-US" sz="2800" dirty="0"/>
          </a:p>
          <a:p>
            <a:pPr>
              <a:buNone/>
            </a:pPr>
            <a:r>
              <a:rPr lang="en-US" sz="2800" dirty="0">
                <a:sym typeface="Symbol"/>
              </a:rPr>
              <a:t>  </a:t>
            </a:r>
            <a:r>
              <a:rPr lang="en-US" sz="2800" dirty="0"/>
              <a:t>( p </a:t>
            </a:r>
            <a:r>
              <a:rPr lang="en-US" sz="2800" dirty="0">
                <a:sym typeface="Symbol"/>
              </a:rPr>
              <a:t> </a:t>
            </a:r>
            <a:r>
              <a:rPr lang="en-US" sz="2800" dirty="0"/>
              <a:t> q )</a:t>
            </a:r>
            <a:r>
              <a:rPr lang="en-US" sz="2800" dirty="0">
                <a:sym typeface="Symbol"/>
              </a:rPr>
              <a:t> </a:t>
            </a:r>
            <a:r>
              <a:rPr lang="en-US" sz="2800" dirty="0"/>
              <a:t> r //</a:t>
            </a:r>
            <a:r>
              <a:rPr lang="en-US" sz="2800" dirty="0" err="1"/>
              <a:t>phân</a:t>
            </a:r>
            <a:r>
              <a:rPr lang="en-US" sz="2800" dirty="0"/>
              <a:t> </a:t>
            </a:r>
            <a:r>
              <a:rPr lang="en-US" sz="2800" dirty="0" err="1"/>
              <a:t>phối</a:t>
            </a:r>
            <a:endParaRPr lang="en-US" sz="2800" dirty="0"/>
          </a:p>
          <a:p>
            <a:pPr>
              <a:buNone/>
            </a:pPr>
            <a:r>
              <a:rPr lang="en-US" sz="2800" dirty="0">
                <a:sym typeface="Symbol"/>
              </a:rPr>
              <a:t>  </a:t>
            </a:r>
            <a:r>
              <a:rPr lang="en-US" sz="2800" dirty="0"/>
              <a:t>(</a:t>
            </a:r>
            <a:r>
              <a:rPr lang="en-US" sz="2800" dirty="0">
                <a:sym typeface="Symbol"/>
              </a:rPr>
              <a:t> </a:t>
            </a:r>
            <a:r>
              <a:rPr lang="en-US" sz="2800" dirty="0"/>
              <a:t>p </a:t>
            </a:r>
            <a:r>
              <a:rPr lang="en-US" sz="2800" dirty="0">
                <a:sym typeface="Symbol"/>
              </a:rPr>
              <a:t></a:t>
            </a:r>
            <a:r>
              <a:rPr lang="en-US" sz="2800" dirty="0"/>
              <a:t> q )</a:t>
            </a:r>
            <a:r>
              <a:rPr lang="en-US" sz="2800" dirty="0">
                <a:sym typeface="Symbol"/>
              </a:rPr>
              <a:t> </a:t>
            </a:r>
            <a:r>
              <a:rPr lang="en-US" sz="2800" dirty="0"/>
              <a:t> r // de </a:t>
            </a:r>
            <a:r>
              <a:rPr lang="en-US" sz="2800" dirty="0" err="1"/>
              <a:t>morgan</a:t>
            </a:r>
            <a:endParaRPr lang="en-US" sz="2800" dirty="0"/>
          </a:p>
          <a:p>
            <a:pPr>
              <a:buNone/>
            </a:pPr>
            <a:r>
              <a:rPr lang="en-US" sz="2800" dirty="0">
                <a:sym typeface="Symbol"/>
              </a:rPr>
              <a:t>  </a:t>
            </a:r>
            <a:r>
              <a:rPr lang="en-US" sz="2800" dirty="0"/>
              <a:t>( p</a:t>
            </a:r>
            <a:r>
              <a:rPr lang="en-US" sz="2800" dirty="0">
                <a:sym typeface="Symbol"/>
              </a:rPr>
              <a:t> </a:t>
            </a:r>
            <a:r>
              <a:rPr lang="en-US" sz="2800" dirty="0"/>
              <a:t>  q ) </a:t>
            </a:r>
            <a:r>
              <a:rPr lang="en-US" sz="2800" dirty="0">
                <a:sym typeface="Symbol"/>
              </a:rPr>
              <a:t></a:t>
            </a:r>
            <a:r>
              <a:rPr lang="en-US" sz="2800" dirty="0"/>
              <a:t> r //</a:t>
            </a:r>
            <a:r>
              <a:rPr lang="en-US" sz="2800" dirty="0" err="1"/>
              <a:t>kéo</a:t>
            </a:r>
            <a:r>
              <a:rPr lang="en-US" sz="2800" dirty="0"/>
              <a:t> </a:t>
            </a:r>
            <a:r>
              <a:rPr lang="en-US" sz="2800" dirty="0" err="1"/>
              <a:t>theo</a:t>
            </a:r>
            <a:endParaRPr lang="en-US" sz="2800" dirty="0"/>
          </a:p>
          <a:p>
            <a:pPr>
              <a:buNone/>
            </a:pPr>
            <a:r>
              <a:rPr lang="en-US" sz="2800" dirty="0">
                <a:sym typeface="Symbol"/>
              </a:rPr>
              <a:t>  (</a:t>
            </a:r>
            <a:r>
              <a:rPr lang="en-US" sz="2800" dirty="0"/>
              <a:t>p </a:t>
            </a:r>
            <a:r>
              <a:rPr lang="en-US" sz="2800" dirty="0">
                <a:sym typeface="Symbol"/>
              </a:rPr>
              <a:t></a:t>
            </a:r>
            <a:r>
              <a:rPr lang="en-US" sz="2800" dirty="0"/>
              <a:t> q ) </a:t>
            </a:r>
            <a:r>
              <a:rPr lang="en-US" sz="2800" dirty="0">
                <a:sym typeface="Symbol"/>
              </a:rPr>
              <a:t></a:t>
            </a:r>
            <a:r>
              <a:rPr lang="en-US" sz="2800" dirty="0"/>
              <a:t> r //</a:t>
            </a:r>
            <a:r>
              <a:rPr lang="en-US" sz="2800" dirty="0" err="1"/>
              <a:t>kéo</a:t>
            </a:r>
            <a:r>
              <a:rPr lang="en-US" sz="2800" dirty="0"/>
              <a:t> </a:t>
            </a:r>
            <a:r>
              <a:rPr lang="en-US" sz="2800" dirty="0" err="1"/>
              <a:t>theo</a:t>
            </a:r>
            <a:endParaRPr lang="ru-RU" sz="2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chemeClr val="accent2"/>
                </a:solidFill>
              </a:rPr>
              <a:t>Bài</a:t>
            </a:r>
            <a:r>
              <a:rPr lang="en-US" sz="3600" dirty="0">
                <a:solidFill>
                  <a:schemeClr val="accent2"/>
                </a:solidFill>
              </a:rPr>
              <a:t> </a:t>
            </a:r>
            <a:r>
              <a:rPr lang="en-US" sz="3600" dirty="0" err="1">
                <a:solidFill>
                  <a:schemeClr val="accent2"/>
                </a:solidFill>
              </a:rPr>
              <a:t>tập</a:t>
            </a:r>
            <a:r>
              <a:rPr lang="en-US" sz="3600" dirty="0">
                <a:solidFill>
                  <a:schemeClr val="accent2"/>
                </a:solidFill>
              </a:rPr>
              <a:t> 4: </a:t>
            </a:r>
            <a:r>
              <a:rPr lang="en-US" sz="3600" dirty="0" err="1"/>
              <a:t>Tìm</a:t>
            </a:r>
            <a:r>
              <a:rPr lang="en-US" sz="3600" dirty="0"/>
              <a:t> </a:t>
            </a:r>
            <a:r>
              <a:rPr lang="en-US" sz="3600" dirty="0" err="1"/>
              <a:t>sơ</a:t>
            </a:r>
            <a:r>
              <a:rPr lang="en-US" sz="3600" dirty="0"/>
              <a:t> </a:t>
            </a:r>
            <a:r>
              <a:rPr lang="en-US" sz="3600" dirty="0" err="1"/>
              <a:t>đồ</a:t>
            </a:r>
            <a:r>
              <a:rPr lang="en-US" sz="3600" dirty="0"/>
              <a:t> </a:t>
            </a:r>
            <a:r>
              <a:rPr lang="en-US" sz="3600" dirty="0" err="1"/>
              <a:t>khối</a:t>
            </a:r>
            <a:r>
              <a:rPr lang="en-US" sz="3600" dirty="0"/>
              <a:t> </a:t>
            </a:r>
            <a:r>
              <a:rPr lang="en-US" sz="3600" dirty="0" err="1"/>
              <a:t>tương</a:t>
            </a:r>
            <a:r>
              <a:rPr lang="en-US" sz="3600" dirty="0"/>
              <a:t> </a:t>
            </a:r>
            <a:r>
              <a:rPr lang="en-US" sz="3600" dirty="0" err="1"/>
              <a:t>đương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3214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solidFill>
                  <a:schemeClr val="accent2"/>
                </a:solidFill>
              </a:rPr>
              <a:t>Bài</a:t>
            </a:r>
            <a:r>
              <a:rPr lang="en-US" sz="3600" dirty="0">
                <a:solidFill>
                  <a:schemeClr val="accent2"/>
                </a:solidFill>
              </a:rPr>
              <a:t> </a:t>
            </a:r>
            <a:r>
              <a:rPr lang="en-US" sz="3600" dirty="0" err="1">
                <a:solidFill>
                  <a:schemeClr val="accent2"/>
                </a:solidFill>
              </a:rPr>
              <a:t>tập</a:t>
            </a:r>
            <a:r>
              <a:rPr lang="en-US" sz="3600" dirty="0">
                <a:solidFill>
                  <a:schemeClr val="accent2"/>
                </a:solidFill>
              </a:rPr>
              <a:t> 5: </a:t>
            </a:r>
            <a:r>
              <a:rPr lang="en-US" sz="3200" dirty="0" err="1"/>
              <a:t>Tìm</a:t>
            </a:r>
            <a:r>
              <a:rPr lang="en-US" sz="3200" dirty="0"/>
              <a:t> </a:t>
            </a:r>
            <a:r>
              <a:rPr lang="en-US" sz="3200" dirty="0" err="1"/>
              <a:t>bảng</a:t>
            </a:r>
            <a:r>
              <a:rPr lang="en-US" sz="3200" dirty="0"/>
              <a:t> </a:t>
            </a:r>
            <a:r>
              <a:rPr lang="en-US" sz="3200" dirty="0" err="1"/>
              <a:t>chân</a:t>
            </a:r>
            <a:r>
              <a:rPr lang="en-US" sz="3200" dirty="0"/>
              <a:t> </a:t>
            </a:r>
            <a:r>
              <a:rPr lang="en-US" sz="3200" dirty="0" err="1"/>
              <a:t>trị</a:t>
            </a:r>
            <a:r>
              <a:rPr lang="en-US" sz="3200" dirty="0"/>
              <a:t> </a:t>
            </a:r>
            <a:r>
              <a:rPr lang="en-US" sz="3200" dirty="0" err="1"/>
              <a:t>của</a:t>
            </a:r>
            <a:r>
              <a:rPr lang="en-US" sz="3200" dirty="0"/>
              <a:t> </a:t>
            </a:r>
            <a:r>
              <a:rPr lang="en-US" sz="3200" dirty="0" err="1"/>
              <a:t>biểu</a:t>
            </a:r>
            <a:r>
              <a:rPr lang="en-US" sz="3200" dirty="0"/>
              <a:t> </a:t>
            </a:r>
            <a:r>
              <a:rPr lang="en-US" sz="3200" dirty="0" err="1"/>
              <a:t>thức</a:t>
            </a:r>
            <a:r>
              <a:rPr lang="en-US" sz="3200" dirty="0"/>
              <a:t> Z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5062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70E7D-7636-E5C2-BAB2-BE3C8665E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6508C-FD21-4F97-B14D-21EF820D0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A024BC-0185-4EAF-5502-DDE295788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71F73D-3116-1EA9-7C04-0327FB1A3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7813"/>
            <a:ext cx="9144000" cy="3963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1424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77657-A925-77CA-0183-F36A212A3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2334C-2133-230F-1DA8-BDF25EFD8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71AD42-1C81-6D80-2EC8-89E54FC14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77813"/>
            <a:ext cx="8686800" cy="4716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2794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0E8EF-5F4B-0B2A-E012-73A3413D0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0FFE5-3409-A888-879E-502BE24A7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87177-50A0-F08A-A0D2-DCE7A1BC0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CBE29C-7DE9-F742-1FCF-A7FE8083D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31" y="513943"/>
            <a:ext cx="7792537" cy="583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6832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D06B8-5F8A-7D59-DCC6-973ECDCE7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98526-8530-75D6-5E9C-E44C889C7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C9A78B-FD53-666D-BB71-CADFD5935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190DEB-64B5-B5FE-7458-2D62ACB7E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7813"/>
            <a:ext cx="9144000" cy="4830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7734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10F05-32CB-535C-F81A-B663FB91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56369F-9A6A-4D63-2E75-FEC3C3A7D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26" y="914400"/>
            <a:ext cx="8882419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7076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32985-4AEF-F712-2361-9965F8397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20DC9-F9E4-D689-D80A-97C277754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061CE2-7F7D-AAF0-6540-E7711E32D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556" y="287180"/>
            <a:ext cx="8667044" cy="13359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5C0F5A-69DE-66DE-68B7-7FE66FE96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639456"/>
            <a:ext cx="6801799" cy="21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6097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8305800" cy="4953000"/>
          </a:xfrm>
        </p:spPr>
        <p:txBody>
          <a:bodyPr/>
          <a:lstStyle/>
          <a:p>
            <a:pPr marL="0" indent="0" algn="just">
              <a:buClr>
                <a:srgbClr val="FF0000"/>
              </a:buClr>
              <a:buNone/>
            </a:pPr>
            <a:r>
              <a:rPr lang="en-US" dirty="0" err="1">
                <a:solidFill>
                  <a:schemeClr val="accent2"/>
                </a:solidFill>
              </a:rPr>
              <a:t>Định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nghĩa</a:t>
            </a:r>
            <a:r>
              <a:rPr lang="en-US" dirty="0">
                <a:solidFill>
                  <a:schemeClr val="accent2"/>
                </a:solidFill>
              </a:rPr>
              <a:t>: </a:t>
            </a:r>
          </a:p>
          <a:p>
            <a:pPr marL="0" indent="0">
              <a:buClr>
                <a:srgbClr val="FF0000"/>
              </a:buClr>
              <a:buNone/>
            </a:pP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chứng</a:t>
            </a:r>
            <a:r>
              <a:rPr lang="en-US" dirty="0"/>
              <a:t> minh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, ta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: </a:t>
            </a:r>
            <a:r>
              <a:rPr lang="en-US" dirty="0" err="1"/>
              <a:t>nếu</a:t>
            </a:r>
            <a:r>
              <a:rPr lang="en-US" dirty="0"/>
              <a:t>    </a:t>
            </a:r>
            <a:r>
              <a:rPr lang="en-US" dirty="0" err="1"/>
              <a:t>và</a:t>
            </a:r>
            <a:r>
              <a:rPr lang="en-US" dirty="0"/>
              <a:t>     </a:t>
            </a:r>
            <a:r>
              <a:rPr lang="en-US" dirty="0" err="1"/>
              <a:t>và</a:t>
            </a:r>
            <a:r>
              <a:rPr lang="en-US" dirty="0"/>
              <a:t>    </a:t>
            </a:r>
            <a:r>
              <a:rPr lang="en-US" dirty="0" err="1"/>
              <a:t>thì</a:t>
            </a:r>
            <a:r>
              <a:rPr lang="en-US" dirty="0"/>
              <a:t> q. </a:t>
            </a:r>
          </a:p>
          <a:p>
            <a:pPr marL="0" indent="165100">
              <a:buClr>
                <a:srgbClr val="FF0000"/>
              </a:buClr>
              <a:buNone/>
            </a:pP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ta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thức</a:t>
            </a:r>
            <a:endParaRPr lang="en-US" dirty="0"/>
          </a:p>
          <a:p>
            <a:pPr marL="0" indent="165100">
              <a:buClr>
                <a:srgbClr val="FF0000"/>
              </a:buClr>
              <a:buNone/>
            </a:pPr>
            <a:r>
              <a:rPr lang="en-US" dirty="0">
                <a:sym typeface="Symbol"/>
              </a:rPr>
              <a:t>                                    </a:t>
            </a:r>
            <a:r>
              <a:rPr lang="en-US" dirty="0" err="1">
                <a:sym typeface="Symbol"/>
              </a:rPr>
              <a:t>là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hằng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đúng</a:t>
            </a:r>
            <a:r>
              <a:rPr lang="en-US" dirty="0">
                <a:sym typeface="Symbol"/>
              </a:rPr>
              <a:t>.</a:t>
            </a:r>
          </a:p>
          <a:p>
            <a:pPr marL="0" indent="52388">
              <a:buClr>
                <a:srgbClr val="FF0000"/>
              </a:buClr>
              <a:buNone/>
            </a:pPr>
            <a:r>
              <a:rPr lang="en-US" dirty="0">
                <a:sym typeface="Symbol"/>
              </a:rPr>
              <a:t>Ta </a:t>
            </a:r>
            <a:r>
              <a:rPr lang="en-US" dirty="0" err="1">
                <a:sym typeface="Symbol"/>
              </a:rPr>
              <a:t>gọi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dạng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lý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luận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trên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là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một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quy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tắc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suy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diễn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và</a:t>
            </a:r>
            <a:r>
              <a:rPr lang="en-US" dirty="0">
                <a:sym typeface="Symbol"/>
              </a:rPr>
              <a:t>  </a:t>
            </a:r>
            <a:r>
              <a:rPr lang="en-US" dirty="0" err="1">
                <a:sym typeface="Symbol"/>
              </a:rPr>
              <a:t>thường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được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viết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theo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các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cách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sau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đây</a:t>
            </a:r>
            <a:r>
              <a:rPr lang="en-US" dirty="0">
                <a:sym typeface="Symbol"/>
              </a:rPr>
              <a:t>:</a:t>
            </a:r>
          </a:p>
          <a:p>
            <a:pPr marL="0" indent="165100">
              <a:buClr>
                <a:srgbClr val="FF0000"/>
              </a:buClr>
              <a:buNone/>
            </a:pPr>
            <a:r>
              <a:rPr lang="en-US" u="sng" dirty="0" err="1">
                <a:solidFill>
                  <a:srgbClr val="00B0F0"/>
                </a:solidFill>
                <a:sym typeface="Symbol"/>
              </a:rPr>
              <a:t>Cách</a:t>
            </a:r>
            <a:r>
              <a:rPr lang="en-US" u="sng" dirty="0">
                <a:solidFill>
                  <a:srgbClr val="00B0F0"/>
                </a:solidFill>
                <a:sym typeface="Symbol"/>
              </a:rPr>
              <a:t> 1</a:t>
            </a:r>
            <a:r>
              <a:rPr lang="en-US" dirty="0">
                <a:solidFill>
                  <a:srgbClr val="00B0F0"/>
                </a:solidFill>
                <a:sym typeface="Symbol"/>
              </a:rPr>
              <a:t>: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Biểu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thức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hằng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đúng</a:t>
            </a:r>
            <a:endParaRPr lang="en-US" dirty="0">
              <a:sym typeface="Symbo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/>
              <a:t>Qui </a:t>
            </a:r>
            <a:r>
              <a:rPr lang="en-US" sz="4800" b="1" dirty="0" err="1"/>
              <a:t>tắc</a:t>
            </a:r>
            <a:r>
              <a:rPr lang="en-US" sz="4800" b="1" dirty="0"/>
              <a:t> </a:t>
            </a:r>
            <a:r>
              <a:rPr lang="en-US" sz="4800" b="1" dirty="0" err="1"/>
              <a:t>suy</a:t>
            </a:r>
            <a:r>
              <a:rPr lang="en-US" sz="4800" b="1" dirty="0"/>
              <a:t> </a:t>
            </a:r>
            <a:r>
              <a:rPr lang="en-US" sz="4800" b="1" dirty="0" err="1"/>
              <a:t>diễn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34</a:t>
            </a:fld>
            <a:endParaRPr lang="en-US" dirty="0"/>
          </a:p>
        </p:txBody>
      </p:sp>
      <p:graphicFrame>
        <p:nvGraphicFramePr>
          <p:cNvPr id="217090" name="Object 2"/>
          <p:cNvGraphicFramePr>
            <a:graphicFrameLocks noChangeAspect="1"/>
          </p:cNvGraphicFramePr>
          <p:nvPr/>
        </p:nvGraphicFramePr>
        <p:xfrm>
          <a:off x="6521450" y="2552700"/>
          <a:ext cx="304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4560" imgH="507960" progId="Equation.DSMT4">
                  <p:embed/>
                </p:oleObj>
              </mc:Choice>
              <mc:Fallback>
                <p:oleObj name="Equation" r:id="rId2" imgW="304560" imgH="507960" progId="Equation.DSMT4">
                  <p:embed/>
                  <p:pic>
                    <p:nvPicPr>
                      <p:cNvPr id="21709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1450" y="2552700"/>
                        <a:ext cx="3048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091" name="Object 3"/>
          <p:cNvGraphicFramePr>
            <a:graphicFrameLocks noChangeAspect="1"/>
          </p:cNvGraphicFramePr>
          <p:nvPr/>
        </p:nvGraphicFramePr>
        <p:xfrm>
          <a:off x="7302500" y="2552700"/>
          <a:ext cx="330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0120" imgH="507960" progId="Equation.DSMT4">
                  <p:embed/>
                </p:oleObj>
              </mc:Choice>
              <mc:Fallback>
                <p:oleObj name="Equation" r:id="rId4" imgW="330120" imgH="507960" progId="Equation.DSMT4">
                  <p:embed/>
                  <p:pic>
                    <p:nvPicPr>
                      <p:cNvPr id="21709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2500" y="2552700"/>
                        <a:ext cx="3302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092" name="Object 4"/>
          <p:cNvGraphicFramePr>
            <a:graphicFrameLocks noChangeAspect="1"/>
          </p:cNvGraphicFramePr>
          <p:nvPr/>
        </p:nvGraphicFramePr>
        <p:xfrm>
          <a:off x="8166100" y="2540000"/>
          <a:ext cx="355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5320" imgH="507960" progId="Equation.DSMT4">
                  <p:embed/>
                </p:oleObj>
              </mc:Choice>
              <mc:Fallback>
                <p:oleObj name="Equation" r:id="rId6" imgW="355320" imgH="507960" progId="Equation.DSMT4">
                  <p:embed/>
                  <p:pic>
                    <p:nvPicPr>
                      <p:cNvPr id="2170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6100" y="2540000"/>
                        <a:ext cx="3556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093" name="Object 5"/>
          <p:cNvGraphicFramePr>
            <a:graphicFrameLocks noChangeAspect="1"/>
          </p:cNvGraphicFramePr>
          <p:nvPr/>
        </p:nvGraphicFramePr>
        <p:xfrm>
          <a:off x="914400" y="3987800"/>
          <a:ext cx="3352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352680" imgH="507960" progId="Equation.DSMT4">
                  <p:embed/>
                </p:oleObj>
              </mc:Choice>
              <mc:Fallback>
                <p:oleObj name="Equation" r:id="rId8" imgW="3352680" imgH="507960" progId="Equation.DSMT4">
                  <p:embed/>
                  <p:pic>
                    <p:nvPicPr>
                      <p:cNvPr id="21709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987800"/>
                        <a:ext cx="33528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094" name="Object 6"/>
          <p:cNvGraphicFramePr>
            <a:graphicFrameLocks noChangeAspect="1"/>
          </p:cNvGraphicFramePr>
          <p:nvPr/>
        </p:nvGraphicFramePr>
        <p:xfrm>
          <a:off x="2806700" y="6057900"/>
          <a:ext cx="4241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241520" imgH="507960" progId="Equation.DSMT4">
                  <p:embed/>
                </p:oleObj>
              </mc:Choice>
              <mc:Fallback>
                <p:oleObj name="Equation" r:id="rId10" imgW="4241520" imgH="507960" progId="Equation.DSMT4">
                  <p:embed/>
                  <p:pic>
                    <p:nvPicPr>
                      <p:cNvPr id="21709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6700" y="6057900"/>
                        <a:ext cx="42418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00200"/>
            <a:ext cx="8382000" cy="4953000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en-US" dirty="0" err="1">
                <a:solidFill>
                  <a:schemeClr val="accent2"/>
                </a:solidFill>
              </a:rPr>
              <a:t>Định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nghĩa</a:t>
            </a:r>
            <a:r>
              <a:rPr lang="en-US" dirty="0">
                <a:solidFill>
                  <a:schemeClr val="accent2"/>
                </a:solidFill>
              </a:rPr>
              <a:t>: </a:t>
            </a:r>
          </a:p>
          <a:p>
            <a:pPr marL="0" indent="165100">
              <a:buClr>
                <a:srgbClr val="FF0000"/>
              </a:buClr>
              <a:buNone/>
            </a:pPr>
            <a:r>
              <a:rPr lang="en-US" u="sng" dirty="0" err="1">
                <a:solidFill>
                  <a:srgbClr val="00B0F0"/>
                </a:solidFill>
                <a:sym typeface="Symbol"/>
              </a:rPr>
              <a:t>Cách</a:t>
            </a:r>
            <a:r>
              <a:rPr lang="en-US" u="sng" dirty="0">
                <a:solidFill>
                  <a:srgbClr val="00B0F0"/>
                </a:solidFill>
                <a:sym typeface="Symbol"/>
              </a:rPr>
              <a:t> 2</a:t>
            </a:r>
            <a:r>
              <a:rPr lang="en-US" dirty="0">
                <a:solidFill>
                  <a:srgbClr val="00B0F0"/>
                </a:solidFill>
                <a:sym typeface="Symbol"/>
              </a:rPr>
              <a:t>: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Dòng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suy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diễn</a:t>
            </a:r>
            <a:endParaRPr lang="en-US" dirty="0">
              <a:sym typeface="Symbol"/>
            </a:endParaRPr>
          </a:p>
          <a:p>
            <a:pPr marL="0" indent="165100">
              <a:buClr>
                <a:srgbClr val="FF0000"/>
              </a:buClr>
              <a:buNone/>
            </a:pPr>
            <a:endParaRPr lang="en-US" dirty="0">
              <a:sym typeface="Symbol"/>
            </a:endParaRPr>
          </a:p>
          <a:p>
            <a:pPr marL="0" indent="165100">
              <a:buClr>
                <a:srgbClr val="FF0000"/>
              </a:buClr>
              <a:buNone/>
            </a:pPr>
            <a:r>
              <a:rPr lang="en-US" dirty="0" err="1">
                <a:solidFill>
                  <a:srgbClr val="00B0F0"/>
                </a:solidFill>
                <a:sym typeface="Symbol"/>
              </a:rPr>
              <a:t>Cách</a:t>
            </a:r>
            <a:r>
              <a:rPr lang="en-US" dirty="0">
                <a:solidFill>
                  <a:srgbClr val="00B0F0"/>
                </a:solidFill>
                <a:sym typeface="Symbol"/>
              </a:rPr>
              <a:t> 3: </a:t>
            </a:r>
            <a:r>
              <a:rPr lang="en-US" dirty="0" err="1">
                <a:sym typeface="Symbol"/>
              </a:rPr>
              <a:t>Mô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hình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suy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diễn</a:t>
            </a:r>
            <a:endParaRPr lang="en-US" dirty="0">
              <a:sym typeface="Symbol"/>
            </a:endParaRPr>
          </a:p>
          <a:p>
            <a:pPr marL="0" indent="165100">
              <a:buClr>
                <a:srgbClr val="FF0000"/>
              </a:buClr>
              <a:buNone/>
            </a:pPr>
            <a:endParaRPr lang="en-US" dirty="0">
              <a:solidFill>
                <a:srgbClr val="00B0F0"/>
              </a:solidFill>
              <a:sym typeface="Symbol"/>
            </a:endParaRPr>
          </a:p>
          <a:p>
            <a:pPr marL="0" indent="165100">
              <a:buClr>
                <a:srgbClr val="FF0000"/>
              </a:buClr>
              <a:buNone/>
            </a:pPr>
            <a:endParaRPr lang="en-US" dirty="0">
              <a:solidFill>
                <a:srgbClr val="00B0F0"/>
              </a:solidFill>
              <a:sym typeface="Symbol"/>
            </a:endParaRPr>
          </a:p>
          <a:p>
            <a:pPr marL="0" indent="165100">
              <a:buClr>
                <a:srgbClr val="FF0000"/>
              </a:buClr>
              <a:buNone/>
            </a:pPr>
            <a:endParaRPr lang="en-US" dirty="0">
              <a:solidFill>
                <a:srgbClr val="00B0F0"/>
              </a:solidFill>
              <a:sym typeface="Symbol"/>
            </a:endParaRPr>
          </a:p>
          <a:p>
            <a:pPr marL="0" indent="165100">
              <a:buClr>
                <a:srgbClr val="FF0000"/>
              </a:buClr>
              <a:buNone/>
            </a:pPr>
            <a:endParaRPr lang="en-US" dirty="0">
              <a:solidFill>
                <a:srgbClr val="00B0F0"/>
              </a:solidFill>
              <a:sym typeface="Symbol"/>
            </a:endParaRPr>
          </a:p>
          <a:p>
            <a:pPr marL="0" indent="165100">
              <a:buClr>
                <a:srgbClr val="FF0000"/>
              </a:buClr>
              <a:buNone/>
            </a:pPr>
            <a:r>
              <a:rPr lang="en-US" dirty="0" err="1">
                <a:sym typeface="Symbol"/>
              </a:rPr>
              <a:t>Các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biểu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thức</a:t>
            </a:r>
            <a:r>
              <a:rPr lang="en-US" dirty="0">
                <a:sym typeface="Symbol"/>
              </a:rPr>
              <a:t> logic                  </a:t>
            </a:r>
            <a:r>
              <a:rPr lang="en-US" dirty="0" err="1">
                <a:sym typeface="Symbol"/>
              </a:rPr>
              <a:t>được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gọi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là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giả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thiết</a:t>
            </a:r>
            <a:r>
              <a:rPr lang="en-US" dirty="0">
                <a:sym typeface="Symbol"/>
              </a:rPr>
              <a:t> (hay </a:t>
            </a:r>
            <a:r>
              <a:rPr lang="en-US" dirty="0" err="1">
                <a:sym typeface="Symbol"/>
              </a:rPr>
              <a:t>tiên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đề</a:t>
            </a:r>
            <a:r>
              <a:rPr lang="en-US" dirty="0">
                <a:sym typeface="Symbol"/>
              </a:rPr>
              <a:t>), </a:t>
            </a:r>
            <a:r>
              <a:rPr lang="en-US" dirty="0" err="1">
                <a:sym typeface="Symbol"/>
              </a:rPr>
              <a:t>biểu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thức</a:t>
            </a:r>
            <a:r>
              <a:rPr lang="en-US" dirty="0">
                <a:sym typeface="Symbol"/>
              </a:rPr>
              <a:t> q </a:t>
            </a:r>
            <a:r>
              <a:rPr lang="en-US" dirty="0" err="1">
                <a:sym typeface="Symbol"/>
              </a:rPr>
              <a:t>được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gọi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là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kết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luận</a:t>
            </a:r>
            <a:r>
              <a:rPr lang="en-US" dirty="0">
                <a:sym typeface="Symbol"/>
              </a:rPr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/>
              <a:t>Qui </a:t>
            </a:r>
            <a:r>
              <a:rPr lang="en-US" sz="4800" b="1" dirty="0" err="1"/>
              <a:t>tắc</a:t>
            </a:r>
            <a:r>
              <a:rPr lang="en-US" sz="4800" b="1" dirty="0"/>
              <a:t> </a:t>
            </a:r>
            <a:r>
              <a:rPr lang="en-US" sz="4800" b="1" dirty="0" err="1"/>
              <a:t>suy</a:t>
            </a:r>
            <a:r>
              <a:rPr lang="en-US" sz="4800" b="1" dirty="0"/>
              <a:t> </a:t>
            </a:r>
            <a:r>
              <a:rPr lang="en-US" sz="4800" b="1" dirty="0" err="1"/>
              <a:t>diễn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81800" y="6553200"/>
            <a:ext cx="1905000" cy="152400"/>
          </a:xfrm>
        </p:spPr>
        <p:txBody>
          <a:bodyPr/>
          <a:lstStyle/>
          <a:p>
            <a:fld id="{3D9E56B6-077A-4A36-A778-66B152E4D643}" type="slidenum">
              <a:rPr lang="en-US" smtClean="0"/>
              <a:pPr/>
              <a:t>35</a:t>
            </a:fld>
            <a:endParaRPr lang="en-US" dirty="0"/>
          </a:p>
        </p:txBody>
      </p:sp>
      <p:graphicFrame>
        <p:nvGraphicFramePr>
          <p:cNvPr id="217093" name="Object 5"/>
          <p:cNvGraphicFramePr>
            <a:graphicFrameLocks noChangeAspect="1"/>
          </p:cNvGraphicFramePr>
          <p:nvPr/>
        </p:nvGraphicFramePr>
        <p:xfrm>
          <a:off x="2819400" y="2667000"/>
          <a:ext cx="3352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52680" imgH="507960" progId="Equation.DSMT4">
                  <p:embed/>
                </p:oleObj>
              </mc:Choice>
              <mc:Fallback>
                <p:oleObj name="Equation" r:id="rId2" imgW="3352680" imgH="507960" progId="Equation.DSMT4">
                  <p:embed/>
                  <p:pic>
                    <p:nvPicPr>
                      <p:cNvPr id="21709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667000"/>
                        <a:ext cx="33528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19" name="Object 7"/>
          <p:cNvGraphicFramePr>
            <a:graphicFrameLocks noChangeAspect="1"/>
          </p:cNvGraphicFramePr>
          <p:nvPr/>
        </p:nvGraphicFramePr>
        <p:xfrm>
          <a:off x="3721100" y="3581400"/>
          <a:ext cx="1066800" cy="2057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7480" imgH="545760" progId="Equation.3">
                  <p:embed/>
                </p:oleObj>
              </mc:Choice>
              <mc:Fallback>
                <p:oleObj name="Equation" r:id="rId4" imgW="177480" imgH="545760" progId="Equation.3">
                  <p:embed/>
                  <p:pic>
                    <p:nvPicPr>
                      <p:cNvPr id="21811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1100" y="3581400"/>
                        <a:ext cx="1066800" cy="20573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21" name="Object 9"/>
          <p:cNvGraphicFramePr>
            <a:graphicFrameLocks noChangeAspect="1"/>
          </p:cNvGraphicFramePr>
          <p:nvPr/>
        </p:nvGraphicFramePr>
        <p:xfrm>
          <a:off x="3930650" y="5689600"/>
          <a:ext cx="1638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38000" imgH="507960" progId="Equation.DSMT4">
                  <p:embed/>
                </p:oleObj>
              </mc:Choice>
              <mc:Fallback>
                <p:oleObj name="Equation" r:id="rId6" imgW="1638000" imgH="507960" progId="Equation.DSMT4">
                  <p:embed/>
                  <p:pic>
                    <p:nvPicPr>
                      <p:cNvPr id="21812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0650" y="5689600"/>
                        <a:ext cx="16383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3737F-03FC-69F1-F632-531793F7B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5822E-0C23-B3F9-EBA7-6CA001FBC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B1CEC4-F960-14D5-EC3A-15179C632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36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F4EA74-900B-88F2-2ECB-2DDDD552F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37586"/>
            <a:ext cx="7355737" cy="6820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6037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8001000" cy="4800600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vi-VN" dirty="0">
                <a:solidFill>
                  <a:srgbClr val="FF0000"/>
                </a:solidFill>
              </a:rPr>
              <a:t>Qui tắc khẳng định (Modus Ponens)</a:t>
            </a:r>
            <a:r>
              <a:rPr lang="en-US" dirty="0">
                <a:solidFill>
                  <a:srgbClr val="FF0000"/>
                </a:solidFill>
              </a:rPr>
              <a:t>:</a:t>
            </a:r>
            <a:endParaRPr lang="vi-VN" dirty="0">
              <a:solidFill>
                <a:srgbClr val="FF0000"/>
              </a:solidFill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/>
              <a:t>	[(p </a:t>
            </a:r>
            <a:r>
              <a:rPr lang="en-US" dirty="0">
                <a:sym typeface="Symbol"/>
              </a:rPr>
              <a:t> q)  p] </a:t>
            </a:r>
            <a:r>
              <a:rPr lang="vi-VN" dirty="0">
                <a:sym typeface="Symbol"/>
              </a:rPr>
              <a:t></a:t>
            </a:r>
            <a:r>
              <a:rPr lang="en-US" dirty="0">
                <a:sym typeface="Symbol"/>
              </a:rPr>
              <a:t> q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>
                <a:sym typeface="Symbol"/>
              </a:rPr>
              <a:t>	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err="1">
                <a:solidFill>
                  <a:srgbClr val="FF0000"/>
                </a:solidFill>
              </a:rPr>
              <a:t>Ví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dụ</a:t>
            </a:r>
            <a:r>
              <a:rPr lang="en-US" dirty="0">
                <a:solidFill>
                  <a:srgbClr val="FF0000"/>
                </a:solidFill>
              </a:rPr>
              <a:t>:</a:t>
            </a:r>
            <a:r>
              <a:rPr lang="en-US" dirty="0"/>
              <a:t> </a:t>
            </a:r>
          </a:p>
          <a:p>
            <a:pPr marL="0" indent="165100" algn="just">
              <a:buClr>
                <a:srgbClr val="FF0000"/>
              </a:buClr>
              <a:buFont typeface="Symbol" pitchFamily="18" charset="2"/>
              <a:buChar char="·"/>
            </a:pP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đậu</a:t>
            </a:r>
            <a:r>
              <a:rPr lang="en-US" dirty="0"/>
              <a:t> 		      </a:t>
            </a:r>
          </a:p>
          <a:p>
            <a:pPr marL="0" indent="165100" algn="just">
              <a:buClr>
                <a:srgbClr val="FF0000"/>
              </a:buClr>
              <a:buFont typeface="Symbol" pitchFamily="18" charset="2"/>
              <a:buChar char="·"/>
            </a:pPr>
            <a:r>
              <a:rPr lang="en-US" dirty="0"/>
              <a:t>SV A 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tốt</a:t>
            </a:r>
            <a:endParaRPr lang="en-US" dirty="0"/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err="1"/>
              <a:t>Suy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: SV A 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đậu</a:t>
            </a:r>
            <a:endParaRPr lang="en-US" dirty="0"/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>
                <a:sym typeface="Symbol"/>
              </a:rPr>
              <a:t>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chuồn</a:t>
            </a:r>
            <a:r>
              <a:rPr lang="en-US" dirty="0"/>
              <a:t> </a:t>
            </a:r>
            <a:r>
              <a:rPr lang="en-US" dirty="0" err="1"/>
              <a:t>chuồn</a:t>
            </a:r>
            <a:r>
              <a:rPr lang="en-US" dirty="0"/>
              <a:t> bay </a:t>
            </a:r>
            <a:r>
              <a:rPr lang="en-US" dirty="0" err="1"/>
              <a:t>thấp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mưa</a:t>
            </a:r>
            <a:r>
              <a:rPr lang="en-US" dirty="0"/>
              <a:t>	       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>
                <a:sym typeface="Symbol"/>
              </a:rPr>
              <a:t> </a:t>
            </a:r>
            <a:r>
              <a:rPr lang="en-US" dirty="0" err="1">
                <a:sym typeface="Symbol"/>
              </a:rPr>
              <a:t>Thấy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chuồn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chuồn</a:t>
            </a:r>
            <a:r>
              <a:rPr lang="en-US" dirty="0">
                <a:sym typeface="Symbol"/>
              </a:rPr>
              <a:t> bay </a:t>
            </a:r>
            <a:r>
              <a:rPr lang="en-US" dirty="0" err="1">
                <a:sym typeface="Symbol"/>
              </a:rPr>
              <a:t>thấp</a:t>
            </a:r>
            <a:endParaRPr lang="en-US" dirty="0"/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err="1"/>
              <a:t>Suy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: </a:t>
            </a:r>
            <a:r>
              <a:rPr lang="en-US" dirty="0" err="1"/>
              <a:t>trời</a:t>
            </a:r>
            <a:r>
              <a:rPr lang="en-US" dirty="0"/>
              <a:t> </a:t>
            </a:r>
            <a:r>
              <a:rPr lang="en-US" dirty="0" err="1"/>
              <a:t>mưa</a:t>
            </a:r>
            <a:endParaRPr lang="vi-V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/>
              <a:t>Qui </a:t>
            </a:r>
            <a:r>
              <a:rPr lang="en-US" sz="4800" b="1" dirty="0" err="1"/>
              <a:t>tắc</a:t>
            </a:r>
            <a:r>
              <a:rPr lang="en-US" sz="4800" b="1" dirty="0"/>
              <a:t> </a:t>
            </a:r>
            <a:r>
              <a:rPr lang="en-US" sz="4800" b="1" dirty="0" err="1"/>
              <a:t>suy</a:t>
            </a:r>
            <a:r>
              <a:rPr lang="en-US" sz="4800" b="1" dirty="0"/>
              <a:t> </a:t>
            </a:r>
            <a:r>
              <a:rPr lang="en-US" sz="4800" b="1" dirty="0" err="1"/>
              <a:t>diễn</a:t>
            </a:r>
            <a:r>
              <a:rPr lang="en-US" sz="4800" b="1" dirty="0"/>
              <a:t> 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81800" y="6400800"/>
            <a:ext cx="1905000" cy="304800"/>
          </a:xfrm>
        </p:spPr>
        <p:txBody>
          <a:bodyPr/>
          <a:lstStyle/>
          <a:p>
            <a:fld id="{3D9E56B6-077A-4A36-A778-66B152E4D643}" type="slidenum">
              <a:rPr lang="en-US" smtClean="0"/>
              <a:pPr/>
              <a:t>37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562600" y="2133600"/>
          <a:ext cx="1295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8940"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p 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  <a:sym typeface="Symbol"/>
                        </a:rPr>
                        <a:t> q</a:t>
                      </a:r>
                    </a:p>
                    <a:p>
                      <a:r>
                        <a:rPr lang="en-US" sz="2800" b="0" dirty="0">
                          <a:solidFill>
                            <a:schemeClr val="tx1"/>
                          </a:solidFill>
                          <a:sym typeface="Symbol"/>
                        </a:rPr>
                        <a:t>p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pPr algn="l">
                        <a:tabLst>
                          <a:tab pos="749300" algn="l"/>
                        </a:tabLst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sym typeface="Symbol"/>
                        </a:rPr>
                        <a:t>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q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FBCF6-938F-A5A2-FFBE-8EFFED21C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C1733-FD9C-684D-2AC3-F2334584AB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07A28-8D1A-DC00-A30A-1948F9DD3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38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A73330-2A01-91AD-BB98-CA765443B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400"/>
            <a:ext cx="8893536" cy="402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0491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82296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en-US" dirty="0">
                <a:solidFill>
                  <a:srgbClr val="FF0000"/>
                </a:solidFill>
              </a:rPr>
              <a:t>2. Qui </a:t>
            </a:r>
            <a:r>
              <a:rPr lang="en-US" dirty="0" err="1">
                <a:solidFill>
                  <a:srgbClr val="FF0000"/>
                </a:solidFill>
              </a:rPr>
              <a:t>tắc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vi-VN" dirty="0">
                <a:solidFill>
                  <a:srgbClr val="FF0000"/>
                </a:solidFill>
              </a:rPr>
              <a:t>phủ định</a:t>
            </a:r>
            <a:r>
              <a:rPr lang="en-US" dirty="0">
                <a:solidFill>
                  <a:srgbClr val="FF0000"/>
                </a:solidFill>
              </a:rPr>
              <a:t> (Modus </a:t>
            </a:r>
            <a:r>
              <a:rPr lang="en-US" dirty="0" err="1">
                <a:solidFill>
                  <a:srgbClr val="FF0000"/>
                </a:solidFill>
              </a:rPr>
              <a:t>Tollens</a:t>
            </a:r>
            <a:r>
              <a:rPr lang="en-US" dirty="0">
                <a:solidFill>
                  <a:srgbClr val="FF0000"/>
                </a:solidFill>
              </a:rPr>
              <a:t>):</a:t>
            </a:r>
            <a:endParaRPr lang="vi-VN" dirty="0">
              <a:solidFill>
                <a:srgbClr val="FF0000"/>
              </a:solidFill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/>
              <a:t> [(p </a:t>
            </a:r>
            <a:r>
              <a:rPr lang="en-US" dirty="0">
                <a:sym typeface="Symbol"/>
              </a:rPr>
              <a:t> q)  q ] </a:t>
            </a:r>
            <a:r>
              <a:rPr lang="vi-VN" dirty="0">
                <a:sym typeface="Symbol"/>
              </a:rPr>
              <a:t></a:t>
            </a:r>
            <a:r>
              <a:rPr lang="en-US" dirty="0">
                <a:sym typeface="Symbol"/>
              </a:rPr>
              <a:t>  p 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>
                <a:sym typeface="Symbol"/>
              </a:rPr>
              <a:t>	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err="1">
                <a:solidFill>
                  <a:srgbClr val="FF0000"/>
                </a:solidFill>
              </a:rPr>
              <a:t>Ví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dụ</a:t>
            </a:r>
            <a:r>
              <a:rPr lang="en-US" dirty="0">
                <a:solidFill>
                  <a:srgbClr val="FF0000"/>
                </a:solidFill>
              </a:rPr>
              <a:t>:</a:t>
            </a:r>
            <a:r>
              <a:rPr lang="en-US" dirty="0"/>
              <a:t> 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• Nếu </a:t>
            </a:r>
            <a:r>
              <a:rPr lang="en-US" dirty="0">
                <a:sym typeface="Symbol"/>
              </a:rPr>
              <a:t>A</a:t>
            </a:r>
            <a:r>
              <a:rPr lang="vi-VN" dirty="0">
                <a:sym typeface="Symbol"/>
              </a:rPr>
              <a:t> đi học đầy đủ thì </a:t>
            </a:r>
            <a:r>
              <a:rPr lang="en-US" dirty="0">
                <a:sym typeface="Symbol"/>
              </a:rPr>
              <a:t>A </a:t>
            </a:r>
            <a:r>
              <a:rPr lang="vi-VN" dirty="0">
                <a:sym typeface="Symbol"/>
              </a:rPr>
              <a:t>đậu toán rời rạc.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• </a:t>
            </a:r>
            <a:r>
              <a:rPr lang="en-US" dirty="0">
                <a:sym typeface="Symbol"/>
              </a:rPr>
              <a:t>A</a:t>
            </a:r>
            <a:r>
              <a:rPr lang="vi-VN" dirty="0">
                <a:sym typeface="Symbol"/>
              </a:rPr>
              <a:t> không đậu toán rời rạc.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Suy ra: </a:t>
            </a:r>
            <a:r>
              <a:rPr lang="en-US" dirty="0">
                <a:sym typeface="Symbol"/>
              </a:rPr>
              <a:t>A</a:t>
            </a:r>
            <a:r>
              <a:rPr lang="vi-VN" dirty="0">
                <a:sym typeface="Symbol"/>
              </a:rPr>
              <a:t> không đi học đầy đủ.</a:t>
            </a:r>
            <a:endParaRPr lang="vi-V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/>
              <a:t>Qui </a:t>
            </a:r>
            <a:r>
              <a:rPr lang="en-US" sz="4800" b="1" dirty="0" err="1"/>
              <a:t>tắc</a:t>
            </a:r>
            <a:r>
              <a:rPr lang="en-US" sz="4800" b="1" dirty="0"/>
              <a:t> </a:t>
            </a:r>
            <a:r>
              <a:rPr lang="en-US" sz="4800" b="1" dirty="0" err="1"/>
              <a:t>suy</a:t>
            </a:r>
            <a:r>
              <a:rPr lang="en-US" sz="4800" b="1" dirty="0"/>
              <a:t> </a:t>
            </a:r>
            <a:r>
              <a:rPr lang="en-US" sz="4800" b="1" dirty="0" err="1"/>
              <a:t>diễn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39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0" y="1981200"/>
          <a:ext cx="1524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84250">
                <a:tc>
                  <a:txBody>
                    <a:bodyPr/>
                    <a:lstStyle/>
                    <a:p>
                      <a:pPr algn="l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  p 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  <a:sym typeface="Symbol"/>
                        </a:rPr>
                        <a:t> q</a:t>
                      </a:r>
                    </a:p>
                    <a:p>
                      <a:pPr algn="l"/>
                      <a:r>
                        <a:rPr lang="en-US" sz="2800" b="0" dirty="0">
                          <a:solidFill>
                            <a:schemeClr val="tx1"/>
                          </a:solidFill>
                          <a:sym typeface="Symbol"/>
                        </a:rPr>
                        <a:t>q 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l">
                        <a:tabLst>
                          <a:tab pos="749300" algn="l"/>
                        </a:tabLst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sym typeface="Symbol"/>
                        </a:rPr>
                        <a:t>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p 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07200-D725-1631-8E0B-D02985870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7A2C6-AB70-0698-4182-42FE7A934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564BA-EB7A-42CE-7740-572CD1C5D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40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0C5D40-B210-C27F-8E9C-51335F5A2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36" y="533400"/>
            <a:ext cx="9000836" cy="3989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9446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80010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en-US" dirty="0">
                <a:solidFill>
                  <a:srgbClr val="FF0000"/>
                </a:solidFill>
              </a:rPr>
              <a:t>3. </a:t>
            </a:r>
            <a:r>
              <a:rPr lang="vi-VN" dirty="0">
                <a:solidFill>
                  <a:srgbClr val="FF0000"/>
                </a:solidFill>
              </a:rPr>
              <a:t>Qui tắc tam đoạn luận</a:t>
            </a:r>
            <a:r>
              <a:rPr lang="en-US" dirty="0">
                <a:solidFill>
                  <a:srgbClr val="FF0000"/>
                </a:solidFill>
              </a:rPr>
              <a:t>: 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/>
              <a:t>Hypothetical Syllogism</a:t>
            </a:r>
            <a:endParaRPr lang="vi-VN" dirty="0">
              <a:solidFill>
                <a:srgbClr val="FF0000"/>
              </a:solidFill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/>
              <a:t> [(p </a:t>
            </a:r>
            <a:r>
              <a:rPr lang="en-US" dirty="0">
                <a:sym typeface="Symbol"/>
              </a:rPr>
              <a:t> q)  (q  r)] </a:t>
            </a:r>
            <a:r>
              <a:rPr lang="vi-VN" dirty="0">
                <a:sym typeface="Symbol"/>
              </a:rPr>
              <a:t></a:t>
            </a:r>
            <a:r>
              <a:rPr lang="en-US" dirty="0">
                <a:sym typeface="Symbol"/>
              </a:rPr>
              <a:t> (p  r)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>
                <a:sym typeface="Symbol"/>
              </a:rPr>
              <a:t>	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err="1">
                <a:solidFill>
                  <a:srgbClr val="FF0000"/>
                </a:solidFill>
              </a:rPr>
              <a:t>Ví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dụ</a:t>
            </a:r>
            <a:r>
              <a:rPr lang="en-US" dirty="0">
                <a:solidFill>
                  <a:srgbClr val="FF0000"/>
                </a:solidFill>
              </a:rPr>
              <a:t>:</a:t>
            </a:r>
            <a:r>
              <a:rPr lang="en-US" dirty="0"/>
              <a:t> 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• Nếu trời mưa thì đường ướt</a:t>
            </a: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• Nếu đường ướt thì đường trơn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Suy ra</a:t>
            </a:r>
            <a:r>
              <a:rPr lang="en-US" dirty="0">
                <a:sym typeface="Symbol"/>
              </a:rPr>
              <a:t>:</a:t>
            </a:r>
            <a:r>
              <a:rPr lang="vi-VN" dirty="0">
                <a:sym typeface="Symbol"/>
              </a:rPr>
              <a:t> nếu trời mưa thì đường trơn.</a:t>
            </a:r>
            <a:endParaRPr lang="vi-V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/>
              <a:t>Qui </a:t>
            </a:r>
            <a:r>
              <a:rPr lang="en-US" sz="4800" b="1" dirty="0" err="1"/>
              <a:t>tắc</a:t>
            </a:r>
            <a:r>
              <a:rPr lang="en-US" sz="4800" b="1" dirty="0"/>
              <a:t> </a:t>
            </a:r>
            <a:r>
              <a:rPr lang="en-US" sz="4800" b="1" dirty="0" err="1"/>
              <a:t>suy</a:t>
            </a:r>
            <a:r>
              <a:rPr lang="en-US" sz="4800" b="1" dirty="0"/>
              <a:t> </a:t>
            </a:r>
            <a:r>
              <a:rPr lang="en-US" sz="4800" b="1" dirty="0" err="1"/>
              <a:t>diễn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41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77000" y="1828800"/>
          <a:ext cx="1447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9605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p 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  <a:sym typeface="Symbol"/>
                        </a:rPr>
                        <a:t> q</a:t>
                      </a:r>
                    </a:p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  <a:sym typeface="Symbol"/>
                        </a:rPr>
                        <a:t>q  r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235">
                <a:tc>
                  <a:txBody>
                    <a:bodyPr/>
                    <a:lstStyle/>
                    <a:p>
                      <a:pPr algn="ctr">
                        <a:tabLst>
                          <a:tab pos="749300" algn="l"/>
                        </a:tabLst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sym typeface="Symbol"/>
                        </a:rPr>
                        <a:t>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p 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  <a:sym typeface="Symbol"/>
                        </a:rPr>
                        <a:t> r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CE6BB-5D07-61A9-4111-5B08D599A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8550A-C7BB-C62A-2263-B0BB7756F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D67594-1AEB-810C-BA84-AE46FED66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42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F828AE-FAC0-9C80-4FCE-A57495677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457200"/>
            <a:ext cx="883296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6615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43</a:t>
            </a:fld>
            <a:endParaRPr lang="en-US"/>
          </a:p>
        </p:txBody>
      </p:sp>
      <p:pic>
        <p:nvPicPr>
          <p:cNvPr id="2887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555775"/>
            <a:ext cx="7887226" cy="415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/>
              <a:t>Qui </a:t>
            </a:r>
            <a:r>
              <a:rPr lang="en-US" sz="4800" b="1" dirty="0" err="1"/>
              <a:t>tắc</a:t>
            </a:r>
            <a:r>
              <a:rPr lang="en-US" sz="4800" b="1" dirty="0"/>
              <a:t> </a:t>
            </a:r>
            <a:r>
              <a:rPr lang="en-US" sz="4800" b="1" dirty="0" err="1"/>
              <a:t>suy</a:t>
            </a:r>
            <a:r>
              <a:rPr lang="en-US" sz="4800" b="1" dirty="0"/>
              <a:t> </a:t>
            </a:r>
            <a:r>
              <a:rPr lang="en-US" sz="4800" b="1" dirty="0" err="1"/>
              <a:t>diễn</a:t>
            </a:r>
            <a:br>
              <a:rPr lang="en-US" sz="4800" b="1" dirty="0"/>
            </a:br>
            <a:r>
              <a:rPr lang="en-US" sz="2000" dirty="0"/>
              <a:t>Disjunctive Syllogism – Tam </a:t>
            </a:r>
            <a:r>
              <a:rPr lang="en-US" sz="2000" dirty="0" err="1"/>
              <a:t>đoạn</a:t>
            </a:r>
            <a:r>
              <a:rPr lang="en-US" sz="2000" dirty="0"/>
              <a:t> </a:t>
            </a:r>
            <a:r>
              <a:rPr lang="en-US" sz="2000" dirty="0" err="1"/>
              <a:t>luận</a:t>
            </a:r>
            <a:r>
              <a:rPr lang="en-US" sz="2000" dirty="0"/>
              <a:t> </a:t>
            </a:r>
            <a:r>
              <a:rPr lang="en-US" sz="2000" dirty="0" err="1"/>
              <a:t>rời</a:t>
            </a:r>
            <a:endParaRPr lang="en-US" sz="4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E8E41-3229-8403-EC26-F0A730413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E3C59-69D2-16A3-774B-935741085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EC0DED-F055-C523-F792-2329962B2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44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9F007C-ECAC-3EC8-0F22-C64834147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564" y="152400"/>
            <a:ext cx="8721436" cy="6105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2742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8153400" cy="4800600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Font typeface="+mj-lt"/>
              <a:buAutoNum type="arabicPeriod" startAt="4"/>
            </a:pPr>
            <a:r>
              <a:rPr lang="en-US" dirty="0">
                <a:solidFill>
                  <a:srgbClr val="FF0000"/>
                </a:solidFill>
              </a:rPr>
              <a:t> Qui </a:t>
            </a:r>
            <a:r>
              <a:rPr lang="en-US" dirty="0" err="1">
                <a:solidFill>
                  <a:srgbClr val="FF0000"/>
                </a:solidFill>
              </a:rPr>
              <a:t>tắc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phản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chứng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en-US" dirty="0"/>
              <a:t>Reductio ad absurdum</a:t>
            </a:r>
            <a:endParaRPr lang="en-US" dirty="0">
              <a:solidFill>
                <a:srgbClr val="FF0000"/>
              </a:solidFill>
            </a:endParaRPr>
          </a:p>
          <a:p>
            <a:pPr marL="0" indent="165100" algn="just">
              <a:buClr>
                <a:srgbClr val="FF0000"/>
              </a:buClr>
              <a:buFont typeface="+mj-lt"/>
              <a:buAutoNum type="arabicPeriod" startAt="4"/>
            </a:pPr>
            <a:endParaRPr lang="vi-VN" dirty="0">
              <a:solidFill>
                <a:srgbClr val="FF0000"/>
              </a:solidFill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/>
              <a:t> </a:t>
            </a:r>
            <a:r>
              <a:rPr lang="en-US" dirty="0">
                <a:solidFill>
                  <a:schemeClr val="accent2"/>
                </a:solidFill>
                <a:sym typeface="Symbol"/>
              </a:rPr>
              <a:t>* </a:t>
            </a:r>
            <a:r>
              <a:rPr lang="en-US" dirty="0" err="1">
                <a:solidFill>
                  <a:schemeClr val="accent2"/>
                </a:solidFill>
                <a:sym typeface="Symbol"/>
              </a:rPr>
              <a:t>Tổng</a:t>
            </a:r>
            <a:r>
              <a:rPr lang="en-US" dirty="0">
                <a:solidFill>
                  <a:schemeClr val="accent2"/>
                </a:solidFill>
                <a:sym typeface="Symbol"/>
              </a:rPr>
              <a:t> </a:t>
            </a:r>
            <a:r>
              <a:rPr lang="en-US" dirty="0" err="1">
                <a:solidFill>
                  <a:schemeClr val="accent2"/>
                </a:solidFill>
                <a:sym typeface="Symbol"/>
              </a:rPr>
              <a:t>quát</a:t>
            </a:r>
            <a:r>
              <a:rPr lang="en-US" dirty="0">
                <a:solidFill>
                  <a:schemeClr val="accent2"/>
                </a:solidFill>
                <a:sym typeface="Symbol"/>
              </a:rPr>
              <a:t>:</a:t>
            </a: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vi-V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/>
              <a:t>Qui </a:t>
            </a:r>
            <a:r>
              <a:rPr lang="en-US" sz="4800" b="1" dirty="0" err="1"/>
              <a:t>tắc</a:t>
            </a:r>
            <a:r>
              <a:rPr lang="en-US" sz="4800" b="1" dirty="0"/>
              <a:t> </a:t>
            </a:r>
            <a:r>
              <a:rPr lang="en-US" sz="4800" b="1" dirty="0" err="1"/>
              <a:t>suy</a:t>
            </a:r>
            <a:r>
              <a:rPr lang="en-US" sz="4800" b="1" dirty="0"/>
              <a:t> </a:t>
            </a:r>
            <a:r>
              <a:rPr lang="en-US" sz="4800" b="1" dirty="0" err="1"/>
              <a:t>diễn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45</a:t>
            </a:fld>
            <a:endParaRPr lang="en-US" dirty="0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6733240"/>
              </p:ext>
            </p:extLst>
          </p:nvPr>
        </p:nvGraphicFramePr>
        <p:xfrm>
          <a:off x="711200" y="3352800"/>
          <a:ext cx="8280400" cy="4988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432640" imgH="507960" progId="Equation.DSMT4">
                  <p:embed/>
                </p:oleObj>
              </mc:Choice>
              <mc:Fallback>
                <p:oleObj name="Equation" r:id="rId2" imgW="8432640" imgH="507960" progId="Equation.DSMT4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200" y="3352800"/>
                        <a:ext cx="8280400" cy="49881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39" name="Object 3"/>
          <p:cNvGraphicFramePr>
            <a:graphicFrameLocks noChangeAspect="1"/>
          </p:cNvGraphicFramePr>
          <p:nvPr/>
        </p:nvGraphicFramePr>
        <p:xfrm>
          <a:off x="3124200" y="2209800"/>
          <a:ext cx="3708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708360" imgH="406080" progId="Equation.DSMT4">
                  <p:embed/>
                </p:oleObj>
              </mc:Choice>
              <mc:Fallback>
                <p:oleObj name="Equation" r:id="rId4" imgW="3708360" imgH="406080" progId="Equation.DSMT4">
                  <p:embed/>
                  <p:pic>
                    <p:nvPicPr>
                      <p:cNvPr id="21913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209800"/>
                        <a:ext cx="37084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/>
          <p:cNvSpPr/>
          <p:nvPr/>
        </p:nvSpPr>
        <p:spPr>
          <a:xfrm>
            <a:off x="609600" y="4419600"/>
            <a:ext cx="79248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 err="1"/>
              <a:t>Để</a:t>
            </a:r>
            <a:r>
              <a:rPr lang="en-US" sz="2800" dirty="0"/>
              <a:t> </a:t>
            </a:r>
            <a:r>
              <a:rPr lang="en-US" sz="2800" dirty="0" err="1"/>
              <a:t>chứng</a:t>
            </a:r>
            <a:r>
              <a:rPr lang="en-US" sz="2800" dirty="0"/>
              <a:t> minh </a:t>
            </a:r>
            <a:r>
              <a:rPr lang="en-US" sz="2800" dirty="0" err="1"/>
              <a:t>vế</a:t>
            </a:r>
            <a:r>
              <a:rPr lang="en-US" sz="2800" dirty="0"/>
              <a:t> </a:t>
            </a:r>
            <a:r>
              <a:rPr lang="en-US" sz="2800" dirty="0" err="1"/>
              <a:t>trái</a:t>
            </a:r>
            <a:r>
              <a:rPr lang="en-US" sz="2800" dirty="0"/>
              <a:t> </a:t>
            </a:r>
            <a:r>
              <a:rPr lang="en-US" sz="2800" dirty="0" err="1"/>
              <a:t>là</a:t>
            </a:r>
            <a:r>
              <a:rPr lang="en-US" sz="2800" dirty="0"/>
              <a:t> </a:t>
            </a:r>
            <a:r>
              <a:rPr lang="en-US" sz="2800" dirty="0" err="1"/>
              <a:t>một</a:t>
            </a:r>
            <a:r>
              <a:rPr lang="en-US" sz="2800" dirty="0"/>
              <a:t> </a:t>
            </a:r>
            <a:r>
              <a:rPr lang="en-US" sz="2800" dirty="0" err="1"/>
              <a:t>hằng</a:t>
            </a:r>
            <a:r>
              <a:rPr lang="en-US" sz="2800" dirty="0"/>
              <a:t> </a:t>
            </a:r>
            <a:r>
              <a:rPr lang="en-US" sz="2800" dirty="0" err="1"/>
              <a:t>đúng</a:t>
            </a:r>
            <a:r>
              <a:rPr lang="en-US" sz="2800" dirty="0"/>
              <a:t>, </a:t>
            </a:r>
            <a:r>
              <a:rPr lang="en-US" sz="2800" dirty="0" err="1"/>
              <a:t>ta</a:t>
            </a:r>
            <a:r>
              <a:rPr lang="en-US" sz="2800" dirty="0"/>
              <a:t> </a:t>
            </a:r>
            <a:r>
              <a:rPr lang="en-US" sz="2800" dirty="0" err="1"/>
              <a:t>chứng</a:t>
            </a:r>
            <a:r>
              <a:rPr lang="en-US" sz="2800" dirty="0"/>
              <a:t> minh </a:t>
            </a:r>
            <a:r>
              <a:rPr lang="en-US" sz="2800" dirty="0" err="1"/>
              <a:t>nếu</a:t>
            </a:r>
            <a:r>
              <a:rPr lang="en-US" sz="2800" dirty="0"/>
              <a:t> </a:t>
            </a:r>
            <a:r>
              <a:rPr lang="en-US" sz="2800" dirty="0" err="1"/>
              <a:t>thêm</a:t>
            </a:r>
            <a:r>
              <a:rPr lang="en-US" sz="2800" dirty="0"/>
              <a:t> </a:t>
            </a:r>
            <a:r>
              <a:rPr lang="en-US" sz="2800" dirty="0" err="1"/>
              <a:t>phủ</a:t>
            </a:r>
            <a:r>
              <a:rPr lang="en-US" sz="2800" dirty="0"/>
              <a:t> </a:t>
            </a:r>
            <a:r>
              <a:rPr lang="en-US" sz="2800" dirty="0" err="1"/>
              <a:t>định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q </a:t>
            </a:r>
            <a:r>
              <a:rPr lang="en-US" sz="2800" dirty="0" err="1"/>
              <a:t>vào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tiên</a:t>
            </a:r>
            <a:r>
              <a:rPr lang="en-US" sz="2800" dirty="0"/>
              <a:t> </a:t>
            </a:r>
            <a:r>
              <a:rPr lang="en-US" sz="2800" dirty="0" err="1"/>
              <a:t>đề</a:t>
            </a:r>
            <a:r>
              <a:rPr lang="en-US" sz="2800" dirty="0"/>
              <a:t> </a:t>
            </a:r>
            <a:r>
              <a:rPr lang="en-US" sz="2800" dirty="0" err="1"/>
              <a:t>thì</a:t>
            </a:r>
            <a:r>
              <a:rPr lang="en-US" sz="2800" dirty="0"/>
              <a:t> </a:t>
            </a:r>
            <a:r>
              <a:rPr lang="en-US" sz="2800" dirty="0" err="1"/>
              <a:t>được</a:t>
            </a:r>
            <a:r>
              <a:rPr lang="en-US" sz="2800" dirty="0"/>
              <a:t> </a:t>
            </a:r>
            <a:r>
              <a:rPr lang="en-US" sz="2800" dirty="0" err="1"/>
              <a:t>một</a:t>
            </a:r>
            <a:r>
              <a:rPr lang="en-US" sz="2800" dirty="0"/>
              <a:t> </a:t>
            </a:r>
            <a:r>
              <a:rPr lang="en-US" sz="2800" dirty="0" err="1"/>
              <a:t>mâu</a:t>
            </a:r>
            <a:r>
              <a:rPr lang="en-US" sz="2800" dirty="0"/>
              <a:t> </a:t>
            </a:r>
            <a:r>
              <a:rPr lang="en-US" sz="2800" dirty="0" err="1"/>
              <a:t>thuẫn</a:t>
            </a:r>
            <a:r>
              <a:rPr lang="en-US" sz="2800" dirty="0"/>
              <a:t>.</a:t>
            </a:r>
            <a:endParaRPr lang="vi-VN" sz="2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B9170-C4FA-76DF-F872-D85FF2BD7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9E6E9-62AA-C45B-3B0D-A21DBC4EA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F644B-55F3-BE2E-0AEF-96F374006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46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327787-1B87-305F-0690-544B94779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964" y="173785"/>
            <a:ext cx="8516114" cy="4931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3930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81534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Font typeface="+mj-lt"/>
              <a:buAutoNum type="arabicPeriod" startAt="4"/>
            </a:pPr>
            <a:r>
              <a:rPr lang="en-US" dirty="0">
                <a:solidFill>
                  <a:srgbClr val="FF0000"/>
                </a:solidFill>
              </a:rPr>
              <a:t> Qui </a:t>
            </a:r>
            <a:r>
              <a:rPr lang="en-US" dirty="0" err="1">
                <a:solidFill>
                  <a:srgbClr val="FF0000"/>
                </a:solidFill>
              </a:rPr>
              <a:t>tắc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phản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chứng</a:t>
            </a:r>
            <a:r>
              <a:rPr lang="en-US" dirty="0">
                <a:solidFill>
                  <a:srgbClr val="FF0000"/>
                </a:solidFill>
              </a:rPr>
              <a:t>: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err="1">
                <a:solidFill>
                  <a:srgbClr val="FF0000"/>
                </a:solidFill>
              </a:rPr>
              <a:t>Ví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dụ</a:t>
            </a:r>
            <a:r>
              <a:rPr lang="en-US" dirty="0">
                <a:solidFill>
                  <a:srgbClr val="FF0000"/>
                </a:solidFill>
              </a:rPr>
              <a:t>:</a:t>
            </a:r>
            <a:r>
              <a:rPr lang="en-US" dirty="0"/>
              <a:t> </a:t>
            </a:r>
          </a:p>
          <a:p>
            <a:pPr marL="0" indent="165100" algn="just">
              <a:buClr>
                <a:srgbClr val="FF0000"/>
              </a:buClr>
              <a:buNone/>
            </a:pPr>
            <a:endParaRPr lang="vi-V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/>
              <a:t>Qui </a:t>
            </a:r>
            <a:r>
              <a:rPr lang="en-US" sz="4800" b="1" dirty="0" err="1"/>
              <a:t>tắc</a:t>
            </a:r>
            <a:r>
              <a:rPr lang="en-US" sz="4800" b="1" dirty="0"/>
              <a:t> </a:t>
            </a:r>
            <a:r>
              <a:rPr lang="en-US" sz="4800" b="1" dirty="0" err="1"/>
              <a:t>suy</a:t>
            </a:r>
            <a:r>
              <a:rPr lang="en-US" sz="4800" b="1" dirty="0"/>
              <a:t> </a:t>
            </a:r>
            <a:r>
              <a:rPr lang="en-US" sz="4800" b="1" dirty="0" err="1"/>
              <a:t>diễn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47</a:t>
            </a:fld>
            <a:endParaRPr lang="en-US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4244048"/>
              </p:ext>
            </p:extLst>
          </p:nvPr>
        </p:nvGraphicFramePr>
        <p:xfrm>
          <a:off x="5257800" y="2819400"/>
          <a:ext cx="34290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Chứng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 minh </a:t>
                      </a:r>
                      <a:r>
                        <a:rPr lang="en-US" sz="2400" baseline="0" dirty="0" err="1">
                          <a:solidFill>
                            <a:schemeClr val="tx1"/>
                          </a:solidFill>
                        </a:rPr>
                        <a:t>suy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chemeClr val="tx1"/>
                          </a:solidFill>
                        </a:rPr>
                        <a:t>luận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: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2878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  p 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sym typeface="Symbol"/>
                        </a:rPr>
                        <a:t> r</a:t>
                      </a:r>
                    </a:p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sym typeface="Symbol"/>
                        </a:rPr>
                        <a:t>p  q</a:t>
                      </a:r>
                    </a:p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  q 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sym typeface="Symbol"/>
                        </a:rPr>
                        <a:t>s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26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sym typeface="Symbol"/>
                        </a:rPr>
                        <a:t>r  s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083614"/>
              </p:ext>
            </p:extLst>
          </p:nvPr>
        </p:nvGraphicFramePr>
        <p:xfrm>
          <a:off x="762000" y="2743200"/>
          <a:ext cx="4114800" cy="373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81983"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Giải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CM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chemeClr val="tx1"/>
                          </a:solidFill>
                        </a:rPr>
                        <a:t>bằng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chemeClr val="tx1"/>
                          </a:solidFill>
                        </a:rPr>
                        <a:t>phản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baseline="0" dirty="0" err="1">
                          <a:solidFill>
                            <a:schemeClr val="tx1"/>
                          </a:solidFill>
                        </a:rPr>
                        <a:t>chứng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4811">
                <a:tc>
                  <a:txBody>
                    <a:bodyPr/>
                    <a:lstStyle/>
                    <a:p>
                      <a:pPr marL="1139825" indent="0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  p 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sym typeface="Symbol"/>
                        </a:rPr>
                        <a:t> r</a:t>
                      </a:r>
                    </a:p>
                    <a:p>
                      <a:pPr marL="1139825" indent="0"/>
                      <a:r>
                        <a:rPr lang="en-US" sz="2400" dirty="0">
                          <a:solidFill>
                            <a:schemeClr val="tx1"/>
                          </a:solidFill>
                          <a:sym typeface="Symbol"/>
                        </a:rPr>
                        <a:t>p  q</a:t>
                      </a:r>
                    </a:p>
                    <a:p>
                      <a:pPr marL="1139825" indent="0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  q 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sym typeface="Symbol"/>
                        </a:rPr>
                        <a:t>s</a:t>
                      </a:r>
                    </a:p>
                    <a:p>
                      <a:pPr marL="1139825" indent="0"/>
                      <a:r>
                        <a:rPr lang="en-US" sz="2400" dirty="0">
                          <a:solidFill>
                            <a:schemeClr val="tx1"/>
                          </a:solidFill>
                          <a:sym typeface="Symbol"/>
                        </a:rPr>
                        <a:t>r</a:t>
                      </a:r>
                    </a:p>
                    <a:p>
                      <a:pPr marL="1139825" indent="0"/>
                      <a:r>
                        <a:rPr lang="en-US" sz="2400" dirty="0">
                          <a:solidFill>
                            <a:schemeClr val="tx1"/>
                          </a:solidFill>
                          <a:sym typeface="Symbol"/>
                        </a:rPr>
                        <a:t>s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006">
                <a:tc>
                  <a:txBody>
                    <a:bodyPr/>
                    <a:lstStyle/>
                    <a:p>
                      <a:pPr marL="1139825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sym typeface="Symbol"/>
                        </a:rPr>
                        <a:t>0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81534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Font typeface="+mj-lt"/>
              <a:buAutoNum type="arabicPeriod" startAt="5"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vi-VN" dirty="0">
                <a:solidFill>
                  <a:srgbClr val="FF0000"/>
                </a:solidFill>
              </a:rPr>
              <a:t>Qui tắc chứng minh theo trường hợp </a:t>
            </a:r>
            <a:r>
              <a:rPr lang="en-US" dirty="0">
                <a:solidFill>
                  <a:srgbClr val="FF0000"/>
                </a:solidFill>
              </a:rPr>
              <a:t>:</a:t>
            </a:r>
            <a:endParaRPr lang="vi-VN" dirty="0">
              <a:solidFill>
                <a:srgbClr val="FF0000"/>
              </a:solidFill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/>
              <a:t>          [(p </a:t>
            </a:r>
            <a:r>
              <a:rPr lang="en-US" dirty="0">
                <a:sym typeface="Symbol"/>
              </a:rPr>
              <a:t> r)  (q  r)] </a:t>
            </a:r>
            <a:r>
              <a:rPr lang="vi-VN" dirty="0">
                <a:sym typeface="Symbol"/>
              </a:rPr>
              <a:t></a:t>
            </a:r>
            <a:r>
              <a:rPr lang="en-US" dirty="0">
                <a:sym typeface="Symbol"/>
              </a:rPr>
              <a:t> [(p  q)r]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>
                <a:solidFill>
                  <a:schemeClr val="accent2"/>
                </a:solidFill>
                <a:sym typeface="Symbol"/>
              </a:rPr>
              <a:t>* </a:t>
            </a:r>
            <a:r>
              <a:rPr lang="en-US" dirty="0" err="1">
                <a:solidFill>
                  <a:schemeClr val="accent2"/>
                </a:solidFill>
                <a:sym typeface="Symbol"/>
              </a:rPr>
              <a:t>Tổng</a:t>
            </a:r>
            <a:r>
              <a:rPr lang="en-US" dirty="0">
                <a:solidFill>
                  <a:schemeClr val="accent2"/>
                </a:solidFill>
                <a:sym typeface="Symbol"/>
              </a:rPr>
              <a:t> </a:t>
            </a:r>
            <a:r>
              <a:rPr lang="en-US" dirty="0" err="1">
                <a:solidFill>
                  <a:schemeClr val="accent2"/>
                </a:solidFill>
                <a:sym typeface="Symbol"/>
              </a:rPr>
              <a:t>quát</a:t>
            </a:r>
            <a:r>
              <a:rPr lang="en-US" dirty="0">
                <a:solidFill>
                  <a:schemeClr val="accent2"/>
                </a:solidFill>
                <a:sym typeface="Symbol"/>
              </a:rPr>
              <a:t>:</a:t>
            </a: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olidFill>
                <a:srgbClr val="FF0000"/>
              </a:solidFill>
              <a:sym typeface="Symbo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/>
              <a:t>Qui </a:t>
            </a:r>
            <a:r>
              <a:rPr lang="en-US" sz="4800" b="1" dirty="0" err="1"/>
              <a:t>tắc</a:t>
            </a:r>
            <a:r>
              <a:rPr lang="en-US" sz="4800" b="1" dirty="0"/>
              <a:t> </a:t>
            </a:r>
            <a:r>
              <a:rPr lang="en-US" sz="4800" b="1" dirty="0" err="1"/>
              <a:t>suy</a:t>
            </a:r>
            <a:r>
              <a:rPr lang="en-US" sz="4800" b="1" dirty="0"/>
              <a:t> </a:t>
            </a:r>
            <a:r>
              <a:rPr lang="en-US" sz="4800" b="1" dirty="0" err="1"/>
              <a:t>diễn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48</a:t>
            </a:fld>
            <a:endParaRPr lang="en-US" dirty="0"/>
          </a:p>
        </p:txBody>
      </p:sp>
      <p:graphicFrame>
        <p:nvGraphicFramePr>
          <p:cNvPr id="191490" name="Object 2"/>
          <p:cNvGraphicFramePr>
            <a:graphicFrameLocks noChangeAspect="1"/>
          </p:cNvGraphicFramePr>
          <p:nvPr/>
        </p:nvGraphicFramePr>
        <p:xfrm>
          <a:off x="2546350" y="3276600"/>
          <a:ext cx="50546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054400" imgH="1041120" progId="Equation.DSMT4">
                  <p:embed/>
                </p:oleObj>
              </mc:Choice>
              <mc:Fallback>
                <p:oleObj name="Equation" r:id="rId2" imgW="5054400" imgH="1041120" progId="Equation.DSMT4">
                  <p:embed/>
                  <p:pic>
                    <p:nvPicPr>
                      <p:cNvPr id="19149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6350" y="3276600"/>
                        <a:ext cx="50546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3541A-7824-64C0-189B-8B0568F65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C94CA-AA8C-29F4-B8C8-2B22BC9A6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02DEF6-3ED4-3221-7D14-03B0C7D52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49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0332ED-6B16-3A01-F1AE-46F3BFCDA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197" y="-5403"/>
            <a:ext cx="9020654" cy="28994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873D1D-7506-5099-80B3-6B6D35C8C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8724" y="2913406"/>
            <a:ext cx="4429743" cy="8192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72033D9-6861-2B90-619A-EE4F9894A1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7960" y="3732670"/>
            <a:ext cx="5572903" cy="17052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179C178-8EC3-7D33-425B-9024A52794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4463" y="5437883"/>
            <a:ext cx="7249537" cy="13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1865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81534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en-US" dirty="0">
                <a:solidFill>
                  <a:srgbClr val="FF0000"/>
                </a:solidFill>
                <a:sym typeface="Symbol"/>
              </a:rPr>
              <a:t>6.Phản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ví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dụ</a:t>
            </a:r>
            <a:r>
              <a:rPr lang="en-US" dirty="0">
                <a:solidFill>
                  <a:srgbClr val="FF0000"/>
                </a:solidFill>
                <a:sym typeface="Symbol"/>
              </a:rPr>
              <a:t>: </a:t>
            </a:r>
            <a:r>
              <a:rPr lang="en-US" dirty="0"/>
              <a:t>counterexample</a:t>
            </a:r>
            <a:endParaRPr lang="en-US" dirty="0">
              <a:solidFill>
                <a:srgbClr val="FF0000"/>
              </a:solidFill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Để chứng minh một phép suy luận là sai hay</a:t>
            </a:r>
            <a:r>
              <a:rPr lang="en-US" dirty="0">
                <a:sym typeface="Symbol"/>
              </a:rPr>
              <a:t> </a:t>
            </a:r>
            <a:r>
              <a:rPr lang="vi-VN" dirty="0">
                <a:sym typeface="Symbol"/>
              </a:rPr>
              <a:t>không là một hằng đúng</a:t>
            </a:r>
            <a:r>
              <a:rPr lang="en-US" dirty="0">
                <a:sym typeface="Symbol"/>
              </a:rPr>
              <a:t>, t</a:t>
            </a:r>
            <a:r>
              <a:rPr lang="vi-VN" dirty="0">
                <a:sym typeface="Symbol"/>
              </a:rPr>
              <a:t>a</a:t>
            </a:r>
            <a:r>
              <a:rPr lang="en-US" dirty="0">
                <a:sym typeface="Symbol"/>
              </a:rPr>
              <a:t> </a:t>
            </a:r>
            <a:r>
              <a:rPr lang="vi-VN" dirty="0">
                <a:sym typeface="Symbol"/>
              </a:rPr>
              <a:t>chỉ cần chỉ ra</a:t>
            </a:r>
            <a:r>
              <a:rPr lang="en-US" dirty="0">
                <a:sym typeface="Symbol"/>
              </a:rPr>
              <a:t> </a:t>
            </a:r>
            <a:r>
              <a:rPr lang="vi-VN" dirty="0">
                <a:sym typeface="Symbol"/>
              </a:rPr>
              <a:t>một phản ví dụ</a:t>
            </a:r>
            <a:r>
              <a:rPr lang="en-US" dirty="0">
                <a:sym typeface="Symbol"/>
              </a:rPr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/>
              <a:t>Qui </a:t>
            </a:r>
            <a:r>
              <a:rPr lang="en-US" sz="4800" b="1" dirty="0" err="1"/>
              <a:t>tắc</a:t>
            </a:r>
            <a:r>
              <a:rPr lang="en-US" sz="4800" b="1" dirty="0"/>
              <a:t> </a:t>
            </a:r>
            <a:r>
              <a:rPr lang="en-US" sz="4800" b="1" dirty="0" err="1"/>
              <a:t>suy</a:t>
            </a:r>
            <a:r>
              <a:rPr lang="en-US" sz="4800" b="1" dirty="0"/>
              <a:t> </a:t>
            </a:r>
            <a:r>
              <a:rPr lang="en-US" sz="4800" b="1" dirty="0" err="1"/>
              <a:t>diễn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38200" y="3657600"/>
            <a:ext cx="80772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en-US" sz="2800" dirty="0" err="1">
                <a:sym typeface="Symbol"/>
              </a:rPr>
              <a:t>Để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tìm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một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phản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ví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dụ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ta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chỉ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cần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chỉ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ra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một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trường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hợp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về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chân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trị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của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các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biến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mệnh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đề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sao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cho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olidFill>
                  <a:srgbClr val="00B0F0"/>
                </a:solidFill>
                <a:sym typeface="Symbol"/>
              </a:rPr>
              <a:t>các</a:t>
            </a:r>
            <a:r>
              <a:rPr lang="en-US" sz="2800" dirty="0">
                <a:solidFill>
                  <a:srgbClr val="00B0F0"/>
                </a:solidFill>
                <a:sym typeface="Symbol"/>
              </a:rPr>
              <a:t> </a:t>
            </a:r>
            <a:r>
              <a:rPr lang="en-US" sz="2800" dirty="0" err="1">
                <a:solidFill>
                  <a:srgbClr val="00B0F0"/>
                </a:solidFill>
                <a:sym typeface="Symbol"/>
              </a:rPr>
              <a:t>tiên</a:t>
            </a:r>
            <a:r>
              <a:rPr lang="en-US" sz="2800" dirty="0">
                <a:solidFill>
                  <a:srgbClr val="00B0F0"/>
                </a:solidFill>
                <a:sym typeface="Symbol"/>
              </a:rPr>
              <a:t> </a:t>
            </a:r>
            <a:r>
              <a:rPr lang="en-US" sz="2800" dirty="0" err="1">
                <a:solidFill>
                  <a:srgbClr val="00B0F0"/>
                </a:solidFill>
                <a:sym typeface="Symbol"/>
              </a:rPr>
              <a:t>đề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trong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phép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suy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luận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olidFill>
                  <a:srgbClr val="00B0F0"/>
                </a:solidFill>
                <a:sym typeface="Symbol"/>
              </a:rPr>
              <a:t>là</a:t>
            </a:r>
            <a:r>
              <a:rPr lang="en-US" sz="2800" dirty="0">
                <a:solidFill>
                  <a:srgbClr val="00B0F0"/>
                </a:solidFill>
                <a:sym typeface="Symbol"/>
              </a:rPr>
              <a:t> </a:t>
            </a:r>
            <a:r>
              <a:rPr lang="en-US" sz="2800" dirty="0" err="1">
                <a:solidFill>
                  <a:srgbClr val="00B0F0"/>
                </a:solidFill>
                <a:sym typeface="Symbol"/>
              </a:rPr>
              <a:t>đúng</a:t>
            </a:r>
            <a:r>
              <a:rPr lang="en-US" sz="2800" dirty="0">
                <a:solidFill>
                  <a:srgbClr val="00B0F0"/>
                </a:solidFill>
                <a:sym typeface="Symbol"/>
              </a:rPr>
              <a:t> </a:t>
            </a:r>
            <a:r>
              <a:rPr lang="en-US" sz="2800" dirty="0" err="1">
                <a:sym typeface="Symbol"/>
              </a:rPr>
              <a:t>còn</a:t>
            </a:r>
            <a:r>
              <a:rPr lang="en-US" sz="2800" dirty="0">
                <a:sym typeface="Symbol"/>
              </a:rPr>
              <a:t> </a:t>
            </a:r>
            <a:r>
              <a:rPr lang="en-US" sz="2800" dirty="0" err="1">
                <a:solidFill>
                  <a:srgbClr val="00B050"/>
                </a:solidFill>
                <a:sym typeface="Symbol"/>
              </a:rPr>
              <a:t>kết</a:t>
            </a:r>
            <a:r>
              <a:rPr lang="en-US" sz="2800" dirty="0">
                <a:solidFill>
                  <a:srgbClr val="00B050"/>
                </a:solidFill>
                <a:sym typeface="Symbol"/>
              </a:rPr>
              <a:t> </a:t>
            </a:r>
            <a:r>
              <a:rPr lang="en-US" sz="2800" dirty="0" err="1">
                <a:solidFill>
                  <a:srgbClr val="00B050"/>
                </a:solidFill>
                <a:sym typeface="Symbol"/>
              </a:rPr>
              <a:t>luận</a:t>
            </a:r>
            <a:r>
              <a:rPr lang="en-US" sz="2800" dirty="0">
                <a:solidFill>
                  <a:srgbClr val="00B050"/>
                </a:solidFill>
                <a:sym typeface="Symbol"/>
              </a:rPr>
              <a:t> </a:t>
            </a:r>
            <a:r>
              <a:rPr lang="en-US" sz="2800" dirty="0" err="1">
                <a:solidFill>
                  <a:srgbClr val="00B050"/>
                </a:solidFill>
                <a:sym typeface="Symbol"/>
              </a:rPr>
              <a:t>là</a:t>
            </a:r>
            <a:r>
              <a:rPr lang="en-US" sz="2800" dirty="0">
                <a:solidFill>
                  <a:srgbClr val="00B050"/>
                </a:solidFill>
                <a:sym typeface="Symbol"/>
              </a:rPr>
              <a:t> </a:t>
            </a:r>
            <a:r>
              <a:rPr lang="en-US" sz="2800" dirty="0" err="1">
                <a:solidFill>
                  <a:srgbClr val="00B050"/>
                </a:solidFill>
                <a:sym typeface="Symbol"/>
              </a:rPr>
              <a:t>sai</a:t>
            </a:r>
            <a:r>
              <a:rPr lang="en-US" sz="2800" dirty="0">
                <a:solidFill>
                  <a:srgbClr val="00B050"/>
                </a:solidFill>
                <a:sym typeface="Symbol"/>
              </a:rPr>
              <a:t>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8305800" cy="5029200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en-US" dirty="0">
                <a:solidFill>
                  <a:srgbClr val="FF0000"/>
                </a:solidFill>
                <a:sym typeface="Symbol"/>
              </a:rPr>
              <a:t>6.Phản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ví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dụ</a:t>
            </a:r>
            <a:r>
              <a:rPr lang="en-US" dirty="0">
                <a:solidFill>
                  <a:srgbClr val="FF0000"/>
                </a:solidFill>
                <a:sym typeface="Symbol"/>
              </a:rPr>
              <a:t>: 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 err="1">
                <a:solidFill>
                  <a:srgbClr val="FF0000"/>
                </a:solidFill>
                <a:sym typeface="Symbol"/>
              </a:rPr>
              <a:t>Ví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dụ</a:t>
            </a:r>
            <a:r>
              <a:rPr lang="en-US" dirty="0">
                <a:solidFill>
                  <a:srgbClr val="FF0000"/>
                </a:solidFill>
                <a:sym typeface="Symbol"/>
              </a:rPr>
              <a:t>: </a:t>
            </a:r>
            <a:r>
              <a:rPr lang="en-US" dirty="0" err="1">
                <a:sym typeface="Symbol"/>
              </a:rPr>
              <a:t>Hãy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kiểm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tra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suy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luận</a:t>
            </a:r>
            <a:r>
              <a:rPr lang="en-US" dirty="0">
                <a:sym typeface="Symbol"/>
              </a:rPr>
              <a:t>:</a:t>
            </a: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>
                <a:solidFill>
                  <a:schemeClr val="accent2"/>
                </a:solidFill>
                <a:sym typeface="Symbol"/>
              </a:rPr>
              <a:t>NX: </a:t>
            </a:r>
            <a:r>
              <a:rPr lang="en-US" dirty="0">
                <a:sym typeface="Symbol"/>
              </a:rPr>
              <a:t>Ta </a:t>
            </a:r>
            <a:r>
              <a:rPr lang="en-US" dirty="0" err="1">
                <a:sym typeface="Symbol"/>
              </a:rPr>
              <a:t>sẽ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tìm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p,q,r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thỏa</a:t>
            </a: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ym typeface="Symbol"/>
            </a:endParaRPr>
          </a:p>
          <a:p>
            <a:pPr marL="0" indent="165100">
              <a:buClr>
                <a:srgbClr val="FF0000"/>
              </a:buClr>
              <a:buNone/>
            </a:pPr>
            <a:r>
              <a:rPr lang="en-US" dirty="0" err="1">
                <a:sym typeface="Symbol"/>
              </a:rPr>
              <a:t>Dễ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dàng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tìm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thấy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một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phản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ví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dụ</a:t>
            </a:r>
            <a:r>
              <a:rPr lang="en-US" dirty="0">
                <a:sym typeface="Symbol"/>
              </a:rPr>
              <a:t>:  p=1,q=0,r=1.</a:t>
            </a:r>
          </a:p>
          <a:p>
            <a:pPr marL="0" indent="165100">
              <a:buClr>
                <a:srgbClr val="FF0000"/>
              </a:buClr>
              <a:buNone/>
            </a:pPr>
            <a:r>
              <a:rPr lang="en-US" dirty="0" err="1">
                <a:sym typeface="Symbol"/>
              </a:rPr>
              <a:t>Vậy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suy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luận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đã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cho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là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không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đúng</a:t>
            </a:r>
            <a:endParaRPr lang="en-US" dirty="0">
              <a:sym typeface="Symbo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/>
              <a:t>Qui </a:t>
            </a:r>
            <a:r>
              <a:rPr lang="en-US" sz="4800" b="1" dirty="0" err="1"/>
              <a:t>tắc</a:t>
            </a:r>
            <a:r>
              <a:rPr lang="en-US" sz="4800" b="1" dirty="0"/>
              <a:t> </a:t>
            </a:r>
            <a:r>
              <a:rPr lang="en-US" sz="4800" b="1" dirty="0" err="1"/>
              <a:t>suy</a:t>
            </a:r>
            <a:r>
              <a:rPr lang="en-US" sz="4800" b="1" dirty="0"/>
              <a:t> </a:t>
            </a:r>
            <a:r>
              <a:rPr lang="en-US" sz="4800" b="1" dirty="0" err="1"/>
              <a:t>diễn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81800" y="6477000"/>
            <a:ext cx="1905000" cy="228600"/>
          </a:xfrm>
        </p:spPr>
        <p:txBody>
          <a:bodyPr/>
          <a:lstStyle/>
          <a:p>
            <a:fld id="{3D9E56B6-077A-4A36-A778-66B152E4D643}" type="slidenum">
              <a:rPr lang="en-US" smtClean="0"/>
              <a:pPr/>
              <a:t>51</a:t>
            </a:fld>
            <a:endParaRPr lang="en-US" dirty="0"/>
          </a:p>
        </p:txBody>
      </p:sp>
      <p:graphicFrame>
        <p:nvGraphicFramePr>
          <p:cNvPr id="194561" name="Object 1"/>
          <p:cNvGraphicFramePr>
            <a:graphicFrameLocks noChangeAspect="1"/>
          </p:cNvGraphicFramePr>
          <p:nvPr/>
        </p:nvGraphicFramePr>
        <p:xfrm>
          <a:off x="5562600" y="1423988"/>
          <a:ext cx="1752600" cy="186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7160" imgH="495000" progId="Equation.3">
                  <p:embed/>
                </p:oleObj>
              </mc:Choice>
              <mc:Fallback>
                <p:oleObj name="Equation" r:id="rId2" imgW="317160" imgH="495000" progId="Equation.3">
                  <p:embed/>
                  <p:pic>
                    <p:nvPicPr>
                      <p:cNvPr id="194561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1423988"/>
                        <a:ext cx="1752600" cy="186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163" name="Object 3"/>
          <p:cNvGraphicFramePr>
            <a:graphicFrameLocks noChangeAspect="1"/>
          </p:cNvGraphicFramePr>
          <p:nvPr/>
        </p:nvGraphicFramePr>
        <p:xfrm>
          <a:off x="4800600" y="3276600"/>
          <a:ext cx="2243138" cy="186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6080" imgH="495000" progId="Equation.3">
                  <p:embed/>
                </p:oleObj>
              </mc:Choice>
              <mc:Fallback>
                <p:oleObj name="Equation" r:id="rId4" imgW="406080" imgH="495000" progId="Equation.3">
                  <p:embed/>
                  <p:pic>
                    <p:nvPicPr>
                      <p:cNvPr id="22016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3276600"/>
                        <a:ext cx="2243138" cy="186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81534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Ví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dụ</a:t>
            </a:r>
            <a:r>
              <a:rPr lang="en-US" dirty="0">
                <a:solidFill>
                  <a:srgbClr val="FF0000"/>
                </a:solidFill>
                <a:sym typeface="Symbol"/>
              </a:rPr>
              <a:t>: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Suy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luận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sau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đúng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hay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sai</a:t>
            </a:r>
            <a:endParaRPr lang="en-US" dirty="0">
              <a:solidFill>
                <a:srgbClr val="FF0000"/>
              </a:solidFill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olidFill>
                <a:srgbClr val="FF0000"/>
              </a:solidFill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olidFill>
                <a:srgbClr val="FF0000"/>
              </a:solidFill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olidFill>
                <a:srgbClr val="FF0000"/>
              </a:solidFill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olidFill>
                <a:srgbClr val="FF0000"/>
              </a:solidFill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olidFill>
                <a:srgbClr val="FF0000"/>
              </a:solidFill>
              <a:sym typeface="Symbo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/>
              <a:t>Qui </a:t>
            </a:r>
            <a:r>
              <a:rPr lang="en-US" sz="4800" b="1" dirty="0" err="1"/>
              <a:t>tắc</a:t>
            </a:r>
            <a:r>
              <a:rPr lang="en-US" sz="4800" b="1" dirty="0"/>
              <a:t> </a:t>
            </a:r>
            <a:r>
              <a:rPr lang="en-US" sz="4800" b="1" dirty="0" err="1"/>
              <a:t>suy</a:t>
            </a:r>
            <a:r>
              <a:rPr lang="en-US" sz="4800" b="1" dirty="0"/>
              <a:t> </a:t>
            </a:r>
            <a:r>
              <a:rPr lang="en-US" sz="4800" b="1" dirty="0" err="1"/>
              <a:t>diễn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52</a:t>
            </a:fld>
            <a:endParaRPr lang="en-US" dirty="0"/>
          </a:p>
        </p:txBody>
      </p:sp>
      <p:graphicFrame>
        <p:nvGraphicFramePr>
          <p:cNvPr id="1925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7767630"/>
              </p:ext>
            </p:extLst>
          </p:nvPr>
        </p:nvGraphicFramePr>
        <p:xfrm>
          <a:off x="2438400" y="2438400"/>
          <a:ext cx="2133600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040" imgH="571320" progId="Equation.3">
                  <p:embed/>
                </p:oleObj>
              </mc:Choice>
              <mc:Fallback>
                <p:oleObj name="Equation" r:id="rId2" imgW="419040" imgH="571320" progId="Equation.3">
                  <p:embed/>
                  <p:pic>
                    <p:nvPicPr>
                      <p:cNvPr id="19251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438400"/>
                        <a:ext cx="2133600" cy="274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81534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Ví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dụ:Suy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luận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sau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đúng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hay </a:t>
            </a:r>
            <a:r>
              <a:rPr lang="en-US" dirty="0" err="1">
                <a:solidFill>
                  <a:srgbClr val="FF0000"/>
                </a:solidFill>
                <a:sym typeface="Symbol"/>
              </a:rPr>
              <a:t>sai</a:t>
            </a:r>
            <a:endParaRPr lang="en-US" dirty="0">
              <a:solidFill>
                <a:srgbClr val="FF0000"/>
              </a:solidFill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olidFill>
                <a:srgbClr val="FF0000"/>
              </a:solidFill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olidFill>
                <a:srgbClr val="FF0000"/>
              </a:solidFill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olidFill>
                <a:srgbClr val="FF0000"/>
              </a:solidFill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olidFill>
                <a:srgbClr val="FF0000"/>
              </a:solidFill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>
                <a:sym typeface="Symbol"/>
              </a:rPr>
              <a:t>HD: </a:t>
            </a:r>
            <a:r>
              <a:rPr lang="en-US" dirty="0" err="1">
                <a:sym typeface="Symbol"/>
              </a:rPr>
              <a:t>Dùng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phản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ví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dụ</a:t>
            </a:r>
            <a:r>
              <a:rPr lang="en-US" dirty="0">
                <a:sym typeface="Symbol"/>
              </a:rPr>
              <a:t>: </a:t>
            </a:r>
            <a:r>
              <a:rPr lang="en-US" dirty="0" err="1">
                <a:sym typeface="Symbol"/>
              </a:rPr>
              <a:t>Chọn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olidFill>
                <a:srgbClr val="FF0000"/>
              </a:solidFill>
              <a:sym typeface="Symbol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914400" y="277813"/>
            <a:ext cx="7772400" cy="1143000"/>
          </a:xfrm>
        </p:spPr>
        <p:txBody>
          <a:bodyPr/>
          <a:lstStyle/>
          <a:p>
            <a:r>
              <a:rPr lang="en-US" sz="4800" b="1" dirty="0"/>
              <a:t>Qui </a:t>
            </a:r>
            <a:r>
              <a:rPr lang="en-US" sz="4800" b="1" dirty="0" err="1"/>
              <a:t>tắc</a:t>
            </a:r>
            <a:r>
              <a:rPr lang="en-US" sz="4800" b="1" dirty="0"/>
              <a:t> </a:t>
            </a:r>
            <a:r>
              <a:rPr lang="en-US" sz="4800" b="1" dirty="0" err="1"/>
              <a:t>suy</a:t>
            </a:r>
            <a:r>
              <a:rPr lang="en-US" sz="4800" b="1" dirty="0"/>
              <a:t> </a:t>
            </a:r>
            <a:r>
              <a:rPr lang="en-US" sz="4800" b="1" dirty="0" err="1"/>
              <a:t>diễn</a:t>
            </a:r>
            <a:endParaRPr lang="en-US" sz="4400" dirty="0"/>
          </a:p>
        </p:txBody>
      </p:sp>
      <p:sp>
        <p:nvSpPr>
          <p:cNvPr id="7" name="Slide Number Placeholder 4"/>
          <p:cNvSpPr txBox="1">
            <a:spLocks/>
          </p:cNvSpPr>
          <p:nvPr/>
        </p:nvSpPr>
        <p:spPr bwMode="auto">
          <a:xfrm>
            <a:off x="6781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D9E56B6-077A-4A36-A778-66B152E4D643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24000" y="5334000"/>
            <a:ext cx="563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p=1, q=0, r=1, s=0, t=1</a:t>
            </a:r>
          </a:p>
        </p:txBody>
      </p:sp>
      <p:graphicFrame>
        <p:nvGraphicFramePr>
          <p:cNvPr id="9" name="Object 2"/>
          <p:cNvGraphicFramePr>
            <a:graphicFrameLocks noChangeAspect="1"/>
          </p:cNvGraphicFramePr>
          <p:nvPr/>
        </p:nvGraphicFramePr>
        <p:xfrm>
          <a:off x="3352800" y="2057400"/>
          <a:ext cx="2489200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040" imgH="571320" progId="Equation.3">
                  <p:embed/>
                </p:oleObj>
              </mc:Choice>
              <mc:Fallback>
                <p:oleObj name="Equation" r:id="rId2" imgW="419040" imgH="571320" progId="Equation.3">
                  <p:embed/>
                  <p:pic>
                    <p:nvPicPr>
                      <p:cNvPr id="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057400"/>
                        <a:ext cx="2489200" cy="274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 </a:t>
            </a:r>
            <a:r>
              <a:rPr lang="en-US" dirty="0" err="1"/>
              <a:t>tắc</a:t>
            </a:r>
            <a:r>
              <a:rPr lang="en-US" dirty="0"/>
              <a:t>  </a:t>
            </a:r>
            <a:r>
              <a:rPr lang="en-US" dirty="0" err="1"/>
              <a:t>suy</a:t>
            </a:r>
            <a:r>
              <a:rPr lang="en-US" dirty="0"/>
              <a:t> </a:t>
            </a:r>
            <a:r>
              <a:rPr lang="en-US" dirty="0" err="1"/>
              <a:t>diễn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54</a:t>
            </a:fld>
            <a:endParaRPr lang="en-US"/>
          </a:p>
        </p:txBody>
      </p:sp>
      <p:pic>
        <p:nvPicPr>
          <p:cNvPr id="258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600200"/>
            <a:ext cx="4987159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Giải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55</a:t>
            </a:fld>
            <a:endParaRPr lang="en-US"/>
          </a:p>
        </p:txBody>
      </p:sp>
      <p:pic>
        <p:nvPicPr>
          <p:cNvPr id="259074" name="Picture 2"/>
          <p:cNvPicPr>
            <a:picLocks noChangeAspect="1" noChangeArrowheads="1"/>
          </p:cNvPicPr>
          <p:nvPr/>
        </p:nvPicPr>
        <p:blipFill rotWithShape="1">
          <a:blip r:embed="rId2" cstate="print"/>
          <a:srcRect l="7766" r="1842"/>
          <a:stretch/>
        </p:blipFill>
        <p:spPr bwMode="auto">
          <a:xfrm>
            <a:off x="4114800" y="1600200"/>
            <a:ext cx="4739757" cy="421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 l="13751" r="14436"/>
          <a:stretch>
            <a:fillRect/>
          </a:stretch>
        </p:blipFill>
        <p:spPr bwMode="auto">
          <a:xfrm>
            <a:off x="457200" y="1524000"/>
            <a:ext cx="35814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2C1B0-ACFF-DE86-202C-760FCC1B4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từ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135E2-A0E8-FF15-8BB6-A55434AD2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356A9-C6C3-75A4-D793-E85379585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56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D88226-EF34-CA35-90D3-6F8B82933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538288"/>
            <a:ext cx="8686800" cy="529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0006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81534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olidFill>
                  <a:srgbClr val="FF0000"/>
                </a:solidFill>
                <a:sym typeface="Symbol"/>
              </a:rPr>
              <a:t>Định nghĩa: 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olidFill>
                  <a:srgbClr val="6666FF"/>
                </a:solidFill>
                <a:sym typeface="Symbol"/>
              </a:rPr>
              <a:t>Vị từ</a:t>
            </a:r>
            <a:r>
              <a:rPr lang="en-US" dirty="0">
                <a:solidFill>
                  <a:srgbClr val="6666FF"/>
                </a:solidFill>
                <a:sym typeface="Symbol"/>
              </a:rPr>
              <a:t> - 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predicate logic -</a:t>
            </a:r>
            <a:r>
              <a:rPr lang="vi-VN" dirty="0">
                <a:solidFill>
                  <a:srgbClr val="6666FF"/>
                </a:solidFill>
                <a:sym typeface="Symbol"/>
              </a:rPr>
              <a:t> </a:t>
            </a:r>
            <a:r>
              <a:rPr lang="vi-VN" dirty="0">
                <a:sym typeface="Symbol"/>
              </a:rPr>
              <a:t>là một khẳng định p(x,y,..), trong đó x,y...là các biến</a:t>
            </a:r>
            <a:r>
              <a:rPr lang="en-US" dirty="0">
                <a:sym typeface="Symbol"/>
              </a:rPr>
              <a:t> </a:t>
            </a:r>
            <a:r>
              <a:rPr lang="vi-VN" dirty="0">
                <a:sym typeface="Symbol"/>
              </a:rPr>
              <a:t>thuộc tập hợp A, B,.. cho trước sao cho: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- Bản thân p(x,y,..) không phải là mệnh đề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- Nếu thay x,y,.. thành giá trị cụ thể thì p(x,y,..) là mệnh đề.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olidFill>
                  <a:srgbClr val="FF0000"/>
                </a:solidFill>
                <a:sym typeface="Symbol"/>
              </a:rPr>
              <a:t>Ví dụ: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- p(n) =  “n +1 là số nguyên tố”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- q(x,y) = “x + y = 1” </a:t>
            </a:r>
            <a:endParaRPr lang="en-US" dirty="0">
              <a:sym typeface="Symbo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Vị</a:t>
            </a:r>
            <a:r>
              <a:rPr lang="en-US" sz="4800" b="1" dirty="0"/>
              <a:t> </a:t>
            </a:r>
            <a:r>
              <a:rPr lang="en-US" sz="4800" b="1" dirty="0" err="1"/>
              <a:t>từ</a:t>
            </a:r>
            <a:r>
              <a:rPr lang="en-US" sz="4800" b="1" dirty="0"/>
              <a:t> - </a:t>
            </a:r>
            <a:r>
              <a:rPr lang="en-US" sz="4800" b="1" dirty="0" err="1"/>
              <a:t>Lượng</a:t>
            </a:r>
            <a:r>
              <a:rPr lang="en-US" sz="4800" b="1" dirty="0"/>
              <a:t> </a:t>
            </a:r>
            <a:r>
              <a:rPr lang="en-US" sz="4800" b="1" dirty="0" err="1"/>
              <a:t>từ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57</a:t>
            </a:fld>
            <a:endParaRPr 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81534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olidFill>
                  <a:srgbClr val="FF0000"/>
                </a:solidFill>
                <a:sym typeface="Symbol"/>
              </a:rPr>
              <a:t>Các phép toán trên vị từ</a:t>
            </a:r>
            <a:endParaRPr lang="en-US" dirty="0">
              <a:solidFill>
                <a:srgbClr val="FF0000"/>
              </a:solidFill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Cho trước các vị từ p(x), q(x) theo một biến xA. Khi ấy, ta</a:t>
            </a:r>
            <a:r>
              <a:rPr lang="en-US" dirty="0">
                <a:sym typeface="Symbol"/>
              </a:rPr>
              <a:t> </a:t>
            </a:r>
            <a:r>
              <a:rPr lang="vi-VN" dirty="0">
                <a:sym typeface="Symbol"/>
              </a:rPr>
              <a:t>cũng c</a:t>
            </a:r>
            <a:r>
              <a:rPr lang="en-US" dirty="0">
                <a:sym typeface="Symbol"/>
              </a:rPr>
              <a:t>ó</a:t>
            </a:r>
            <a:r>
              <a:rPr lang="vi-VN" dirty="0">
                <a:sym typeface="Symbol"/>
              </a:rPr>
              <a:t> các phép toán tương ứng như trên mệnh đề: </a:t>
            </a:r>
          </a:p>
          <a:p>
            <a:pPr marL="0" indent="165100" algn="just">
              <a:buClr>
                <a:srgbClr val="339966"/>
              </a:buClr>
              <a:buFont typeface="Wingdings" pitchFamily="2" charset="2"/>
              <a:buChar char="v"/>
            </a:pPr>
            <a:r>
              <a:rPr lang="vi-VN" dirty="0">
                <a:sym typeface="Symbol"/>
              </a:rPr>
              <a:t> Phủ định: p(x)</a:t>
            </a:r>
            <a:endParaRPr lang="en-US" dirty="0">
              <a:sym typeface="Symbol"/>
            </a:endParaRPr>
          </a:p>
          <a:p>
            <a:pPr marL="0" indent="165100" algn="just">
              <a:buClr>
                <a:srgbClr val="339966"/>
              </a:buClr>
              <a:buFont typeface="Wingdings" pitchFamily="2" charset="2"/>
              <a:buChar char="v"/>
            </a:pPr>
            <a:r>
              <a:rPr lang="en-US" dirty="0">
                <a:sym typeface="Symbol"/>
              </a:rPr>
              <a:t> </a:t>
            </a:r>
            <a:r>
              <a:rPr lang="vi-VN" dirty="0">
                <a:sym typeface="Symbol"/>
              </a:rPr>
              <a:t>Phép nối liền (hội, giao): p(x)  q(x)</a:t>
            </a:r>
            <a:endParaRPr lang="en-US" dirty="0">
              <a:sym typeface="Symbol"/>
            </a:endParaRPr>
          </a:p>
          <a:p>
            <a:pPr marL="0" indent="165100" algn="just">
              <a:buClr>
                <a:srgbClr val="339966"/>
              </a:buClr>
              <a:buFont typeface="Wingdings" pitchFamily="2" charset="2"/>
              <a:buChar char="v"/>
            </a:pPr>
            <a:r>
              <a:rPr lang="vi-VN" dirty="0">
                <a:sym typeface="Symbol"/>
              </a:rPr>
              <a:t> Phép nối rời (tuyển, hợp): p(x)  q(x)</a:t>
            </a:r>
            <a:endParaRPr lang="en-US" dirty="0">
              <a:sym typeface="Symbol"/>
            </a:endParaRPr>
          </a:p>
          <a:p>
            <a:pPr marL="0" indent="165100" algn="just">
              <a:buClr>
                <a:srgbClr val="339966"/>
              </a:buClr>
              <a:buFont typeface="Wingdings" pitchFamily="2" charset="2"/>
              <a:buChar char="v"/>
            </a:pPr>
            <a:r>
              <a:rPr lang="vi-VN" dirty="0">
                <a:sym typeface="Symbol"/>
              </a:rPr>
              <a:t> Phép kéo theo: p(x)</a:t>
            </a:r>
            <a:r>
              <a:rPr lang="en-US" dirty="0">
                <a:sym typeface="Symbol"/>
              </a:rPr>
              <a:t> </a:t>
            </a:r>
            <a:r>
              <a:rPr lang="vi-VN" dirty="0">
                <a:sym typeface="Symbol"/>
              </a:rPr>
              <a:t></a:t>
            </a:r>
            <a:r>
              <a:rPr lang="en-US" dirty="0">
                <a:sym typeface="Symbol"/>
              </a:rPr>
              <a:t> </a:t>
            </a:r>
            <a:r>
              <a:rPr lang="vi-VN" dirty="0">
                <a:sym typeface="Symbol"/>
              </a:rPr>
              <a:t>q(x)</a:t>
            </a:r>
            <a:endParaRPr lang="en-US" dirty="0">
              <a:sym typeface="Symbol"/>
            </a:endParaRPr>
          </a:p>
          <a:p>
            <a:pPr marL="0" indent="165100" algn="just">
              <a:buClr>
                <a:srgbClr val="339966"/>
              </a:buClr>
              <a:buFont typeface="Wingdings" pitchFamily="2" charset="2"/>
              <a:buChar char="v"/>
            </a:pPr>
            <a:r>
              <a:rPr lang="vi-VN" dirty="0">
                <a:sym typeface="Symbol"/>
              </a:rPr>
              <a:t> Phép kéo theo hai chiều:  p(x)</a:t>
            </a:r>
            <a:r>
              <a:rPr lang="en-US" dirty="0">
                <a:sym typeface="Symbol"/>
              </a:rPr>
              <a:t> </a:t>
            </a:r>
            <a:r>
              <a:rPr lang="vi-VN" dirty="0">
                <a:sym typeface="Symbol"/>
              </a:rPr>
              <a:t></a:t>
            </a:r>
            <a:r>
              <a:rPr lang="en-US" dirty="0">
                <a:sym typeface="Symbol"/>
              </a:rPr>
              <a:t> </a:t>
            </a:r>
            <a:r>
              <a:rPr lang="vi-VN" dirty="0">
                <a:sym typeface="Symbol"/>
              </a:rPr>
              <a:t>q(x)</a:t>
            </a:r>
            <a:endParaRPr lang="en-US" dirty="0">
              <a:sym typeface="Symbo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Vị</a:t>
            </a:r>
            <a:r>
              <a:rPr lang="en-US" sz="4800" b="1" dirty="0"/>
              <a:t> </a:t>
            </a:r>
            <a:r>
              <a:rPr lang="en-US" sz="4800" b="1" dirty="0" err="1"/>
              <a:t>từ</a:t>
            </a:r>
            <a:r>
              <a:rPr lang="en-US" sz="4800" b="1" dirty="0"/>
              <a:t> - </a:t>
            </a:r>
            <a:r>
              <a:rPr lang="en-US" sz="4800" b="1" dirty="0" err="1"/>
              <a:t>Lượng</a:t>
            </a:r>
            <a:r>
              <a:rPr lang="en-US" sz="4800" b="1" dirty="0"/>
              <a:t> </a:t>
            </a:r>
            <a:r>
              <a:rPr lang="en-US" sz="4800" b="1" dirty="0" err="1"/>
              <a:t>từ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58</a:t>
            </a:fld>
            <a:endParaRPr 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81534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Cho p(x) là một vị từ theo một biến xác định trên A. </a:t>
            </a:r>
            <a:r>
              <a:rPr lang="vi-VN" dirty="0">
                <a:solidFill>
                  <a:srgbClr val="FF0000"/>
                </a:solidFill>
                <a:sym typeface="Symbol"/>
              </a:rPr>
              <a:t>Các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vi-VN" dirty="0">
                <a:solidFill>
                  <a:srgbClr val="FF0000"/>
                </a:solidFill>
                <a:sym typeface="Symbol"/>
              </a:rPr>
              <a:t>mệnh đề lượng từ hóa của p(x) </a:t>
            </a:r>
            <a:r>
              <a:rPr lang="vi-VN" dirty="0">
                <a:sym typeface="Symbol"/>
              </a:rPr>
              <a:t>được định nghĩa như sau: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>
                <a:sym typeface="Symbol"/>
              </a:rPr>
              <a:t>- </a:t>
            </a:r>
            <a:r>
              <a:rPr lang="vi-VN" dirty="0">
                <a:sym typeface="Symbol"/>
              </a:rPr>
              <a:t>Mệnh đề </a:t>
            </a:r>
            <a:r>
              <a:rPr lang="vi-VN" dirty="0">
                <a:solidFill>
                  <a:srgbClr val="00B050"/>
                </a:solidFill>
                <a:sym typeface="Symbol"/>
              </a:rPr>
              <a:t>“Với mọi x thuộc A, p(x) ”</a:t>
            </a:r>
            <a:r>
              <a:rPr lang="vi-VN" dirty="0">
                <a:sym typeface="Symbol"/>
              </a:rPr>
              <a:t>, kí hiệu:</a:t>
            </a:r>
            <a:r>
              <a:rPr lang="en-US" dirty="0">
                <a:sym typeface="Symbol"/>
              </a:rPr>
              <a:t> </a:t>
            </a:r>
            <a:r>
              <a:rPr lang="vi-VN" dirty="0">
                <a:solidFill>
                  <a:srgbClr val="00B050"/>
                </a:solidFill>
                <a:sym typeface="Symbol"/>
              </a:rPr>
              <a:t>“x  A, p(x)”</a:t>
            </a:r>
            <a:r>
              <a:rPr lang="en-US" dirty="0">
                <a:solidFill>
                  <a:srgbClr val="00B050"/>
                </a:solidFill>
                <a:sym typeface="Symbol"/>
              </a:rPr>
              <a:t> </a:t>
            </a:r>
            <a:r>
              <a:rPr lang="vi-VN" dirty="0">
                <a:sym typeface="Symbol"/>
              </a:rPr>
              <a:t>là mđ đúng khi và chỉ khi p(a) luôn đúng với mọi</a:t>
            </a:r>
            <a:r>
              <a:rPr lang="en-US" dirty="0">
                <a:sym typeface="Symbol"/>
              </a:rPr>
              <a:t> </a:t>
            </a:r>
            <a:r>
              <a:rPr lang="vi-VN" dirty="0">
                <a:sym typeface="Symbol"/>
              </a:rPr>
              <a:t>giá trị a  A. </a:t>
            </a:r>
            <a:r>
              <a:rPr lang="vi-VN" dirty="0">
                <a:solidFill>
                  <a:srgbClr val="00B0F0"/>
                </a:solidFill>
                <a:sym typeface="Symbol"/>
              </a:rPr>
              <a:t></a:t>
            </a:r>
            <a:r>
              <a:rPr lang="en-US" dirty="0">
                <a:solidFill>
                  <a:srgbClr val="00B0F0"/>
                </a:solidFill>
                <a:sym typeface="Symbol"/>
              </a:rPr>
              <a:t> </a:t>
            </a:r>
            <a:r>
              <a:rPr lang="vi-VN" dirty="0">
                <a:solidFill>
                  <a:srgbClr val="00B0F0"/>
                </a:solidFill>
                <a:sym typeface="Symbol"/>
              </a:rPr>
              <a:t>đgl lượng từ phổ dụng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- Mệnh đề </a:t>
            </a:r>
            <a:r>
              <a:rPr lang="vi-VN" dirty="0">
                <a:solidFill>
                  <a:srgbClr val="00B050"/>
                </a:solidFill>
                <a:sym typeface="Symbol"/>
              </a:rPr>
              <a:t>“Tồn tại (có ít nhất một) x thuộc A, p(x)” </a:t>
            </a:r>
            <a:r>
              <a:rPr lang="vi-VN" dirty="0">
                <a:sym typeface="Symbol"/>
              </a:rPr>
              <a:t>kí hiệu</a:t>
            </a:r>
            <a:r>
              <a:rPr lang="en-US" dirty="0">
                <a:sym typeface="Symbol"/>
              </a:rPr>
              <a:t> </a:t>
            </a:r>
            <a:r>
              <a:rPr lang="vi-VN" dirty="0">
                <a:solidFill>
                  <a:srgbClr val="00B050"/>
                </a:solidFill>
                <a:sym typeface="Symbol"/>
              </a:rPr>
              <a:t>“x  A, p(x)”</a:t>
            </a:r>
            <a:r>
              <a:rPr lang="en-US" dirty="0">
                <a:solidFill>
                  <a:srgbClr val="00B050"/>
                </a:solidFill>
                <a:sym typeface="Symbol"/>
              </a:rPr>
              <a:t> </a:t>
            </a:r>
            <a:r>
              <a:rPr lang="vi-VN" dirty="0">
                <a:sym typeface="Symbol"/>
              </a:rPr>
              <a:t>là mệnh đề đúng khi và chỉ khi có ít nhất một giá trị x= a</a:t>
            </a:r>
            <a:r>
              <a:rPr lang="en-US" dirty="0">
                <a:sym typeface="Symbol"/>
              </a:rPr>
              <a:t>’</a:t>
            </a:r>
            <a:r>
              <a:rPr lang="vi-VN" dirty="0">
                <a:sym typeface="Symbol"/>
              </a:rPr>
              <a:t> A</a:t>
            </a:r>
            <a:r>
              <a:rPr lang="en-US" dirty="0">
                <a:sym typeface="Symbol"/>
              </a:rPr>
              <a:t> </a:t>
            </a:r>
            <a:r>
              <a:rPr lang="vi-VN" dirty="0">
                <a:sym typeface="Symbol"/>
              </a:rPr>
              <a:t>nào đó sao cho mệnh đề p(a</a:t>
            </a:r>
            <a:r>
              <a:rPr lang="en-US" dirty="0">
                <a:sym typeface="Symbol"/>
              </a:rPr>
              <a:t>’</a:t>
            </a:r>
            <a:r>
              <a:rPr lang="vi-VN" dirty="0">
                <a:sym typeface="Symbol"/>
              </a:rPr>
              <a:t>) đúng. </a:t>
            </a:r>
            <a:r>
              <a:rPr lang="vi-VN" dirty="0">
                <a:solidFill>
                  <a:srgbClr val="00B0F0"/>
                </a:solidFill>
                <a:sym typeface="Symbol"/>
              </a:rPr>
              <a:t> đgl lượng từ tồn tại</a:t>
            </a:r>
            <a:endParaRPr lang="en-US" dirty="0">
              <a:solidFill>
                <a:srgbClr val="00B0F0"/>
              </a:solidFill>
              <a:sym typeface="Symbo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Vị</a:t>
            </a:r>
            <a:r>
              <a:rPr lang="en-US" sz="4800" b="1" dirty="0"/>
              <a:t> </a:t>
            </a:r>
            <a:r>
              <a:rPr lang="en-US" sz="4800" b="1" dirty="0" err="1"/>
              <a:t>từ</a:t>
            </a:r>
            <a:r>
              <a:rPr lang="en-US" sz="4800" b="1" dirty="0"/>
              <a:t> - </a:t>
            </a:r>
            <a:r>
              <a:rPr lang="en-US" sz="4800" b="1" dirty="0" err="1"/>
              <a:t>Lượng</a:t>
            </a:r>
            <a:r>
              <a:rPr lang="en-US" sz="4800" b="1" dirty="0"/>
              <a:t> </a:t>
            </a:r>
            <a:r>
              <a:rPr lang="en-US" sz="4800" b="1" dirty="0" err="1"/>
              <a:t>từ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59</a:t>
            </a:fld>
            <a:endParaRPr 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218" name="Picture 2"/>
          <p:cNvPicPr>
            <a:picLocks noChangeAspect="1" noChangeArrowheads="1"/>
          </p:cNvPicPr>
          <p:nvPr/>
        </p:nvPicPr>
        <p:blipFill rotWithShape="1">
          <a:blip r:embed="rId2" cstate="print"/>
          <a:srcRect l="1687" t="1" r="2714" b="-2507"/>
          <a:stretch/>
        </p:blipFill>
        <p:spPr bwMode="auto">
          <a:xfrm>
            <a:off x="762000" y="381000"/>
            <a:ext cx="8013071" cy="5448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83058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Cho p(x, y) là một vị từ theo hai biến x, y xác định trên AB. Ta định nghĩa các mệnh đề lượng từ hóa của p(x, y) như sau: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“xA,yB, p(x, y)”  “xA, (yB, p(x, y))”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“xA, yB, p(x, y)”  “xA, (yB,</a:t>
            </a:r>
            <a:r>
              <a:rPr lang="en-US" dirty="0">
                <a:sym typeface="Symbol"/>
              </a:rPr>
              <a:t> </a:t>
            </a:r>
            <a:r>
              <a:rPr lang="vi-VN" dirty="0">
                <a:sym typeface="Symbol"/>
              </a:rPr>
              <a:t>p(x, y))”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“xA, yB, p(x, y)”  “xA, (yB, p(x, y))”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“xA, yB, p(x, y)”  “xA, (yB, p(x, y))”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Vị</a:t>
            </a:r>
            <a:r>
              <a:rPr lang="en-US" sz="4800" b="1" dirty="0"/>
              <a:t> </a:t>
            </a:r>
            <a:r>
              <a:rPr lang="en-US" sz="4800" b="1" dirty="0" err="1"/>
              <a:t>từ</a:t>
            </a:r>
            <a:r>
              <a:rPr lang="en-US" sz="4800" b="1" dirty="0"/>
              <a:t> - </a:t>
            </a:r>
            <a:r>
              <a:rPr lang="en-US" sz="4800" b="1" dirty="0" err="1"/>
              <a:t>Lượng</a:t>
            </a:r>
            <a:r>
              <a:rPr lang="en-US" sz="4800" b="1" dirty="0"/>
              <a:t> </a:t>
            </a:r>
            <a:r>
              <a:rPr lang="en-US" sz="4800" b="1" dirty="0" err="1"/>
              <a:t>từ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61</a:t>
            </a:fld>
            <a:endParaRPr 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81534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olidFill>
                  <a:srgbClr val="FF0000"/>
                </a:solidFill>
                <a:sym typeface="Symbol"/>
              </a:rPr>
              <a:t>Ví dụ</a:t>
            </a:r>
            <a:r>
              <a:rPr lang="en-US" dirty="0">
                <a:solidFill>
                  <a:srgbClr val="FF0000"/>
                </a:solidFill>
                <a:sym typeface="Symbol"/>
              </a:rPr>
              <a:t>: </a:t>
            </a:r>
            <a:r>
              <a:rPr lang="vi-VN" dirty="0">
                <a:sym typeface="Symbol"/>
              </a:rPr>
              <a:t>Các mệnh đề sau đúng hay sai?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- “x  R,</a:t>
            </a:r>
            <a:r>
              <a:rPr lang="en-US" dirty="0">
                <a:sym typeface="Symbol"/>
              </a:rPr>
              <a:t> </a:t>
            </a:r>
            <a:r>
              <a:rPr lang="vi-VN" dirty="0">
                <a:sym typeface="Symbol"/>
              </a:rPr>
              <a:t> </a:t>
            </a:r>
            <a:r>
              <a:rPr lang="en-US" dirty="0">
                <a:sym typeface="Symbol"/>
              </a:rPr>
              <a:t>                       </a:t>
            </a:r>
            <a:r>
              <a:rPr lang="vi-VN" dirty="0">
                <a:sym typeface="Symbol"/>
              </a:rPr>
              <a:t>”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- “x  R,</a:t>
            </a:r>
            <a:r>
              <a:rPr lang="en-US" dirty="0">
                <a:sym typeface="Symbol"/>
              </a:rPr>
              <a:t>                          </a:t>
            </a:r>
            <a:r>
              <a:rPr lang="vi-VN" dirty="0">
                <a:sym typeface="Symbol"/>
              </a:rPr>
              <a:t>”</a:t>
            </a: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pt-BR" dirty="0">
                <a:sym typeface="Symbol"/>
              </a:rPr>
              <a:t>- “x  R, y  R, 2x + y &lt; 1”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pt-BR" dirty="0">
                <a:sym typeface="Symbol"/>
              </a:rPr>
              <a:t>- “x  R, y  R, 2x + y &lt; 1”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pt-BR" dirty="0">
                <a:sym typeface="Symbol"/>
              </a:rPr>
              <a:t>- “x  R, y  R, x + 2y &lt; 1”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pt-BR" dirty="0">
                <a:sym typeface="Symbol"/>
              </a:rPr>
              <a:t>- “x  R, y  R, x + 2y &lt; 1”</a:t>
            </a: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ym typeface="Symbo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Vị</a:t>
            </a:r>
            <a:r>
              <a:rPr lang="en-US" sz="4800" b="1" dirty="0"/>
              <a:t> </a:t>
            </a:r>
            <a:r>
              <a:rPr lang="en-US" sz="4800" b="1" dirty="0" err="1"/>
              <a:t>từ</a:t>
            </a:r>
            <a:r>
              <a:rPr lang="en-US" sz="4800" b="1" dirty="0"/>
              <a:t> - </a:t>
            </a:r>
            <a:r>
              <a:rPr lang="en-US" sz="4800" b="1" dirty="0" err="1"/>
              <a:t>Lượng</a:t>
            </a:r>
            <a:r>
              <a:rPr lang="en-US" sz="4800" b="1" dirty="0"/>
              <a:t> </a:t>
            </a:r>
            <a:r>
              <a:rPr lang="en-US" sz="4800" b="1" dirty="0" err="1"/>
              <a:t>từ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62</a:t>
            </a:fld>
            <a:endParaRPr lang="en-US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605088" y="2038350"/>
          <a:ext cx="2376487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34880" imgH="444240" progId="Equation.DSMT4">
                  <p:embed/>
                </p:oleObj>
              </mc:Choice>
              <mc:Fallback>
                <p:oleObj name="Equation" r:id="rId3" imgW="2234880" imgH="444240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5088" y="2038350"/>
                        <a:ext cx="2376487" cy="552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2624138" y="2509838"/>
          <a:ext cx="2376487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34880" imgH="444240" progId="Equation.DSMT4">
                  <p:embed/>
                </p:oleObj>
              </mc:Choice>
              <mc:Fallback>
                <p:oleObj name="Equation" r:id="rId5" imgW="2234880" imgH="444240" progId="Equation.DSMT4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4138" y="2509838"/>
                        <a:ext cx="2376487" cy="552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63</a:t>
            </a:fld>
            <a:endParaRPr lang="en-US"/>
          </a:p>
        </p:txBody>
      </p:sp>
      <p:pic>
        <p:nvPicPr>
          <p:cNvPr id="262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381000"/>
            <a:ext cx="8001000" cy="3827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457200"/>
            <a:ext cx="8086165" cy="586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81534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olidFill>
                  <a:srgbClr val="FF0000"/>
                </a:solidFill>
                <a:sym typeface="Symbol"/>
              </a:rPr>
              <a:t>Định lý</a:t>
            </a:r>
            <a:endParaRPr lang="en-US" dirty="0">
              <a:solidFill>
                <a:srgbClr val="FF0000"/>
              </a:solidFill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Cho p(x, y) là một vị từ theo hai biến x, y xác định trên AB. Khi đó:</a:t>
            </a: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Font typeface="Wingdings" pitchFamily="2" charset="2"/>
              <a:buChar char="§"/>
            </a:pPr>
            <a:r>
              <a:rPr lang="en-US" dirty="0">
                <a:sym typeface="Symbol"/>
              </a:rPr>
              <a:t> </a:t>
            </a:r>
            <a:r>
              <a:rPr lang="vi-VN" dirty="0">
                <a:sym typeface="Symbol"/>
              </a:rPr>
              <a:t>“xA, yB, p(x, y)”  “yB, xA, p(x, y)”</a:t>
            </a: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Font typeface="Wingdings" pitchFamily="2" charset="2"/>
              <a:buChar char="§"/>
            </a:pPr>
            <a:r>
              <a:rPr lang="vi-VN" dirty="0">
                <a:sym typeface="Symbol"/>
              </a:rPr>
              <a:t> “xA, yB, p(x, y)”  “yB, xA, p(x, y)”</a:t>
            </a: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Font typeface="Wingdings" pitchFamily="2" charset="2"/>
              <a:buChar char="§"/>
            </a:pPr>
            <a:r>
              <a:rPr lang="vi-VN" dirty="0">
                <a:sym typeface="Symbol"/>
              </a:rPr>
              <a:t> “xA, yB, p(x, y)”  “yB, xA, p(x, y)”</a:t>
            </a: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olidFill>
                  <a:srgbClr val="00B0F0"/>
                </a:solidFill>
                <a:sym typeface="Symbol"/>
              </a:rPr>
              <a:t>Phủ định</a:t>
            </a:r>
            <a:r>
              <a:rPr lang="vi-VN" dirty="0">
                <a:sym typeface="Symbol"/>
              </a:rPr>
              <a:t> của mệnh đề lượng từ hóa vị từ p(x,y,..)</a:t>
            </a:r>
            <a:r>
              <a:rPr lang="en-US" dirty="0">
                <a:sym typeface="Symbol"/>
              </a:rPr>
              <a:t> </a:t>
            </a:r>
            <a:r>
              <a:rPr lang="vi-VN" dirty="0">
                <a:sym typeface="Symbol"/>
              </a:rPr>
              <a:t>có được bằng cách:</a:t>
            </a:r>
            <a:r>
              <a:rPr lang="en-US" dirty="0">
                <a:sym typeface="Symbol"/>
              </a:rPr>
              <a:t> </a:t>
            </a:r>
            <a:r>
              <a:rPr lang="vi-VN" dirty="0">
                <a:sym typeface="Symbol"/>
              </a:rPr>
              <a:t>thay  thành ,</a:t>
            </a:r>
            <a:r>
              <a:rPr lang="en-US" dirty="0">
                <a:sym typeface="Symbol"/>
              </a:rPr>
              <a:t> </a:t>
            </a:r>
            <a:r>
              <a:rPr lang="vi-VN" dirty="0">
                <a:sym typeface="Symbol"/>
              </a:rPr>
              <a:t>thay  thành ,</a:t>
            </a:r>
            <a:r>
              <a:rPr lang="en-US" dirty="0">
                <a:sym typeface="Symbol"/>
              </a:rPr>
              <a:t> </a:t>
            </a:r>
            <a:r>
              <a:rPr lang="vi-VN" dirty="0">
                <a:sym typeface="Symbol"/>
              </a:rPr>
              <a:t>và p(x,y,..) thành  p(x,y,..).</a:t>
            </a:r>
            <a:endParaRPr lang="en-US" dirty="0">
              <a:sym typeface="Symbo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Vị</a:t>
            </a:r>
            <a:r>
              <a:rPr lang="en-US" sz="4800" b="1" dirty="0"/>
              <a:t> </a:t>
            </a:r>
            <a:r>
              <a:rPr lang="en-US" sz="4800" b="1" dirty="0" err="1"/>
              <a:t>từ</a:t>
            </a:r>
            <a:r>
              <a:rPr lang="en-US" sz="4800" b="1" dirty="0"/>
              <a:t> - </a:t>
            </a:r>
            <a:r>
              <a:rPr lang="en-US" sz="4800" b="1" dirty="0" err="1"/>
              <a:t>Lượng</a:t>
            </a:r>
            <a:r>
              <a:rPr lang="en-US" sz="4800" b="1" dirty="0"/>
              <a:t> </a:t>
            </a:r>
            <a:r>
              <a:rPr lang="en-US" sz="4800" b="1" dirty="0" err="1"/>
              <a:t>từ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65</a:t>
            </a:fld>
            <a:endParaRPr lang="en-US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81534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olidFill>
                  <a:srgbClr val="FF0000"/>
                </a:solidFill>
                <a:sym typeface="Symbol"/>
              </a:rPr>
              <a:t>Với vị từ theo 1 biến ta có :</a:t>
            </a:r>
            <a:endParaRPr lang="en-US" dirty="0">
              <a:solidFill>
                <a:srgbClr val="FF0000"/>
              </a:solidFill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olidFill>
                <a:srgbClr val="FF0000"/>
              </a:solidFill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olidFill>
                <a:srgbClr val="FF0000"/>
              </a:solidFill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olidFill>
                  <a:srgbClr val="FF0000"/>
                </a:solidFill>
                <a:sym typeface="Symbol"/>
              </a:rPr>
              <a:t>Với vị từ theo 2 biến </a:t>
            </a:r>
            <a:endParaRPr lang="en-US" dirty="0">
              <a:solidFill>
                <a:srgbClr val="FF0000"/>
              </a:solidFill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vi-VN" dirty="0">
              <a:solidFill>
                <a:srgbClr val="FF0000"/>
              </a:solidFill>
              <a:sym typeface="Symbo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Vị</a:t>
            </a:r>
            <a:r>
              <a:rPr lang="en-US" sz="4800" b="1" dirty="0"/>
              <a:t> </a:t>
            </a:r>
            <a:r>
              <a:rPr lang="en-US" sz="4800" b="1" dirty="0" err="1"/>
              <a:t>từ</a:t>
            </a:r>
            <a:r>
              <a:rPr lang="en-US" sz="4800" b="1" dirty="0"/>
              <a:t> - </a:t>
            </a:r>
            <a:r>
              <a:rPr lang="en-US" sz="4800" b="1" dirty="0" err="1"/>
              <a:t>Lượng</a:t>
            </a:r>
            <a:r>
              <a:rPr lang="en-US" sz="4800" b="1" dirty="0"/>
              <a:t> </a:t>
            </a:r>
            <a:r>
              <a:rPr lang="en-US" sz="4800" b="1" dirty="0" err="1"/>
              <a:t>từ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66</a:t>
            </a:fld>
            <a:endParaRPr lang="en-US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454275" y="2119313"/>
          <a:ext cx="42338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051080" imgH="533160" progId="Equation.DSMT4">
                  <p:embed/>
                </p:oleObj>
              </mc:Choice>
              <mc:Fallback>
                <p:oleObj name="Equation" r:id="rId3" imgW="4051080" imgH="533160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4275" y="2119313"/>
                        <a:ext cx="4233863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2454275" y="2684463"/>
          <a:ext cx="42338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051080" imgH="533160" progId="Equation.DSMT4">
                  <p:embed/>
                </p:oleObj>
              </mc:Choice>
              <mc:Fallback>
                <p:oleObj name="Equation" r:id="rId5" imgW="4051080" imgH="533160" progId="Equation.DSMT4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4275" y="2684463"/>
                        <a:ext cx="4233863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1111250" y="3627438"/>
          <a:ext cx="75374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213320" imgH="533160" progId="Equation.DSMT4">
                  <p:embed/>
                </p:oleObj>
              </mc:Choice>
              <mc:Fallback>
                <p:oleObj name="Equation" r:id="rId7" imgW="7213320" imgH="533160" progId="Equation.DSMT4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1250" y="3627438"/>
                        <a:ext cx="753745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1144588" y="4314825"/>
          <a:ext cx="753903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213320" imgH="533160" progId="Equation.DSMT4">
                  <p:embed/>
                </p:oleObj>
              </mc:Choice>
              <mc:Fallback>
                <p:oleObj name="Equation" r:id="rId9" imgW="7213320" imgH="533160" progId="Equation.DSMT4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4588" y="4314825"/>
                        <a:ext cx="7539037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1190625" y="4926013"/>
          <a:ext cx="75390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213320" imgH="533160" progId="Equation.DSMT4">
                  <p:embed/>
                </p:oleObj>
              </mc:Choice>
              <mc:Fallback>
                <p:oleObj name="Equation" r:id="rId11" imgW="7213320" imgH="533160" progId="Equation.DSMT4">
                  <p:embed/>
                  <p:pic>
                    <p:nvPicPr>
                      <p:cNvPr id="1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0625" y="4926013"/>
                        <a:ext cx="7539038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1204913" y="5473700"/>
          <a:ext cx="753903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7213320" imgH="533160" progId="Equation.DSMT4">
                  <p:embed/>
                </p:oleObj>
              </mc:Choice>
              <mc:Fallback>
                <p:oleObj name="Equation" r:id="rId13" imgW="7213320" imgH="533160" progId="Equation.DSMT4">
                  <p:embed/>
                  <p:pic>
                    <p:nvPicPr>
                      <p:cNvPr id="1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4913" y="5473700"/>
                        <a:ext cx="7539037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81534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olidFill>
                  <a:srgbClr val="FF0000"/>
                </a:solidFill>
                <a:sym typeface="Symbol"/>
              </a:rPr>
              <a:t>Ví dụ </a:t>
            </a:r>
            <a:r>
              <a:rPr lang="vi-VN" dirty="0">
                <a:sym typeface="Symbol"/>
              </a:rPr>
              <a:t>phủ định các mệnh đề sau</a:t>
            </a: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>
                <a:sym typeface="Symbol"/>
              </a:rPr>
              <a:t>-</a:t>
            </a:r>
            <a:r>
              <a:rPr lang="vi-VN" dirty="0">
                <a:sym typeface="Symbol"/>
              </a:rPr>
              <a:t> “x  A, 2x + 1  0”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dirty="0">
                <a:sym typeface="Symbol"/>
              </a:rPr>
              <a:t>- </a:t>
            </a:r>
            <a:r>
              <a:rPr lang="vi-VN" dirty="0">
                <a:sym typeface="Symbol"/>
              </a:rPr>
              <a:t>“&gt;0,  &gt; 0</a:t>
            </a:r>
            <a:r>
              <a:rPr lang="en-US" dirty="0">
                <a:sym typeface="Symbol"/>
              </a:rPr>
              <a:t>:(</a:t>
            </a:r>
            <a:r>
              <a:rPr lang="vi-VN" dirty="0">
                <a:sym typeface="Symbol"/>
              </a:rPr>
              <a:t>xR</a:t>
            </a:r>
            <a:r>
              <a:rPr lang="en-US" dirty="0">
                <a:sym typeface="Symbol"/>
              </a:rPr>
              <a:t>:</a:t>
            </a:r>
            <a:r>
              <a:rPr lang="vi-VN" dirty="0">
                <a:sym typeface="Symbol"/>
              </a:rPr>
              <a:t> x – a&lt;</a:t>
            </a:r>
            <a:r>
              <a:rPr lang="en-US" dirty="0">
                <a:sym typeface="Symbol"/>
              </a:rPr>
              <a:t> </a:t>
            </a:r>
            <a:r>
              <a:rPr lang="vi-VN" dirty="0">
                <a:sym typeface="Symbol"/>
              </a:rPr>
              <a:t> f(x)</a:t>
            </a:r>
            <a:r>
              <a:rPr lang="en-US" dirty="0">
                <a:sym typeface="Symbol"/>
              </a:rPr>
              <a:t> </a:t>
            </a:r>
            <a:r>
              <a:rPr lang="vi-VN" dirty="0">
                <a:sym typeface="Symbol"/>
              </a:rPr>
              <a:t>–</a:t>
            </a:r>
            <a:r>
              <a:rPr lang="en-US" dirty="0">
                <a:sym typeface="Symbol"/>
              </a:rPr>
              <a:t> </a:t>
            </a:r>
            <a:r>
              <a:rPr lang="vi-VN" dirty="0">
                <a:sym typeface="Symbol"/>
              </a:rPr>
              <a:t>f(a)&lt;</a:t>
            </a:r>
            <a:r>
              <a:rPr lang="en-US" dirty="0">
                <a:sym typeface="Symbol"/>
              </a:rPr>
              <a:t>)</a:t>
            </a:r>
            <a:r>
              <a:rPr lang="vi-VN" dirty="0">
                <a:sym typeface="Symbo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Vị</a:t>
            </a:r>
            <a:r>
              <a:rPr lang="en-US" sz="4800" b="1" dirty="0"/>
              <a:t> </a:t>
            </a:r>
            <a:r>
              <a:rPr lang="en-US" sz="4800" b="1" dirty="0" err="1"/>
              <a:t>từ</a:t>
            </a:r>
            <a:r>
              <a:rPr lang="en-US" sz="4800" b="1" dirty="0"/>
              <a:t> - </a:t>
            </a:r>
            <a:r>
              <a:rPr lang="en-US" sz="4800" b="1" dirty="0" err="1"/>
              <a:t>Lượng</a:t>
            </a:r>
            <a:r>
              <a:rPr lang="en-US" sz="4800" b="1" dirty="0"/>
              <a:t> </a:t>
            </a:r>
            <a:r>
              <a:rPr lang="en-US" sz="4800" b="1" dirty="0" err="1"/>
              <a:t>từ</a:t>
            </a:r>
            <a:endParaRPr lang="en-US" sz="4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67</a:t>
            </a:fld>
            <a:endParaRPr lang="en-US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533400"/>
            <a:ext cx="830109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297E6-807E-3BEC-CECC-F8EB54923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 </a:t>
            </a:r>
            <a:r>
              <a:rPr lang="en-US" dirty="0" err="1"/>
              <a:t>tắc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phổ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6088E4-0825-F123-6ECB-331DFBC85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69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CC5F67-1237-0C0A-B4C1-D09658016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40" y="1905000"/>
            <a:ext cx="9144000" cy="371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40920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8305800" cy="4530725"/>
          </a:xfrm>
        </p:spPr>
        <p:txBody>
          <a:bodyPr/>
          <a:lstStyle/>
          <a:p>
            <a:pPr>
              <a:buNone/>
            </a:pPr>
            <a:r>
              <a:rPr lang="en-US" dirty="0">
                <a:latin typeface="+mj-lt"/>
                <a:sym typeface="Symbol" panose="05050102010706020507" pitchFamily="18" charset="2"/>
              </a:rPr>
              <a:t>Cho n</a:t>
            </a:r>
            <a:r>
              <a:rPr lang="en-US" baseline="-25000" dirty="0">
                <a:latin typeface="+mj-lt"/>
                <a:sym typeface="Symbol" panose="05050102010706020507" pitchFamily="18" charset="2"/>
              </a:rPr>
              <a:t>0</a:t>
            </a:r>
            <a:r>
              <a:rPr lang="en-US" dirty="0">
                <a:latin typeface="+mj-lt"/>
                <a:sym typeface="Symbol" panose="05050102010706020507" pitchFamily="18" charset="2"/>
              </a:rPr>
              <a:t>N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và</a:t>
            </a:r>
            <a:r>
              <a:rPr lang="en-US" dirty="0">
                <a:latin typeface="+mj-lt"/>
                <a:sym typeface="Symbol" panose="05050102010706020507" pitchFamily="18" charset="2"/>
              </a:rPr>
              <a:t> p(n)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là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một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vị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từ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theo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biến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tự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nhiên</a:t>
            </a:r>
            <a:r>
              <a:rPr lang="en-US" dirty="0">
                <a:latin typeface="+mj-lt"/>
                <a:sym typeface="Symbol" panose="05050102010706020507" pitchFamily="18" charset="2"/>
              </a:rPr>
              <a:t> n  n</a:t>
            </a:r>
            <a:r>
              <a:rPr lang="en-US" baseline="-25000" dirty="0">
                <a:latin typeface="+mj-lt"/>
                <a:sym typeface="Symbol" panose="05050102010706020507" pitchFamily="18" charset="2"/>
              </a:rPr>
              <a:t>0</a:t>
            </a:r>
            <a:r>
              <a:rPr lang="en-US" dirty="0">
                <a:latin typeface="+mj-lt"/>
                <a:sym typeface="Symbol" panose="05050102010706020507" pitchFamily="18" charset="2"/>
              </a:rPr>
              <a:t>.</a:t>
            </a:r>
          </a:p>
          <a:p>
            <a:pPr>
              <a:buNone/>
            </a:pPr>
            <a:r>
              <a:rPr lang="en-US" dirty="0" err="1">
                <a:latin typeface="+mj-lt"/>
                <a:sym typeface="Symbol" panose="05050102010706020507" pitchFamily="18" charset="2"/>
              </a:rPr>
              <a:t>Để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chứng</a:t>
            </a:r>
            <a:r>
              <a:rPr lang="en-US" dirty="0">
                <a:latin typeface="+mj-lt"/>
                <a:sym typeface="Symbol" panose="05050102010706020507" pitchFamily="18" charset="2"/>
              </a:rPr>
              <a:t> minh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tính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đúng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đắn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của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mệnh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đề</a:t>
            </a:r>
            <a:r>
              <a:rPr lang="en-US" dirty="0">
                <a:latin typeface="+mj-lt"/>
                <a:sym typeface="Symbol" panose="05050102010706020507" pitchFamily="18" charset="2"/>
              </a:rPr>
              <a:t>:</a:t>
            </a:r>
          </a:p>
          <a:p>
            <a:pPr>
              <a:buNone/>
            </a:pPr>
            <a:r>
              <a:rPr lang="en-US" dirty="0">
                <a:latin typeface="+mj-lt"/>
                <a:sym typeface="Symbol" panose="05050102010706020507" pitchFamily="18" charset="2"/>
              </a:rPr>
              <a:t>				n  n</a:t>
            </a:r>
            <a:r>
              <a:rPr lang="en-US" baseline="-25000" dirty="0">
                <a:latin typeface="+mj-lt"/>
                <a:sym typeface="Symbol" panose="05050102010706020507" pitchFamily="18" charset="2"/>
              </a:rPr>
              <a:t>0</a:t>
            </a:r>
            <a:r>
              <a:rPr lang="en-US" dirty="0">
                <a:latin typeface="+mj-lt"/>
                <a:sym typeface="Symbol" panose="05050102010706020507" pitchFamily="18" charset="2"/>
              </a:rPr>
              <a:t>, p(n)</a:t>
            </a:r>
          </a:p>
          <a:p>
            <a:pPr>
              <a:buNone/>
            </a:pPr>
            <a:r>
              <a:rPr lang="en-US" dirty="0" err="1">
                <a:latin typeface="+mj-lt"/>
                <a:sym typeface="Symbol" panose="05050102010706020507" pitchFamily="18" charset="2"/>
              </a:rPr>
              <a:t>ta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có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thể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dùng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các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dạng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nguyên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lý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quy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nạp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như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sau</a:t>
            </a:r>
            <a:r>
              <a:rPr lang="en-US" dirty="0">
                <a:latin typeface="+mj-lt"/>
                <a:sym typeface="Symbol" panose="05050102010706020507" pitchFamily="18" charset="2"/>
              </a:rPr>
              <a:t>:</a:t>
            </a:r>
          </a:p>
          <a:p>
            <a:pPr>
              <a:buNone/>
            </a:pPr>
            <a:r>
              <a:rPr lang="en-US" dirty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*</a:t>
            </a:r>
            <a:r>
              <a:rPr lang="en-US" dirty="0" err="1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Nguyên</a:t>
            </a:r>
            <a:r>
              <a:rPr lang="en-US" dirty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lý</a:t>
            </a:r>
            <a:r>
              <a:rPr lang="en-US" dirty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quy</a:t>
            </a:r>
            <a:r>
              <a:rPr lang="en-US" dirty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nạp</a:t>
            </a:r>
            <a:r>
              <a:rPr lang="en-US" dirty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yếu</a:t>
            </a:r>
            <a:r>
              <a:rPr lang="en-US" dirty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(</a:t>
            </a:r>
            <a:r>
              <a:rPr lang="en-US" dirty="0" err="1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giả</a:t>
            </a:r>
            <a:r>
              <a:rPr lang="en-US" dirty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thiết</a:t>
            </a:r>
            <a:r>
              <a:rPr lang="en-US" dirty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đúng</a:t>
            </a:r>
            <a:r>
              <a:rPr lang="en-US" dirty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với</a:t>
            </a:r>
            <a:r>
              <a:rPr lang="en-US" dirty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k)</a:t>
            </a:r>
          </a:p>
          <a:p>
            <a:pPr>
              <a:buNone/>
            </a:pPr>
            <a:r>
              <a:rPr lang="en-US" i="1" dirty="0" err="1">
                <a:latin typeface="+mj-lt"/>
                <a:sym typeface="Symbol" panose="05050102010706020507" pitchFamily="18" charset="2"/>
              </a:rPr>
              <a:t>Mô</a:t>
            </a:r>
            <a:r>
              <a:rPr lang="en-US" i="1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i="1" dirty="0" err="1">
                <a:latin typeface="+mj-lt"/>
                <a:sym typeface="Symbol" panose="05050102010706020507" pitchFamily="18" charset="2"/>
              </a:rPr>
              <a:t>hình</a:t>
            </a:r>
            <a:r>
              <a:rPr lang="en-US" i="1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i="1" dirty="0" err="1">
                <a:latin typeface="+mj-lt"/>
                <a:sym typeface="Symbol" panose="05050102010706020507" pitchFamily="18" charset="2"/>
              </a:rPr>
              <a:t>suy</a:t>
            </a:r>
            <a:r>
              <a:rPr lang="en-US" i="1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i="1" dirty="0" err="1">
                <a:latin typeface="+mj-lt"/>
                <a:sym typeface="Symbol" panose="05050102010706020507" pitchFamily="18" charset="2"/>
              </a:rPr>
              <a:t>diễn</a:t>
            </a:r>
            <a:r>
              <a:rPr lang="en-US" i="1" dirty="0">
                <a:latin typeface="+mj-lt"/>
                <a:sym typeface="Symbol" panose="05050102010706020507" pitchFamily="18" charset="2"/>
              </a:rPr>
              <a:t>:	</a:t>
            </a:r>
          </a:p>
          <a:p>
            <a:pPr marL="0" indent="165100" algn="just">
              <a:buClr>
                <a:srgbClr val="FF0000"/>
              </a:buClr>
              <a:buNone/>
            </a:pPr>
            <a:endParaRPr lang="vi-VN" dirty="0">
              <a:sym typeface="Symbo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/>
              <a:t>Qui n</a:t>
            </a:r>
            <a:r>
              <a:rPr lang="vi-VN" sz="4800" b="1" dirty="0"/>
              <a:t>ạp</a:t>
            </a:r>
            <a:endParaRPr lang="en-US" sz="4400" dirty="0"/>
          </a:p>
        </p:txBody>
      </p:sp>
      <p:graphicFrame>
        <p:nvGraphicFramePr>
          <p:cNvPr id="184322" name="Object 2"/>
          <p:cNvGraphicFramePr>
            <a:graphicFrameLocks noChangeAspect="1"/>
          </p:cNvGraphicFramePr>
          <p:nvPr/>
        </p:nvGraphicFramePr>
        <p:xfrm>
          <a:off x="3581400" y="4648200"/>
          <a:ext cx="38862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01440" imgH="368280" progId="Equation.3">
                  <p:embed/>
                </p:oleObj>
              </mc:Choice>
              <mc:Fallback>
                <p:oleObj name="Equation" r:id="rId3" imgW="901440" imgH="368280" progId="Equation.3">
                  <p:embed/>
                  <p:pic>
                    <p:nvPicPr>
                      <p:cNvPr id="18432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4648200"/>
                        <a:ext cx="388620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70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286000" y="4800600"/>
            <a:ext cx="1447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en-US" sz="2000" dirty="0">
                <a:sym typeface="Symbol"/>
              </a:rPr>
              <a:t>(</a:t>
            </a:r>
            <a:r>
              <a:rPr lang="en-US" sz="2000" dirty="0" err="1">
                <a:sym typeface="Symbol"/>
              </a:rPr>
              <a:t>cơ</a:t>
            </a:r>
            <a:r>
              <a:rPr lang="en-US" sz="2000" dirty="0">
                <a:sym typeface="Symbol"/>
              </a:rPr>
              <a:t> </a:t>
            </a:r>
            <a:r>
              <a:rPr lang="en-US" sz="2000" dirty="0" err="1">
                <a:sym typeface="Symbol"/>
              </a:rPr>
              <a:t>sở</a:t>
            </a:r>
            <a:r>
              <a:rPr lang="en-US" sz="2000" dirty="0">
                <a:sym typeface="Symbol"/>
              </a:rPr>
              <a:t>)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sz="2000" dirty="0">
                <a:sym typeface="Symbol"/>
              </a:rPr>
              <a:t>(GTQN)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8305800" cy="4530725"/>
          </a:xfrm>
        </p:spPr>
        <p:txBody>
          <a:bodyPr/>
          <a:lstStyle/>
          <a:p>
            <a:pPr>
              <a:buNone/>
            </a:pPr>
            <a:r>
              <a:rPr lang="en-US" dirty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*</a:t>
            </a:r>
            <a:r>
              <a:rPr lang="en-US" dirty="0" err="1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Nguyên</a:t>
            </a:r>
            <a:r>
              <a:rPr lang="en-US" dirty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lý</a:t>
            </a:r>
            <a:r>
              <a:rPr lang="en-US" dirty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quy</a:t>
            </a:r>
            <a:r>
              <a:rPr lang="en-US" dirty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nạp</a:t>
            </a:r>
            <a:r>
              <a:rPr lang="en-US" dirty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mạnh</a:t>
            </a:r>
            <a:r>
              <a:rPr lang="en-US" dirty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(</a:t>
            </a:r>
            <a:r>
              <a:rPr lang="en-US" dirty="0" err="1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giả</a:t>
            </a:r>
            <a:r>
              <a:rPr lang="en-US" dirty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thiết</a:t>
            </a:r>
            <a:r>
              <a:rPr lang="en-US" dirty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đúng</a:t>
            </a:r>
            <a:r>
              <a:rPr lang="en-US" dirty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đến</a:t>
            </a:r>
            <a:r>
              <a:rPr lang="en-US" dirty="0">
                <a:solidFill>
                  <a:schemeClr val="accent2"/>
                </a:solidFill>
                <a:latin typeface="+mj-lt"/>
                <a:sym typeface="Symbol" panose="05050102010706020507" pitchFamily="18" charset="2"/>
              </a:rPr>
              <a:t> k)</a:t>
            </a:r>
          </a:p>
          <a:p>
            <a:pPr>
              <a:buNone/>
            </a:pPr>
            <a:r>
              <a:rPr lang="en-US" i="1" dirty="0" err="1">
                <a:latin typeface="+mj-lt"/>
                <a:sym typeface="Symbol" panose="05050102010706020507" pitchFamily="18" charset="2"/>
              </a:rPr>
              <a:t>Mô</a:t>
            </a:r>
            <a:r>
              <a:rPr lang="en-US" i="1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i="1" dirty="0" err="1">
                <a:latin typeface="+mj-lt"/>
                <a:sym typeface="Symbol" panose="05050102010706020507" pitchFamily="18" charset="2"/>
              </a:rPr>
              <a:t>hình</a:t>
            </a:r>
            <a:r>
              <a:rPr lang="en-US" i="1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i="1" dirty="0" err="1">
                <a:latin typeface="+mj-lt"/>
                <a:sym typeface="Symbol" panose="05050102010706020507" pitchFamily="18" charset="2"/>
              </a:rPr>
              <a:t>suy</a:t>
            </a:r>
            <a:r>
              <a:rPr lang="en-US" i="1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i="1" dirty="0" err="1">
                <a:latin typeface="+mj-lt"/>
                <a:sym typeface="Symbol" panose="05050102010706020507" pitchFamily="18" charset="2"/>
              </a:rPr>
              <a:t>diễn</a:t>
            </a:r>
            <a:r>
              <a:rPr lang="en-US" i="1" dirty="0">
                <a:latin typeface="+mj-lt"/>
                <a:sym typeface="Symbol" panose="05050102010706020507" pitchFamily="18" charset="2"/>
              </a:rPr>
              <a:t>:	</a:t>
            </a: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sz="2400" dirty="0">
                <a:sym typeface="Symbol"/>
              </a:rPr>
              <a:t>(</a:t>
            </a:r>
            <a:r>
              <a:rPr lang="en-US" sz="2400" dirty="0" err="1">
                <a:sym typeface="Symbol"/>
              </a:rPr>
              <a:t>cơ</a:t>
            </a:r>
            <a:r>
              <a:rPr lang="en-US" sz="2400" dirty="0">
                <a:sym typeface="Symbol"/>
              </a:rPr>
              <a:t> </a:t>
            </a:r>
            <a:r>
              <a:rPr lang="en-US" sz="2400" dirty="0" err="1">
                <a:sym typeface="Symbol"/>
              </a:rPr>
              <a:t>sở</a:t>
            </a:r>
            <a:r>
              <a:rPr lang="en-US" sz="2400" dirty="0">
                <a:sym typeface="Symbol"/>
              </a:rPr>
              <a:t>)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en-US" sz="2400" dirty="0">
                <a:sym typeface="Symbol"/>
              </a:rPr>
              <a:t>(GTQN)</a:t>
            </a:r>
          </a:p>
          <a:p>
            <a:pPr marL="0" indent="165100" algn="just">
              <a:buClr>
                <a:srgbClr val="FF0000"/>
              </a:buClr>
              <a:buNone/>
            </a:pPr>
            <a:endParaRPr lang="vi-VN" dirty="0">
              <a:sym typeface="Symbo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/>
              <a:t>Qui n</a:t>
            </a:r>
            <a:r>
              <a:rPr lang="vi-VN" sz="4800" b="1" dirty="0"/>
              <a:t>ạp</a:t>
            </a:r>
            <a:endParaRPr lang="en-US" sz="4400" dirty="0"/>
          </a:p>
        </p:txBody>
      </p:sp>
      <p:graphicFrame>
        <p:nvGraphicFramePr>
          <p:cNvPr id="181251" name="Object 3"/>
          <p:cNvGraphicFramePr>
            <a:graphicFrameLocks noChangeAspect="1"/>
          </p:cNvGraphicFramePr>
          <p:nvPr/>
        </p:nvGraphicFramePr>
        <p:xfrm>
          <a:off x="1878239" y="3091542"/>
          <a:ext cx="7280275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88760" imgH="368280" progId="Equation.3">
                  <p:embed/>
                </p:oleObj>
              </mc:Choice>
              <mc:Fallback>
                <p:oleObj name="Equation" r:id="rId3" imgW="1688760" imgH="368280" progId="Equation.3">
                  <p:embed/>
                  <p:pic>
                    <p:nvPicPr>
                      <p:cNvPr id="18125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8239" y="3091542"/>
                        <a:ext cx="7280275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EE955-4EBF-20CC-25C3-0558B4C90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72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8DB918-6576-F94B-94CD-0B46DE3E6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6733"/>
            <a:ext cx="8305800" cy="618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27022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8229600" cy="4530725"/>
          </a:xfrm>
        </p:spPr>
        <p:txBody>
          <a:bodyPr/>
          <a:lstStyle/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olidFill>
                  <a:srgbClr val="FF0000"/>
                </a:solidFill>
                <a:sym typeface="Symbol"/>
              </a:rPr>
              <a:t>Ví dụ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vi-VN" dirty="0">
                <a:solidFill>
                  <a:srgbClr val="FF0000"/>
                </a:solidFill>
                <a:sym typeface="Symbol"/>
              </a:rPr>
              <a:t>: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Chứng minh</a:t>
            </a: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olidFill>
                  <a:srgbClr val="FF0000"/>
                </a:solidFill>
                <a:sym typeface="Symbol"/>
              </a:rPr>
              <a:t>Ví dụ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</a:t>
            </a:r>
            <a:r>
              <a:rPr lang="vi-VN" dirty="0">
                <a:solidFill>
                  <a:srgbClr val="FF0000"/>
                </a:solidFill>
                <a:sym typeface="Symbol"/>
              </a:rPr>
              <a:t>:</a:t>
            </a:r>
          </a:p>
          <a:p>
            <a:pPr marL="0" indent="165100" algn="just">
              <a:buClr>
                <a:srgbClr val="FF0000"/>
              </a:buClr>
              <a:buNone/>
            </a:pPr>
            <a:r>
              <a:rPr lang="vi-VN" dirty="0">
                <a:sym typeface="Symbol"/>
              </a:rPr>
              <a:t>Chứng minh</a:t>
            </a:r>
            <a:endParaRPr lang="en-US" dirty="0">
              <a:sym typeface="Symbol"/>
            </a:endParaRPr>
          </a:p>
          <a:p>
            <a:pPr marL="0" indent="165100" algn="just">
              <a:buClr>
                <a:srgbClr val="FF0000"/>
              </a:buClr>
              <a:buNone/>
            </a:pPr>
            <a:endParaRPr lang="en-US" dirty="0">
              <a:sym typeface="Symbo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/>
              <a:t>Qui n</a:t>
            </a:r>
            <a:r>
              <a:rPr lang="vi-VN" sz="4800" b="1" dirty="0"/>
              <a:t>ạp</a:t>
            </a:r>
            <a:endParaRPr lang="en-US" sz="4400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3261610" y="2087380"/>
          <a:ext cx="41021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102100" imgH="609600" progId="Equation.DSMT4">
                  <p:embed/>
                </p:oleObj>
              </mc:Choice>
              <mc:Fallback>
                <p:oleObj name="Equation" r:id="rId3" imgW="4102100" imgH="609600" progId="Equation.DSMT4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1610" y="2087380"/>
                        <a:ext cx="41021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73</a:t>
            </a:fld>
            <a:endParaRPr lang="en-US"/>
          </a:p>
        </p:txBody>
      </p:sp>
      <p:sp>
        <p:nvSpPr>
          <p:cNvPr id="18740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87400" name="Object 8"/>
          <p:cNvGraphicFramePr>
            <a:graphicFrameLocks noChangeAspect="1"/>
          </p:cNvGraphicFramePr>
          <p:nvPr/>
        </p:nvGraphicFramePr>
        <p:xfrm>
          <a:off x="3429000" y="4114800"/>
          <a:ext cx="4137102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11300" imgH="393700" progId="Equation.DSMT4">
                  <p:embed/>
                </p:oleObj>
              </mc:Choice>
              <mc:Fallback>
                <p:oleObj name="Equation" r:id="rId5" imgW="1511300" imgH="393700" progId="Equation.DSMT4">
                  <p:embed/>
                  <p:pic>
                    <p:nvPicPr>
                      <p:cNvPr id="18740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114800"/>
                        <a:ext cx="4137102" cy="106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7218180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E56B6-077A-4A36-A778-66B152E4D643}" type="slidenum">
              <a:rPr lang="en-US" smtClean="0"/>
              <a:pPr/>
              <a:t>74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044F1E-5E9B-F0E5-1E63-5FF8C3A4D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43504"/>
            <a:ext cx="8077200" cy="2469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394334"/>
      </p:ext>
    </p:extLst>
  </p:cSld>
  <p:clrMapOvr>
    <a:masterClrMapping/>
  </p:clrMapOvr>
</p:sld>
</file>

<file path=ppt/theme/theme1.xml><?xml version="1.0" encoding="utf-8"?>
<a:theme xmlns:a="http://schemas.openxmlformats.org/drawingml/2006/main" name="Layers">
  <a:themeElements>
    <a:clrScheme name="Office Theme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Office Theme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Theme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Layers</Template>
  <TotalTime>7362</TotalTime>
  <Words>4369</Words>
  <Application>Microsoft Office PowerPoint</Application>
  <PresentationFormat>On-screen Show (4:3)</PresentationFormat>
  <Paragraphs>578</Paragraphs>
  <Slides>74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82" baseType="lpstr">
      <vt:lpstr>Arial</vt:lpstr>
      <vt:lpstr>Calibri</vt:lpstr>
      <vt:lpstr>Google Sans</vt:lpstr>
      <vt:lpstr>Symbol</vt:lpstr>
      <vt:lpstr>Times New Roman</vt:lpstr>
      <vt:lpstr>Wingdings</vt:lpstr>
      <vt:lpstr>Layers</vt:lpstr>
      <vt:lpstr>Equation</vt:lpstr>
      <vt:lpstr>CẤU TRÚC RỜI RẠC</vt:lpstr>
      <vt:lpstr>CHƯƠNG I: CƠ SỞ LÔGIC</vt:lpstr>
      <vt:lpstr>1. Mệnh đề</vt:lpstr>
      <vt:lpstr>Mệnh đề</vt:lpstr>
      <vt:lpstr>Mệnh đề</vt:lpstr>
      <vt:lpstr>Mệnh đề</vt:lpstr>
      <vt:lpstr>Mệnh đề</vt:lpstr>
      <vt:lpstr>Mệnh đề</vt:lpstr>
      <vt:lpstr>Mệnh đề</vt:lpstr>
      <vt:lpstr>Mệnh đề</vt:lpstr>
      <vt:lpstr>Mệnh đề</vt:lpstr>
      <vt:lpstr>2. Biểu thức logic (Dạng mệnh đề)</vt:lpstr>
      <vt:lpstr>Biểu thức logic</vt:lpstr>
      <vt:lpstr>Biểu thức logic</vt:lpstr>
      <vt:lpstr>Biểu thức logic</vt:lpstr>
      <vt:lpstr>Bài tập 1: Cho các mệnh đề tham biến P: x&lt;0 và Q: y&gt;0. Hoàn thành bảng chân trị dưới đây:</vt:lpstr>
      <vt:lpstr>Bài tập 2: Viết biểu thức logic mệnh đề cho các mô tả dưới đây:</vt:lpstr>
      <vt:lpstr>Bài tập 3: Hàm eq(X,Y) trả về 1 khi giá trị của X và Y là như nhau, trả về 0 trong các trường hợp còn lại. Biểu thức nào dưới đây là điều kiện cần và đủ để nhận về 1 khi hàm eq(eq(A,B), eq(B,C)) được gọi?</vt:lpstr>
      <vt:lpstr>Biểu thức logic</vt:lpstr>
      <vt:lpstr>Biểu thức logic</vt:lpstr>
      <vt:lpstr>Các luật logic</vt:lpstr>
      <vt:lpstr>Các luật logic</vt:lpstr>
      <vt:lpstr>Các luật logic</vt:lpstr>
      <vt:lpstr>Các luật logic</vt:lpstr>
      <vt:lpstr>Các luật logic</vt:lpstr>
      <vt:lpstr>Bài tập 4: Tìm sơ đồ khối tương đương</vt:lpstr>
      <vt:lpstr>Bài tập 5: Tìm bảng chân trị của biểu thức Z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Qui tắc suy diễn</vt:lpstr>
      <vt:lpstr>Qui tắc suy diễn</vt:lpstr>
      <vt:lpstr>PowerPoint Presentation</vt:lpstr>
      <vt:lpstr>Qui tắc suy diễn </vt:lpstr>
      <vt:lpstr>PowerPoint Presentation</vt:lpstr>
      <vt:lpstr>Qui tắc suy diễn</vt:lpstr>
      <vt:lpstr>PowerPoint Presentation</vt:lpstr>
      <vt:lpstr>Qui tắc suy diễn</vt:lpstr>
      <vt:lpstr>PowerPoint Presentation</vt:lpstr>
      <vt:lpstr>Qui tắc suy diễn Disjunctive Syllogism – Tam đoạn luận rời</vt:lpstr>
      <vt:lpstr>PowerPoint Presentation</vt:lpstr>
      <vt:lpstr>Qui tắc suy diễn</vt:lpstr>
      <vt:lpstr>PowerPoint Presentation</vt:lpstr>
      <vt:lpstr>Qui tắc suy diễn</vt:lpstr>
      <vt:lpstr>Qui tắc suy diễn</vt:lpstr>
      <vt:lpstr>PowerPoint Presentation</vt:lpstr>
      <vt:lpstr>Qui tắc suy diễn</vt:lpstr>
      <vt:lpstr>Qui tắc suy diễn</vt:lpstr>
      <vt:lpstr>Qui tắc suy diễn</vt:lpstr>
      <vt:lpstr>Qui tắc suy diễn</vt:lpstr>
      <vt:lpstr>Qui tắc  suy diễn</vt:lpstr>
      <vt:lpstr>Giải</vt:lpstr>
      <vt:lpstr>Logic vị từ</vt:lpstr>
      <vt:lpstr>Vị từ - Lượng từ</vt:lpstr>
      <vt:lpstr>Vị từ - Lượng từ</vt:lpstr>
      <vt:lpstr>Vị từ - Lượng từ</vt:lpstr>
      <vt:lpstr>PowerPoint Presentation</vt:lpstr>
      <vt:lpstr>Vị từ - Lượng từ</vt:lpstr>
      <vt:lpstr>Vị từ - Lượng từ</vt:lpstr>
      <vt:lpstr>PowerPoint Presentation</vt:lpstr>
      <vt:lpstr>PowerPoint Presentation</vt:lpstr>
      <vt:lpstr>Vị từ - Lượng từ</vt:lpstr>
      <vt:lpstr>Vị từ - Lượng từ</vt:lpstr>
      <vt:lpstr>Vị từ - Lượng từ</vt:lpstr>
      <vt:lpstr>PowerPoint Presentation</vt:lpstr>
      <vt:lpstr>Qui tắc đặc biệt hóa phổ dụng: </vt:lpstr>
      <vt:lpstr>Qui nạp</vt:lpstr>
      <vt:lpstr>Qui nạp</vt:lpstr>
      <vt:lpstr>PowerPoint Presentation</vt:lpstr>
      <vt:lpstr>Qui nạp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Cấu trúc rời rạc</dc:title>
  <dc:creator>MOP</dc:creator>
  <cp:lastModifiedBy>Trang Nguyen Thuy</cp:lastModifiedBy>
  <cp:revision>289</cp:revision>
  <cp:lastPrinted>1601-01-01T00:00:00Z</cp:lastPrinted>
  <dcterms:created xsi:type="dcterms:W3CDTF">2011-10-02T12:41:29Z</dcterms:created>
  <dcterms:modified xsi:type="dcterms:W3CDTF">2024-09-13T10:20:22Z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TC102037551033</vt:lpwstr>
  </property>
</Properties>
</file>