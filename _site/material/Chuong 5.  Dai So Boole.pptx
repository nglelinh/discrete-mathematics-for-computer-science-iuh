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7" r:id="rId1"/>
  </p:sldMasterIdLst>
  <p:notesMasterIdLst>
    <p:notesMasterId r:id="rId47"/>
  </p:notesMasterIdLst>
  <p:sldIdLst>
    <p:sldId id="554" r:id="rId2"/>
    <p:sldId id="380" r:id="rId3"/>
    <p:sldId id="392" r:id="rId4"/>
    <p:sldId id="393" r:id="rId5"/>
    <p:sldId id="394" r:id="rId6"/>
    <p:sldId id="396" r:id="rId7"/>
    <p:sldId id="397" r:id="rId8"/>
    <p:sldId id="567" r:id="rId9"/>
    <p:sldId id="400" r:id="rId10"/>
    <p:sldId id="566" r:id="rId11"/>
    <p:sldId id="401" r:id="rId12"/>
    <p:sldId id="569" r:id="rId13"/>
    <p:sldId id="403" r:id="rId14"/>
    <p:sldId id="573" r:id="rId15"/>
    <p:sldId id="574" r:id="rId16"/>
    <p:sldId id="404" r:id="rId17"/>
    <p:sldId id="406" r:id="rId18"/>
    <p:sldId id="513" r:id="rId19"/>
    <p:sldId id="414" r:id="rId20"/>
    <p:sldId id="504" r:id="rId21"/>
    <p:sldId id="505" r:id="rId22"/>
    <p:sldId id="417" r:id="rId23"/>
    <p:sldId id="418" r:id="rId24"/>
    <p:sldId id="419" r:id="rId25"/>
    <p:sldId id="570" r:id="rId26"/>
    <p:sldId id="571" r:id="rId27"/>
    <p:sldId id="420" r:id="rId28"/>
    <p:sldId id="514" r:id="rId29"/>
    <p:sldId id="515" r:id="rId30"/>
    <p:sldId id="517" r:id="rId31"/>
    <p:sldId id="572" r:id="rId32"/>
    <p:sldId id="578" r:id="rId33"/>
    <p:sldId id="519" r:id="rId34"/>
    <p:sldId id="518" r:id="rId35"/>
    <p:sldId id="520" r:id="rId36"/>
    <p:sldId id="521" r:id="rId37"/>
    <p:sldId id="522" r:id="rId38"/>
    <p:sldId id="575" r:id="rId39"/>
    <p:sldId id="577" r:id="rId40"/>
    <p:sldId id="444" r:id="rId41"/>
    <p:sldId id="523" r:id="rId42"/>
    <p:sldId id="524" r:id="rId43"/>
    <p:sldId id="525" r:id="rId44"/>
    <p:sldId id="526" r:id="rId45"/>
    <p:sldId id="576" r:id="rId4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uy tan" initials="dt" lastIdx="1" clrIdx="0">
    <p:extLst>
      <p:ext uri="{19B8F6BF-5375-455C-9EA6-DF929625EA0E}">
        <p15:presenceInfo xmlns:p15="http://schemas.microsoft.com/office/powerpoint/2012/main" userId="10f0cccea2fc0f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33"/>
    <a:srgbClr val="FF7C80"/>
    <a:srgbClr val="FF0000"/>
    <a:srgbClr val="FF9900"/>
    <a:srgbClr val="FFCC00"/>
    <a:srgbClr val="0099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3" autoAdjust="0"/>
    <p:restoredTop sz="87111" autoAdjust="0"/>
  </p:normalViewPr>
  <p:slideViewPr>
    <p:cSldViewPr>
      <p:cViewPr varScale="1">
        <p:scale>
          <a:sx n="76" d="100"/>
          <a:sy n="76" d="100"/>
        </p:scale>
        <p:origin x="173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93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93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93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7B7CC94-87B7-48A0-85C1-954A44E705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01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B7CC94-87B7-48A0-85C1-954A44E705D1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805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56B5EE7-843A-41BC-8BE4-7A4ECC3B88D7}" type="slidenum">
              <a:rPr lang="en-US" smtClean="0">
                <a:latin typeface="Arial" panose="020B0604020202020204" pitchFamily="34" charset="0"/>
              </a:rPr>
              <a:pPr/>
              <a:t>2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188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A7E5A44-599E-4A4E-8AAB-C0D4EB5F1C94}" type="slidenum">
              <a:rPr lang="en-US" smtClean="0">
                <a:latin typeface="Arial" panose="020B0604020202020204" pitchFamily="34" charset="0"/>
              </a:rPr>
              <a:pPr/>
              <a:t>3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681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2276005-FA6B-471C-B087-55BA618BBCBA}" type="slidenum">
              <a:rPr lang="en-US" smtClean="0">
                <a:latin typeface="Arial" panose="020B0604020202020204" pitchFamily="34" charset="0"/>
              </a:rPr>
              <a:pPr/>
              <a:t>4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830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FFDBCAB-A29C-4216-9BF9-1A6D2A3281A6}" type="slidenum">
              <a:rPr lang="en-US" smtClean="0">
                <a:latin typeface="Arial" panose="020B0604020202020204" pitchFamily="34" charset="0"/>
              </a:rPr>
              <a:pPr/>
              <a:t>5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7725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DFCD2A2-E5BA-4399-9AB2-5F198684B665}" type="slidenum">
              <a:rPr lang="en-US" smtClean="0">
                <a:latin typeface="Arial" panose="020B0604020202020204" pitchFamily="34" charset="0"/>
              </a:rPr>
              <a:pPr/>
              <a:t>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130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5B4618E-001C-4D98-9A7F-3B0EFA00AC7B}" type="slidenum">
              <a:rPr lang="en-US" smtClean="0">
                <a:latin typeface="Arial" panose="020B0604020202020204" pitchFamily="34" charset="0"/>
              </a:rPr>
              <a:pPr/>
              <a:t>7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8703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E0D6411-AD47-4658-AF4E-A360BAAA382E}" type="slidenum">
              <a:rPr lang="en-US" smtClean="0">
                <a:latin typeface="Arial" panose="020B0604020202020204" pitchFamily="34" charset="0"/>
              </a:rPr>
              <a:pPr/>
              <a:t>9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7604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D412D47-C849-4EA0-BF4E-9609754AC227}" type="slidenum">
              <a:rPr lang="en-US" smtClean="0">
                <a:latin typeface="Arial" panose="020B0604020202020204" pitchFamily="34" charset="0"/>
              </a:rPr>
              <a:pPr/>
              <a:t>11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9443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34D09-3BC7-8C8B-2C8A-ED87F3929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A758BBB1-980D-DC61-F207-CAE3BEEC06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D412D47-C849-4EA0-BF4E-9609754AC227}" type="slidenum">
              <a:rPr lang="en-US" smtClean="0">
                <a:latin typeface="Arial" panose="020B0604020202020204" pitchFamily="34" charset="0"/>
              </a:rPr>
              <a:pPr/>
              <a:t>12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06C99377-0F9F-A95E-6C86-C147EB3AA2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3E2BA2B9-F6B6-FBD6-C28F-BE42F05A5A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9251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70BB538-3A1E-4090-B284-F0498C7419D5}" type="slidenum">
              <a:rPr lang="en-US" smtClean="0">
                <a:latin typeface="Arial" panose="020B0604020202020204" pitchFamily="34" charset="0"/>
              </a:rPr>
              <a:pPr/>
              <a:t>13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3278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0151185-F93F-4729-A5E5-F1B1A280AEB8}" type="slidenum">
              <a:rPr lang="en-US" smtClean="0">
                <a:latin typeface="Arial" panose="020B0604020202020204" pitchFamily="34" charset="0"/>
              </a:rPr>
              <a:pPr/>
              <a:t>16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047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5F0ED3F-D17C-4D1B-A394-ABB6D63BF661}" type="slidenum">
              <a:rPr lang="en-US" smtClean="0">
                <a:latin typeface="Arial" panose="020B0604020202020204" pitchFamily="34" charset="0"/>
              </a:rPr>
              <a:pPr/>
              <a:t>17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8620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7FF6BFA-4856-4E65-8944-EA763FC1DDAC}" type="slidenum">
              <a:rPr lang="en-US" smtClean="0">
                <a:latin typeface="Arial" panose="020B0604020202020204" pitchFamily="34" charset="0"/>
              </a:rPr>
              <a:pPr/>
              <a:t>18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1810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33CB3AB-8A51-47A4-BAA6-74E042BD413F}" type="slidenum">
              <a:rPr lang="en-US" smtClean="0">
                <a:latin typeface="Arial" panose="020B0604020202020204" pitchFamily="34" charset="0"/>
              </a:rPr>
              <a:pPr/>
              <a:t>19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6983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B7CC94-87B7-48A0-85C1-954A44E705D1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328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AAED97B-4C08-411A-A9A7-6530DC58649B}" type="slidenum">
              <a:rPr lang="en-US" smtClean="0">
                <a:latin typeface="Arial" panose="020B0604020202020204" pitchFamily="34" charset="0"/>
              </a:rPr>
              <a:pPr/>
              <a:t>22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9352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3542A1B-690E-4E0C-B21E-BFBBCDD3342E}" type="slidenum">
              <a:rPr lang="en-US" smtClean="0">
                <a:latin typeface="Arial" panose="020B0604020202020204" pitchFamily="34" charset="0"/>
              </a:rPr>
              <a:pPr/>
              <a:t>23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2926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139A727-26EA-4648-B566-0F90AFECFCBF}" type="slidenum">
              <a:rPr lang="en-US" smtClean="0">
                <a:latin typeface="Arial" panose="020B0604020202020204" pitchFamily="34" charset="0"/>
              </a:rPr>
              <a:pPr/>
              <a:t>24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7143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F5683D0-6356-41A2-B7C6-3B9EF8588803}" type="slidenum">
              <a:rPr lang="en-US" smtClean="0">
                <a:latin typeface="Arial" panose="020B0604020202020204" pitchFamily="34" charset="0"/>
              </a:rPr>
              <a:pPr/>
              <a:t>27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2426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0DE8CCD-AD46-485A-81C7-217ED16AEEE9}" type="slidenum">
              <a:rPr lang="en-US" smtClean="0">
                <a:latin typeface="Arial" panose="020B0604020202020204" pitchFamily="34" charset="0"/>
              </a:rPr>
              <a:pPr/>
              <a:t>28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59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480296F-42CD-40F1-BF1F-255B5728E4AE}" type="slidenum">
              <a:rPr lang="en-US" smtClean="0">
                <a:latin typeface="Arial" panose="020B0604020202020204" pitchFamily="34" charset="0"/>
              </a:rPr>
              <a:pPr/>
              <a:t>29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0549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9086071-A78D-407C-B4EF-4842831A3E75}" type="slidenum">
              <a:rPr lang="en-US" smtClean="0">
                <a:latin typeface="Arial" panose="020B0604020202020204" pitchFamily="34" charset="0"/>
              </a:rPr>
              <a:pPr/>
              <a:t>30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0041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1F8C6-42D7-8688-C575-17D31256A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D6E55515-F6E9-B22C-0BAA-E535504364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42DEFB8-4D21-4EDD-9013-F36630A15C76}" type="slidenum">
              <a:rPr lang="en-US" smtClean="0">
                <a:latin typeface="Arial" panose="020B0604020202020204" pitchFamily="34" charset="0"/>
              </a:rPr>
              <a:pPr/>
              <a:t>31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744CEC5D-1926-12DE-DDEA-4A38991387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39D9D1E3-33F1-D108-20F8-EB4C8F1473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7198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7A74B-BA14-3095-BC2E-9E5AF7688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6E1306F4-6C2F-D986-1A5F-BADD10C5B2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42DEFB8-4D21-4EDD-9013-F36630A15C76}" type="slidenum">
              <a:rPr lang="en-US" smtClean="0">
                <a:latin typeface="Arial" panose="020B0604020202020204" pitchFamily="34" charset="0"/>
              </a:rPr>
              <a:pPr/>
              <a:t>32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1D48CF5D-B47C-B1D7-DBB6-0D8A5E737B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51C9E402-BBF5-250C-47D0-1770FD01BF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0620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397F076-71EA-4EDA-89A0-13807793C264}" type="slidenum">
              <a:rPr lang="en-US" smtClean="0">
                <a:latin typeface="Arial" panose="020B0604020202020204" pitchFamily="34" charset="0"/>
              </a:rPr>
              <a:pPr/>
              <a:t>33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335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42DEFB8-4D21-4EDD-9013-F36630A15C76}" type="slidenum">
              <a:rPr lang="en-US" smtClean="0">
                <a:latin typeface="Arial" panose="020B0604020202020204" pitchFamily="34" charset="0"/>
              </a:rPr>
              <a:pPr/>
              <a:t>34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3729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3C4AF94-006E-4A9C-9DE7-97D4C7E43320}" type="slidenum">
              <a:rPr lang="en-US" smtClean="0">
                <a:latin typeface="Arial" panose="020B0604020202020204" pitchFamily="34" charset="0"/>
              </a:rPr>
              <a:pPr/>
              <a:t>35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169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4526163-CA51-4A85-B9B0-BF2E8AF43849}" type="slidenum">
              <a:rPr lang="en-US" smtClean="0">
                <a:latin typeface="Arial" panose="020B0604020202020204" pitchFamily="34" charset="0"/>
              </a:rPr>
              <a:pPr/>
              <a:t>36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135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5C3E52F-A672-4A19-90C5-81A71C22BE38}" type="slidenum">
              <a:rPr lang="en-US" smtClean="0">
                <a:latin typeface="Arial" panose="020B0604020202020204" pitchFamily="34" charset="0"/>
              </a:rPr>
              <a:pPr/>
              <a:t>37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46604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A63E1CF-89AA-4121-AD6F-9259CEA7CEB9}" type="slidenum">
              <a:rPr lang="en-US" smtClean="0">
                <a:latin typeface="Arial" panose="020B0604020202020204" pitchFamily="34" charset="0"/>
              </a:rPr>
              <a:pPr/>
              <a:t>40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5073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BA704F3-135A-4340-901A-070C23D21659}" type="slidenum">
              <a:rPr lang="en-US" smtClean="0">
                <a:latin typeface="Arial" panose="020B0604020202020204" pitchFamily="34" charset="0"/>
              </a:rPr>
              <a:pPr/>
              <a:t>41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576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D67F124-26BC-4B11-B1C7-764BA8504791}" type="slidenum">
              <a:rPr lang="en-US" smtClean="0">
                <a:latin typeface="Arial" panose="020B0604020202020204" pitchFamily="34" charset="0"/>
              </a:rPr>
              <a:pPr/>
              <a:t>42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30469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AD122D0-BB08-44A3-9A2A-7374FE649493}" type="slidenum">
              <a:rPr lang="en-US" smtClean="0">
                <a:latin typeface="Arial" panose="020B0604020202020204" pitchFamily="34" charset="0"/>
              </a:rPr>
              <a:pPr/>
              <a:t>43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7444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ECD19ED-877E-4E56-B7B3-E7F25B6EFFD7}" type="slidenum">
              <a:rPr lang="en-US" smtClean="0">
                <a:latin typeface="Arial" panose="020B0604020202020204" pitchFamily="34" charset="0"/>
              </a:rPr>
              <a:pPr/>
              <a:t>44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522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76EB8B-100A-4103-9587-233B38A2C2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838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76EB8B-100A-4103-9587-233B38A2C2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142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76EB8B-100A-4103-9587-233B38A2C2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28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76EB8B-100A-4103-9587-233B38A2C2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311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76EB8B-100A-4103-9587-233B38A2C2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949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76EB8B-100A-4103-9587-233B38A2C2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249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76EB8B-100A-4103-9587-233B38A2C2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054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76EB8B-100A-4103-9587-233B38A2C2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929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76EB8B-100A-4103-9587-233B38A2C2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55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76EB8B-100A-4103-9587-233B38A2C2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60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76EB8B-100A-4103-9587-233B38A2C2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99885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76EB8B-100A-4103-9587-233B38A2C2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328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76EB8B-100A-4103-9587-233B38A2C2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599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76EB8B-100A-4103-9587-233B38A2C2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849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76EB8B-100A-4103-9587-233B38A2C2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645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76EB8B-100A-4103-9587-233B38A2C2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23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4476EB8B-100A-4103-9587-233B38A2C2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197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  <p:sldLayoutId id="2147483791" r:id="rId14"/>
    <p:sldLayoutId id="2147483792" r:id="rId15"/>
    <p:sldLayoutId id="2147483793" r:id="rId16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0.png"/><Relationship Id="rId4" Type="http://schemas.openxmlformats.org/officeDocument/2006/relationships/image" Target="../media/image1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-228600" y="990600"/>
            <a:ext cx="9372600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45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45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CHƯƠNG 4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0397"/>
            <a:ext cx="77724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TRƯỜNG ĐẠI HỌC CÔNG NGHIỆP TP. </a:t>
            </a:r>
            <a:r>
              <a:rPr lang="en-US" sz="2500" i="1">
                <a:latin typeface="Times New Roman" panose="02020603050405020304" pitchFamily="18" charset="0"/>
                <a:cs typeface="Times New Roman" panose="02020603050405020304" pitchFamily="18" charset="0"/>
              </a:rPr>
              <a:t>HCM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950" y="2362201"/>
            <a:ext cx="238125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484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1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7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75" fill="hold">
                                          <p:stCondLst>
                                            <p:cond delay="75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75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75" fill="hold">
                                          <p:stCondLst>
                                            <p:cond delay="225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6348413" cy="1320800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200">
                <a:solidFill>
                  <a:srgbClr val="FF0000"/>
                </a:solidFill>
              </a:rPr>
              <a:t>NỘI DUNG CHÍNH</a:t>
            </a:r>
            <a:endParaRPr lang="en-US" sz="5400">
              <a:solidFill>
                <a:srgbClr val="FF0000"/>
              </a:solidFill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295400"/>
            <a:ext cx="8458200" cy="5173134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s-ES" sz="4100"/>
              <a:t>Đại số logic </a:t>
            </a:r>
            <a:r>
              <a:rPr lang="en-US" sz="4100">
                <a:latin typeface="Script MT Bold" pitchFamily="66" charset="0"/>
              </a:rPr>
              <a:t>B</a:t>
            </a:r>
            <a:r>
              <a:rPr lang="en-US" sz="4100"/>
              <a:t> </a:t>
            </a:r>
            <a:endParaRPr lang="es-ES" sz="4100"/>
          </a:p>
          <a:p>
            <a:pPr eaLnBrk="1" hangingPunct="1"/>
            <a:r>
              <a:rPr lang="es-ES" sz="4100"/>
              <a:t>Đại số Boole </a:t>
            </a:r>
          </a:p>
          <a:p>
            <a:pPr eaLnBrk="1" hangingPunct="1"/>
            <a:r>
              <a:rPr lang="es-ES" sz="4100"/>
              <a:t>Hàm Boole</a:t>
            </a:r>
          </a:p>
          <a:p>
            <a:pPr eaLnBrk="1" hangingPunct="1"/>
            <a:r>
              <a:rPr lang="es-ES" sz="4100"/>
              <a:t>Công thức đa thức tối thiểu</a:t>
            </a:r>
          </a:p>
          <a:p>
            <a:pPr eaLnBrk="1" hangingPunct="1"/>
            <a:r>
              <a:rPr lang="en-US" sz="4100"/>
              <a:t>Biểu đồ Karnaugh của hàm Boole</a:t>
            </a:r>
          </a:p>
          <a:p>
            <a:r>
              <a:rPr lang="en-US" sz="4100"/>
              <a:t>Phương pháp Quine – McCluskey</a:t>
            </a:r>
          </a:p>
          <a:p>
            <a:pPr eaLnBrk="1" hangingPunct="1"/>
            <a:r>
              <a:rPr lang="en-US" sz="4100" i="1"/>
              <a:t>Các cổng logic</a:t>
            </a:r>
          </a:p>
          <a:p>
            <a:pPr eaLnBrk="1" hangingPunct="1"/>
            <a:endParaRPr lang="en-US"/>
          </a:p>
          <a:p>
            <a:pPr eaLnBrk="1" hangingPunct="1"/>
            <a:endParaRPr lang="en-US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01000" y="6492874"/>
            <a:ext cx="10698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/>
              <a:t>Đại số logic </a:t>
            </a:r>
            <a:r>
              <a:rPr lang="en-US">
                <a:latin typeface="Script MT Bold" pitchFamily="66" charset="0"/>
              </a:rPr>
              <a:t>B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752600"/>
            <a:ext cx="7086600" cy="3880773"/>
          </a:xfrm>
        </p:spPr>
        <p:txBody>
          <a:bodyPr>
            <a:normAutofit/>
          </a:bodyPr>
          <a:lstStyle/>
          <a:p>
            <a:pPr marL="0" indent="0" algn="just" eaLnBrk="1" hangingPunct="1">
              <a:buNone/>
            </a:pPr>
            <a:r>
              <a:rPr lang="en-US" sz="2800"/>
              <a:t>  Trên tập logic </a:t>
            </a:r>
            <a:r>
              <a:rPr lang="en-US" sz="2800" b="1">
                <a:latin typeface="Script MT Bold" pitchFamily="66" charset="0"/>
              </a:rPr>
              <a:t>B</a:t>
            </a:r>
            <a:r>
              <a:rPr lang="en-US" sz="2800"/>
              <a:t> =</a:t>
            </a:r>
            <a:r>
              <a:rPr lang="en-US" sz="2800">
                <a:sym typeface="Symbol" panose="05050102010706020507" pitchFamily="18" charset="2"/>
              </a:rPr>
              <a:t></a:t>
            </a:r>
            <a:r>
              <a:rPr lang="en-US" sz="2800"/>
              <a:t>0, 1</a:t>
            </a:r>
            <a:r>
              <a:rPr lang="en-US" sz="2800">
                <a:sym typeface="Symbol" panose="05050102010706020507" pitchFamily="18" charset="2"/>
              </a:rPr>
              <a:t></a:t>
            </a:r>
            <a:r>
              <a:rPr lang="en-US" sz="2800"/>
              <a:t> xét các phép toán logic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sz="2800">
                <a:sym typeface="Symbol" panose="05050102010706020507" pitchFamily="18" charset="2"/>
              </a:rPr>
              <a:t>		 (tích Boole)		x  y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sz="2800">
                <a:sym typeface="Symbol" panose="05050102010706020507" pitchFamily="18" charset="2"/>
              </a:rPr>
              <a:t>		 (tổng Boole)		x  y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sz="2800">
                <a:sym typeface="Symbol" panose="05050102010706020507" pitchFamily="18" charset="2"/>
              </a:rPr>
              <a:t>		 (phép bù)		x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800"/>
              <a:t>	trong đó x, y</a:t>
            </a:r>
            <a:r>
              <a:rPr lang="en-US" sz="2800">
                <a:sym typeface="Symbol" panose="05050102010706020507" pitchFamily="18" charset="2"/>
              </a:rPr>
              <a:t> </a:t>
            </a:r>
            <a:r>
              <a:rPr lang="en-US" sz="2800" b="1">
                <a:latin typeface="Script MT Bold" pitchFamily="66" charset="0"/>
              </a:rPr>
              <a:t>B</a:t>
            </a:r>
            <a:r>
              <a:rPr lang="en-US" sz="2800"/>
              <a:t> gọi là các biến logic hoặc biến Boole.</a:t>
            </a:r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01000" y="6492874"/>
            <a:ext cx="10698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066800"/>
            <a:ext cx="66294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01000" y="6492874"/>
            <a:ext cx="10698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6347713" cy="1320800"/>
          </a:xfrm>
        </p:spPr>
        <p:txBody>
          <a:bodyPr/>
          <a:lstStyle/>
          <a:p>
            <a:pPr eaLnBrk="1" hangingPunct="1"/>
            <a:r>
              <a:rPr lang="en-US"/>
              <a:t>    Các hằng đẳng thức logic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-71968" y="1524000"/>
            <a:ext cx="8301568" cy="5334000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sz="3200" dirty="0">
                <a:latin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n-US" sz="3200" b="1" dirty="0">
                <a:latin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Giao </a:t>
            </a:r>
            <a:r>
              <a:rPr lang="en-US" sz="3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hoán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		6) </a:t>
            </a:r>
            <a:r>
              <a:rPr lang="en-US" sz="3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Luỹ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đẳng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</a:p>
          <a:p>
            <a:pPr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2) </a:t>
            </a:r>
            <a:r>
              <a:rPr lang="en-US" sz="3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			7) </a:t>
            </a:r>
            <a:r>
              <a:rPr lang="en-US" sz="3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	</a:t>
            </a:r>
          </a:p>
          <a:p>
            <a:pPr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3) </a:t>
            </a:r>
            <a:r>
              <a:rPr lang="en-US" sz="3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8) </a:t>
            </a:r>
            <a:r>
              <a:rPr lang="en-US" sz="3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bù</a:t>
            </a:r>
            <a:endParaRPr lang="en-US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</a:p>
          <a:p>
            <a:pPr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4) </a:t>
            </a:r>
            <a:r>
              <a:rPr lang="en-US" sz="3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bù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kép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9) </a:t>
            </a:r>
            <a:r>
              <a:rPr lang="en-US" sz="3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sv-SE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5) De Morgan</a:t>
            </a:r>
            <a:r>
              <a:rPr lang="sv-SE" sz="3200" b="1" dirty="0">
                <a:latin typeface="Tahoma" panose="020B0604030504040204" pitchFamily="34" charset="0"/>
                <a:cs typeface="Tahoma" panose="020B0604030504040204" pitchFamily="34" charset="0"/>
              </a:rPr>
              <a:t>		 </a:t>
            </a:r>
            <a:r>
              <a:rPr lang="sv-SE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10) Luật hấp thu</a:t>
            </a:r>
            <a:r>
              <a:rPr lang="sv-SE" sz="2800" b="1" dirty="0">
                <a:latin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sv-SE" sz="3200" dirty="0">
                <a:latin typeface="Tahoma" panose="020B0604030504040204" pitchFamily="34" charset="0"/>
                <a:cs typeface="Tahoma" panose="020B0604030504040204" pitchFamily="34" charset="0"/>
              </a:rPr>
              <a:t>			</a:t>
            </a:r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sz="3200" dirty="0">
                <a:latin typeface="Tahoma" panose="020B0604030504040204" pitchFamily="34" charset="0"/>
                <a:cs typeface="Tahoma" panose="020B0604030504040204" pitchFamily="34" charset="0"/>
              </a:rPr>
              <a:t>			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01000" y="6492874"/>
            <a:ext cx="10698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084C0C-E1BF-E40C-E2B8-7F4DB0843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057400"/>
            <a:ext cx="1667108" cy="4001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75F9B9-7307-6BB8-6478-B4029EDFF4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043125"/>
            <a:ext cx="2686425" cy="4001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04A94D-5AC4-EF49-72DE-C5BFBF8424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079" y="4048442"/>
            <a:ext cx="3124636" cy="4001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4A1DBF-24B0-6CAC-4644-9C856D91CA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5167180"/>
            <a:ext cx="1419423" cy="4667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E3A99BE-986B-6855-ED1C-C21B4A2875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695" y="6113148"/>
            <a:ext cx="2229161" cy="41915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BC04409-AC65-9A95-E34A-5C44DD410B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0" y="1600835"/>
            <a:ext cx="1200318" cy="7335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3A9C98-739B-FC2C-E298-5D3A39AE6CF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7568" y="3043125"/>
            <a:ext cx="1171739" cy="76210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6CC75F6-ACA6-606C-DDEB-96DDC07F06E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71258" y="4135001"/>
            <a:ext cx="1428949" cy="37152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DB9FD03-185A-A5A4-F986-5C1E2414B00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66266" y="4135001"/>
            <a:ext cx="1467055" cy="36200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6E5A6A7-9292-787B-568E-7BCFEC4D092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36926" y="5241080"/>
            <a:ext cx="1162212" cy="39058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79570A3-5E88-5731-0384-BA608C49202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94999" y="5269659"/>
            <a:ext cx="1219370" cy="36200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E75A181-688B-B899-B2C2-B11E9C641CB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61625" y="6119559"/>
            <a:ext cx="1838582" cy="39058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529AAA1-DEEE-7F75-974E-7FA24784047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00207" y="6117911"/>
            <a:ext cx="1695687" cy="4096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" dur="10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0" dur="10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3" dur="10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6" dur="10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9" dur="10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Một số phép toán 2 – ngôi khác trên đại số logic </a:t>
            </a:r>
            <a:r>
              <a:rPr lang="en-US">
                <a:latin typeface="Script MT Bold" pitchFamily="66" charset="0"/>
              </a:rPr>
              <a:t>B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1)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modulo 2 (XOR), x + y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2)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Kéo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y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3</a:t>
            </a:r>
            <a:r>
              <a:rPr lang="es-E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s-ES" sz="3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Tương</a:t>
            </a:r>
            <a:r>
              <a:rPr lang="es-E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s-ES" sz="3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đương</a:t>
            </a:r>
            <a:r>
              <a:rPr lang="es-E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x  y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s-E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4) </a:t>
            </a:r>
            <a:r>
              <a:rPr lang="es-ES" sz="3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Vebb</a:t>
            </a:r>
            <a:r>
              <a:rPr lang="es-E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(NOR)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x  y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5) </a:t>
            </a:r>
            <a:r>
              <a:rPr lang="es-ES" sz="3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Sheffer</a:t>
            </a:r>
            <a:r>
              <a:rPr lang="es-E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(NAND) x  y</a:t>
            </a:r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01000" y="6492874"/>
            <a:ext cx="10698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14400"/>
            <a:ext cx="69342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01000" y="6492874"/>
            <a:ext cx="10698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500F3EF-A7CB-8258-256A-9C84E356E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4800"/>
            <a:ext cx="4667248" cy="533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6D5E14-E7AF-4973-C3FC-E1F757BBA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89" y="1066800"/>
            <a:ext cx="6379538" cy="762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B31A9A-C21E-BD4B-D360-461331D82C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147771"/>
            <a:ext cx="5836603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57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/>
              <a:t>Đại số Boole</a:t>
            </a:r>
            <a:endParaRPr 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-12700" y="1524000"/>
            <a:ext cx="7327900" cy="4114800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s-ES" sz="30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s-ES" sz="3000" u="sng">
                <a:latin typeface="Times New Roman" panose="02020603050405020304" pitchFamily="18" charset="0"/>
                <a:cs typeface="Times New Roman" panose="02020603050405020304" pitchFamily="18" charset="0"/>
              </a:rPr>
              <a:t>Định nghĩa</a:t>
            </a:r>
            <a:r>
              <a:rPr lang="es-ES" sz="30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s-E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  Cho tập A có ít nhất 2 phần tử, trong đó có 2 phần tử đặc biệt được ký hiệu là 0 và 1. Trên A xét các phép toán 2 – ngôi </a:t>
            </a:r>
            <a:r>
              <a:rPr lang="es-ES" sz="3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s-E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và </a:t>
            </a:r>
            <a:r>
              <a:rPr lang="es-ES" sz="3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s-ES" sz="3000">
                <a:latin typeface="Times New Roman" panose="02020603050405020304" pitchFamily="18" charset="0"/>
                <a:cs typeface="Times New Roman" panose="02020603050405020304" pitchFamily="18" charset="0"/>
              </a:rPr>
              <a:t>, và phép toán 1 – ngôi </a:t>
            </a:r>
            <a:r>
              <a:rPr lang="es-ES" sz="30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s-E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s-E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s-ES" sz="3000">
                <a:latin typeface="Times New Roman" panose="02020603050405020304" pitchFamily="18" charset="0"/>
                <a:cs typeface="Times New Roman" panose="02020603050405020304" pitchFamily="18" charset="0"/>
              </a:rPr>
              <a:t>	Ký hiệu là </a:t>
            </a:r>
            <a:r>
              <a:rPr lang="es-E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(A, </a:t>
            </a:r>
            <a:r>
              <a:rPr lang="es-ES" sz="30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s-E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ES" sz="30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s-E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ES" sz="30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s-E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, 0, 1)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b="1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01000" y="6492874"/>
            <a:ext cx="10698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5C9ED-4B6F-E654-6A61-EEA6B480B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số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0B3FE-99A1-4D89-E856-526FFDA77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sz="2400" dirty="0"/>
              <a:t>Đại số Boole là một nhánh của đại số chuyên nghiên cứu các phép toán logic trên hai giá trị, thường là 0 và 1, hay "sai" và "đúng". Đây là nền tảng của lý thuyết mạch logic trong máy tính và thiết kế hệ thống số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87908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Grp="1" noChangeArrowheads="1"/>
          </p:cNvSpPr>
          <p:nvPr>
            <p:ph idx="1"/>
          </p:nvPr>
        </p:nvSpPr>
        <p:spPr>
          <a:xfrm>
            <a:off x="609599" y="2016000"/>
            <a:ext cx="6347714" cy="4314609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s-ES" dirty="0"/>
              <a:t>		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hoán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dirty="0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dirty="0"/>
              <a:t>		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dirty="0"/>
              <a:t> 		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dirty="0"/>
              <a:t>		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dirty="0"/>
              <a:t>		</a:t>
            </a:r>
            <a:r>
              <a:rPr lang="sv-SE" dirty="0"/>
              <a:t>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sv-SE" dirty="0"/>
              <a:t>		 </a:t>
            </a:r>
            <a:r>
              <a:rPr lang="sv-S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Phần tử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dirty="0"/>
              <a:t>		</a:t>
            </a:r>
            <a:r>
              <a:rPr lang="sv-SE" dirty="0"/>
              <a:t>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sv-SE" dirty="0"/>
              <a:t>		 </a:t>
            </a:r>
            <a:r>
              <a:rPr lang="sv-S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Phần tử bù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93" name="TextBox 1"/>
          <p:cNvSpPr txBox="1">
            <a:spLocks noChangeArrowheads="1"/>
          </p:cNvSpPr>
          <p:nvPr/>
        </p:nvSpPr>
        <p:spPr bwMode="auto">
          <a:xfrm>
            <a:off x="0" y="304800"/>
            <a:ext cx="7467599" cy="1231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Tập A cùng với các phép toán này được gọi là một đại số Boole nếu các phép toán này có tính chất: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8" name="8-Point Star 27"/>
          <p:cNvSpPr/>
          <p:nvPr/>
        </p:nvSpPr>
        <p:spPr>
          <a:xfrm>
            <a:off x="597279" y="2016000"/>
            <a:ext cx="432048" cy="432048"/>
          </a:xfrm>
          <a:prstGeom prst="star8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1</a:t>
            </a:r>
            <a:endParaRPr lang="vi-VN" b="1"/>
          </a:p>
        </p:txBody>
      </p:sp>
      <p:sp>
        <p:nvSpPr>
          <p:cNvPr id="32" name="8-Point Star 31"/>
          <p:cNvSpPr/>
          <p:nvPr/>
        </p:nvSpPr>
        <p:spPr>
          <a:xfrm>
            <a:off x="592666" y="2908164"/>
            <a:ext cx="432048" cy="432048"/>
          </a:xfrm>
          <a:prstGeom prst="star8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33" name="8-Point Star 32"/>
          <p:cNvSpPr/>
          <p:nvPr/>
        </p:nvSpPr>
        <p:spPr>
          <a:xfrm>
            <a:off x="592666" y="3800328"/>
            <a:ext cx="432048" cy="432048"/>
          </a:xfrm>
          <a:prstGeom prst="star8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3</a:t>
            </a:r>
            <a:endParaRPr lang="vi-VN" b="1"/>
          </a:p>
        </p:txBody>
      </p:sp>
      <p:sp>
        <p:nvSpPr>
          <p:cNvPr id="34" name="8-Point Star 33"/>
          <p:cNvSpPr/>
          <p:nvPr/>
        </p:nvSpPr>
        <p:spPr>
          <a:xfrm>
            <a:off x="592666" y="4692492"/>
            <a:ext cx="432048" cy="432048"/>
          </a:xfrm>
          <a:prstGeom prst="star8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4</a:t>
            </a:r>
            <a:endParaRPr lang="vi-VN" b="1"/>
          </a:p>
        </p:txBody>
      </p:sp>
      <p:sp>
        <p:nvSpPr>
          <p:cNvPr id="35" name="8-Point Star 34"/>
          <p:cNvSpPr/>
          <p:nvPr/>
        </p:nvSpPr>
        <p:spPr>
          <a:xfrm>
            <a:off x="592666" y="5556588"/>
            <a:ext cx="432048" cy="432048"/>
          </a:xfrm>
          <a:prstGeom prst="star8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5</a:t>
            </a:r>
            <a:endParaRPr lang="vi-VN" b="1"/>
          </a:p>
        </p:txBody>
      </p:sp>
      <p:sp>
        <p:nvSpPr>
          <p:cNvPr id="14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01000" y="6492874"/>
            <a:ext cx="10698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4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20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200" fill="hold"/>
                                        <p:tgtEl>
                                          <p:spTgt spid="20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fill="hold"/>
                                        <p:tgtEl>
                                          <p:spTgt spid="20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0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200" fill="hold"/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" fill="hold"/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9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"/>
                                        <p:tgtEl>
                                          <p:spTgt spid="20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200" fill="hold"/>
                                        <p:tgtEl>
                                          <p:spTgt spid="20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" fill="hold"/>
                                        <p:tgtEl>
                                          <p:spTgt spid="20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100"/>
                            </p:stCondLst>
                            <p:childTnLst>
                              <p:par>
                                <p:cTn id="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"/>
                                        <p:tgtEl>
                                          <p:spTgt spid="20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200" fill="hold"/>
                                        <p:tgtEl>
                                          <p:spTgt spid="20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20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300"/>
                            </p:stCondLst>
                            <p:childTnLst>
                              <p:par>
                                <p:cTn id="4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"/>
                                        <p:tgtEl>
                                          <p:spTgt spid="204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204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" fill="hold"/>
                                        <p:tgtEl>
                                          <p:spTgt spid="204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204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200" fill="hold"/>
                                        <p:tgtEl>
                                          <p:spTgt spid="204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00" fill="hold"/>
                                        <p:tgtEl>
                                          <p:spTgt spid="204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700"/>
                            </p:stCondLst>
                            <p:childTnLst>
                              <p:par>
                                <p:cTn id="6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"/>
                                        <p:tgtEl>
                                          <p:spTgt spid="204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200" fill="hold"/>
                                        <p:tgtEl>
                                          <p:spTgt spid="204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204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900"/>
                            </p:stCondLst>
                            <p:childTnLst>
                              <p:par>
                                <p:cTn id="6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"/>
                                        <p:tgtEl>
                                          <p:spTgt spid="204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204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00" fill="hold"/>
                                        <p:tgtEl>
                                          <p:spTgt spid="204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2FD2D-3408-E57E-DC5D-59603752F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ounded Rectangle 25">
                <a:extLst>
                  <a:ext uri="{FF2B5EF4-FFF2-40B4-BE49-F238E27FC236}">
                    <a16:creationId xmlns:a16="http://schemas.microsoft.com/office/drawing/2014/main" id="{96B11F05-EC6A-A5B6-D4DE-AC698506CA91}"/>
                  </a:ext>
                </a:extLst>
              </p:cNvPr>
              <p:cNvSpPr/>
              <p:nvPr/>
            </p:nvSpPr>
            <p:spPr>
              <a:xfrm>
                <a:off x="450996" y="36483"/>
                <a:ext cx="3960440" cy="18002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∨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∧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6" name="Rounded Rectangle 25">
                <a:extLst>
                  <a:ext uri="{FF2B5EF4-FFF2-40B4-BE49-F238E27FC236}">
                    <a16:creationId xmlns:a16="http://schemas.microsoft.com/office/drawing/2014/main" id="{96B11F05-EC6A-A5B6-D4DE-AC698506CA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996" y="36483"/>
                <a:ext cx="3960440" cy="18002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ounded Rectangle 26">
                <a:extLst>
                  <a:ext uri="{FF2B5EF4-FFF2-40B4-BE49-F238E27FC236}">
                    <a16:creationId xmlns:a16="http://schemas.microsoft.com/office/drawing/2014/main" id="{2CE659A3-705E-E13F-00FC-26C84830BE6B}"/>
                  </a:ext>
                </a:extLst>
              </p:cNvPr>
              <p:cNvSpPr/>
              <p:nvPr/>
            </p:nvSpPr>
            <p:spPr>
              <a:xfrm>
                <a:off x="-34657" y="2461031"/>
                <a:ext cx="3960440" cy="18002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∨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en-US"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)∧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27" name="Rounded Rectangle 26">
                <a:extLst>
                  <a:ext uri="{FF2B5EF4-FFF2-40B4-BE49-F238E27FC236}">
                    <a16:creationId xmlns:a16="http://schemas.microsoft.com/office/drawing/2014/main" id="{2CE659A3-705E-E13F-00FC-26C84830BE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4657" y="2461031"/>
                <a:ext cx="3960440" cy="18002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8-Point Star 27">
            <a:extLst>
              <a:ext uri="{FF2B5EF4-FFF2-40B4-BE49-F238E27FC236}">
                <a16:creationId xmlns:a16="http://schemas.microsoft.com/office/drawing/2014/main" id="{2218ABBB-D87D-8E43-A6FC-5088DD542990}"/>
              </a:ext>
            </a:extLst>
          </p:cNvPr>
          <p:cNvSpPr/>
          <p:nvPr/>
        </p:nvSpPr>
        <p:spPr>
          <a:xfrm>
            <a:off x="2783" y="36483"/>
            <a:ext cx="432048" cy="432048"/>
          </a:xfrm>
          <a:prstGeom prst="star8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1</a:t>
            </a:r>
            <a:endParaRPr lang="vi-VN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F009DA9F-0ED4-2208-006A-8F69592287FC}"/>
                  </a:ext>
                </a:extLst>
              </p:cNvPr>
              <p:cNvSpPr/>
              <p:nvPr/>
            </p:nvSpPr>
            <p:spPr>
              <a:xfrm>
                <a:off x="37191" y="4888427"/>
                <a:ext cx="4524826" cy="18002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)∧(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)∨(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F009DA9F-0ED4-2208-006A-8F69592287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1" y="4888427"/>
                <a:ext cx="4524826" cy="18002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3D97F2A5-CA32-77FA-5C8E-03EF5E76A794}"/>
                  </a:ext>
                </a:extLst>
              </p:cNvPr>
              <p:cNvSpPr/>
              <p:nvPr/>
            </p:nvSpPr>
            <p:spPr>
              <a:xfrm>
                <a:off x="4428438" y="659640"/>
                <a:ext cx="4812858" cy="18002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Aft>
                    <a:spcPts val="600"/>
                  </a:spcAft>
                </a:pPr>
                <a:r>
                  <a:rPr lang="en-US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Trong A tồn tại phần tử 0 và 1: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∀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3D97F2A5-CA32-77FA-5C8E-03EF5E76A7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8438" y="659640"/>
                <a:ext cx="4812858" cy="180020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ounded Rectangle 30">
                <a:extLst>
                  <a:ext uri="{FF2B5EF4-FFF2-40B4-BE49-F238E27FC236}">
                    <a16:creationId xmlns:a16="http://schemas.microsoft.com/office/drawing/2014/main" id="{BA2B9A6C-3272-AE51-E7F2-C29096B87CB9}"/>
                  </a:ext>
                </a:extLst>
              </p:cNvPr>
              <p:cNvSpPr/>
              <p:nvPr/>
            </p:nvSpPr>
            <p:spPr>
              <a:xfrm>
                <a:off x="4551903" y="3307048"/>
                <a:ext cx="4812858" cy="18002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∀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tồn</a:t>
                </a:r>
                <a:r>
                  <a:rPr lang="en-US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tại</a:t>
                </a:r>
                <a:r>
                  <a:rPr lang="en-US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duy</a:t>
                </a:r>
                <a:r>
                  <a:rPr lang="en-US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nhất</a:t>
                </a:r>
                <a:r>
                  <a:rPr lang="en-US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phần</a:t>
                </a:r>
                <a:r>
                  <a:rPr lang="en-US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tư</a:t>
                </a:r>
                <a:r>
                  <a:rPr lang="en-US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̉ </a:t>
                </a:r>
                <a:r>
                  <a:rPr lang="en-US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bu</a:t>
                </a:r>
                <a:r>
                  <a:rPr lang="en-US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̀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en-US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sao</a:t>
                </a:r>
                <a:r>
                  <a:rPr lang="en-US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US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31" name="Rounded Rectangle 30">
                <a:extLst>
                  <a:ext uri="{FF2B5EF4-FFF2-40B4-BE49-F238E27FC236}">
                    <a16:creationId xmlns:a16="http://schemas.microsoft.com/office/drawing/2014/main" id="{BA2B9A6C-3272-AE51-E7F2-C29096B87C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1903" y="3307048"/>
                <a:ext cx="4812858" cy="180020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8-Point Star 31">
            <a:extLst>
              <a:ext uri="{FF2B5EF4-FFF2-40B4-BE49-F238E27FC236}">
                <a16:creationId xmlns:a16="http://schemas.microsoft.com/office/drawing/2014/main" id="{9D0C7EBE-20D4-DEBA-07B9-46FC4AAEFD1F}"/>
              </a:ext>
            </a:extLst>
          </p:cNvPr>
          <p:cNvSpPr/>
          <p:nvPr/>
        </p:nvSpPr>
        <p:spPr>
          <a:xfrm>
            <a:off x="2783" y="2027792"/>
            <a:ext cx="432048" cy="432048"/>
          </a:xfrm>
          <a:prstGeom prst="star8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  <a:endParaRPr lang="vi-VN" b="1" dirty="0"/>
          </a:p>
        </p:txBody>
      </p:sp>
      <p:sp>
        <p:nvSpPr>
          <p:cNvPr id="33" name="8-Point Star 32">
            <a:extLst>
              <a:ext uri="{FF2B5EF4-FFF2-40B4-BE49-F238E27FC236}">
                <a16:creationId xmlns:a16="http://schemas.microsoft.com/office/drawing/2014/main" id="{B277E554-33EC-E6F0-0145-F6A644DDD851}"/>
              </a:ext>
            </a:extLst>
          </p:cNvPr>
          <p:cNvSpPr/>
          <p:nvPr/>
        </p:nvSpPr>
        <p:spPr>
          <a:xfrm>
            <a:off x="1729539" y="4358805"/>
            <a:ext cx="432048" cy="432048"/>
          </a:xfrm>
          <a:prstGeom prst="star8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3</a:t>
            </a:r>
            <a:endParaRPr lang="vi-VN" b="1"/>
          </a:p>
        </p:txBody>
      </p:sp>
      <p:sp>
        <p:nvSpPr>
          <p:cNvPr id="34" name="8-Point Star 33">
            <a:extLst>
              <a:ext uri="{FF2B5EF4-FFF2-40B4-BE49-F238E27FC236}">
                <a16:creationId xmlns:a16="http://schemas.microsoft.com/office/drawing/2014/main" id="{CFEF0DC5-8B44-F44E-B35A-8839A086E6E0}"/>
              </a:ext>
            </a:extLst>
          </p:cNvPr>
          <p:cNvSpPr/>
          <p:nvPr/>
        </p:nvSpPr>
        <p:spPr>
          <a:xfrm>
            <a:off x="4840365" y="81735"/>
            <a:ext cx="432048" cy="432048"/>
          </a:xfrm>
          <a:prstGeom prst="star8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4</a:t>
            </a:r>
            <a:endParaRPr lang="vi-VN" b="1"/>
          </a:p>
        </p:txBody>
      </p:sp>
      <p:sp>
        <p:nvSpPr>
          <p:cNvPr id="35" name="8-Point Star 34">
            <a:extLst>
              <a:ext uri="{FF2B5EF4-FFF2-40B4-BE49-F238E27FC236}">
                <a16:creationId xmlns:a16="http://schemas.microsoft.com/office/drawing/2014/main" id="{AF67C4DB-283F-F066-585A-C1399B50FE58}"/>
              </a:ext>
            </a:extLst>
          </p:cNvPr>
          <p:cNvSpPr/>
          <p:nvPr/>
        </p:nvSpPr>
        <p:spPr>
          <a:xfrm>
            <a:off x="6172200" y="2825937"/>
            <a:ext cx="432048" cy="432048"/>
          </a:xfrm>
          <a:prstGeom prst="star8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5</a:t>
            </a:r>
            <a:endParaRPr lang="vi-VN" b="1"/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7DD6C64B-E269-E490-951D-9F4E19F8D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15C503C5-5E2B-9AE3-FFA1-BEFC9FFF8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2032A02F-C430-1516-BD0C-D6773F641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1000" y="6492874"/>
            <a:ext cx="10698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67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</p:childTnLst>
        </p:cTn>
      </p:par>
    </p:tnLst>
    <p:bldLst>
      <p:bldP spid="26" grpId="0" animBg="1"/>
      <p:bldP spid="26" grpId="1" animBg="1"/>
      <p:bldP spid="27" grpId="0" animBg="1"/>
      <p:bldP spid="27" grpId="1" animBg="1"/>
      <p:bldP spid="28" grpId="0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3" grpId="0" animBg="1"/>
      <p:bldP spid="34" grpId="0" animBg="1"/>
      <p:bldP spid="3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/>
              <a:t>Ví dụ:</a:t>
            </a:r>
            <a:endParaRPr 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52600"/>
            <a:ext cx="6347714" cy="3880773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s-ES" dirty="0"/>
              <a:t>	</a:t>
            </a:r>
            <a:r>
              <a:rPr lang="es-ES" sz="2800" dirty="0"/>
              <a:t>Cho U </a:t>
            </a:r>
            <a:r>
              <a:rPr lang="es-ES" sz="2800" dirty="0" err="1"/>
              <a:t>là</a:t>
            </a:r>
            <a:r>
              <a:rPr lang="es-ES" sz="2800" dirty="0"/>
              <a:t> </a:t>
            </a:r>
            <a:r>
              <a:rPr lang="es-ES" sz="2800" dirty="0" err="1"/>
              <a:t>tập</a:t>
            </a:r>
            <a:r>
              <a:rPr lang="es-ES" sz="2800" dirty="0"/>
              <a:t> </a:t>
            </a:r>
            <a:r>
              <a:rPr lang="es-ES" sz="2800" dirty="0" err="1"/>
              <a:t>bất</a:t>
            </a:r>
            <a:r>
              <a:rPr lang="es-ES" sz="2800" dirty="0"/>
              <a:t> </a:t>
            </a:r>
            <a:r>
              <a:rPr lang="es-ES" sz="2800" dirty="0" err="1"/>
              <a:t>kỳ</a:t>
            </a:r>
            <a:r>
              <a:rPr lang="es-ES" sz="2800" dirty="0"/>
              <a:t>, </a:t>
            </a:r>
            <a:r>
              <a:rPr lang="es-ES" sz="2800" dirty="0" err="1"/>
              <a:t>trên</a:t>
            </a:r>
            <a:r>
              <a:rPr lang="es-ES" sz="2800" dirty="0"/>
              <a:t> A = </a:t>
            </a:r>
            <a:r>
              <a:rPr lang="es-ES" sz="2800" dirty="0">
                <a:latin typeface="Script MT Bold" pitchFamily="66" charset="0"/>
              </a:rPr>
              <a:t>P</a:t>
            </a:r>
            <a:r>
              <a:rPr lang="es-ES" sz="2800" dirty="0"/>
              <a:t>(U) (</a:t>
            </a:r>
            <a:r>
              <a:rPr lang="es-ES" sz="2800" i="1" dirty="0" err="1"/>
              <a:t>tập</a:t>
            </a:r>
            <a:r>
              <a:rPr lang="es-ES" sz="2800" i="1" dirty="0"/>
              <a:t> </a:t>
            </a:r>
            <a:r>
              <a:rPr lang="es-ES" sz="2800" i="1" dirty="0" err="1"/>
              <a:t>các</a:t>
            </a:r>
            <a:r>
              <a:rPr lang="es-ES" sz="2800" i="1" dirty="0"/>
              <a:t> </a:t>
            </a:r>
            <a:r>
              <a:rPr lang="es-ES" sz="2800" i="1" dirty="0" err="1"/>
              <a:t>tập</a:t>
            </a:r>
            <a:r>
              <a:rPr lang="es-ES" sz="2800" i="1" dirty="0"/>
              <a:t> con </a:t>
            </a:r>
            <a:r>
              <a:rPr lang="es-ES" sz="2800" i="1" dirty="0" err="1"/>
              <a:t>của</a:t>
            </a:r>
            <a:r>
              <a:rPr lang="es-ES" sz="2800" i="1" dirty="0"/>
              <a:t> U</a:t>
            </a:r>
            <a:r>
              <a:rPr lang="es-ES" sz="2800" dirty="0"/>
              <a:t>) </a:t>
            </a:r>
            <a:r>
              <a:rPr lang="es-ES" sz="2800" dirty="0" err="1"/>
              <a:t>xét</a:t>
            </a:r>
            <a:r>
              <a:rPr lang="es-ES" sz="2800" dirty="0"/>
              <a:t> </a:t>
            </a:r>
            <a:r>
              <a:rPr lang="es-ES" sz="2800" dirty="0" err="1"/>
              <a:t>phép</a:t>
            </a:r>
            <a:r>
              <a:rPr lang="es-ES" sz="2800" dirty="0"/>
              <a:t> </a:t>
            </a:r>
            <a:r>
              <a:rPr lang="es-ES" sz="2800" dirty="0">
                <a:sym typeface="Symbol" panose="05050102010706020507" pitchFamily="18" charset="2"/>
              </a:rPr>
              <a:t> </a:t>
            </a:r>
            <a:r>
              <a:rPr lang="es-ES" sz="2800" dirty="0" err="1">
                <a:sym typeface="Symbol" panose="05050102010706020507" pitchFamily="18" charset="2"/>
              </a:rPr>
              <a:t>là</a:t>
            </a:r>
            <a:r>
              <a:rPr lang="es-ES" sz="2800" dirty="0">
                <a:sym typeface="Symbol" panose="05050102010706020507" pitchFamily="18" charset="2"/>
              </a:rPr>
              <a:t> </a:t>
            </a:r>
            <a:r>
              <a:rPr lang="es-ES" sz="2800" dirty="0" err="1">
                <a:sym typeface="Symbol" panose="05050102010706020507" pitchFamily="18" charset="2"/>
              </a:rPr>
              <a:t>phép</a:t>
            </a:r>
            <a:r>
              <a:rPr lang="es-ES" sz="2800" dirty="0"/>
              <a:t> </a:t>
            </a:r>
            <a:r>
              <a:rPr lang="es-ES" sz="2800" dirty="0">
                <a:sym typeface="Symbol" panose="05050102010706020507" pitchFamily="18" charset="2"/>
              </a:rPr>
              <a:t></a:t>
            </a:r>
            <a:r>
              <a:rPr lang="es-ES" sz="2800" dirty="0"/>
              <a:t>, </a:t>
            </a:r>
            <a:r>
              <a:rPr lang="es-ES" sz="2800" dirty="0" err="1"/>
              <a:t>phép</a:t>
            </a:r>
            <a:r>
              <a:rPr lang="es-ES" sz="2800" dirty="0"/>
              <a:t> </a:t>
            </a:r>
            <a:r>
              <a:rPr lang="es-ES" sz="2800" dirty="0">
                <a:sym typeface="Symbol" panose="05050102010706020507" pitchFamily="18" charset="2"/>
              </a:rPr>
              <a:t> </a:t>
            </a:r>
            <a:r>
              <a:rPr lang="es-ES" sz="2800" dirty="0" err="1">
                <a:sym typeface="Symbol" panose="05050102010706020507" pitchFamily="18" charset="2"/>
              </a:rPr>
              <a:t>là</a:t>
            </a:r>
            <a:r>
              <a:rPr lang="es-ES" sz="2800" dirty="0">
                <a:sym typeface="Symbol" panose="05050102010706020507" pitchFamily="18" charset="2"/>
              </a:rPr>
              <a:t> </a:t>
            </a:r>
            <a:r>
              <a:rPr lang="es-ES" sz="2800" dirty="0" err="1">
                <a:sym typeface="Symbol" panose="05050102010706020507" pitchFamily="18" charset="2"/>
              </a:rPr>
              <a:t>phép</a:t>
            </a:r>
            <a:r>
              <a:rPr lang="es-ES" sz="2800" dirty="0">
                <a:sym typeface="Symbol" panose="05050102010706020507" pitchFamily="18" charset="2"/>
              </a:rPr>
              <a:t> </a:t>
            </a:r>
            <a:r>
              <a:rPr lang="es-ES" sz="2800" dirty="0"/>
              <a:t>, </a:t>
            </a:r>
            <a:r>
              <a:rPr lang="es-ES" sz="2800" dirty="0" err="1"/>
              <a:t>phép</a:t>
            </a:r>
            <a:r>
              <a:rPr lang="es-ES" sz="2800" dirty="0"/>
              <a:t> </a:t>
            </a:r>
            <a:r>
              <a:rPr lang="es-ES" sz="2800" baseline="30000" dirty="0"/>
              <a:t>/</a:t>
            </a:r>
            <a:r>
              <a:rPr lang="es-ES" sz="2800" dirty="0"/>
              <a:t> </a:t>
            </a:r>
            <a:r>
              <a:rPr lang="es-ES" sz="2800" dirty="0" err="1"/>
              <a:t>là</a:t>
            </a:r>
            <a:r>
              <a:rPr lang="es-ES" sz="2800" dirty="0"/>
              <a:t> </a:t>
            </a:r>
            <a:r>
              <a:rPr lang="es-ES" sz="2800" dirty="0" err="1"/>
              <a:t>phép</a:t>
            </a:r>
            <a:r>
              <a:rPr lang="es-ES" sz="2800" dirty="0"/>
              <a:t> </a:t>
            </a:r>
            <a:r>
              <a:rPr lang="es-ES" sz="2800" dirty="0" err="1"/>
              <a:t>lấy</a:t>
            </a:r>
            <a:r>
              <a:rPr lang="es-ES" sz="2800" dirty="0"/>
              <a:t> </a:t>
            </a:r>
            <a:r>
              <a:rPr lang="es-ES" sz="2800" dirty="0" err="1"/>
              <a:t>phần</a:t>
            </a:r>
            <a:r>
              <a:rPr lang="es-ES" sz="2800" dirty="0"/>
              <a:t> </a:t>
            </a:r>
            <a:r>
              <a:rPr lang="es-ES" sz="2800" dirty="0" err="1"/>
              <a:t>bù</a:t>
            </a:r>
            <a:r>
              <a:rPr lang="es-ES" sz="2800" dirty="0"/>
              <a:t>, </a:t>
            </a:r>
            <a:r>
              <a:rPr lang="es-ES" sz="2800" dirty="0" err="1"/>
              <a:t>phần</a:t>
            </a:r>
            <a:r>
              <a:rPr lang="es-ES" sz="2800" dirty="0"/>
              <a:t> </a:t>
            </a:r>
            <a:r>
              <a:rPr lang="es-ES" sz="2800" dirty="0" err="1"/>
              <a:t>tử</a:t>
            </a:r>
            <a:r>
              <a:rPr lang="es-ES" sz="2800" dirty="0"/>
              <a:t> 0 </a:t>
            </a:r>
            <a:r>
              <a:rPr lang="es-ES" sz="2800" dirty="0" err="1"/>
              <a:t>là</a:t>
            </a:r>
            <a:r>
              <a:rPr lang="es-ES" sz="2800" dirty="0"/>
              <a:t> </a:t>
            </a:r>
            <a:r>
              <a:rPr lang="es-ES" sz="2800" dirty="0" err="1"/>
              <a:t>tập</a:t>
            </a:r>
            <a:r>
              <a:rPr lang="es-ES" sz="2800" dirty="0"/>
              <a:t> </a:t>
            </a:r>
            <a:r>
              <a:rPr lang="es-ES" sz="2800" dirty="0" err="1"/>
              <a:t>rỗng</a:t>
            </a:r>
            <a:r>
              <a:rPr lang="es-ES" sz="2800" dirty="0"/>
              <a:t> </a:t>
            </a:r>
            <a:r>
              <a:rPr lang="es-ES" sz="2800" dirty="0">
                <a:sym typeface="Symbol" panose="05050102010706020507" pitchFamily="18" charset="2"/>
              </a:rPr>
              <a:t></a:t>
            </a:r>
            <a:r>
              <a:rPr lang="es-ES" sz="2800" dirty="0"/>
              <a:t> </a:t>
            </a:r>
            <a:r>
              <a:rPr lang="es-ES" sz="2800" dirty="0" err="1"/>
              <a:t>còn</a:t>
            </a:r>
            <a:r>
              <a:rPr lang="es-ES" sz="2800" dirty="0"/>
              <a:t> </a:t>
            </a:r>
            <a:r>
              <a:rPr lang="es-ES" sz="2800" dirty="0" err="1"/>
              <a:t>phần</a:t>
            </a:r>
            <a:r>
              <a:rPr lang="es-ES" sz="2800" dirty="0"/>
              <a:t> </a:t>
            </a:r>
            <a:r>
              <a:rPr lang="es-ES" sz="2800" dirty="0" err="1"/>
              <a:t>tử</a:t>
            </a:r>
            <a:r>
              <a:rPr lang="es-ES" sz="2800" dirty="0"/>
              <a:t> 1 </a:t>
            </a:r>
            <a:r>
              <a:rPr lang="es-ES" sz="2800" dirty="0" err="1"/>
              <a:t>là</a:t>
            </a:r>
            <a:r>
              <a:rPr lang="es-ES" sz="2800" dirty="0"/>
              <a:t> </a:t>
            </a:r>
            <a:r>
              <a:rPr lang="es-ES" sz="2800" dirty="0" err="1"/>
              <a:t>tập</a:t>
            </a:r>
            <a:r>
              <a:rPr lang="es-ES" sz="2800" dirty="0"/>
              <a:t> U.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s-ES" sz="2800" dirty="0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s-ES" sz="2800" dirty="0"/>
              <a:t>	</a:t>
            </a:r>
            <a:r>
              <a:rPr lang="es-ES" sz="2800" dirty="0" err="1"/>
              <a:t>Khi</a:t>
            </a:r>
            <a:r>
              <a:rPr lang="es-ES" sz="2800" dirty="0"/>
              <a:t> </a:t>
            </a:r>
            <a:r>
              <a:rPr lang="es-ES" sz="2800" dirty="0" err="1"/>
              <a:t>đó</a:t>
            </a:r>
            <a:r>
              <a:rPr lang="es-ES" sz="2800" dirty="0"/>
              <a:t> </a:t>
            </a:r>
            <a:r>
              <a:rPr lang="es-ES" sz="2800" dirty="0">
                <a:latin typeface="Script MT Bold" pitchFamily="66" charset="0"/>
              </a:rPr>
              <a:t>P</a:t>
            </a:r>
            <a:r>
              <a:rPr lang="es-ES" sz="2800" dirty="0"/>
              <a:t>(U) </a:t>
            </a:r>
            <a:r>
              <a:rPr lang="es-ES" sz="2800" dirty="0" err="1"/>
              <a:t>là</a:t>
            </a:r>
            <a:r>
              <a:rPr lang="es-ES" sz="2800" dirty="0"/>
              <a:t> </a:t>
            </a:r>
            <a:r>
              <a:rPr lang="es-ES" sz="2800" dirty="0" err="1"/>
              <a:t>một</a:t>
            </a:r>
            <a:r>
              <a:rPr lang="es-ES" sz="2800" dirty="0"/>
              <a:t> </a:t>
            </a:r>
            <a:r>
              <a:rPr lang="es-ES" sz="2800" dirty="0" err="1"/>
              <a:t>đại</a:t>
            </a:r>
            <a:r>
              <a:rPr lang="es-ES" sz="2800" dirty="0"/>
              <a:t> </a:t>
            </a:r>
            <a:r>
              <a:rPr lang="es-ES" sz="2800" dirty="0" err="1"/>
              <a:t>số</a:t>
            </a:r>
            <a:r>
              <a:rPr lang="es-ES" sz="2800" dirty="0"/>
              <a:t> Boole.</a:t>
            </a:r>
            <a:endParaRPr lang="en-US" sz="2800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96200" y="6492874"/>
            <a:ext cx="1295400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46AC90-010B-11FB-191E-D286C1C0B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05000"/>
            <a:ext cx="5791200" cy="223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150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53EEA-184C-5D8A-350A-FF65299D5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2ED4214-F57A-34E2-553B-B24D914B8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0" y="2362200"/>
            <a:ext cx="7962476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248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Ví dụ:</a:t>
            </a:r>
          </a:p>
        </p:txBody>
      </p:sp>
      <p:sp>
        <p:nvSpPr>
          <p:cNvPr id="37171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930400"/>
            <a:ext cx="6934200" cy="3881438"/>
          </a:xfrm>
        </p:spPr>
        <p:txBody>
          <a:bodyPr rtlCol="0">
            <a:normAutofit fontScale="92500" lnSpcReduction="10000"/>
          </a:bodyPr>
          <a:lstStyle/>
          <a:p>
            <a:pPr algn="just"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s-ES" sz="2800">
                <a:solidFill>
                  <a:schemeClr val="tx1">
                    <a:lumMod val="75000"/>
                    <a:lumOff val="25000"/>
                  </a:schemeClr>
                </a:solidFill>
              </a:rPr>
              <a:t>Tích Descartes A</a:t>
            </a:r>
            <a:r>
              <a:rPr lang="es-E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B </a:t>
            </a:r>
            <a:r>
              <a:rPr lang="es-ES" sz="2800">
                <a:solidFill>
                  <a:schemeClr val="tx1">
                    <a:lumMod val="75000"/>
                    <a:lumOff val="25000"/>
                  </a:schemeClr>
                </a:solidFill>
              </a:rPr>
              <a:t>của các đại số Boole A, B là một đại số Boole, trong đó:</a:t>
            </a:r>
          </a:p>
          <a:p>
            <a:pPr algn="just"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s-ES" sz="2800">
                <a:solidFill>
                  <a:schemeClr val="tx1">
                    <a:lumMod val="75000"/>
                    <a:lumOff val="25000"/>
                  </a:schemeClr>
                </a:solidFill>
              </a:rPr>
              <a:t> 		(a</a:t>
            </a:r>
            <a:r>
              <a:rPr lang="es-ES" sz="2800" baseline="-2500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es-ES" sz="2800">
                <a:solidFill>
                  <a:schemeClr val="tx1">
                    <a:lumMod val="75000"/>
                    <a:lumOff val="25000"/>
                  </a:schemeClr>
                </a:solidFill>
              </a:rPr>
              <a:t>,b</a:t>
            </a:r>
            <a:r>
              <a:rPr lang="es-ES" sz="2800" baseline="-2500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es-ES" sz="2800">
                <a:solidFill>
                  <a:schemeClr val="tx1">
                    <a:lumMod val="75000"/>
                    <a:lumOff val="25000"/>
                  </a:schemeClr>
                </a:solidFill>
              </a:rPr>
              <a:t>) </a:t>
            </a:r>
            <a:r>
              <a:rPr lang="es-E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 (a</a:t>
            </a:r>
            <a:r>
              <a:rPr lang="es-ES" sz="2800" baseline="-250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2</a:t>
            </a:r>
            <a:r>
              <a:rPr lang="es-E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,b</a:t>
            </a:r>
            <a:r>
              <a:rPr lang="es-ES" sz="2800" baseline="-250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2</a:t>
            </a:r>
            <a:r>
              <a:rPr lang="es-E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) = (a</a:t>
            </a:r>
            <a:r>
              <a:rPr lang="es-ES" sz="2800" baseline="-250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1 </a:t>
            </a:r>
            <a:r>
              <a:rPr lang="es-E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 b</a:t>
            </a:r>
            <a:r>
              <a:rPr lang="es-ES" sz="2800" baseline="-250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1</a:t>
            </a:r>
            <a:r>
              <a:rPr lang="es-E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, a</a:t>
            </a:r>
            <a:r>
              <a:rPr lang="es-ES" sz="2800" baseline="-250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2</a:t>
            </a:r>
            <a:r>
              <a:rPr lang="es-E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  b</a:t>
            </a:r>
            <a:r>
              <a:rPr lang="es-ES" sz="2800" baseline="-250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2</a:t>
            </a:r>
            <a:r>
              <a:rPr lang="es-E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),</a:t>
            </a:r>
          </a:p>
          <a:p>
            <a:pPr algn="just"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s-ES" sz="2800">
                <a:solidFill>
                  <a:schemeClr val="tx1">
                    <a:lumMod val="75000"/>
                    <a:lumOff val="25000"/>
                  </a:schemeClr>
                </a:solidFill>
              </a:rPr>
              <a:t>		(a</a:t>
            </a:r>
            <a:r>
              <a:rPr lang="es-ES" sz="2800" baseline="-2500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es-ES" sz="2800">
                <a:solidFill>
                  <a:schemeClr val="tx1">
                    <a:lumMod val="75000"/>
                    <a:lumOff val="25000"/>
                  </a:schemeClr>
                </a:solidFill>
              </a:rPr>
              <a:t>,b</a:t>
            </a:r>
            <a:r>
              <a:rPr lang="es-ES" sz="2800" baseline="-2500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es-ES" sz="2800">
                <a:solidFill>
                  <a:schemeClr val="tx1">
                    <a:lumMod val="75000"/>
                    <a:lumOff val="25000"/>
                  </a:schemeClr>
                </a:solidFill>
              </a:rPr>
              <a:t>) </a:t>
            </a:r>
            <a:r>
              <a:rPr lang="es-E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 (a</a:t>
            </a:r>
            <a:r>
              <a:rPr lang="es-ES" sz="2800" baseline="-250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2</a:t>
            </a:r>
            <a:r>
              <a:rPr lang="es-E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,b</a:t>
            </a:r>
            <a:r>
              <a:rPr lang="es-ES" sz="2800" baseline="-250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2</a:t>
            </a:r>
            <a:r>
              <a:rPr lang="es-E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) = (a</a:t>
            </a:r>
            <a:r>
              <a:rPr lang="es-ES" sz="2800" baseline="-250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1 </a:t>
            </a:r>
            <a:r>
              <a:rPr lang="es-E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 b</a:t>
            </a:r>
            <a:r>
              <a:rPr lang="es-ES" sz="2800" baseline="-250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1</a:t>
            </a:r>
            <a:r>
              <a:rPr lang="es-E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, a</a:t>
            </a:r>
            <a:r>
              <a:rPr lang="es-ES" sz="2800" baseline="-250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2</a:t>
            </a:r>
            <a:r>
              <a:rPr lang="es-E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  b</a:t>
            </a:r>
            <a:r>
              <a:rPr lang="es-ES" sz="2800" baseline="-250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2</a:t>
            </a:r>
            <a:r>
              <a:rPr lang="es-E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),</a:t>
            </a:r>
          </a:p>
          <a:p>
            <a:pPr algn="just"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s-E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		(a, b)</a:t>
            </a:r>
            <a:r>
              <a:rPr lang="es-ES" sz="2800" baseline="300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/</a:t>
            </a:r>
            <a:r>
              <a:rPr lang="es-E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 = (a</a:t>
            </a:r>
            <a:r>
              <a:rPr lang="es-ES" sz="2800" baseline="300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/</a:t>
            </a:r>
            <a:r>
              <a:rPr lang="es-E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, b</a:t>
            </a:r>
            <a:r>
              <a:rPr lang="es-ES" sz="2800" baseline="300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/</a:t>
            </a:r>
            <a:r>
              <a:rPr lang="es-E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),</a:t>
            </a:r>
          </a:p>
          <a:p>
            <a:pPr algn="just"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s-ES" sz="2800">
                <a:solidFill>
                  <a:schemeClr val="tx1">
                    <a:lumMod val="75000"/>
                    <a:lumOff val="25000"/>
                  </a:schemeClr>
                </a:solidFill>
              </a:rPr>
              <a:t>		(0,0) là phần tử 0 trong A</a:t>
            </a:r>
            <a:r>
              <a:rPr lang="es-E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B, </a:t>
            </a:r>
          </a:p>
          <a:p>
            <a:pPr algn="just"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s-ES" sz="2800">
                <a:solidFill>
                  <a:schemeClr val="tx1">
                    <a:lumMod val="75000"/>
                    <a:lumOff val="25000"/>
                  </a:schemeClr>
                </a:solidFill>
              </a:rPr>
              <a:t>		(1,1) là phần tử 1 trong A</a:t>
            </a:r>
            <a:r>
              <a:rPr lang="es-E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B.</a:t>
            </a:r>
            <a:endParaRPr lang="es-ES" sz="28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just"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s-ES" sz="2800">
                <a:solidFill>
                  <a:schemeClr val="tx1">
                    <a:lumMod val="75000"/>
                    <a:lumOff val="25000"/>
                  </a:schemeClr>
                </a:solidFill>
              </a:rPr>
              <a:t>	Đặc biệt, </a:t>
            </a:r>
            <a:r>
              <a:rPr lang="es-ES" sz="2800">
                <a:solidFill>
                  <a:schemeClr val="tx1">
                    <a:lumMod val="75000"/>
                    <a:lumOff val="25000"/>
                  </a:schemeClr>
                </a:solidFill>
                <a:latin typeface="Script MT Bold" pitchFamily="66" charset="0"/>
              </a:rPr>
              <a:t>B</a:t>
            </a:r>
            <a:r>
              <a:rPr lang="es-ES" sz="2800" baseline="30000">
                <a:solidFill>
                  <a:schemeClr val="tx1">
                    <a:lumMod val="75000"/>
                    <a:lumOff val="25000"/>
                  </a:schemeClr>
                </a:solidFill>
              </a:rPr>
              <a:t>n</a:t>
            </a:r>
            <a:r>
              <a:rPr lang="es-ES" sz="2800">
                <a:solidFill>
                  <a:schemeClr val="tx1">
                    <a:lumMod val="75000"/>
                    <a:lumOff val="25000"/>
                  </a:schemeClr>
                </a:solidFill>
              </a:rPr>
              <a:t> là một đại số Boole.</a:t>
            </a:r>
            <a:endParaRPr lang="en-US"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72400" y="6492874"/>
            <a:ext cx="12984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 noChangeArrowheads="1"/>
          </p:cNvSpPr>
          <p:nvPr>
            <p:ph idx="1"/>
          </p:nvPr>
        </p:nvSpPr>
        <p:spPr>
          <a:xfrm>
            <a:off x="-228600" y="457200"/>
            <a:ext cx="7543800" cy="6553200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s-E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algn="just" eaLnBrk="1" hangingPunct="1">
              <a:buFont typeface="Wingdings 3" panose="05040102010807070707" pitchFamily="18" charset="2"/>
              <a:buNone/>
            </a:pPr>
            <a:r>
              <a:rPr lang="es-ES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Nếu không nói gì thêm, tất cả các tập được nói đến trong chương này đều là tập hữu hạn.</a:t>
            </a:r>
          </a:p>
          <a:p>
            <a:pPr algn="just" eaLnBrk="1" hangingPunct="1">
              <a:buFont typeface="Wingdings 3" panose="05040102010807070707" pitchFamily="18" charset="2"/>
              <a:buNone/>
            </a:pPr>
            <a:endParaRPr lang="es-ES" sz="28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buFont typeface="Wingdings 3" panose="05040102010807070707" pitchFamily="18" charset="2"/>
              <a:buNone/>
            </a:pPr>
            <a:r>
              <a:rPr lang="es-ES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Nhắc lại: Một tập hữu hạn sắp thứ tự luôn luôn có phần tử tối tiểu/tối đại.</a:t>
            </a:r>
            <a:endParaRPr lang="en-US" sz="28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sz="28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buFont typeface="Wingdings 3" panose="05040102010807070707" pitchFamily="18" charset="2"/>
              <a:buNone/>
            </a:pPr>
            <a:r>
              <a:rPr lang="es-ES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Trên một đại số Boole tổng quát chúng ta cũng có các hằng đẳng thức giống như các hằng đẳng thức đã xét trên đại số logic B.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48600" y="6492874"/>
            <a:ext cx="12222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6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6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6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66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66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6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07096" y="25400"/>
            <a:ext cx="8136904" cy="6719596"/>
          </a:xfrm>
          <a:prstGeom prst="rect">
            <a:avLst/>
          </a:prstGeom>
          <a:blipFill rotWithShape="0">
            <a:blip r:embed="rId3"/>
            <a:stretch>
              <a:fillRect l="-599" t="-454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48600" y="6492874"/>
            <a:ext cx="12222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bldLvl="2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/>
              <a:t>Hàm Boole</a:t>
            </a:r>
            <a:endParaRPr lang="en-US"/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278255" y="1676400"/>
            <a:ext cx="7010400" cy="4572000"/>
          </a:xfrm>
        </p:spPr>
        <p:txBody>
          <a:bodyPr>
            <a:normAutofit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s-ES" dirty="0"/>
              <a:t>	</a:t>
            </a:r>
            <a:r>
              <a:rPr lang="es-ES" sz="2800" dirty="0" err="1">
                <a:solidFill>
                  <a:srgbClr val="FF0000"/>
                </a:solidFill>
              </a:rPr>
              <a:t>Định</a:t>
            </a:r>
            <a:r>
              <a:rPr lang="es-ES" sz="2800" dirty="0">
                <a:solidFill>
                  <a:srgbClr val="FF0000"/>
                </a:solidFill>
              </a:rPr>
              <a:t> </a:t>
            </a:r>
            <a:r>
              <a:rPr lang="es-ES" sz="2800" dirty="0" err="1">
                <a:solidFill>
                  <a:srgbClr val="FF0000"/>
                </a:solidFill>
              </a:rPr>
              <a:t>nghĩa</a:t>
            </a:r>
            <a:r>
              <a:rPr lang="es-ES" sz="2800" dirty="0">
                <a:solidFill>
                  <a:srgbClr val="FF0000"/>
                </a:solidFill>
              </a:rPr>
              <a:t>: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s-ES" sz="2800" dirty="0"/>
              <a:t>	</a:t>
            </a:r>
            <a:r>
              <a:rPr lang="es-ES" sz="2800" dirty="0" err="1"/>
              <a:t>Ánh</a:t>
            </a:r>
            <a:r>
              <a:rPr lang="es-ES" sz="2800" dirty="0"/>
              <a:t> </a:t>
            </a:r>
            <a:r>
              <a:rPr lang="es-ES" sz="2800" dirty="0" err="1"/>
              <a:t>xạ</a:t>
            </a:r>
            <a:r>
              <a:rPr lang="es-ES" sz="2800" dirty="0"/>
              <a:t> f: </a:t>
            </a:r>
            <a:r>
              <a:rPr lang="es-ES" sz="2800" dirty="0" err="1"/>
              <a:t>B</a:t>
            </a:r>
            <a:r>
              <a:rPr lang="es-ES" sz="2800" baseline="30000" dirty="0" err="1"/>
              <a:t>n</a:t>
            </a:r>
            <a:r>
              <a:rPr lang="en-US" sz="2800" dirty="0">
                <a:sym typeface="Symbol" panose="05050102010706020507" pitchFamily="18" charset="2"/>
              </a:rPr>
              <a:t></a:t>
            </a:r>
            <a:r>
              <a:rPr lang="es-ES" sz="2800" dirty="0"/>
              <a:t>B </a:t>
            </a:r>
            <a:r>
              <a:rPr lang="es-ES" sz="2800" dirty="0" err="1"/>
              <a:t>gọi</a:t>
            </a:r>
            <a:r>
              <a:rPr lang="es-ES" sz="2800" dirty="0"/>
              <a:t> </a:t>
            </a:r>
            <a:r>
              <a:rPr lang="es-ES" sz="2800" dirty="0" err="1"/>
              <a:t>là</a:t>
            </a:r>
            <a:r>
              <a:rPr lang="es-ES" sz="2800" dirty="0"/>
              <a:t> </a:t>
            </a:r>
            <a:r>
              <a:rPr lang="es-ES" sz="2800" dirty="0" err="1"/>
              <a:t>một</a:t>
            </a:r>
            <a:r>
              <a:rPr lang="es-ES" sz="2800" dirty="0"/>
              <a:t> </a:t>
            </a:r>
            <a:r>
              <a:rPr lang="es-ES" sz="2800" dirty="0" err="1"/>
              <a:t>hàm</a:t>
            </a:r>
            <a:r>
              <a:rPr lang="es-ES" sz="2800" dirty="0"/>
              <a:t> Boole n </a:t>
            </a:r>
            <a:r>
              <a:rPr lang="es-ES" sz="2800" dirty="0" err="1"/>
              <a:t>biến</a:t>
            </a:r>
            <a:r>
              <a:rPr lang="es-ES" sz="2800" dirty="0"/>
              <a:t>.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s-ES" sz="2800" dirty="0"/>
              <a:t>	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s-ES" sz="2800" dirty="0"/>
              <a:t>	</a:t>
            </a:r>
            <a:r>
              <a:rPr lang="es-ES" sz="2800" dirty="0" err="1"/>
              <a:t>Hàm</a:t>
            </a:r>
            <a:r>
              <a:rPr lang="es-ES" sz="2800" dirty="0"/>
              <a:t> </a:t>
            </a:r>
            <a:r>
              <a:rPr lang="es-ES" sz="2800" dirty="0" err="1"/>
              <a:t>đồng</a:t>
            </a:r>
            <a:r>
              <a:rPr lang="es-ES" sz="2800" dirty="0"/>
              <a:t> </a:t>
            </a:r>
            <a:r>
              <a:rPr lang="es-ES" sz="2800" dirty="0" err="1"/>
              <a:t>nhất</a:t>
            </a:r>
            <a:r>
              <a:rPr lang="es-ES" sz="2800" dirty="0"/>
              <a:t> </a:t>
            </a:r>
            <a:r>
              <a:rPr lang="es-ES" sz="2800" dirty="0" err="1"/>
              <a:t>bằng</a:t>
            </a:r>
            <a:r>
              <a:rPr lang="es-ES" sz="2800" dirty="0"/>
              <a:t> 1 </a:t>
            </a:r>
            <a:r>
              <a:rPr lang="es-ES" sz="2800" dirty="0" err="1"/>
              <a:t>ký</a:t>
            </a:r>
            <a:r>
              <a:rPr lang="es-ES" sz="2800" dirty="0"/>
              <a:t> </a:t>
            </a:r>
            <a:r>
              <a:rPr lang="es-ES" sz="2800" dirty="0" err="1"/>
              <a:t>hiệu</a:t>
            </a:r>
            <a:r>
              <a:rPr lang="es-ES" sz="2800" dirty="0"/>
              <a:t> </a:t>
            </a:r>
            <a:r>
              <a:rPr lang="es-ES" sz="2800" dirty="0" err="1"/>
              <a:t>là</a:t>
            </a:r>
            <a:r>
              <a:rPr lang="es-ES" sz="2800" dirty="0"/>
              <a:t> 1, </a:t>
            </a:r>
            <a:r>
              <a:rPr lang="es-ES" sz="2800" dirty="0" err="1"/>
              <a:t>hàm</a:t>
            </a:r>
            <a:r>
              <a:rPr lang="es-ES" sz="2800" dirty="0"/>
              <a:t> </a:t>
            </a:r>
            <a:r>
              <a:rPr lang="es-ES" sz="2800" dirty="0" err="1"/>
              <a:t>đồng</a:t>
            </a:r>
            <a:r>
              <a:rPr lang="es-ES" sz="2800" dirty="0"/>
              <a:t> </a:t>
            </a:r>
            <a:r>
              <a:rPr lang="es-ES" sz="2800" dirty="0" err="1"/>
              <a:t>nhất</a:t>
            </a:r>
            <a:r>
              <a:rPr lang="es-ES" sz="2800" dirty="0"/>
              <a:t> </a:t>
            </a:r>
            <a:r>
              <a:rPr lang="es-ES" sz="2800" dirty="0" err="1"/>
              <a:t>bằng</a:t>
            </a:r>
            <a:r>
              <a:rPr lang="es-ES" sz="2800" dirty="0"/>
              <a:t> 0 </a:t>
            </a:r>
            <a:r>
              <a:rPr lang="es-ES" sz="2800" dirty="0" err="1"/>
              <a:t>ký</a:t>
            </a:r>
            <a:r>
              <a:rPr lang="es-ES" sz="2800" dirty="0"/>
              <a:t> hi</a:t>
            </a:r>
            <a:r>
              <a:rPr lang="en-US" sz="2800" dirty="0" err="1"/>
              <a:t>ệu</a:t>
            </a:r>
            <a:r>
              <a:rPr lang="en-US" sz="2800" dirty="0"/>
              <a:t> </a:t>
            </a:r>
            <a:r>
              <a:rPr lang="en-US" sz="2800" dirty="0" err="1"/>
              <a:t>là</a:t>
            </a:r>
            <a:r>
              <a:rPr lang="en-US" sz="2800" dirty="0"/>
              <a:t> 0. </a:t>
            </a:r>
            <a:r>
              <a:rPr lang="en-US" sz="2800" dirty="0" err="1"/>
              <a:t>Tập</a:t>
            </a:r>
            <a:r>
              <a:rPr lang="en-US" sz="2800" dirty="0"/>
              <a:t> </a:t>
            </a:r>
            <a:r>
              <a:rPr lang="en-US" sz="2800" dirty="0" err="1"/>
              <a:t>tất</a:t>
            </a:r>
            <a:r>
              <a:rPr lang="en-US" sz="2800" dirty="0"/>
              <a:t> </a:t>
            </a:r>
            <a:r>
              <a:rPr lang="en-US" sz="2800" dirty="0" err="1"/>
              <a:t>cả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hàm</a:t>
            </a:r>
            <a:r>
              <a:rPr lang="en-US" sz="2800" dirty="0"/>
              <a:t> Boole n – </a:t>
            </a:r>
            <a:r>
              <a:rPr lang="en-US" sz="2800" dirty="0" err="1"/>
              <a:t>biến</a:t>
            </a:r>
            <a:r>
              <a:rPr lang="en-US" sz="2800" dirty="0"/>
              <a:t> </a:t>
            </a:r>
            <a:r>
              <a:rPr lang="en-US" sz="2800" dirty="0" err="1"/>
              <a:t>ký</a:t>
            </a:r>
            <a:r>
              <a:rPr lang="en-US" sz="2800" dirty="0"/>
              <a:t> </a:t>
            </a:r>
            <a:r>
              <a:rPr lang="en-US" sz="2800" dirty="0" err="1"/>
              <a:t>hiệu</a:t>
            </a:r>
            <a:r>
              <a:rPr lang="en-US" sz="2800" dirty="0"/>
              <a:t> </a:t>
            </a:r>
            <a:r>
              <a:rPr lang="en-US" sz="2800" dirty="0" err="1"/>
              <a:t>là</a:t>
            </a:r>
            <a:r>
              <a:rPr lang="en-US" sz="2800" dirty="0"/>
              <a:t> </a:t>
            </a:r>
            <a:r>
              <a:rPr lang="en-US" sz="2800" dirty="0">
                <a:latin typeface="Script MT Bold" pitchFamily="66" charset="0"/>
              </a:rPr>
              <a:t>F</a:t>
            </a:r>
            <a:r>
              <a:rPr lang="en-US" sz="2800" baseline="-25000" dirty="0"/>
              <a:t>n</a:t>
            </a:r>
            <a:r>
              <a:rPr lang="en-US" sz="2800" dirty="0"/>
              <a:t>.</a:t>
            </a:r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24800" y="6492874"/>
            <a:ext cx="11460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" dur="500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7" name="Rectangle 3"/>
          <p:cNvSpPr>
            <a:spLocks noGrp="1" noChangeArrowheads="1"/>
          </p:cNvSpPr>
          <p:nvPr>
            <p:ph idx="1"/>
          </p:nvPr>
        </p:nvSpPr>
        <p:spPr>
          <a:xfrm>
            <a:off x="-228600" y="838200"/>
            <a:ext cx="8365067" cy="5279363"/>
          </a:xfrm>
        </p:spPr>
        <p:txBody>
          <a:bodyPr rtlCol="0">
            <a:normAutofit/>
          </a:bodyPr>
          <a:lstStyle/>
          <a:p>
            <a:pPr algn="just"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</a:rPr>
              <a:t>	Cho f và g là hai hàm Boole n biến. Chúng ta</a:t>
            </a:r>
          </a:p>
          <a:p>
            <a:pPr algn="just"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800"/>
              <a:t>    </a:t>
            </a: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</a:rPr>
              <a:t>có các định nghĩa như sau</a:t>
            </a: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:</a:t>
            </a:r>
          </a:p>
          <a:p>
            <a:pPr algn="just"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sz="28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</a:rPr>
              <a:t>	1) (f </a:t>
            </a: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 g)(x</a:t>
            </a:r>
            <a:r>
              <a:rPr lang="en-US" sz="2800" baseline="-250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1</a:t>
            </a: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, …, x</a:t>
            </a:r>
            <a:r>
              <a:rPr lang="en-US" sz="2800" baseline="-250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n</a:t>
            </a: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) = </a:t>
            </a: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</a:rPr>
              <a:t>f</a:t>
            </a: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(x</a:t>
            </a:r>
            <a:r>
              <a:rPr lang="en-US" sz="2800" baseline="-250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1</a:t>
            </a: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, …, x</a:t>
            </a:r>
            <a:r>
              <a:rPr lang="en-US" sz="2800" baseline="-250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n</a:t>
            </a: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)</a:t>
            </a: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 g(x</a:t>
            </a:r>
            <a:r>
              <a:rPr lang="en-US" sz="2800" baseline="-250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1</a:t>
            </a: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, …, x</a:t>
            </a:r>
            <a:r>
              <a:rPr lang="en-US" sz="2800" baseline="-250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n</a:t>
            </a: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)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sz="2800">
              <a:solidFill>
                <a:schemeClr val="tx1">
                  <a:lumMod val="75000"/>
                  <a:lumOff val="25000"/>
                </a:schemeClr>
              </a:solidFill>
              <a:sym typeface="Symbol" panose="05050102010706020507" pitchFamily="18" charset="2"/>
            </a:endParaRP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	2) </a:t>
            </a: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</a:rPr>
              <a:t>(f </a:t>
            </a: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 g)(x</a:t>
            </a:r>
            <a:r>
              <a:rPr lang="en-US" sz="2800" baseline="-250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1</a:t>
            </a: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, …, x</a:t>
            </a:r>
            <a:r>
              <a:rPr lang="en-US" sz="2800" baseline="-250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n</a:t>
            </a: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) = </a:t>
            </a: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</a:rPr>
              <a:t>f</a:t>
            </a: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(x</a:t>
            </a:r>
            <a:r>
              <a:rPr lang="en-US" sz="2800" baseline="-250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1</a:t>
            </a: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, …, x</a:t>
            </a:r>
            <a:r>
              <a:rPr lang="en-US" sz="2800" baseline="-250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n</a:t>
            </a: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)</a:t>
            </a: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 g(x</a:t>
            </a:r>
            <a:r>
              <a:rPr lang="en-US" sz="2800" baseline="-250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1</a:t>
            </a: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, …, x</a:t>
            </a:r>
            <a:r>
              <a:rPr lang="en-US" sz="2800" baseline="-250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n</a:t>
            </a: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)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sz="2800">
              <a:solidFill>
                <a:schemeClr val="tx1">
                  <a:lumMod val="75000"/>
                  <a:lumOff val="25000"/>
                </a:schemeClr>
              </a:solidFill>
              <a:sym typeface="Symbol" panose="05050102010706020507" pitchFamily="18" charset="2"/>
            </a:endParaRP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	3) f</a:t>
            </a:r>
            <a:r>
              <a:rPr lang="en-US" sz="2800" baseline="300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/ </a:t>
            </a: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(x</a:t>
            </a:r>
            <a:r>
              <a:rPr lang="en-US" sz="2800" baseline="-250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1</a:t>
            </a: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, …, x</a:t>
            </a:r>
            <a:r>
              <a:rPr lang="en-US" sz="2800" baseline="-250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n</a:t>
            </a: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) = (f(x</a:t>
            </a:r>
            <a:r>
              <a:rPr lang="en-US" sz="2800" baseline="-250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1</a:t>
            </a: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, …, x</a:t>
            </a:r>
            <a:r>
              <a:rPr lang="en-US" sz="2800" baseline="-250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n</a:t>
            </a: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))</a:t>
            </a:r>
            <a:r>
              <a:rPr lang="en-US" sz="2800" baseline="300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/</a:t>
            </a:r>
          </a:p>
          <a:p>
            <a:pPr fontAlgn="auto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</a:rPr>
              <a:t>   					                       với mọi </a:t>
            </a: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x</a:t>
            </a:r>
            <a:r>
              <a:rPr lang="en-US" sz="2800" baseline="-250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1</a:t>
            </a: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, …, x</a:t>
            </a:r>
            <a:r>
              <a:rPr lang="en-US" sz="2800" baseline="-250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n</a:t>
            </a: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.	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sz="2800">
              <a:solidFill>
                <a:schemeClr val="tx1">
                  <a:lumMod val="75000"/>
                  <a:lumOff val="25000"/>
                </a:schemeClr>
              </a:solidFill>
              <a:sym typeface="Symbol" panose="05050102010706020507" pitchFamily="18" charset="2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24800" y="6492874"/>
            <a:ext cx="11460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74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74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74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74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74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74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74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74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74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74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74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74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74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74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74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74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74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74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143000"/>
            <a:ext cx="6781800" cy="4114800"/>
          </a:xfrm>
        </p:spPr>
        <p:txBody>
          <a:bodyPr>
            <a:normAutofit fontScale="70000" lnSpcReduction="20000"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dirty="0"/>
              <a:t>	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 </a:t>
            </a:r>
            <a:r>
              <a:rPr lang="en-US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3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Boole.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sz="3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sz="3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3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sz="3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f 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g  f  g = g  f  g = f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sz="3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trong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3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đó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f  g </a:t>
            </a:r>
            <a:r>
              <a:rPr lang="en-US" sz="3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nếu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	f(x</a:t>
            </a:r>
            <a:r>
              <a:rPr lang="en-US" sz="3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…, </a:t>
            </a:r>
            <a:r>
              <a:rPr lang="en-US" sz="3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sz="3800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 g(x</a:t>
            </a:r>
            <a:r>
              <a:rPr lang="en-US" sz="3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…, </a:t>
            </a:r>
            <a:r>
              <a:rPr lang="en-US" sz="3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sz="3800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dirty="0">
              <a:sym typeface="Symbol" panose="05050102010706020507" pitchFamily="18" charset="2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72400" y="6492874"/>
            <a:ext cx="12984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800" decel="1000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800" decel="100000" fill="hold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800" decel="100000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800" decel="100000" fill="hold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decel="100000" fill="hold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800" decel="100000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800" decel="100000" fill="hold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00" decel="100000" fill="hold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800" decel="100000" fill="hold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800" decel="100000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800" decel="100000" fill="hold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800" decel="100000" fill="hold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800" decel="100000" fill="hold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800" decel="100000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800" decel="100000" fill="hold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800" decel="100000" fill="hold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800" decel="100000" fill="hold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537237"/>
            <a:ext cx="6781801" cy="5203163"/>
          </a:xfrm>
        </p:spPr>
        <p:txBody>
          <a:bodyPr/>
          <a:lstStyle/>
          <a:p>
            <a:pPr marL="0" indent="0" algn="just" eaLnBrk="1" hangingPunct="1">
              <a:buNone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Cách thông thường nhất để xác định một hàm Boole là dùng bảng giá trị. 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Hàm Boole 2 biến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i="1"/>
          </a:p>
        </p:txBody>
      </p:sp>
      <p:pic>
        <p:nvPicPr>
          <p:cNvPr id="3482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590800"/>
            <a:ext cx="70104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48600" y="6492874"/>
            <a:ext cx="12222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Ví dụ: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322263" y="3000375"/>
            <a:ext cx="73914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AutoNum type="arabicPeriod"/>
              <a:defRPr/>
            </a:pP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phiếu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 eaLnBrk="1" hangingPunct="1">
              <a:spcBef>
                <a:spcPts val="0"/>
              </a:spcBef>
              <a:defRPr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1 (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tán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0 (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bác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304800" y="3962400"/>
            <a:ext cx="73152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>
              <a:spcBef>
                <a:spcPts val="600"/>
              </a:spcBef>
              <a:buFontTx/>
              <a:buAutoNum type="arabicPeriod" startAt="2"/>
              <a:defRPr/>
            </a:pP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f </a:t>
            </a:r>
          </a:p>
          <a:p>
            <a:pPr marL="0" indent="0" algn="just" eaLnBrk="1" hangingPunct="1">
              <a:spcBef>
                <a:spcPts val="600"/>
              </a:spcBef>
              <a:defRPr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1 (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phiếu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tán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spcBef>
                <a:spcPts val="600"/>
              </a:spcBef>
              <a:defRPr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0 (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phiếu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bác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>
              <a:latin typeface="VNI-Viettay" panose="000004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304800" y="1676400"/>
            <a:ext cx="7315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Xét kết quả f trong việc thông qua một quyết định dựa vào 3 phiếu bầu x, y, z </a:t>
            </a:r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24800" y="6492874"/>
            <a:ext cx="11460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5"/>
          <p:cNvSpPr txBox="1">
            <a:spLocks noChangeArrowheads="1"/>
          </p:cNvSpPr>
          <p:nvPr/>
        </p:nvSpPr>
        <p:spPr bwMode="auto">
          <a:xfrm>
            <a:off x="304800" y="457200"/>
            <a:ext cx="73914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 đó f là hàm Bool theo 3 biến x,y,x có bảng chân trị như sau: 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1676400"/>
          <a:ext cx="4876800" cy="46116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410"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x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y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z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f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410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0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0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0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0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410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0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0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0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410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0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0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0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410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0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410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0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0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0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410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0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410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0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2410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48600" y="6492874"/>
            <a:ext cx="12222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6175F5-A942-BE5A-1840-BF006610E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9" y="304800"/>
            <a:ext cx="9128041" cy="304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F96982-AB24-1964-BD6C-CB5B9BCE6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86200"/>
            <a:ext cx="9210472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805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D1ECD1-F98E-5489-0E1E-FA6DD57CD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447800"/>
            <a:ext cx="8757747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474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3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914400"/>
            <a:ext cx="7010400" cy="4876800"/>
          </a:xfrm>
        </p:spPr>
        <p:txBody>
          <a:bodyPr rtlCol="0">
            <a:noAutofit/>
          </a:bodyPr>
          <a:lstStyle/>
          <a:p>
            <a:pPr algn="just">
              <a:buNone/>
              <a:defRPr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Boole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0/1.</a:t>
            </a:r>
          </a:p>
          <a:p>
            <a:pPr algn="just"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Boole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Boole.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Boole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(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hội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),  (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tuyển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), </a:t>
            </a:r>
            <a:r>
              <a:rPr lang="en-US" sz="2800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/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phép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lấy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bù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).</a:t>
            </a:r>
          </a:p>
          <a:p>
            <a:pPr algn="just"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>
              <a:buNone/>
              <a:defRPr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Mỗi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biểu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thức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Boole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cũng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được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xem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như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một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hàm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Boole. </a:t>
            </a:r>
          </a:p>
          <a:p>
            <a:pPr algn="just">
              <a:buNone/>
              <a:defRPr/>
            </a:pP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24800" y="6492874"/>
            <a:ext cx="11460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04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04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81000" y="533400"/>
            <a:ext cx="7162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2800" b="1">
                <a:solidFill>
                  <a:schemeClr val="accent1"/>
                </a:solidFill>
                <a:latin typeface="Tahoma" panose="020B0604030504040204" pitchFamily="34" charset="0"/>
              </a:rPr>
              <a:t>Các phép toán trên hàm Boole:</a:t>
            </a:r>
            <a:endParaRPr lang="vi-VN" sz="2800" b="1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28600" y="1676400"/>
                <a:ext cx="7848872" cy="25699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3200" b="1" err="1"/>
                  <a:t>Phép</a:t>
                </a:r>
                <a:r>
                  <a:rPr lang="en-US" sz="3200" b="1"/>
                  <a:t> </a:t>
                </a:r>
                <a:r>
                  <a:rPr lang="en-US" sz="3200" b="1" err="1"/>
                  <a:t>cộng</a:t>
                </a:r>
                <a:r>
                  <a:rPr lang="en-US" sz="3200" b="1"/>
                  <a:t> Boole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/>
                  <a:t>:</a:t>
                </a:r>
              </a:p>
              <a:p>
                <a:r>
                  <a:rPr lang="en-US" sz="280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Với</a:t>
                </a: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f, g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80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sz="2800" baseline="-2500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ta </a:t>
                </a:r>
                <a:r>
                  <a:rPr lang="en-US" sz="280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định</a:t>
                </a: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nghĩa</a:t>
                </a: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tổng</a:t>
                </a: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Boole </a:t>
                </a:r>
                <a:r>
                  <a:rPr lang="en-US" sz="280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của</a:t>
                </a: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 </a:t>
                </a:r>
                <a:r>
                  <a:rPr lang="en-US" sz="280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</a:t>
                </a: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̀ g:</a:t>
                </a:r>
              </a:p>
              <a:p>
                <a:pPr algn="ctr"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𝒈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𝒇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𝒈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𝒇𝒈</m:t>
                      </m:r>
                    </m:oMath>
                  </m:oMathPara>
                </a14:m>
                <a:endParaRPr lang="en-US" sz="2800" b="1">
                  <a:solidFill>
                    <a:srgbClr val="FF000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endParaRPr lang="en-US" sz="200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1676400"/>
                <a:ext cx="7848872" cy="2569934"/>
              </a:xfrm>
              <a:prstGeom prst="rect">
                <a:avLst/>
              </a:prstGeom>
              <a:blipFill rotWithShape="0">
                <a:blip r:embed="rId3"/>
                <a:stretch>
                  <a:fillRect l="-1787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14400" y="4495800"/>
                <a:ext cx="5976664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>
                    <a:sym typeface="Wingdings" panose="05000000000000000000" pitchFamily="2" charset="2"/>
                  </a:rPr>
                  <a:t> </a:t>
                </a:r>
                <a:r>
                  <a:rPr lang="en-US" sz="2800"/>
                  <a:t>(f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sz="2800"/>
                  <a:t> g)(x) = f(x) + g(x) – f(x)g(x)</a:t>
                </a:r>
                <a:endParaRPr lang="en-US" sz="3600" b="1">
                  <a:solidFill>
                    <a:srgbClr val="FF0000"/>
                  </a:solidFill>
                </a:endParaRPr>
              </a:p>
              <a:p>
                <a:endParaRPr lang="en-US" sz="280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495800"/>
                <a:ext cx="5976664" cy="954107"/>
              </a:xfrm>
              <a:prstGeom prst="rect">
                <a:avLst/>
              </a:prstGeom>
              <a:blipFill rotWithShape="0">
                <a:blip r:embed="rId4"/>
                <a:stretch>
                  <a:fillRect l="-2041" t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24800" y="6492874"/>
            <a:ext cx="11460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 build="p"/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04800" y="304800"/>
                <a:ext cx="7848872" cy="25699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3200" b="1"/>
                  <a:t>Phép nhân Boole </a:t>
                </a:r>
                <a14:m>
                  <m:oMath xmlns:m="http://schemas.openxmlformats.org/officeDocument/2006/math">
                    <m:r>
                      <a:rPr lang="en-US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/>
                  <a:t>:</a:t>
                </a:r>
              </a:p>
              <a:p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Với f,g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sz="2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ta định nghĩa tích Boole của f và g:</a:t>
                </a:r>
              </a:p>
              <a:p>
                <a:pPr algn="ctr"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𝒈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𝒇𝒈</m:t>
                      </m:r>
                    </m:oMath>
                  </m:oMathPara>
                </a14:m>
                <a:endParaRPr lang="en-US" sz="28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r>
                  <a:rPr lang="en-US" sz="2000"/>
                  <a:t>	</a:t>
                </a:r>
                <a:endParaRPr lang="en-US" sz="2800" b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04800"/>
                <a:ext cx="7848872" cy="2569934"/>
              </a:xfrm>
              <a:prstGeom prst="rect">
                <a:avLst/>
              </a:prstGeom>
              <a:blipFill rotWithShape="0">
                <a:blip r:embed="rId3"/>
                <a:stretch>
                  <a:fillRect l="-1786" t="-33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066800" y="2926109"/>
                <a:ext cx="486054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>
                    <a:sym typeface="Wingdings" panose="05000000000000000000" pitchFamily="2" charset="2"/>
                  </a:rPr>
                  <a:t> </a:t>
                </a:r>
                <a:r>
                  <a:rPr lang="en-US" sz="3200"/>
                  <a:t>(f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/>
                  <a:t>g)(x) = f(x)g(x)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926109"/>
                <a:ext cx="4860540" cy="584775"/>
              </a:xfrm>
              <a:prstGeom prst="rect">
                <a:avLst/>
              </a:prstGeom>
              <a:blipFill rotWithShape="0">
                <a:blip r:embed="rId4"/>
                <a:stretch>
                  <a:fillRect l="-3137" t="-14583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04800" y="4419600"/>
                <a:ext cx="7848872" cy="130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3200" b="1"/>
                  <a:t>Phép lấy phần bù:</a:t>
                </a:r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acc>
                    <m:r>
                      <a:rPr lang="en-US" sz="3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3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US" sz="3600" b="1">
                    <a:solidFill>
                      <a:srgbClr val="FF0000"/>
                    </a:solidFill>
                  </a:rPr>
                  <a:t> </a:t>
                </a:r>
                <a:endParaRPr lang="en-US" sz="4400" b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4419600"/>
                <a:ext cx="7848872" cy="1306320"/>
              </a:xfrm>
              <a:prstGeom prst="rect">
                <a:avLst/>
              </a:prstGeom>
              <a:blipFill rotWithShape="0">
                <a:blip r:embed="rId5"/>
                <a:stretch>
                  <a:fillRect l="-1786" t="-6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48600" y="6492874"/>
            <a:ext cx="12222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/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838200" y="533400"/>
            <a:ext cx="590391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40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Biểu</a:t>
            </a:r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thức</a:t>
            </a:r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Boole:</a:t>
            </a:r>
            <a:endParaRPr lang="vi-VN" sz="4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04800" y="1752600"/>
                <a:ext cx="7315200" cy="34317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800"/>
                  </a:spcAft>
                </a:pP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 một biểu thức được tạo bởi các biến và các phép toán Boole.</a:t>
                </a:r>
              </a:p>
              <a:p>
                <a:pPr>
                  <a:spcAft>
                    <a:spcPts val="1800"/>
                  </a:spcAft>
                </a:pPr>
                <a:r>
                  <a:rPr lang="en-US" sz="28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VD</a:t>
                </a: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fr-FR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E= (x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fr-FR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z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fr-F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fr-FR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(z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acc>
                      <m:accPr>
                        <m:chr m:val="̅"/>
                        <m:ctrlPr>
                          <a:rPr lang="fr-F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fr-FR" sz="2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1800"/>
                  </a:spcAft>
                </a:pPr>
                <a:r>
                  <a:rPr lang="fr-FR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Để dễ đọc hơn, người ta có thể viết:</a:t>
                </a:r>
              </a:p>
              <a:p>
                <a:r>
                  <a:rPr lang="fr-FR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E = xyz + z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fr-FR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fr-FR" sz="2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vi-VN" sz="320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752600"/>
                <a:ext cx="7315200" cy="3431709"/>
              </a:xfrm>
              <a:prstGeom prst="rect">
                <a:avLst/>
              </a:prstGeom>
              <a:blipFill rotWithShape="0">
                <a:blip r:embed="rId3"/>
                <a:stretch>
                  <a:fillRect l="-1667" t="-1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48600" y="6492874"/>
            <a:ext cx="12222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5D803-925A-1B21-4DB4-2C536028A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D46CF4A-98F3-BFD6-1334-ECC240E0F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04800"/>
            <a:ext cx="749141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vi-VN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Đơn thức </a:t>
            </a:r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vi-VN" sz="4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802546-3F4D-4AA2-307D-41FC2683D974}"/>
                  </a:ext>
                </a:extLst>
              </p:cNvPr>
              <p:cNvSpPr txBox="1"/>
              <p:nvPr/>
            </p:nvSpPr>
            <p:spPr>
              <a:xfrm>
                <a:off x="0" y="1600200"/>
                <a:ext cx="8149480" cy="44525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25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Xét</a:t>
                </a: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5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tập</a:t>
                </a: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5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hợp</a:t>
                </a: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5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các</a:t>
                </a: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5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hàm</a:t>
                </a: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Boole n </a:t>
                </a:r>
                <a:r>
                  <a:rPr lang="en-US" sz="25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biến</a:t>
                </a: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5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sz="25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5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 </a:t>
                </a:r>
                <a:r>
                  <a:rPr lang="en-US" sz="25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biến</a:t>
                </a: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</a:t>
                </a:r>
                <a:r>
                  <a:rPr lang="en-US" sz="25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x</a:t>
                </a:r>
                <a:r>
                  <a:rPr lang="en-US" sz="25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…,</a:t>
                </a:r>
                <a:r>
                  <a:rPr lang="en-US" sz="25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5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indent="-342900"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en-US" sz="25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Mỗi</a:t>
                </a: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5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hàm</a:t>
                </a: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Boole x</a:t>
                </a:r>
                <a:r>
                  <a:rPr lang="en-US" sz="25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hay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5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5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được</a:t>
                </a: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5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gọi</a:t>
                </a: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là </a:t>
                </a:r>
                <a:r>
                  <a:rPr lang="en-US" sz="25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một</a:t>
                </a: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5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</a:t>
                </a:r>
                <a:r>
                  <a:rPr lang="en-US" sz="25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̀ </a:t>
                </a:r>
                <a:r>
                  <a:rPr lang="en-US" sz="25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indent="-342900"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en-US" sz="25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US" sz="25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5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thức</a:t>
                </a:r>
                <a:r>
                  <a:rPr lang="en-US" sz="25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là </a:t>
                </a:r>
                <a:r>
                  <a:rPr lang="en-US" sz="25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tích</a:t>
                </a: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5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khác</a:t>
                </a: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5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5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của</a:t>
                </a: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5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một</a:t>
                </a: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5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sô</a:t>
                </a: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́ </a:t>
                </a:r>
                <a:r>
                  <a:rPr lang="en-US" sz="25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hữu</a:t>
                </a: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5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hạn</a:t>
                </a: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5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</a:t>
                </a: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̀ </a:t>
                </a:r>
                <a:r>
                  <a:rPr lang="en-US" sz="25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indent="-342900"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vi-VN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 một đơn thức, không thể có mặt đồng thời</a:t>
                </a: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</a:t>
                </a:r>
                <a:r>
                  <a:rPr lang="en-US" sz="25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5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5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342900" indent="-342900"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vi-VN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 một đơn thức, không ghi lặp lại các từ đơn</a:t>
                </a:r>
                <a:endParaRPr lang="en-US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vi-VN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Bậc của một đơn thức là số từ đơn khác nhau có mặt trong đơn thức</a:t>
                </a: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5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ký</a:t>
                </a: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5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hiệu</a:t>
                </a: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5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deg</a:t>
                </a:r>
              </a:p>
              <a:p>
                <a:pPr marL="342900" indent="-342900"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endParaRPr lang="en-US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endParaRPr lang="en-US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802546-3F4D-4AA2-307D-41FC2683D9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600200"/>
                <a:ext cx="8149480" cy="4452501"/>
              </a:xfrm>
              <a:prstGeom prst="rect">
                <a:avLst/>
              </a:prstGeom>
              <a:blipFill>
                <a:blip r:embed="rId3"/>
                <a:stretch>
                  <a:fillRect l="-1197" t="-1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10B1A477-131D-DF95-E283-BC6F28376B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EC481415-62B6-FD51-59B4-ED83CDB07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1D83AA62-0948-4529-2B8E-5B748077C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24800" y="6492874"/>
            <a:ext cx="11460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325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6D8DC-1241-519C-0FCA-B571C9404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CB677C7-4221-7457-3012-D0DB9AA48A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200"/>
            <a:ext cx="7491413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40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Dạng</a:t>
            </a:r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nối</a:t>
            </a:r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rời</a:t>
            </a:r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chính</a:t>
            </a:r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tắc</a:t>
            </a:r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40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của</a:t>
            </a:r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hàm</a:t>
            </a:r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Boole:</a:t>
            </a:r>
            <a:endParaRPr lang="vi-VN" sz="4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E59276-DAA6-95A9-45ED-0B042096BE68}"/>
              </a:ext>
            </a:extLst>
          </p:cNvPr>
          <p:cNvSpPr txBox="1"/>
          <p:nvPr/>
        </p:nvSpPr>
        <p:spPr>
          <a:xfrm>
            <a:off x="0" y="1600200"/>
            <a:ext cx="8149480" cy="3683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5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̀ </a:t>
            </a:r>
            <a:r>
              <a:rPr lang="en-US" sz="25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tối</a:t>
            </a:r>
            <a:r>
              <a:rPr 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tiểu</a:t>
            </a:r>
            <a:r>
              <a:rPr 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5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tiểu</a:t>
            </a:r>
            <a:r>
              <a:rPr 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là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tích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khác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của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đúng</a:t>
            </a:r>
            <a:r>
              <a:rPr lang="en-US" sz="25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 </a:t>
            </a:r>
            <a:r>
              <a:rPr lang="en-US" sz="2500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sz="25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̀ </a:t>
            </a:r>
            <a:r>
              <a:rPr lang="en-US" sz="2500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5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en-US" sz="25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endParaRPr lang="en-US" sz="25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5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thức</a:t>
            </a:r>
            <a:r>
              <a:rPr 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thức</a:t>
            </a:r>
            <a:r>
              <a:rPr 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là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thức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biểu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diễn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hàm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Boole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thành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tổng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của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các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thức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5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Dạng</a:t>
            </a:r>
            <a:r>
              <a:rPr 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nối</a:t>
            </a:r>
            <a:r>
              <a:rPr 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rời</a:t>
            </a:r>
            <a:r>
              <a:rPr 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chính</a:t>
            </a:r>
            <a:r>
              <a:rPr 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tắc</a:t>
            </a:r>
            <a:r>
              <a:rPr 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là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thức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biểu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diễn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hàm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Boole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thành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tổng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của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các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sz="25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̀ </a:t>
            </a:r>
            <a:r>
              <a:rPr lang="en-US" sz="25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tối</a:t>
            </a:r>
            <a:r>
              <a:rPr lang="en-US" sz="25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tiểu</a:t>
            </a:r>
            <a:r>
              <a:rPr lang="en-US" sz="25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sz="25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6C7F6C8E-B4A9-640C-4E7F-D4821C34A5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AD69036B-8FCF-EB34-0871-C7F1CFA5C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D3EF23EB-4C62-5FE7-B85F-1F087B0CB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24800" y="6492874"/>
            <a:ext cx="11460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25C0CD-ABEA-CB20-8D17-66462686F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927" y="2609254"/>
            <a:ext cx="7282486" cy="55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704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33400" y="1143000"/>
                <a:ext cx="7920880" cy="4277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en-US" sz="28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VD: Xét hàm boole, với 3 biến: x, y, z</a:t>
                </a:r>
              </a:p>
              <a:p>
                <a:pPr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x, y, z,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800" i="1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800" i="1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là các từ đơn.</a:t>
                </a:r>
              </a:p>
              <a:p>
                <a:pPr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xy, yz là đơn thức</a:t>
                </a:r>
              </a:p>
              <a:p>
                <a:pPr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xy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là từ tối tiểu</a:t>
                </a:r>
              </a:p>
              <a:p>
                <a:pPr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E= xy + yz là một công thức đa thức</a:t>
                </a:r>
              </a:p>
              <a:p>
                <a:pPr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Và	F=xyz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là một dạng nối rời chính tắc</a:t>
                </a:r>
                <a:endParaRPr lang="vi-VN" sz="2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143000"/>
                <a:ext cx="7920880" cy="4277581"/>
              </a:xfrm>
              <a:prstGeom prst="rect">
                <a:avLst/>
              </a:prstGeom>
              <a:blipFill rotWithShape="0">
                <a:blip r:embed="rId3"/>
                <a:stretch>
                  <a:fillRect l="-1617" b="-2996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72400" y="6492874"/>
            <a:ext cx="12984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0" y="76200"/>
            <a:ext cx="7491413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40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sao</a:t>
            </a:r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Rời</a:t>
            </a:r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vi-VN" sz="4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1600200"/>
            <a:ext cx="8149480" cy="2657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vi-V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Mạch Logic: </a:t>
            </a:r>
            <a:r>
              <a:rPr lang="vi-V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Dạng nối rời là nền tảng để thiết kế mạch logic và hệ thống số. 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vi-V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Tối Ưu Hóa Mạch: </a:t>
            </a:r>
            <a:r>
              <a:rPr lang="vi-V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Hiểu dạng nối rời giúp bạn có thể tối ưu hóa mạch điện bằng cách đơn giản hóa biểu thức logic.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vi-V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Phân Tích Hệ Thống Logic: </a:t>
            </a:r>
            <a:r>
              <a:rPr lang="vi-V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Dạng này cung cấp cách tiếp cận hệ thống để phân tích các hàm logic phức tạp.</a:t>
            </a:r>
            <a:endParaRPr lang="vi-VN" sz="25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24800" y="6492874"/>
            <a:ext cx="11460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-228600" y="16933"/>
                <a:ext cx="8458200" cy="60939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>
                  <a:spcBef>
                    <a:spcPts val="1800"/>
                  </a:spcBef>
                  <a:spcAft>
                    <a:spcPts val="1200"/>
                  </a:spcAft>
                  <a:defRPr/>
                </a:pPr>
                <a:endParaRPr lang="en-US">
                  <a:cs typeface="Times New Roman" panose="02020603050405020304" pitchFamily="18" charset="0"/>
                </a:endParaRPr>
              </a:p>
              <a:p>
                <a:pPr lvl="1">
                  <a:spcBef>
                    <a:spcPts val="1800"/>
                  </a:spcBef>
                  <a:spcAft>
                    <a:spcPts val="1200"/>
                  </a:spcAft>
                  <a:defRPr/>
                </a:pP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  <a:ea typeface="Cambria Math"/>
                        <a:cs typeface="Calibri" pitchFamily="34" charset="0"/>
                      </a:rPr>
                      <m:t>𝑓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/>
                            <a:cs typeface="Calibri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/>
                            <a:ea typeface="Cambria Math"/>
                            <a:cs typeface="Calibri" pitchFamily="34" charset="0"/>
                          </a:rPr>
                          <m:t>F</m:t>
                        </m:r>
                      </m:e>
                      <m:sub>
                        <m:r>
                          <a:rPr lang="en-US" sz="2800" i="1">
                            <a:latin typeface="Cambria Math"/>
                            <a:ea typeface="Cambria Math"/>
                            <a:cs typeface="Calibri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  <a:ea typeface="Cambria Math"/>
                        <a:cs typeface="Calibri" pitchFamily="34" charset="0"/>
                      </a:rPr>
                      <m:t>𝑓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/>
                        <a:cs typeface="Calibri" pitchFamily="34" charset="0"/>
                      </a:rPr>
                      <m:t> </m:t>
                    </m:r>
                  </m:oMath>
                </a14:m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 thể viết dưới dạng sau:</a:t>
                </a:r>
              </a:p>
              <a:p>
                <a:pPr lvl="1">
                  <a:spcBef>
                    <a:spcPts val="1200"/>
                  </a:spcBef>
                  <a:defRPr/>
                </a:pP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(*)</a:t>
                </a:r>
              </a:p>
              <a:p>
                <a:pPr lvl="1">
                  <a:spcBef>
                    <a:spcPts val="2400"/>
                  </a:spcBef>
                  <a:defRPr/>
                </a:pP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latin typeface="Cambria Math" panose="02040503050406030204" pitchFamily="18" charset="0"/>
                            <a:ea typeface="Cambria Math"/>
                            <a:cs typeface="Calibri" pitchFamily="34" charset="0"/>
                          </a:rPr>
                        </m:ctrlPr>
                      </m:sSubPr>
                      <m:e>
                        <m:r>
                          <a:rPr lang="en-US" sz="2800" b="1" i="1">
                            <a:latin typeface="Cambria Math"/>
                            <a:ea typeface="Cambria Math"/>
                            <a:cs typeface="Calibri" pitchFamily="34" charset="0"/>
                          </a:rPr>
                          <m:t>𝒖</m:t>
                        </m:r>
                      </m:e>
                      <m:sub>
                        <m:r>
                          <a:rPr lang="en-US" sz="2800" b="1" i="1">
                            <a:latin typeface="Cambria Math"/>
                            <a:ea typeface="Cambria Math"/>
                            <a:cs typeface="Calibri" pitchFamily="34" charset="0"/>
                          </a:rPr>
                          <m:t>𝒊</m:t>
                        </m:r>
                      </m:sub>
                    </m:sSub>
                    <m:r>
                      <a:rPr lang="en-US" sz="2800" b="1" i="1">
                        <a:latin typeface="Cambria Math" panose="02040503050406030204" pitchFamily="18" charset="0"/>
                        <a:ea typeface="Cambria Math"/>
                        <a:cs typeface="Calibri" pitchFamily="34" charset="0"/>
                      </a:rPr>
                      <m:t> </m:t>
                    </m:r>
                  </m:oMath>
                </a14:m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 các đơn thức tối tiểu bậc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  <a:ea typeface="Cambria Math"/>
                        <a:cs typeface="Calibri" pitchFamily="34" charset="0"/>
                      </a:rPr>
                      <m:t>𝑛</m:t>
                    </m:r>
                    <m:r>
                      <a:rPr lang="en-US" sz="2800" i="1">
                        <a:latin typeface="Cambria Math"/>
                        <a:ea typeface="Cambria Math"/>
                        <a:cs typeface="Calibri" pitchFamily="34" charset="0"/>
                      </a:rPr>
                      <m:t> (</m:t>
                    </m:r>
                    <m:r>
                      <a:rPr lang="en-US" sz="2800" i="1">
                        <a:latin typeface="Cambria Math"/>
                        <a:ea typeface="Cambria Math"/>
                        <a:cs typeface="Calibri" pitchFamily="34" charset="0"/>
                      </a:rPr>
                      <m:t>𝑖</m:t>
                    </m:r>
                    <m:r>
                      <a:rPr lang="en-US" sz="2800" i="1">
                        <a:latin typeface="Cambria Math"/>
                        <a:ea typeface="Cambria Math"/>
                        <a:cs typeface="Calibri" pitchFamily="34" charset="0"/>
                      </a:rPr>
                      <m:t>=</m:t>
                    </m:r>
                    <m:r>
                      <a:rPr lang="en-US" sz="2800" i="1">
                        <a:latin typeface="Cambria Math"/>
                        <a:ea typeface="Cambria Math"/>
                        <a:cs typeface="Calibri" pitchFamily="34" charset="0"/>
                      </a:rPr>
                      <m:t>1</m:t>
                    </m:r>
                    <m:r>
                      <a:rPr lang="en-US" sz="2800" i="1">
                        <a:latin typeface="Cambria Math"/>
                        <a:ea typeface="Cambria Math"/>
                        <a:cs typeface="Calibri" pitchFamily="34" charset="0"/>
                      </a:rPr>
                      <m:t>,…,</m:t>
                    </m:r>
                    <m:r>
                      <a:rPr lang="en-US" sz="2800" i="1">
                        <a:latin typeface="Cambria Math"/>
                        <a:ea typeface="Cambria Math"/>
                        <a:cs typeface="Calibri" pitchFamily="34" charset="0"/>
                      </a:rPr>
                      <m:t>𝑛</m:t>
                    </m:r>
                    <m:r>
                      <a:rPr lang="en-US" sz="2800" i="1">
                        <a:latin typeface="Cambria Math"/>
                        <a:ea typeface="Cambria Math"/>
                        <a:cs typeface="Calibri" pitchFamily="34" charset="0"/>
                      </a:rPr>
                      <m:t>)</m:t>
                    </m:r>
                  </m:oMath>
                </a14:m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1">
                  <a:spcBef>
                    <a:spcPts val="1200"/>
                  </a:spcBef>
                  <a:defRPr/>
                </a:pP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(*) được gọi là dạng nối rời chính tắc của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  <a:ea typeface="Cambria Math"/>
                        <a:cs typeface="Calibri" pitchFamily="34" charset="0"/>
                      </a:rPr>
                      <m:t>𝑓</m:t>
                    </m:r>
                  </m:oMath>
                </a14:m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1">
                  <a:spcBef>
                    <a:spcPts val="1200"/>
                  </a:spcBef>
                  <a:defRPr/>
                </a:pPr>
                <a:endParaRPr lang="en-US" sz="2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1800"/>
                  </a:spcAft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/>
                </a:pPr>
                <a:r>
                  <a:rPr lang="en-US" sz="2800" b="1" u="sng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2800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2800" b="1" u="sng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Ví dụ</a:t>
                </a:r>
                <a:r>
                  <a:rPr lang="en-US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 </a:t>
                </a: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/>
                            <a:cs typeface="Calibri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/>
                            <a:ea typeface="Cambria Math"/>
                            <a:cs typeface="Calibri" pitchFamily="34" charset="0"/>
                          </a:rPr>
                          <m:t>F</m:t>
                        </m:r>
                      </m:e>
                      <m:sub>
                        <m:r>
                          <a:rPr lang="en-US" sz="2800">
                            <a:latin typeface="Cambria Math"/>
                            <a:ea typeface="Cambria Math"/>
                            <a:cs typeface="Calibri" pitchFamily="34" charset="0"/>
                          </a:rPr>
                          <m:t>4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/>
                        <a:cs typeface="Calibri" pitchFamily="34" charset="0"/>
                      </a:rPr>
                      <m:t> </m:t>
                    </m:r>
                  </m:oMath>
                </a14:m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 dạng biểu diễn sau đây:</a:t>
                </a:r>
                <a:endParaRPr lang="en-US" sz="2800" i="1">
                  <a:latin typeface="Times New Roman" panose="02020603050405020304" pitchFamily="18" charset="0"/>
                  <a:ea typeface="Cambria Math"/>
                  <a:cs typeface="Times New Roman" panose="02020603050405020304" pitchFamily="18" charset="0"/>
                </a:endParaRPr>
              </a:p>
              <a:p>
                <a:pPr algn="ctr"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  <a:ea typeface="Cambria Math"/>
                          <a:cs typeface="Calibri" pitchFamily="34" charset="0"/>
                        </a:rPr>
                        <m:t>       </m:t>
                      </m:r>
                      <m:r>
                        <a:rPr lang="en-US" sz="2800" i="1">
                          <a:latin typeface="Cambria Math"/>
                          <a:ea typeface="Cambria Math"/>
                          <a:cs typeface="Calibri" pitchFamily="34" charset="0"/>
                        </a:rPr>
                        <m:t>𝑓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/>
                              <a:cs typeface="Calibri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  <a:ea typeface="Cambria Math"/>
                              <a:cs typeface="Calibri" pitchFamily="34" charset="0"/>
                            </a:rPr>
                            <m:t>𝑥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  <a:cs typeface="Calibri" pitchFamily="34" charset="0"/>
                            </a:rPr>
                            <m:t>,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  <a:cs typeface="Calibri" pitchFamily="34" charset="0"/>
                            </a:rPr>
                            <m:t>𝑦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  <a:cs typeface="Calibri" pitchFamily="34" charset="0"/>
                            </a:rPr>
                            <m:t>,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  <a:cs typeface="Calibri" pitchFamily="34" charset="0"/>
                            </a:rPr>
                            <m:t>𝑧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  <a:cs typeface="Calibri" pitchFamily="34" charset="0"/>
                            </a:rPr>
                            <m:t>,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  <a:cs typeface="Calibri" pitchFamily="34" charset="0"/>
                            </a:rPr>
                            <m:t>𝑡</m:t>
                          </m:r>
                        </m:e>
                      </m:d>
                      <m:r>
                        <a:rPr lang="en-US" sz="2800" i="1">
                          <a:latin typeface="Cambria Math"/>
                          <a:ea typeface="Cambria Math"/>
                          <a:cs typeface="Calibri" pitchFamily="34" charset="0"/>
                        </a:rPr>
                        <m:t>=</m:t>
                      </m:r>
                      <m:r>
                        <a:rPr lang="en-US" sz="2800" i="1">
                          <a:latin typeface="Cambria Math"/>
                          <a:ea typeface="Cambria Math"/>
                          <a:cs typeface="Calibri" pitchFamily="34" charset="0"/>
                        </a:rPr>
                        <m:t>𝑥</m:t>
                      </m:r>
                      <m:acc>
                        <m:accPr>
                          <m:chr m:val="̅"/>
                          <m:ctrlPr>
                            <a:rPr lang="vi-V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vi-V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</m:acc>
                      <m:r>
                        <a:rPr lang="en-US" sz="2800" i="1">
                          <a:latin typeface="Cambria Math"/>
                          <a:ea typeface="Cambria Math"/>
                          <a:cs typeface="Calibri" pitchFamily="34" charset="0"/>
                        </a:rPr>
                        <m:t>𝑡</m:t>
                      </m:r>
                      <m:r>
                        <a:rPr lang="en-US" sz="2800" i="1">
                          <a:latin typeface="Cambria Math"/>
                          <a:ea typeface="Cambria Math"/>
                          <a:cs typeface="Calibri" pitchFamily="34" charset="0"/>
                        </a:rPr>
                        <m:t>  ∨</m:t>
                      </m:r>
                      <m:acc>
                        <m:accPr>
                          <m:chr m:val="̅"/>
                          <m:ctrlPr>
                            <a:rPr lang="vi-V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acc>
                      <m:r>
                        <a:rPr lang="en-US" sz="2800" i="1">
                          <a:latin typeface="Cambria Math"/>
                          <a:ea typeface="Cambria Math"/>
                          <a:cs typeface="Calibri" pitchFamily="34" charset="0"/>
                        </a:rPr>
                        <m:t>𝑦𝑧𝑡</m:t>
                      </m:r>
                      <m:r>
                        <a:rPr lang="en-US" sz="2800" i="1">
                          <a:latin typeface="Cambria Math"/>
                          <a:ea typeface="Cambria Math"/>
                          <a:cs typeface="Calibri" pitchFamily="34" charset="0"/>
                        </a:rPr>
                        <m:t>  ∨</m:t>
                      </m:r>
                      <m:r>
                        <a:rPr lang="en-US" sz="2800" i="1">
                          <a:latin typeface="Cambria Math"/>
                          <a:ea typeface="Cambria Math"/>
                          <a:cs typeface="Calibri" pitchFamily="34" charset="0"/>
                        </a:rPr>
                        <m:t>𝑥𝑦</m:t>
                      </m:r>
                      <m:acc>
                        <m:accPr>
                          <m:chr m:val="̅"/>
                          <m:ctrlPr>
                            <a:rPr lang="vi-V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𝑡</m:t>
                          </m:r>
                        </m:e>
                      </m:acc>
                    </m:oMath>
                  </m:oMathPara>
                </a14:m>
                <a:endParaRPr lang="en-US" sz="2800" i="1">
                  <a:latin typeface="Times New Roman" panose="02020603050405020304" pitchFamily="18" charset="0"/>
                  <a:ea typeface="Cambria Math"/>
                  <a:cs typeface="Times New Roman" panose="02020603050405020304" pitchFamily="18" charset="0"/>
                </a:endParaRPr>
              </a:p>
              <a:p>
                <a:pPr>
                  <a:spcBef>
                    <a:spcPts val="1200"/>
                  </a:spcBef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/>
                </a:pPr>
                <a:r>
                  <a:rPr lang="en-US" sz="2800" b="1"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				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/>
                        <a:ea typeface="Cambria Math"/>
                        <a:cs typeface="Calibri" pitchFamily="34" charset="0"/>
                      </a:rPr>
                      <m:t>⇒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/>
                        <a:cs typeface="Calibri" pitchFamily="34" charset="0"/>
                      </a:rPr>
                      <m:t> </m:t>
                    </m:r>
                    <m:r>
                      <a:rPr lang="en-US" sz="2800" i="1">
                        <a:latin typeface="Cambria Math"/>
                        <a:ea typeface="Cambria Math"/>
                        <a:cs typeface="Calibri" pitchFamily="34" charset="0"/>
                      </a:rPr>
                      <m:t>𝑓</m:t>
                    </m:r>
                  </m:oMath>
                </a14:m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có dạng nối rời chính tắc của hàm Bool.</a:t>
                </a:r>
              </a:p>
              <a:p>
                <a:pPr>
                  <a:spcBef>
                    <a:spcPts val="2400"/>
                  </a:spcBef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/>
                </a:pPr>
                <a:endParaRPr lang="en-US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8600" y="16933"/>
                <a:ext cx="8458200" cy="609397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295400" y="1371600"/>
                <a:ext cx="4572000" cy="5334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95313" indent="-514350" algn="ctr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Calibri" pitchFamily="34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libri" pitchFamily="34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Calibri" pitchFamily="34" charset="0"/>
                              </a:rPr>
                              <m:t>𝒇</m:t>
                            </m:r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Calibri" pitchFamily="34" charset="0"/>
                              </a:rPr>
                              <m:t>=</m:t>
                            </m:r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Calibri" pitchFamily="34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Calibri" pitchFamily="34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  <a:cs typeface="Calibri" pitchFamily="34" charset="0"/>
                          </a:rPr>
                          <m:t>∨</m:t>
                        </m:r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  <a:cs typeface="Calibri" pitchFamily="34" charset="0"/>
                          </a:rPr>
                          <m:t>𝒖</m:t>
                        </m:r>
                      </m:e>
                      <m:sub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  <a:cs typeface="Calibri" pitchFamily="34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Calibri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  <a:cs typeface="Calibri" pitchFamily="34" charset="0"/>
                          </a:rPr>
                          <m:t>∨</m:t>
                        </m:r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  <a:cs typeface="Calibri" pitchFamily="34" charset="0"/>
                          </a:rPr>
                          <m:t>𝒖</m:t>
                        </m:r>
                      </m:e>
                      <m:sub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  <a:cs typeface="Calibri" pitchFamily="34" charset="0"/>
                          </a:rPr>
                          <m:t>𝟑</m:t>
                        </m:r>
                      </m:sub>
                    </m:sSub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  <a:cs typeface="Calibri" pitchFamily="34" charset="0"/>
                      </a:rPr>
                      <m:t>∨</m:t>
                    </m:r>
                  </m:oMath>
                </a14:m>
                <a:r>
                  <a:rPr lang="en-US" sz="3200">
                    <a:solidFill>
                      <a:schemeClr val="tx1"/>
                    </a:solidFill>
                    <a:latin typeface="Calibri" pitchFamily="34" charset="0"/>
                    <a:cs typeface="Times New Roman" pitchFamily="18" charset="0"/>
                  </a:rPr>
                  <a:t>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  <a:cs typeface="Calibri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  <a:cs typeface="Calibri" pitchFamily="34" charset="0"/>
                          </a:rPr>
                          <m:t>∨</m:t>
                        </m:r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  <a:cs typeface="Calibri" pitchFamily="34" charset="0"/>
                          </a:rPr>
                          <m:t>𝒖</m:t>
                        </m:r>
                      </m:e>
                      <m:sub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  <a:cs typeface="Calibri" pitchFamily="34" charset="0"/>
                          </a:rPr>
                          <m:t>𝒊</m:t>
                        </m:r>
                      </m:sub>
                    </m:sSub>
                  </m:oMath>
                </a14:m>
                <a:endParaRPr lang="en-US" i="1">
                  <a:solidFill>
                    <a:schemeClr val="tx1"/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Calibri" pitchFamily="34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1371600"/>
                <a:ext cx="4572000" cy="533400"/>
              </a:xfrm>
              <a:prstGeom prst="rect">
                <a:avLst/>
              </a:prstGeom>
              <a:blipFill rotWithShape="0">
                <a:blip r:embed="rId4"/>
                <a:stretch>
                  <a:fillRect t="-17582" b="-373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48600" y="6492874"/>
            <a:ext cx="12222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8467" y="304800"/>
                <a:ext cx="9135534" cy="60093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95313" indent="-514350">
                  <a:spcBef>
                    <a:spcPts val="600"/>
                  </a:spcBef>
                  <a:spcAft>
                    <a:spcPts val="0"/>
                  </a:spcAft>
                  <a:defRPr/>
                </a:pPr>
                <a:r>
                  <a:rPr lang="en-US" sz="2250" b="1">
                    <a:solidFill>
                      <a:srgbClr val="002060"/>
                    </a:solidFill>
                    <a:cs typeface="Times New Roman" panose="02020603050405020304" pitchFamily="18" charset="0"/>
                  </a:rPr>
                  <a:t>Có 2 cách để xác định dạng nối rời chính tắc một hàm Bool:</a:t>
                </a:r>
              </a:p>
              <a:p>
                <a:pPr marL="595313" indent="-514350">
                  <a:spcBef>
                    <a:spcPts val="600"/>
                  </a:spcBef>
                  <a:spcAft>
                    <a:spcPts val="0"/>
                  </a:spcAft>
                  <a:defRPr/>
                </a:pPr>
                <a:endParaRPr lang="en-US" sz="2250" b="1">
                  <a:solidFill>
                    <a:schemeClr val="accent1"/>
                  </a:solidFill>
                  <a:cs typeface="Times New Roman" panose="02020603050405020304" pitchFamily="18" charset="0"/>
                </a:endParaRPr>
              </a:p>
              <a:p>
                <a:pPr marL="225425" indent="-312738">
                  <a:spcBef>
                    <a:spcPts val="1200"/>
                  </a:spcBef>
                  <a:spcAft>
                    <a:spcPts val="0"/>
                  </a:spcAft>
                  <a:buFont typeface="Wingdings" pitchFamily="2" charset="2"/>
                  <a:buChar char="v"/>
                  <a:defRPr/>
                </a:pPr>
                <a:r>
                  <a:rPr lang="en-US" sz="2250" b="1" i="1" u="sng" err="1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Cách</a:t>
                </a:r>
                <a:r>
                  <a:rPr lang="en-US" sz="2250" b="1" i="1" u="sng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1</a:t>
                </a:r>
                <a:r>
                  <a:rPr lang="en-US" sz="2250" b="1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:</a:t>
                </a:r>
                <a:r>
                  <a:rPr lang="en-US" sz="2250" b="1">
                    <a:cs typeface="Times New Roman" panose="02020603050405020304" pitchFamily="18" charset="0"/>
                  </a:rPr>
                  <a:t> </a:t>
                </a:r>
                <a:r>
                  <a:rPr lang="en-US" sz="2250" b="1" err="1">
                    <a:cs typeface="Times New Roman" panose="02020603050405020304" pitchFamily="18" charset="0"/>
                  </a:rPr>
                  <a:t>Bổ</a:t>
                </a:r>
                <a:r>
                  <a:rPr lang="en-US" sz="2250" b="1">
                    <a:cs typeface="Times New Roman" panose="02020603050405020304" pitchFamily="18" charset="0"/>
                  </a:rPr>
                  <a:t> sung từ đơn còn thiếu vào các đơn thức.</a:t>
                </a:r>
              </a:p>
              <a:p>
                <a:pPr marL="463550" lvl="2">
                  <a:spcBef>
                    <a:spcPts val="1200"/>
                  </a:spcBef>
                  <a:spcAft>
                    <a:spcPts val="0"/>
                  </a:spcAft>
                  <a:defRPr/>
                </a:pPr>
                <a:r>
                  <a:rPr lang="en-US" sz="2250" b="1" u="sng" err="1">
                    <a:cs typeface="Times New Roman" panose="02020603050405020304" pitchFamily="18" charset="0"/>
                  </a:rPr>
                  <a:t>Bước</a:t>
                </a:r>
                <a:r>
                  <a:rPr lang="en-US" sz="2250" b="1" u="sng">
                    <a:cs typeface="Times New Roman" panose="02020603050405020304" pitchFamily="18" charset="0"/>
                  </a:rPr>
                  <a:t> 1</a:t>
                </a:r>
                <a:r>
                  <a:rPr lang="en-US" sz="2250" b="1">
                    <a:cs typeface="Times New Roman" panose="02020603050405020304" pitchFamily="18" charset="0"/>
                  </a:rPr>
                  <a:t>: Khai triển hàm Bool thành tổng của các đơn thức.</a:t>
                </a:r>
              </a:p>
              <a:p>
                <a:pPr marL="463550" lvl="2">
                  <a:spcBef>
                    <a:spcPts val="1200"/>
                  </a:spcBef>
                  <a:spcAft>
                    <a:spcPts val="0"/>
                  </a:spcAft>
                  <a:defRPr/>
                </a:pPr>
                <a:r>
                  <a:rPr lang="en-US" sz="2250" b="1" u="sng" err="1">
                    <a:cs typeface="Times New Roman" panose="02020603050405020304" pitchFamily="18" charset="0"/>
                  </a:rPr>
                  <a:t>Bước</a:t>
                </a:r>
                <a:r>
                  <a:rPr lang="en-US" sz="2250" b="1" u="sng">
                    <a:cs typeface="Times New Roman" panose="02020603050405020304" pitchFamily="18" charset="0"/>
                  </a:rPr>
                  <a:t> 2</a:t>
                </a:r>
                <a:r>
                  <a:rPr lang="en-US" sz="2250" b="1">
                    <a:cs typeface="Times New Roman" panose="02020603050405020304" pitchFamily="18" charset="0"/>
                  </a:rPr>
                  <a:t>: Với mỗi đơn thức thu được ở </a:t>
                </a:r>
                <a:r>
                  <a:rPr lang="en-US" sz="2250" b="1" err="1">
                    <a:cs typeface="Times New Roman" panose="02020603050405020304" pitchFamily="18" charset="0"/>
                  </a:rPr>
                  <a:t>bước</a:t>
                </a:r>
                <a:r>
                  <a:rPr lang="en-US" sz="2250" b="1">
                    <a:cs typeface="Times New Roman" panose="02020603050405020304" pitchFamily="18" charset="0"/>
                  </a:rPr>
                  <a:t> 1, ta nhân đơn thức đó với các tổng dạng với x</a:t>
                </a:r>
                <a:r>
                  <a:rPr lang="en-US" sz="2250" b="1" baseline="-25000">
                    <a:cs typeface="Times New Roman" panose="02020603050405020304" pitchFamily="18" charset="0"/>
                  </a:rPr>
                  <a:t>i </a:t>
                </a:r>
                <a:r>
                  <a:rPr lang="en-US" sz="2250" b="1">
                    <a:cs typeface="Times New Roman" panose="02020603050405020304" pitchFamily="18" charset="0"/>
                  </a:rPr>
                  <a:t>là những từ đơn bị thiếu trong đơn thức đó.</a:t>
                </a:r>
              </a:p>
              <a:p>
                <a:pPr marL="463550" lvl="2">
                  <a:spcBef>
                    <a:spcPts val="1200"/>
                  </a:spcBef>
                  <a:spcAft>
                    <a:spcPts val="0"/>
                  </a:spcAft>
                  <a:defRPr/>
                </a:pPr>
                <a:r>
                  <a:rPr lang="en-US" sz="2250" b="1" u="sng" err="1">
                    <a:cs typeface="Times New Roman" panose="02020603050405020304" pitchFamily="18" charset="0"/>
                  </a:rPr>
                  <a:t>Bước</a:t>
                </a:r>
                <a:r>
                  <a:rPr lang="en-US" sz="2250" b="1" u="sng">
                    <a:cs typeface="Times New Roman" panose="02020603050405020304" pitchFamily="18" charset="0"/>
                  </a:rPr>
                  <a:t> 3</a:t>
                </a:r>
                <a:r>
                  <a:rPr lang="en-US" sz="2250" b="1">
                    <a:cs typeface="Times New Roman" panose="02020603050405020304" pitchFamily="18" charset="0"/>
                  </a:rPr>
                  <a:t>: Tiếp tục khai triển hàm thu được ở </a:t>
                </a:r>
                <a:r>
                  <a:rPr lang="en-US" sz="2250" b="1" err="1">
                    <a:cs typeface="Times New Roman" panose="02020603050405020304" pitchFamily="18" charset="0"/>
                  </a:rPr>
                  <a:t>bước</a:t>
                </a:r>
                <a:r>
                  <a:rPr lang="en-US" sz="2250" b="1">
                    <a:cs typeface="Times New Roman" panose="02020603050405020304" pitchFamily="18" charset="0"/>
                  </a:rPr>
                  <a:t> 2 và loại bỏ những đơn thức bị trùng. Công thức đa thức thu được chính là dạng nối rời chính tắc của hàm Bool ban đầu.</a:t>
                </a:r>
              </a:p>
              <a:p>
                <a:pPr marL="463550" lvl="2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250" b="1">
                    <a:cs typeface="Times New Roman" panose="02020603050405020304" pitchFamily="18" charset="0"/>
                  </a:rPr>
                  <a:t>	     </a:t>
                </a:r>
                <a:r>
                  <a:rPr lang="en-US" sz="2250" b="1" u="sng">
                    <a:cs typeface="Times New Roman" panose="02020603050405020304" pitchFamily="18" charset="0"/>
                  </a:rPr>
                  <a:t>Vídụ</a:t>
                </a:r>
                <a:r>
                  <a:rPr lang="en-US" sz="2250" b="1">
                    <a:cs typeface="Times New Roman" panose="02020603050405020304" pitchFamily="18" charset="0"/>
                  </a:rPr>
                  <a:t>: </a:t>
                </a:r>
                <a:r>
                  <a:rPr lang="en-US" sz="2250" b="1" err="1">
                    <a:cs typeface="Times New Roman" panose="02020603050405020304" pitchFamily="18" charset="0"/>
                  </a:rPr>
                  <a:t>Trong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50" b="1" i="1">
                            <a:latin typeface="Cambria Math" panose="02040503050406030204" pitchFamily="18" charset="0"/>
                            <a:ea typeface="Cambria Math"/>
                            <a:cs typeface="Calibri" pitchFamily="34" charset="0"/>
                          </a:rPr>
                        </m:ctrlPr>
                      </m:sSubPr>
                      <m:e>
                        <m:r>
                          <a:rPr lang="en-US" sz="2250" b="1">
                            <a:latin typeface="Cambria Math"/>
                            <a:ea typeface="Cambria Math"/>
                            <a:cs typeface="Calibri" pitchFamily="34" charset="0"/>
                          </a:rPr>
                          <m:t> </m:t>
                        </m:r>
                        <m:r>
                          <a:rPr lang="en-US" sz="2250" b="1" i="1">
                            <a:latin typeface="Cambria Math"/>
                            <a:ea typeface="Cambria Math"/>
                            <a:cs typeface="Calibri" pitchFamily="34" charset="0"/>
                          </a:rPr>
                          <m:t>𝐅</m:t>
                        </m:r>
                      </m:e>
                      <m:sub>
                        <m:r>
                          <a:rPr lang="en-US" sz="2250" b="1" i="1">
                            <a:latin typeface="Cambria Math"/>
                            <a:ea typeface="Cambria Math"/>
                            <a:cs typeface="Calibri" pitchFamily="34" charset="0"/>
                          </a:rPr>
                          <m:t>𝟑</m:t>
                        </m:r>
                      </m:sub>
                    </m:sSub>
                    <m:r>
                      <a:rPr lang="en-US" sz="2250" b="1" i="1">
                        <a:latin typeface="Cambria Math"/>
                        <a:ea typeface="Cambria Math"/>
                        <a:cs typeface="Calibri" pitchFamily="34" charset="0"/>
                      </a:rPr>
                      <m:t> </m:t>
                    </m:r>
                  </m:oMath>
                </a14:m>
                <a:r>
                  <a:rPr lang="en-US" sz="2250" b="1">
                    <a:cs typeface="Times New Roman" panose="02020603050405020304" pitchFamily="18" charset="0"/>
                  </a:rPr>
                  <a:t>tìm dạng nối rời chính tắc</a:t>
                </a:r>
                <a14:m>
                  <m:oMath xmlns:m="http://schemas.openxmlformats.org/officeDocument/2006/math">
                    <m:r>
                      <a:rPr lang="en-US" sz="2250" b="1">
                        <a:latin typeface="Cambria Math" panose="02040503050406030204" pitchFamily="18" charset="0"/>
                        <a:ea typeface="Cambria Math"/>
                        <a:cs typeface="Calibri" pitchFamily="34" charset="0"/>
                      </a:rPr>
                      <m:t> </m:t>
                    </m:r>
                  </m:oMath>
                </a14:m>
                <a:endParaRPr lang="en-US" sz="2250" b="1">
                  <a:latin typeface="Cambria Math" panose="02040503050406030204" pitchFamily="18" charset="0"/>
                  <a:ea typeface="Cambria Math"/>
                  <a:cs typeface="Calibri" pitchFamily="34" charset="0"/>
                </a:endParaRPr>
              </a:p>
              <a:p>
                <a:pPr marL="463550" lvl="2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/>
                          <a:ea typeface="Cambria Math"/>
                          <a:cs typeface="Calibri" pitchFamily="34" charset="0"/>
                        </a:rPr>
                        <m:t>𝒇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  <a:cs typeface="Calibri" pitchFamily="34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  <a:cs typeface="Calibri" pitchFamily="34" charset="0"/>
                            </a:rPr>
                            <m:t>𝒙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  <a:cs typeface="Calibri" pitchFamily="34" charset="0"/>
                            </a:rPr>
                            <m:t>,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  <a:cs typeface="Calibri" pitchFamily="34" charset="0"/>
                            </a:rPr>
                            <m:t>𝒚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  <a:cs typeface="Calibri" pitchFamily="34" charset="0"/>
                            </a:rPr>
                            <m:t>,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  <a:cs typeface="Calibri" pitchFamily="34" charset="0"/>
                            </a:rPr>
                            <m:t>𝒛</m:t>
                          </m:r>
                        </m:e>
                      </m:d>
                      <m:r>
                        <a:rPr lang="en-US" b="1">
                          <a:latin typeface="Cambria Math"/>
                          <a:ea typeface="Cambria Math"/>
                          <a:cs typeface="Calibri" pitchFamily="34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vi-VN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</m:acc>
                      <m:r>
                        <a:rPr lang="en-US" b="1">
                          <a:latin typeface="Cambria Math"/>
                          <a:cs typeface="Calibri" pitchFamily="34" charset="0"/>
                        </a:rPr>
                        <m:t>∨</m:t>
                      </m:r>
                      <m:acc>
                        <m:accPr>
                          <m:chr m:val="̅"/>
                          <m:ctrlPr>
                            <a:rPr lang="vi-VN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𝒚</m:t>
                          </m:r>
                        </m:e>
                      </m:acc>
                      <m:r>
                        <a:rPr lang="en-US" b="1" i="1">
                          <a:latin typeface="Cambria Math"/>
                          <a:ea typeface="Cambria Math"/>
                          <a:cs typeface="Calibri" pitchFamily="34" charset="0"/>
                        </a:rPr>
                        <m:t>𝒛</m:t>
                      </m:r>
                      <m:r>
                        <a:rPr lang="en-US" b="1">
                          <a:latin typeface="Cambria Math"/>
                          <a:ea typeface="Cambria Math"/>
                          <a:cs typeface="Calibri" pitchFamily="34" charset="0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  <a:cs typeface="Calibri" pitchFamily="34" charset="0"/>
                        </a:rPr>
                        <m:t>∨</m:t>
                      </m:r>
                      <m:r>
                        <a:rPr lang="en-US" b="1" i="1">
                          <a:latin typeface="Cambria Math"/>
                          <a:ea typeface="Cambria Math"/>
                          <a:cs typeface="Calibri" pitchFamily="34" charset="0"/>
                        </a:rPr>
                        <m:t>𝒙𝒚</m:t>
                      </m:r>
                      <m:acc>
                        <m:accPr>
                          <m:chr m:val="̅"/>
                          <m:ctrlPr>
                            <a:rPr lang="vi-VN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en-US" b="1">
                  <a:ea typeface="Cambria Math"/>
                  <a:cs typeface="Times New Roman" panose="02020603050405020304" pitchFamily="18" charset="0"/>
                </a:endParaRPr>
              </a:p>
              <a:p>
                <a:pPr marL="114300" lvl="2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b="1">
                    <a:ea typeface="Cambria Math"/>
                    <a:cs typeface="Calibri" pitchFamily="34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/>
                        <a:ea typeface="Cambria Math"/>
                        <a:cs typeface="Calibri" pitchFamily="34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/>
                        <a:cs typeface="Calibri" pitchFamily="34" charset="0"/>
                      </a:rPr>
                      <m:t>        </m:t>
                    </m:r>
                    <m:acc>
                      <m:accPr>
                        <m:chr m:val="̅"/>
                        <m:ctrlPr>
                          <a:rPr lang="vi-V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𝒙</m:t>
                        </m:r>
                      </m:e>
                    </m:acc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libri" pitchFamily="34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libri" pitchFamily="34" charset="0"/>
                          </a:rPr>
                          <m:t>𝒚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libri" pitchFamily="34" charset="0"/>
                          </a:rPr>
                          <m:t>∨</m:t>
                        </m:r>
                        <m:acc>
                          <m:accPr>
                            <m:chr m:val="̅"/>
                            <m:ctrlPr>
                              <a:rPr lang="vi-V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𝒚</m:t>
                            </m:r>
                          </m:e>
                        </m:acc>
                      </m:e>
                    </m:d>
                    <m:r>
                      <a:rPr lang="en-US" b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libri" pitchFamily="34" charset="0"/>
                      </a:rPr>
                      <m:t>.</m:t>
                    </m:r>
                    <m:d>
                      <m:d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libri" pitchFamily="34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libri" pitchFamily="34" charset="0"/>
                          </a:rPr>
                          <m:t>𝒛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libri" pitchFamily="34" charset="0"/>
                          </a:rPr>
                          <m:t>∨</m:t>
                        </m:r>
                        <m:acc>
                          <m:accPr>
                            <m:chr m:val="̅"/>
                            <m:ctrlPr>
                              <a:rPr lang="vi-V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𝒛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/>
                        <a:ea typeface="Cambria Math"/>
                        <a:cs typeface="Calibri" pitchFamily="34" charset="0"/>
                      </a:rPr>
                      <m:t>  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/>
                        <a:cs typeface="Calibri" pitchFamily="34" charset="0"/>
                      </a:rPr>
                      <m:t>        </m:t>
                    </m:r>
                    <m:r>
                      <a:rPr lang="en-US" b="1" i="1">
                        <a:latin typeface="Cambria Math"/>
                        <a:ea typeface="Cambria Math"/>
                        <a:cs typeface="Calibri" pitchFamily="34" charset="0"/>
                      </a:rPr>
                      <m:t>∨ </m:t>
                    </m:r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libri" pitchFamily="34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vi-V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</m:acc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libri" pitchFamily="34" charset="0"/>
                          </a:rPr>
                          <m:t>∨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libri" pitchFamily="34" charset="0"/>
                          </a:rPr>
                          <m:t>𝒙</m:t>
                        </m:r>
                      </m:e>
                    </m:d>
                    <m:acc>
                      <m:accPr>
                        <m:chr m:val="̅"/>
                        <m:ctrlPr>
                          <a:rPr lang="vi-V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𝒚</m:t>
                        </m:r>
                      </m:e>
                    </m:acc>
                    <m:r>
                      <a:rPr lang="en-US" b="1" i="1">
                        <a:latin typeface="Cambria Math"/>
                        <a:ea typeface="Cambria Math"/>
                        <a:cs typeface="Calibri" pitchFamily="34" charset="0"/>
                      </a:rPr>
                      <m:t>𝒛</m:t>
                    </m:r>
                    <m:r>
                      <a:rPr lang="en-US" b="1" i="1">
                        <a:latin typeface="Cambria Math"/>
                        <a:ea typeface="Cambria Math"/>
                        <a:cs typeface="Calibri" pitchFamily="34" charset="0"/>
                      </a:rPr>
                      <m:t>    ∨ </m:t>
                    </m:r>
                    <m:r>
                      <a:rPr lang="en-US" b="1" i="1">
                        <a:latin typeface="Cambria Math"/>
                        <a:ea typeface="Cambria Math"/>
                        <a:cs typeface="Calibri" pitchFamily="34" charset="0"/>
                      </a:rPr>
                      <m:t>𝒙𝒚</m:t>
                    </m:r>
                    <m:acc>
                      <m:accPr>
                        <m:chr m:val="̅"/>
                        <m:ctrlPr>
                          <a:rPr lang="vi-V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𝒛</m:t>
                        </m:r>
                      </m:e>
                    </m:acc>
                  </m:oMath>
                </a14:m>
                <a:endParaRPr lang="en-US" b="1">
                  <a:ea typeface="Cambria Math"/>
                  <a:cs typeface="Times New Roman" panose="02020603050405020304" pitchFamily="18" charset="0"/>
                </a:endParaRPr>
              </a:p>
              <a:p>
                <a:pPr marL="114300" lvl="2">
                  <a:spcBef>
                    <a:spcPts val="1200"/>
                  </a:spcBef>
                  <a:spcAft>
                    <a:spcPts val="0"/>
                  </a:spcAft>
                  <a:defRPr/>
                </a:pPr>
                <a:r>
                  <a:rPr lang="en-US" b="1">
                    <a:ea typeface="Cambria Math"/>
                    <a:cs typeface="Calibri" pitchFamily="34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/>
                        <a:ea typeface="Cambria Math"/>
                        <a:cs typeface="Calibri" pitchFamily="34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vi-V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𝒙</m:t>
                        </m:r>
                      </m:e>
                    </m:acc>
                    <m:r>
                      <a:rPr lang="en-US" b="1" i="1">
                        <a:latin typeface="Cambria Math"/>
                        <a:ea typeface="Cambria Math"/>
                        <a:cs typeface="Calibri" pitchFamily="34" charset="0"/>
                      </a:rPr>
                      <m:t>𝒚𝒛</m:t>
                    </m:r>
                    <m:r>
                      <a:rPr lang="en-US" b="1" i="1">
                        <a:latin typeface="Cambria Math"/>
                        <a:ea typeface="Cambria Math"/>
                        <a:cs typeface="Calibri" pitchFamily="34" charset="0"/>
                      </a:rPr>
                      <m:t>  ∨</m:t>
                    </m:r>
                    <m:acc>
                      <m:accPr>
                        <m:chr m:val="̅"/>
                        <m:ctrlPr>
                          <a:rPr lang="vi-V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𝒙</m:t>
                        </m:r>
                      </m:e>
                    </m:acc>
                    <m:r>
                      <a:rPr lang="en-US" b="1" i="1">
                        <a:latin typeface="Cambria Math"/>
                        <a:ea typeface="Cambria Math"/>
                        <a:cs typeface="Calibri" pitchFamily="34" charset="0"/>
                      </a:rPr>
                      <m:t>𝒚</m:t>
                    </m:r>
                    <m:acc>
                      <m:accPr>
                        <m:chr m:val="̅"/>
                        <m:ctrlPr>
                          <a:rPr lang="vi-V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𝒛</m:t>
                        </m:r>
                      </m:e>
                    </m:acc>
                    <m:r>
                      <a:rPr lang="en-US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>
                        <a:latin typeface="Cambria Math"/>
                        <a:ea typeface="Cambria Math"/>
                        <a:cs typeface="Calibri" pitchFamily="34" charset="0"/>
                      </a:rPr>
                      <m:t>∨</m:t>
                    </m:r>
                    <m:acc>
                      <m:accPr>
                        <m:chr m:val="̅"/>
                        <m:ctrlPr>
                          <a:rPr lang="vi-V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𝒙</m:t>
                        </m:r>
                      </m:e>
                    </m:acc>
                    <m:acc>
                      <m:accPr>
                        <m:chr m:val="̅"/>
                        <m:ctrlPr>
                          <a:rPr lang="vi-V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𝒚</m:t>
                        </m:r>
                      </m:e>
                    </m:acc>
                    <m:r>
                      <a:rPr lang="en-US" b="1" i="1">
                        <a:latin typeface="Cambria Math"/>
                        <a:ea typeface="Cambria Math"/>
                        <a:cs typeface="Calibri" pitchFamily="34" charset="0"/>
                      </a:rPr>
                      <m:t>𝒛</m:t>
                    </m:r>
                    <m:r>
                      <a:rPr lang="en-US" b="1" i="1">
                        <a:latin typeface="Cambria Math"/>
                        <a:ea typeface="Cambria Math"/>
                        <a:cs typeface="Calibri" pitchFamily="34" charset="0"/>
                      </a:rPr>
                      <m:t> ∨</m:t>
                    </m:r>
                    <m:acc>
                      <m:accPr>
                        <m:chr m:val="̅"/>
                        <m:ctrlPr>
                          <a:rPr lang="vi-V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𝒙</m:t>
                        </m:r>
                      </m:e>
                    </m:acc>
                    <m:acc>
                      <m:accPr>
                        <m:chr m:val="̅"/>
                        <m:ctrlPr>
                          <a:rPr lang="vi-V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𝒚</m:t>
                        </m:r>
                      </m:e>
                    </m:acc>
                    <m:acc>
                      <m:accPr>
                        <m:chr m:val="̅"/>
                        <m:ctrlPr>
                          <a:rPr lang="vi-V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𝒛</m:t>
                        </m:r>
                      </m:e>
                    </m:acc>
                    <m:r>
                      <a:rPr lang="en-US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>
                        <a:latin typeface="Cambria Math"/>
                        <a:ea typeface="Cambria Math"/>
                        <a:cs typeface="Calibri" pitchFamily="34" charset="0"/>
                      </a:rPr>
                      <m:t>∨</m:t>
                    </m:r>
                    <m:acc>
                      <m:accPr>
                        <m:chr m:val="̅"/>
                        <m:ctrlPr>
                          <a:rPr lang="vi-V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𝒙</m:t>
                        </m:r>
                      </m:e>
                    </m:acc>
                    <m:acc>
                      <m:accPr>
                        <m:chr m:val="̅"/>
                        <m:ctrlPr>
                          <a:rPr lang="vi-V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𝒚</m:t>
                        </m:r>
                      </m:e>
                    </m:acc>
                    <m:r>
                      <a:rPr lang="en-US" b="1" i="1">
                        <a:latin typeface="Cambria Math"/>
                        <a:ea typeface="Cambria Math"/>
                        <a:cs typeface="Calibri" pitchFamily="34" charset="0"/>
                      </a:rPr>
                      <m:t>𝒛</m:t>
                    </m:r>
                    <m:r>
                      <a:rPr lang="en-US" b="1" i="1">
                        <a:latin typeface="Cambria Math"/>
                        <a:ea typeface="Cambria Math"/>
                        <a:cs typeface="Calibri" pitchFamily="34" charset="0"/>
                      </a:rPr>
                      <m:t>  ∨</m:t>
                    </m:r>
                    <m:r>
                      <a:rPr lang="en-US" b="1" i="1">
                        <a:latin typeface="Cambria Math"/>
                        <a:ea typeface="Cambria Math"/>
                        <a:cs typeface="Calibri" pitchFamily="34" charset="0"/>
                      </a:rPr>
                      <m:t>𝒙</m:t>
                    </m:r>
                    <m:acc>
                      <m:accPr>
                        <m:chr m:val="̅"/>
                        <m:ctrlPr>
                          <a:rPr lang="vi-V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𝒚</m:t>
                        </m:r>
                      </m:e>
                    </m:acc>
                    <m:r>
                      <a:rPr lang="en-US" b="1" i="1">
                        <a:latin typeface="Cambria Math"/>
                        <a:ea typeface="Cambria Math"/>
                        <a:cs typeface="Calibri" pitchFamily="34" charset="0"/>
                      </a:rPr>
                      <m:t>𝒛</m:t>
                    </m:r>
                    <m:r>
                      <a:rPr lang="en-US" b="1" i="1">
                        <a:latin typeface="Cambria Math"/>
                        <a:ea typeface="Cambria Math"/>
                        <a:cs typeface="Calibri" pitchFamily="34" charset="0"/>
                      </a:rPr>
                      <m:t>  ∨</m:t>
                    </m:r>
                    <m:r>
                      <a:rPr lang="en-US" b="1" i="1">
                        <a:latin typeface="Cambria Math"/>
                        <a:ea typeface="Cambria Math"/>
                        <a:cs typeface="Calibri" pitchFamily="34" charset="0"/>
                      </a:rPr>
                      <m:t>𝒙𝒚</m:t>
                    </m:r>
                    <m:acc>
                      <m:accPr>
                        <m:chr m:val="̅"/>
                        <m:ctrlPr>
                          <a:rPr lang="vi-V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𝒛</m:t>
                        </m:r>
                      </m:e>
                    </m:acc>
                  </m:oMath>
                </a14:m>
                <a:endParaRPr lang="en-US" b="1">
                  <a:cs typeface="Times New Roman" panose="02020603050405020304" pitchFamily="18" charset="0"/>
                </a:endParaRPr>
              </a:p>
              <a:p>
                <a:pPr>
                  <a:spcBef>
                    <a:spcPts val="1200"/>
                  </a:spcBef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/>
                </a:pPr>
                <a:r>
                  <a:rPr lang="en-US" b="1">
                    <a:ea typeface="Cambria Math"/>
                    <a:cs typeface="Times New Roman" panose="02020603050405020304" pitchFamily="18" charset="0"/>
                    <a:sym typeface="Wingdings" panose="05000000000000000000" pitchFamily="2" charset="2"/>
                  </a:rPr>
                  <a:t>      		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/>
                        <a:cs typeface="Calibri" pitchFamily="34" charset="0"/>
                      </a:rPr>
                      <m:t>  </m:t>
                    </m:r>
                    <m:r>
                      <a:rPr lang="en-US" b="1" i="1">
                        <a:latin typeface="Cambria Math"/>
                        <a:ea typeface="Cambria Math"/>
                        <a:cs typeface="Calibri" pitchFamily="34" charset="0"/>
                      </a:rPr>
                      <m:t>𝒇</m:t>
                    </m:r>
                  </m:oMath>
                </a14:m>
                <a:r>
                  <a:rPr lang="en-US" b="1">
                    <a:cs typeface="Times New Roman" panose="02020603050405020304" pitchFamily="18" charset="0"/>
                  </a:rPr>
                  <a:t> có dạng nối rời chính tắc của hàm Bool.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7" y="304800"/>
                <a:ext cx="9135534" cy="6009337"/>
              </a:xfrm>
              <a:prstGeom prst="rect">
                <a:avLst/>
              </a:prstGeom>
              <a:blipFill rotWithShape="0">
                <a:blip r:embed="rId3"/>
                <a:stretch>
                  <a:fillRect l="-734" t="-609" b="-7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24800" y="6492874"/>
            <a:ext cx="11460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36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52400" y="152400"/>
                <a:ext cx="8763000" cy="59862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200"/>
                  </a:spcBef>
                  <a:defRPr/>
                </a:pPr>
                <a:r>
                  <a:rPr lang="en-US" b="1" i="1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	</a:t>
                </a:r>
                <a:r>
                  <a:rPr lang="en-US" sz="2600" b="1" i="1" u="sng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Cách2</a:t>
                </a:r>
                <a:r>
                  <a:rPr lang="en-US" sz="26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en-US" sz="2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Dùng bảng chân trị. </a:t>
                </a:r>
                <a:r>
                  <a:rPr lang="en-US" sz="260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US" sz="2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ý đến các vector boole trong bảng chân trị mà tại đó</a:t>
                </a:r>
                <a14:m>
                  <m:oMath xmlns:m="http://schemas.openxmlformats.org/officeDocument/2006/math">
                    <m:r>
                      <a:rPr lang="en-US" sz="2600">
                        <a:latin typeface="Cambria Math" panose="02040503050406030204" pitchFamily="18" charset="0"/>
                        <a:ea typeface="Cambria Math"/>
                        <a:cs typeface="Calibri" pitchFamily="34" charset="0"/>
                      </a:rPr>
                      <m:t> </m:t>
                    </m:r>
                    <m:r>
                      <a:rPr lang="en-US" sz="2600" i="1">
                        <a:latin typeface="Cambria Math"/>
                        <a:ea typeface="Cambria Math"/>
                        <a:cs typeface="Calibri" pitchFamily="34" charset="0"/>
                      </a:rPr>
                      <m:t>𝑓</m:t>
                    </m:r>
                    <m:r>
                      <a:rPr lang="en-US" sz="2600" i="1">
                        <a:latin typeface="Cambria Math"/>
                        <a:ea typeface="Cambria Math"/>
                        <a:cs typeface="Calibri" pitchFamily="34" charset="0"/>
                      </a:rPr>
                      <m:t>=</m:t>
                    </m:r>
                    <m:r>
                      <a:rPr lang="en-US" sz="2600" i="1">
                        <a:latin typeface="Cambria Math"/>
                        <a:ea typeface="Cambria Math"/>
                        <a:cs typeface="Calibri" pitchFamily="34" charset="0"/>
                      </a:rPr>
                      <m:t>1</m:t>
                    </m:r>
                  </m:oMath>
                </a14:m>
                <a:endParaRPr lang="en-US" sz="2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  <a:defRPr/>
                </a:pPr>
                <a:r>
                  <a:rPr lang="en-US" sz="2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 đó Vector bool thứ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/>
                        <a:ea typeface="Cambria Math"/>
                        <a:cs typeface="Calibri" pitchFamily="34" charset="0"/>
                      </a:rPr>
                      <m:t>𝑛</m:t>
                    </m:r>
                    <m:r>
                      <a:rPr lang="en-US" sz="2600" i="1">
                        <a:latin typeface="Cambria Math" panose="02040503050406030204" pitchFamily="18" charset="0"/>
                        <a:ea typeface="Cambria Math"/>
                        <a:cs typeface="Calibri" pitchFamily="34" charset="0"/>
                      </a:rPr>
                      <m:t> </m:t>
                    </m:r>
                  </m:oMath>
                </a14:m>
                <a:r>
                  <a:rPr lang="en-US" sz="260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  <a:ea typeface="Cambria Math"/>
                            <a:cs typeface="Calibri" pitchFamily="34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  <a:ea typeface="Cambria Math"/>
                            <a:cs typeface="Calibri" pitchFamily="34" charset="0"/>
                          </a:rPr>
                          <m:t> </m:t>
                        </m:r>
                        <m:r>
                          <a:rPr lang="en-US" sz="2600" i="1">
                            <a:latin typeface="Cambria Math"/>
                            <a:ea typeface="Cambria Math"/>
                            <a:cs typeface="Calibri" pitchFamily="34" charset="0"/>
                          </a:rPr>
                          <m:t>𝑢</m:t>
                        </m:r>
                      </m:e>
                      <m:sub>
                        <m:r>
                          <a:rPr lang="en-US" sz="2600" i="1">
                            <a:latin typeface="Cambria Math"/>
                            <a:ea typeface="Cambria Math"/>
                            <a:cs typeface="Calibri" pitchFamily="34" charset="0"/>
                          </a:rPr>
                          <m:t>1</m:t>
                        </m:r>
                      </m:sub>
                    </m:sSub>
                    <m:r>
                      <a:rPr lang="en-US" sz="2600" i="1">
                        <a:latin typeface="Cambria Math"/>
                        <a:ea typeface="Cambria Math"/>
                        <a:cs typeface="Calibri" pitchFamily="34" charset="0"/>
                      </a:rPr>
                      <m:t>,</m:t>
                    </m:r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  <a:ea typeface="Cambria Math"/>
                            <a:cs typeface="Calibri" pitchFamily="34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/>
                            <a:ea typeface="Cambria Math"/>
                            <a:cs typeface="Calibri" pitchFamily="34" charset="0"/>
                          </a:rPr>
                          <m:t>𝑢</m:t>
                        </m:r>
                      </m:e>
                      <m:sub>
                        <m:r>
                          <a:rPr lang="en-US" sz="2600" i="1">
                            <a:latin typeface="Cambria Math"/>
                            <a:ea typeface="Cambria Math"/>
                            <a:cs typeface="Calibri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,…,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  <a:ea typeface="Cambria Math"/>
                            <a:cs typeface="Calibri" pitchFamily="34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/>
                            <a:ea typeface="Cambria Math"/>
                            <a:cs typeface="Calibri" pitchFamily="34" charset="0"/>
                          </a:rPr>
                          <m:t>𝑢</m:t>
                        </m:r>
                      </m:e>
                      <m:sub>
                        <m:r>
                          <a:rPr lang="en-US" sz="2600" i="1">
                            <a:latin typeface="Cambria Math"/>
                            <a:ea typeface="Cambria Math"/>
                            <a:cs typeface="Calibri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  <a:ea typeface="Cambria Math"/>
                            <a:cs typeface="Calibri" pitchFamily="34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  <a:ea typeface="Cambria Math"/>
                            <a:cs typeface="Calibri" pitchFamily="34" charset="0"/>
                          </a:rPr>
                          <m:t> </m:t>
                        </m:r>
                        <m:r>
                          <a:rPr lang="en-US" sz="2600" i="1">
                            <a:latin typeface="Cambria Math"/>
                            <a:ea typeface="Cambria Math"/>
                            <a:cs typeface="Calibri" pitchFamily="34" charset="0"/>
                          </a:rPr>
                          <m:t>𝑓</m:t>
                        </m:r>
                        <m:r>
                          <a:rPr lang="en-US" sz="2600" i="1">
                            <a:latin typeface="Cambria Math"/>
                            <a:ea typeface="Cambria Math"/>
                            <a:cs typeface="Calibri" pitchFamily="34" charset="0"/>
                          </a:rPr>
                          <m:t>(</m:t>
                        </m:r>
                        <m:r>
                          <a:rPr lang="en-US" sz="2600" i="1">
                            <a:latin typeface="Cambria Math"/>
                            <a:ea typeface="Cambria Math"/>
                            <a:cs typeface="Calibri" pitchFamily="34" charset="0"/>
                          </a:rPr>
                          <m:t>𝑢</m:t>
                        </m:r>
                      </m:e>
                      <m:sub>
                        <m:r>
                          <a:rPr lang="en-US" sz="2600" i="1">
                            <a:latin typeface="Cambria Math"/>
                            <a:ea typeface="Cambria Math"/>
                            <a:cs typeface="Calibri" pitchFamily="34" charset="0"/>
                          </a:rPr>
                          <m:t>1</m:t>
                        </m:r>
                      </m:sub>
                    </m:sSub>
                    <m:r>
                      <a:rPr lang="en-US" sz="2600" i="1">
                        <a:latin typeface="Cambria Math"/>
                        <a:ea typeface="Cambria Math"/>
                        <a:cs typeface="Calibri" pitchFamily="34" charset="0"/>
                      </a:rPr>
                      <m:t>,</m:t>
                    </m:r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  <a:ea typeface="Cambria Math"/>
                            <a:cs typeface="Calibri" pitchFamily="34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/>
                            <a:ea typeface="Cambria Math"/>
                            <a:cs typeface="Calibri" pitchFamily="34" charset="0"/>
                          </a:rPr>
                          <m:t>𝑢</m:t>
                        </m:r>
                      </m:e>
                      <m:sub>
                        <m:r>
                          <a:rPr lang="en-US" sz="2600" i="1">
                            <a:latin typeface="Cambria Math"/>
                            <a:ea typeface="Cambria Math"/>
                            <a:cs typeface="Calibri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,…,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  <a:ea typeface="Cambria Math"/>
                            <a:cs typeface="Calibri" pitchFamily="34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/>
                            <a:ea typeface="Cambria Math"/>
                            <a:cs typeface="Calibri" pitchFamily="34" charset="0"/>
                          </a:rPr>
                          <m:t>𝑢</m:t>
                        </m:r>
                      </m:e>
                      <m:sub>
                        <m:r>
                          <a:rPr lang="en-US" sz="2600" i="1">
                            <a:latin typeface="Cambria Math"/>
                            <a:ea typeface="Cambria Math"/>
                            <a:cs typeface="Calibri" pitchFamily="34" charset="0"/>
                          </a:rPr>
                          <m:t>𝑛</m:t>
                        </m:r>
                      </m:sub>
                    </m:sSub>
                    <m:r>
                      <a:rPr lang="en-US" sz="2600" i="1">
                        <a:latin typeface="Cambria Math"/>
                        <a:ea typeface="Cambria Math"/>
                        <a:cs typeface="Calibri" pitchFamily="34" charset="0"/>
                      </a:rPr>
                      <m:t>)=</m:t>
                    </m:r>
                    <m:r>
                      <a:rPr lang="en-US" sz="2600" i="1">
                        <a:latin typeface="Cambria Math"/>
                        <a:ea typeface="Cambria Math"/>
                        <a:cs typeface="Calibri" pitchFamily="34" charset="0"/>
                      </a:rPr>
                      <m:t>1</m:t>
                    </m:r>
                  </m:oMath>
                </a14:m>
                <a:endParaRPr lang="en-US" sz="2600">
                  <a:latin typeface="Times New Roman" panose="02020603050405020304" pitchFamily="18" charset="0"/>
                  <a:ea typeface="Cambria Math"/>
                  <a:cs typeface="Times New Roman" panose="02020603050405020304" pitchFamily="18" charset="0"/>
                </a:endParaRPr>
              </a:p>
              <a:p>
                <a:pPr>
                  <a:spcBef>
                    <a:spcPts val="0"/>
                  </a:spcBef>
                  <a:defRPr/>
                </a:pPr>
                <a:r>
                  <a:rPr lang="en-US" sz="2600" b="1" u="sng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Ví </a:t>
                </a:r>
                <a:r>
                  <a:rPr lang="en-US" sz="2600" b="1" u="sng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</a:t>
                </a:r>
                <a:r>
                  <a:rPr lang="en-US" sz="2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Cho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/>
                        <a:ea typeface="Cambria Math"/>
                        <a:cs typeface="Calibri" pitchFamily="34" charset="0"/>
                      </a:rPr>
                      <m:t>𝑓</m:t>
                    </m:r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  <a:ea typeface="Cambria Math"/>
                            <a:cs typeface="Calibri" pitchFamily="34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/>
                            <a:ea typeface="Cambria Math"/>
                            <a:cs typeface="Calibri" pitchFamily="34" charset="0"/>
                          </a:rPr>
                          <m:t>𝑥</m:t>
                        </m:r>
                        <m:r>
                          <a:rPr lang="en-US" sz="2600" i="1">
                            <a:latin typeface="Cambria Math"/>
                            <a:ea typeface="Cambria Math"/>
                            <a:cs typeface="Calibri" pitchFamily="34" charset="0"/>
                          </a:rPr>
                          <m:t>,</m:t>
                        </m:r>
                        <m:r>
                          <a:rPr lang="en-US" sz="2600" i="1">
                            <a:latin typeface="Cambria Math"/>
                            <a:ea typeface="Cambria Math"/>
                            <a:cs typeface="Calibri" pitchFamily="34" charset="0"/>
                          </a:rPr>
                          <m:t>𝑦</m:t>
                        </m:r>
                      </m:e>
                    </m:d>
                    <m:r>
                      <a:rPr lang="en-US" sz="2600" b="1" i="1">
                        <a:latin typeface="Cambria Math"/>
                        <a:ea typeface="Cambria Math"/>
                        <a:cs typeface="Calibri" pitchFamily="34" charset="0"/>
                      </a:rPr>
                      <m:t>=</m:t>
                    </m:r>
                    <m:r>
                      <a:rPr lang="en-US" sz="2600" i="1">
                        <a:latin typeface="Cambria Math"/>
                        <a:ea typeface="Cambria Math"/>
                        <a:cs typeface="Calibri" pitchFamily="34" charset="0"/>
                      </a:rPr>
                      <m:t>𝑥</m:t>
                    </m:r>
                    <m:r>
                      <a:rPr lang="en-US" sz="2600" i="1">
                        <a:latin typeface="Cambria Math"/>
                        <a:ea typeface="Cambria Math"/>
                        <a:cs typeface="Calibri" pitchFamily="34" charset="0"/>
                      </a:rPr>
                      <m:t>∨</m:t>
                    </m:r>
                    <m:acc>
                      <m:accPr>
                        <m:chr m:val="̅"/>
                        <m:ctrlPr>
                          <a:rPr lang="en-US" sz="26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en-US" sz="2600" i="1">
                            <a:latin typeface="Cambria Math" panose="02040503050406030204" pitchFamily="18" charset="0"/>
                            <a:ea typeface="Cambria Math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2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>
                  <a:spcBef>
                    <a:spcPts val="0"/>
                  </a:spcBef>
                  <a:defRPr/>
                </a:pPr>
                <a:r>
                  <a:rPr lang="en-US" sz="2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Tìm biểu thức dạng nối rời chính tắc của</a:t>
                </a:r>
                <a14:m>
                  <m:oMath xmlns:m="http://schemas.openxmlformats.org/officeDocument/2006/math">
                    <m:r>
                      <a:rPr lang="en-US" sz="2600">
                        <a:latin typeface="Cambria Math" panose="02040503050406030204" pitchFamily="18" charset="0"/>
                        <a:ea typeface="Cambria Math"/>
                        <a:cs typeface="Calibri" pitchFamily="34" charset="0"/>
                      </a:rPr>
                      <m:t> </m:t>
                    </m:r>
                    <m:r>
                      <a:rPr lang="en-US" sz="2600" i="1">
                        <a:latin typeface="Cambria Math"/>
                        <a:ea typeface="Cambria Math"/>
                        <a:cs typeface="Calibri" pitchFamily="34" charset="0"/>
                      </a:rPr>
                      <m:t>𝑓</m:t>
                    </m:r>
                  </m:oMath>
                </a14:m>
                <a:endParaRPr lang="en-US" sz="2600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16013" lvl="2" indent="-514350">
                  <a:spcBef>
                    <a:spcPts val="1200"/>
                  </a:spcBef>
                  <a:defRPr/>
                </a:pPr>
                <a:r>
                  <a:rPr lang="en-US" sz="26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Lập bảng chân trị của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/>
                        <a:ea typeface="Cambria Math"/>
                        <a:cs typeface="Calibri" pitchFamily="34" charset="0"/>
                      </a:rPr>
                      <m:t>𝑓</m:t>
                    </m:r>
                  </m:oMath>
                </a14:m>
                <a:endParaRPr lang="en-US" sz="2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16013" lvl="2" indent="-514350">
                  <a:defRPr/>
                </a:pPr>
                <a:endParaRPr lang="en-US" sz="2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828800" lvl="2" indent="-1227138">
                  <a:defRPr/>
                </a:pPr>
                <a:endParaRPr lang="en-US" sz="2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828800" lvl="2" indent="-1227138">
                  <a:defRPr/>
                </a:pPr>
                <a:endParaRPr lang="en-US" sz="2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828800" lvl="2" indent="-1227138">
                  <a:defRPr/>
                </a:pPr>
                <a:endParaRPr lang="en-US" sz="2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828800" lvl="2" indent="-1597025">
                  <a:spcBef>
                    <a:spcPts val="600"/>
                  </a:spcBef>
                  <a:defRPr/>
                </a:pPr>
                <a:r>
                  <a:rPr lang="en-US" sz="2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 thể hiện làm cho </a:t>
                </a:r>
                <a14:m>
                  <m:oMath xmlns:m="http://schemas.openxmlformats.org/officeDocument/2006/math">
                    <m:r>
                      <a:rPr lang="en-US" sz="2600" b="1" i="1">
                        <a:latin typeface="Cambria Math" panose="02040503050406030204" pitchFamily="18" charset="0"/>
                        <a:ea typeface="Cambria Math"/>
                        <a:cs typeface="Calibri" pitchFamily="34" charset="0"/>
                      </a:rPr>
                      <m:t>𝒇</m:t>
                    </m:r>
                    <m:r>
                      <a:rPr lang="en-US" sz="2600" b="1" i="1">
                        <a:latin typeface="Cambria Math" panose="02040503050406030204" pitchFamily="18" charset="0"/>
                        <a:ea typeface="Cambria Math"/>
                        <a:cs typeface="Calibri" pitchFamily="34" charset="0"/>
                      </a:rPr>
                      <m:t>=</m:t>
                    </m:r>
                    <m:r>
                      <a:rPr lang="en-US" sz="2600" b="1" i="1">
                        <a:latin typeface="Cambria Math" panose="02040503050406030204" pitchFamily="18" charset="0"/>
                        <a:ea typeface="Cambria Math"/>
                        <a:cs typeface="Calibri" pitchFamily="34" charset="0"/>
                      </a:rPr>
                      <m:t>𝟏</m:t>
                    </m:r>
                    <m:r>
                      <a:rPr lang="en-US" sz="2600" b="1" i="1">
                        <a:latin typeface="Cambria Math" panose="02040503050406030204" pitchFamily="18" charset="0"/>
                        <a:ea typeface="Cambria Math"/>
                        <a:cs typeface="Calibri" pitchFamily="34" charset="0"/>
                      </a:rPr>
                      <m:t> </m:t>
                    </m:r>
                  </m:oMath>
                </a14:m>
                <a:r>
                  <a:rPr lang="en-US" sz="2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14:m>
                  <m:oMath xmlns:m="http://schemas.openxmlformats.org/officeDocument/2006/math">
                    <m:r>
                      <a:rPr lang="en-US" sz="260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sz="2600" b="1" i="1">
                        <a:latin typeface="Cambria Math"/>
                        <a:cs typeface="Times New Roman" pitchFamily="18" charset="0"/>
                      </a:rPr>
                      <m:t>𝟎𝟎</m:t>
                    </m:r>
                    <m:r>
                      <a:rPr lang="en-US" sz="2600" b="1" i="1">
                        <a:latin typeface="Cambria Math"/>
                        <a:cs typeface="Times New Roman" pitchFamily="18" charset="0"/>
                      </a:rPr>
                      <m:t>, </m:t>
                    </m:r>
                    <m:r>
                      <a:rPr lang="en-US" sz="2600" b="1" i="1">
                        <a:latin typeface="Cambria Math"/>
                        <a:cs typeface="Times New Roman" pitchFamily="18" charset="0"/>
                      </a:rPr>
                      <m:t>𝟏𝟎</m:t>
                    </m:r>
                    <m:r>
                      <a:rPr lang="en-US" sz="2600" b="1" i="1">
                        <a:latin typeface="Cambria Math"/>
                        <a:cs typeface="Times New Roman" pitchFamily="18" charset="0"/>
                      </a:rPr>
                      <m:t>, </m:t>
                    </m:r>
                    <m:r>
                      <a:rPr lang="en-US" sz="2600" b="1" i="1">
                        <a:latin typeface="Cambria Math"/>
                        <a:cs typeface="Times New Roman" pitchFamily="18" charset="0"/>
                      </a:rPr>
                      <m:t>𝟏𝟏</m:t>
                    </m:r>
                    <m:r>
                      <a:rPr lang="en-US" sz="2600" b="1">
                        <a:latin typeface="Cambria Math"/>
                        <a:cs typeface="Times New Roman" pitchFamily="18" charset="0"/>
                      </a:rPr>
                      <m:t>  </m:t>
                    </m:r>
                  </m:oMath>
                </a14:m>
                <a:endParaRPr lang="en-US" sz="2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828800" lvl="2" indent="-1597025">
                  <a:spcBef>
                    <a:spcPts val="600"/>
                  </a:spcBef>
                  <a:defRPr/>
                </a:pPr>
                <a:r>
                  <a:rPr lang="en-US" sz="260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</a:t>
                </a:r>
                <a:r>
                  <a:rPr lang="en-US" sz="2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lập được các từ tối tiểu tương ứng.</a:t>
                </a:r>
              </a:p>
              <a:p>
                <a:pPr marL="1828800" lvl="2" indent="-1597025">
                  <a:spcBef>
                    <a:spcPts val="600"/>
                  </a:spcBef>
                  <a:defRPr/>
                </a:pPr>
                <a:r>
                  <a:rPr lang="en-US" sz="2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Vậy dạng nối rời chính tắc của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/>
                        <a:ea typeface="Cambria Math"/>
                        <a:cs typeface="Calibri" pitchFamily="34" charset="0"/>
                      </a:rPr>
                      <m:t>𝑓</m:t>
                    </m:r>
                    <m:r>
                      <a:rPr lang="en-US" sz="2600" i="1">
                        <a:latin typeface="Cambria Math"/>
                        <a:ea typeface="Cambria Math"/>
                        <a:cs typeface="Calibri" pitchFamily="34" charset="0"/>
                      </a:rPr>
                      <m:t> </m:t>
                    </m:r>
                  </m:oMath>
                </a14:m>
                <a:r>
                  <a:rPr lang="en-US" sz="260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14:m>
                  <m:oMath xmlns:m="http://schemas.openxmlformats.org/officeDocument/2006/math">
                    <m:r>
                      <a:rPr lang="en-US" sz="2600">
                        <a:latin typeface="Cambria Math" panose="02040503050406030204" pitchFamily="18" charset="0"/>
                        <a:ea typeface="Cambria Math"/>
                        <a:cs typeface="Calibri" pitchFamily="34" charset="0"/>
                      </a:rPr>
                      <m:t> </m:t>
                    </m:r>
                    <m:r>
                      <a:rPr lang="en-US" sz="260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libri" pitchFamily="34" charset="0"/>
                      </a:rPr>
                      <m:t>𝑓</m:t>
                    </m:r>
                    <m:d>
                      <m:dPr>
                        <m:ctrlP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libri" pitchFamily="34" charset="0"/>
                          </a:rPr>
                        </m:ctrlPr>
                      </m:dPr>
                      <m:e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libri" pitchFamily="34" charset="0"/>
                          </a:rPr>
                          <m:t>𝑥</m:t>
                        </m:r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libri" pitchFamily="34" charset="0"/>
                          </a:rPr>
                          <m:t>,</m:t>
                        </m:r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libri" pitchFamily="34" charset="0"/>
                          </a:rPr>
                          <m:t>𝑦</m:t>
                        </m:r>
                      </m:e>
                    </m:d>
                    <m:r>
                      <a:rPr lang="en-US" sz="26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libri" pitchFamily="34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𝑥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𝑦</m:t>
                        </m:r>
                      </m:e>
                    </m:acc>
                    <m:r>
                      <a:rPr lang="en-US" sz="26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 ∨</m:t>
                    </m:r>
                    <m:r>
                      <a:rPr lang="en-US" sz="2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/>
                        <a:cs typeface="Times New Roman" pitchFamily="18" charset="0"/>
                      </a:rPr>
                      <m:t>𝑥</m:t>
                    </m:r>
                    <m:acc>
                      <m:accPr>
                        <m:chr m:val="̅"/>
                        <m:ctrlP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𝑦</m:t>
                        </m:r>
                      </m:e>
                    </m:acc>
                    <m:r>
                      <a:rPr lang="en-US" sz="26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∨ </m:t>
                    </m:r>
                    <m:r>
                      <a:rPr lang="en-US" sz="26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𝑥𝑦</m:t>
                    </m:r>
                  </m:oMath>
                </a14:m>
                <a:endParaRPr lang="en-US" sz="2600">
                  <a:solidFill>
                    <a:srgbClr val="FF0000"/>
                  </a:solidFill>
                  <a:latin typeface="Times New Roman" panose="02020603050405020304" pitchFamily="18" charset="0"/>
                  <a:ea typeface="Cambria Math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52400"/>
                <a:ext cx="8763000" cy="5986254"/>
              </a:xfrm>
              <a:prstGeom prst="rect">
                <a:avLst/>
              </a:prstGeom>
              <a:blipFill rotWithShape="0">
                <a:blip r:embed="rId3"/>
                <a:stretch>
                  <a:fillRect l="-1252" t="-916" b="-16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2732472"/>
                  </p:ext>
                </p:extLst>
              </p:nvPr>
            </p:nvGraphicFramePr>
            <p:xfrm>
              <a:off x="4419600" y="2743200"/>
              <a:ext cx="2664296" cy="1828800"/>
            </p:xfrm>
            <a:graphic>
              <a:graphicData uri="http://schemas.openxmlformats.org/drawingml/2006/table">
                <a:tbl>
                  <a:tblPr firstRow="1" bandRow="1">
                    <a:tableStyleId>{10A1B5D5-9B99-4C35-A422-299274C87663}</a:tableStyleId>
                  </a:tblPr>
                  <a:tblGrid>
                    <a:gridCol w="86409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9208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0811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560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cap="none" spc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x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cap="none" spc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cap="none" spc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𝐱</m:t>
                                </m:r>
                                <m:r>
                                  <a:rPr lang="en-US" sz="1800" b="1" cap="none" spc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∨</m:t>
                                </m:r>
                                <m:r>
                                  <a:rPr lang="en-US" sz="1800" b="1" i="0" cap="none" spc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1800" b="1" i="1" cap="none" spc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800" b="1" i="1" cap="none" spc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1" cap="none" spc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1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cap="none" spc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cap="none" spc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cap="none" spc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1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cap="none" spc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cap="none" spc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cap="none" spc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1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cap="none" spc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cap="none" spc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cap="none" spc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1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cap="none" spc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cap="none" spc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cap="none" spc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2732472"/>
                  </p:ext>
                </p:extLst>
              </p:nvPr>
            </p:nvGraphicFramePr>
            <p:xfrm>
              <a:off x="4419600" y="2743200"/>
              <a:ext cx="2664296" cy="1828800"/>
            </p:xfrm>
            <a:graphic>
              <a:graphicData uri="http://schemas.openxmlformats.org/drawingml/2006/table">
                <a:tbl>
                  <a:tblPr firstRow="1" bandRow="1">
                    <a:tableStyleId>{10A1B5D5-9B99-4C35-A422-299274C87663}</a:tableStyleId>
                  </a:tblPr>
                  <a:tblGrid>
                    <a:gridCol w="864095"/>
                    <a:gridCol w="792088"/>
                    <a:gridCol w="1008113"/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cap="none" spc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x</a:t>
                          </a:r>
                          <a:endParaRPr lang="en-US" b="1" cap="none" spc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cap="none" spc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y</a:t>
                          </a:r>
                          <a:endParaRPr lang="en-US" b="1" cap="none" spc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65060" t="-10000" r="-1205" b="-425000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cap="none" spc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US" b="0" cap="none" spc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cap="none" spc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US" b="0" cap="none" spc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cap="none" spc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</a:rPr>
                            <a:t>1</a:t>
                          </a:r>
                          <a:endParaRPr lang="en-US" b="0" cap="none" spc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cap="none" spc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US" b="0" cap="none" spc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cap="none" spc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US" b="0" cap="none" spc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cap="none" spc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US" b="0" cap="none" spc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cap="none" spc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US" b="0" cap="none" spc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cap="none" spc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US" b="0" cap="none" spc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cap="none" spc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</a:rPr>
                            <a:t>1</a:t>
                          </a:r>
                          <a:endParaRPr lang="en-US" b="0" cap="none" spc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cap="none" spc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US" b="0" cap="none" spc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cap="none" spc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US" b="0" cap="none" spc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cap="none" spc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</a:rPr>
                            <a:t>1</a:t>
                          </a:r>
                          <a:endParaRPr lang="en-US" b="0" cap="none" spc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48600" y="6492874"/>
            <a:ext cx="12222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5D2F380-06B6-F991-98BE-6D84E9BBB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90599"/>
            <a:ext cx="6858000" cy="47358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03031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D60549-65EB-35FB-0664-E8AE87AF4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533400"/>
            <a:ext cx="2265312" cy="2286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CA1909-95F8-E9D7-0F85-35B3C1BE2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348915"/>
            <a:ext cx="838200" cy="24704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CC4FB7-5726-B4F1-0834-6E5D34240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32349"/>
            <a:ext cx="7315200" cy="93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220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Box 5"/>
          <p:cNvSpPr txBox="1">
            <a:spLocks noChangeArrowheads="1"/>
          </p:cNvSpPr>
          <p:nvPr/>
        </p:nvSpPr>
        <p:spPr bwMode="auto">
          <a:xfrm>
            <a:off x="0" y="152400"/>
            <a:ext cx="81549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4000" b="1">
                <a:solidFill>
                  <a:schemeClr val="accent1"/>
                </a:solidFill>
                <a:latin typeface="Tahoma" panose="020B0604030504040204" pitchFamily="34" charset="0"/>
              </a:rPr>
              <a:t>Công thức đa thức tối tiểu:</a:t>
            </a:r>
            <a:endParaRPr lang="vi-VN" sz="4000" b="1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25293" y="685800"/>
                <a:ext cx="7920880" cy="6741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Aft>
                    <a:spcPts val="1800"/>
                  </a:spcAft>
                  <a:buFont typeface="+mj-lt"/>
                  <a:buAutoNum type="arabicPeriod"/>
                </a:pPr>
                <a:r>
                  <a:rPr lang="en-US" sz="28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 giản hơn: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  hai công thức đa thức của một hàm Boole:</a:t>
                </a:r>
              </a:p>
              <a:p>
                <a:pPr algn="ctr">
                  <a:spcAft>
                    <a:spcPts val="1800"/>
                  </a:spcAft>
                </a:pP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= m</a:t>
                </a:r>
                <a:r>
                  <a:rPr lang="en-US" sz="2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m:rPr>
                        <m:nor/>
                      </m:rPr>
                      <a: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m</m:t>
                    </m:r>
                  </m:oMath>
                </a14:m>
                <a:r>
                  <a:rPr lang="en-US" sz="2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m:rPr>
                        <m:nor/>
                      </m:rPr>
                      <a: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m</m:t>
                    </m:r>
                  </m:oMath>
                </a14:m>
                <a:r>
                  <a:rPr lang="en-US" sz="2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280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........ m</a:t>
                </a:r>
                <a:r>
                  <a:rPr lang="en-US" sz="2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endParaRPr lang="vi-VN" sz="2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spcAft>
                    <a:spcPts val="2400"/>
                  </a:spcAft>
                </a:pP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 = M</a:t>
                </a:r>
                <a:r>
                  <a:rPr lang="en-US" sz="2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m:rPr>
                        <m:nor/>
                      </m:rPr>
                      <a:rPr lang="en-US" sz="2800">
                        <a:latin typeface="Times New Roman" panose="020206030504050203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M</m:t>
                    </m:r>
                  </m:oMath>
                </a14:m>
                <a:r>
                  <a:rPr lang="en-US" sz="2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m:rPr>
                        <m:nor/>
                      </m:rPr>
                      <a:rPr lang="en-US" sz="2800">
                        <a:latin typeface="Times New Roman" panose="020206030504050203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M</m:t>
                    </m:r>
                  </m:oMath>
                </a14:m>
                <a:r>
                  <a:rPr lang="en-US" sz="2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280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........ M</a:t>
                </a:r>
                <a:r>
                  <a:rPr lang="en-US" sz="2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endParaRPr lang="en-US" sz="2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vi-VN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 nói rằng công thức F </a:t>
                </a:r>
                <a:r>
                  <a:rPr lang="vi-VN" sz="2800" i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 giản hơn </a:t>
                </a:r>
                <a:r>
                  <a:rPr lang="vi-VN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 thức G nếu tồn tại đơn ánh h:</a:t>
                </a:r>
              </a:p>
              <a:p>
                <a:pPr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vi-VN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vi-V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sz="28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8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800" i="1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vi-VN" sz="28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vi-VN" sz="2800" i="1">
                        <a:latin typeface="Cambria Math" panose="02040503050406030204" pitchFamily="18" charset="0"/>
                      </a:rPr>
                      <m:t>→{</m:t>
                    </m:r>
                    <m:r>
                      <a:rPr lang="vi-VN" sz="28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vi-VN" sz="2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8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vi-VN" sz="2800" i="1">
                        <a:latin typeface="Cambria Math" panose="02040503050406030204" pitchFamily="18" charset="0"/>
                      </a:rPr>
                      <m:t>,…,</m:t>
                    </m:r>
                    <m:r>
                      <a:rPr lang="vi-VN" sz="2800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vi-VN" sz="28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vi-VN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sao cho với mọi </a:t>
                </a:r>
                <a14:m>
                  <m:oMath xmlns:m="http://schemas.openxmlformats.org/officeDocument/2006/math">
                    <m:r>
                      <a:rPr lang="vi-VN" sz="28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vi-VN" sz="2800" i="1">
                        <a:latin typeface="Cambria Math" panose="02040503050406030204" pitchFamily="18" charset="0"/>
                      </a:rPr>
                      <m:t>∈{</m:t>
                    </m:r>
                    <m:r>
                      <a:rPr lang="vi-VN" sz="28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vi-VN" sz="2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8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vi-VN" sz="2800" i="1">
                        <a:latin typeface="Cambria Math" panose="02040503050406030204" pitchFamily="18" charset="0"/>
                      </a:rPr>
                      <m:t>,…,</m:t>
                    </m:r>
                    <m:r>
                      <a:rPr lang="vi-VN" sz="28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vi-VN" sz="28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vi-VN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thì số từ đơn của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vi-VN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vi-VN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không nhiều hơn số từ đơn của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8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vi-VN" sz="28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vi-VN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latin typeface="Cambria Math"/>
                          </a:rPr>
                          <m:t>𝑖</m:t>
                        </m:r>
                        <m:r>
                          <a:rPr lang="vi-VN" sz="2800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endParaRPr lang="vi-VN" sz="2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endParaRPr lang="vi-VN"/>
              </a:p>
              <a:p>
                <a:pPr>
                  <a:spcAft>
                    <a:spcPts val="600"/>
                  </a:spcAft>
                </a:pPr>
                <a:endParaRPr lang="vi-VN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293" y="685800"/>
                <a:ext cx="7920880" cy="6741013"/>
              </a:xfrm>
              <a:prstGeom prst="rect">
                <a:avLst/>
              </a:prstGeom>
              <a:blipFill rotWithShape="0">
                <a:blip r:embed="rId3"/>
                <a:stretch>
                  <a:fillRect l="-1617" t="-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48600" y="6492874"/>
            <a:ext cx="12222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467" y="1295400"/>
            <a:ext cx="7921625" cy="268791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57200" indent="-457200">
              <a:spcAft>
                <a:spcPts val="1800"/>
              </a:spcAft>
              <a:buFont typeface="+mj-lt"/>
              <a:buAutoNum type="arabicPeriod" startAt="2"/>
              <a:defRPr/>
            </a:pPr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Đơn giản như nhau</a:t>
            </a:r>
            <a:endParaRPr lang="vi-V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5000"/>
              </a:spcAft>
              <a:defRPr/>
            </a:pP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Nếu F đơn giản hơn G và G đơn giản hơn F thì ta nói F và G </a:t>
            </a:r>
            <a:r>
              <a:rPr lang="vi-V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đơn giản như nhau.</a:t>
            </a:r>
            <a:endParaRPr lang="en-US" sz="28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5000"/>
              </a:spcAft>
              <a:defRPr/>
            </a:pP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Ví dụ:</a:t>
            </a:r>
            <a:endParaRPr lang="vi-VN" sz="28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351490"/>
            <a:ext cx="4286250" cy="126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30092" y="6492874"/>
            <a:ext cx="1140710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-685800" y="0"/>
                <a:ext cx="8640960" cy="6324600"/>
              </a:xfrm>
            </p:spPr>
            <p:txBody>
              <a:bodyPr>
                <a:noAutofit/>
              </a:bodyPr>
              <a:lstStyle/>
              <a:p>
                <a:pPr marL="1270000" lvl="4" indent="0">
                  <a:buClrTx/>
                  <a:buNone/>
                  <a:defRPr/>
                </a:pPr>
                <a:endParaRPr lang="en-US" sz="2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270000" lvl="4" indent="0">
                  <a:buClrTx/>
                  <a:buNone/>
                  <a:defRPr/>
                </a:pPr>
                <a:r>
                  <a:rPr lang="en-US" sz="26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∈ F</a:t>
                </a:r>
                <a:r>
                  <a:rPr lang="en-US" sz="2600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 </a:t>
                </a:r>
                <a:r>
                  <a:rPr lang="en-US" sz="260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26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 dạng đa thức</a:t>
                </a:r>
              </a:p>
              <a:p>
                <a:pPr marL="1327150" lvl="3" indent="-514350">
                  <a:buClrTx/>
                  <a:buNone/>
                  <a:defRPr/>
                </a:pPr>
                <a:r>
                  <a:rPr lang="en-US" sz="26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f(</a:t>
                </a:r>
                <a:r>
                  <a:rPr lang="en-US" sz="260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x,y,z,t</a:t>
                </a:r>
                <a:r>
                  <a:rPr lang="en-US" sz="26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f</a:t>
                </a:r>
                <a:r>
                  <a:rPr lang="en-US" sz="2600" baseline="-2500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1 </a:t>
                </a:r>
                <a:r>
                  <a:rPr lang="en-US" sz="26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x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acc>
                  </m:oMath>
                </a14:m>
                <a:r>
                  <a:rPr lang="en-US" sz="26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6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yz V x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acc>
                  </m:oMath>
                </a14:m>
                <a:r>
                  <a:rPr lang="en-US" sz="26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 xyz	 (1)</a:t>
                </a:r>
              </a:p>
              <a:p>
                <a:pPr marL="1327150" lvl="3" indent="-514350">
                  <a:buClrTx/>
                  <a:buNone/>
                  <a:defRPr/>
                </a:pPr>
                <a:r>
                  <a:rPr lang="en-US" sz="26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: f</a:t>
                </a:r>
                <a:r>
                  <a:rPr lang="en-US" sz="2600" baseline="-2500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2 </a:t>
                </a:r>
                <a:r>
                  <a:rPr lang="en-US" sz="26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x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acc>
                    <m:r>
                      <a:rPr lang="en-US" sz="2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6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14:m>
                  <m:oMath xmlns:m="http://schemas.openxmlformats.org/officeDocument/2006/math">
                    <m:r>
                      <a:rPr lang="en-US" sz="26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6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yz V xy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sz="26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 yzt		 (2)</a:t>
                </a:r>
              </a:p>
              <a:p>
                <a:pPr marL="1327150" lvl="3" indent="-514350">
                  <a:buClrTx/>
                  <a:buNone/>
                  <a:defRPr/>
                </a:pPr>
                <a:r>
                  <a:rPr lang="en-US" sz="26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: f</a:t>
                </a:r>
                <a:r>
                  <a:rPr lang="en-US" sz="2600" baseline="-2500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3 </a:t>
                </a:r>
                <a:r>
                  <a:rPr lang="en-US" sz="26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x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acc>
                  </m:oMath>
                </a14:m>
                <a:r>
                  <a:rPr lang="en-US" sz="26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6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yzt V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6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yz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acc>
                  </m:oMath>
                </a14:m>
                <a:r>
                  <a:rPr lang="en-US" sz="26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V </a:t>
                </a:r>
                <a:r>
                  <a:rPr lang="en-US" sz="260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xy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sz="26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 yzt	 (3) </a:t>
                </a:r>
              </a:p>
              <a:p>
                <a:pPr marL="1327150" lvl="3" indent="-514350">
                  <a:buNone/>
                  <a:defRPr/>
                </a:pPr>
                <a:r>
                  <a:rPr lang="en-US" sz="26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(1) </a:t>
                </a:r>
                <a:r>
                  <a:rPr lang="en-US" sz="260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6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(2) đơn giản như nhau</a:t>
                </a:r>
              </a:p>
              <a:p>
                <a:pPr marL="1327150" lvl="3" indent="15875">
                  <a:buNone/>
                  <a:defRPr/>
                </a:pPr>
                <a:r>
                  <a:rPr lang="en-US" sz="26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Vì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eqArrPr>
                          <m:e>
                            <m:r>
                              <a:rPr lang="en-US" sz="2600" i="1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𝑝</m:t>
                            </m:r>
                            <m:r>
                              <a:rPr lang="en-US" sz="2600" i="1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=</m:t>
                            </m:r>
                            <m:r>
                              <a:rPr lang="en-US" sz="2600" i="1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𝑞</m:t>
                            </m:r>
                            <m:r>
                              <a:rPr lang="en-US" sz="2600" i="1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=</m:t>
                            </m:r>
                            <m:r>
                              <a:rPr lang="en-US" sz="2600" i="1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4</m:t>
                            </m:r>
                          </m:e>
                          <m:e>
                            <m:func>
                              <m:funcPr>
                                <m:ctrlPr>
                                  <a:rPr lang="en-US" sz="2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60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Times New Roman" pitchFamily="18" charset="0"/>
                                  </a:rPr>
                                  <m:t>deg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2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600" i="1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cs typeface="Times New Roman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sz="2600" i="1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cs typeface="Times New Roman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  <m:r>
                              <a:rPr lang="en-US" sz="2600" i="1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=</m:t>
                            </m:r>
                            <m:func>
                              <m:funcPr>
                                <m:ctrlPr>
                                  <a:rPr lang="en-US" sz="2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60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Times New Roman" pitchFamily="18" charset="0"/>
                                  </a:rPr>
                                  <m:t>deg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2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600" i="1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cs typeface="Times New Roman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sz="2600" i="1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cs typeface="Times New Roman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  <m:r>
                              <a:rPr lang="en-US" sz="2600" i="1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=</m:t>
                            </m:r>
                            <m:r>
                              <a:rPr lang="en-US" sz="2600" i="1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3</m:t>
                            </m:r>
                          </m:e>
                        </m:eqArr>
                      </m:e>
                    </m:d>
                  </m:oMath>
                </a14:m>
                <a:endParaRPr lang="en-US" sz="26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27150" lvl="3" indent="-514350">
                  <a:buClrTx/>
                  <a:buNone/>
                  <a:defRPr/>
                </a:pPr>
                <a:endParaRPr lang="en-US" sz="26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27150" lvl="3" indent="-514350">
                  <a:buNone/>
                  <a:defRPr/>
                </a:pPr>
                <a:r>
                  <a:rPr lang="en-US" sz="26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(2) đơn giản hơn (3) hay (3) phức tạp hơn (2)</a:t>
                </a:r>
              </a:p>
              <a:p>
                <a:pPr marL="1327150" lvl="3" indent="15875">
                  <a:buNone/>
                  <a:defRPr/>
                </a:pPr>
                <a:r>
                  <a:rPr lang="en-US" sz="26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Vì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 </m:t>
                        </m:r>
                        <m:eqArr>
                          <m:eqArrPr>
                            <m:ctrlPr>
                              <a:rPr lang="en-US" sz="2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eqArrPr>
                          <m:e>
                            <m:r>
                              <a:rPr lang="en-US" sz="2600" i="1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𝑝</m:t>
                            </m:r>
                            <m:r>
                              <a:rPr lang="en-US" sz="2600" i="1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=</m:t>
                            </m:r>
                            <m:r>
                              <a:rPr lang="en-US" sz="2600" i="1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4</m:t>
                            </m:r>
                            <m:r>
                              <a:rPr lang="en-US" sz="2600" i="1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 &lt; </m:t>
                            </m:r>
                            <m:r>
                              <a:rPr lang="en-US" sz="2600" i="1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𝑞</m:t>
                            </m:r>
                            <m:r>
                              <a:rPr lang="en-US" sz="2600" i="1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=</m:t>
                            </m:r>
                            <m:r>
                              <a:rPr lang="en-US" sz="2600" i="1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5</m:t>
                            </m:r>
                          </m:e>
                          <m:e>
                            <m:func>
                              <m:funcPr>
                                <m:ctrlPr>
                                  <a:rPr lang="en-US" sz="2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60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Times New Roman" pitchFamily="18" charset="0"/>
                                  </a:rPr>
                                  <m:t>deg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2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600" i="1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cs typeface="Times New Roman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sz="2600" i="1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cs typeface="Times New Roman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  <m:r>
                              <a:rPr lang="en-US" sz="2600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≤</m:t>
                            </m:r>
                            <m:func>
                              <m:funcPr>
                                <m:ctrlPr>
                                  <a:rPr lang="en-US" sz="2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60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Times New Roman" pitchFamily="18" charset="0"/>
                                  </a:rPr>
                                  <m:t>deg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2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600" i="1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cs typeface="Times New Roman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sz="2600" i="1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cs typeface="Times New Roman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  <m:r>
                              <a:rPr lang="en-US" sz="2600" i="1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 </m:t>
                            </m:r>
                          </m:e>
                        </m:eqArr>
                      </m:e>
                    </m:d>
                  </m:oMath>
                </a14:m>
                <a:endParaRPr lang="en-US" sz="26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27150" lvl="3" indent="-514350">
                  <a:buClrTx/>
                  <a:buNone/>
                  <a:defRPr/>
                </a:pPr>
                <a:endParaRPr 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685800" y="0"/>
                <a:ext cx="8640960" cy="6324600"/>
              </a:xfrm>
              <a:blipFill rotWithShape="0">
                <a:blip r:embed="rId3"/>
                <a:stretch>
                  <a:fillRect b="-6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55160" y="6492874"/>
            <a:ext cx="111564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0" y="707886"/>
            <a:ext cx="9144000" cy="6897578"/>
          </a:xfrm>
          <a:blipFill rotWithShape="0">
            <a:blip r:embed="rId3"/>
            <a:stretch>
              <a:fillRect t="-707"/>
            </a:stretch>
          </a:blipFill>
        </p:spPr>
        <p:txBody>
          <a:bodyPr/>
          <a:lstStyle/>
          <a:p>
            <a:pPr eaLnBrk="1" hangingPunct="1"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48600" y="6492874"/>
            <a:ext cx="12222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43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601" y="1524000"/>
            <a:ext cx="8001000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Bef>
                <a:spcPts val="3000"/>
              </a:spcBef>
              <a:spcAft>
                <a:spcPts val="1800"/>
              </a:spcAft>
              <a:buFont typeface="+mj-lt"/>
              <a:buAutoNum type="arabicPeriod" startAt="3"/>
              <a:defRPr/>
            </a:pPr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Công thức đa thức tối tiểu:</a:t>
            </a:r>
            <a:endParaRPr lang="vi-V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defRPr/>
            </a:pP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Công thức F của hàm Bool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 f được gọi là 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defRPr/>
            </a:pP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800" i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thức đa thức </a:t>
            </a:r>
            <a:r>
              <a:rPr lang="vi-VN" sz="2800" i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tối tiểu</a:t>
            </a:r>
            <a:r>
              <a:rPr lang="vi-VN" sz="2800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i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defRPr/>
            </a:pP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nếu với bất kỳ công thức G của f mà đơn giản hơn F thì F và G đơn giản như nhau.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48600" y="6492874"/>
            <a:ext cx="12222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D3A0DA-65DB-4EDF-6F7C-1ED91C1B8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762000"/>
            <a:ext cx="6952164" cy="4800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8106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3099</TotalTime>
  <Words>2863</Words>
  <Application>Microsoft Office PowerPoint</Application>
  <PresentationFormat>On-screen Show (4:3)</PresentationFormat>
  <Paragraphs>431</Paragraphs>
  <Slides>45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7" baseType="lpstr">
      <vt:lpstr>Arial</vt:lpstr>
      <vt:lpstr>Calibri</vt:lpstr>
      <vt:lpstr>Cambria Math</vt:lpstr>
      <vt:lpstr>Script MT Bold</vt:lpstr>
      <vt:lpstr>Symbol</vt:lpstr>
      <vt:lpstr>Tahoma</vt:lpstr>
      <vt:lpstr>Times New Roman</vt:lpstr>
      <vt:lpstr>Trebuchet MS</vt:lpstr>
      <vt:lpstr>VNI-Viettay</vt:lpstr>
      <vt:lpstr>Wingdings</vt:lpstr>
      <vt:lpstr>Wingdings 3</vt:lpstr>
      <vt:lpstr>Facet</vt:lpstr>
      <vt:lpstr>PowerPoint Presentation</vt:lpstr>
      <vt:lpstr>NỘI DUNG CHÍNH</vt:lpstr>
      <vt:lpstr>Đại số logic B</vt:lpstr>
      <vt:lpstr>PowerPoint Presentation</vt:lpstr>
      <vt:lpstr>    Các hằng đẳng thức logic</vt:lpstr>
      <vt:lpstr>Một số phép toán 2 – ngôi khác trên đại số logic B</vt:lpstr>
      <vt:lpstr>PowerPoint Presentation</vt:lpstr>
      <vt:lpstr>PowerPoint Presentation</vt:lpstr>
      <vt:lpstr>Đại số Boole</vt:lpstr>
      <vt:lpstr>Đại số</vt:lpstr>
      <vt:lpstr>PowerPoint Presentation</vt:lpstr>
      <vt:lpstr>PowerPoint Presentation</vt:lpstr>
      <vt:lpstr>Ví dụ:</vt:lpstr>
      <vt:lpstr>PowerPoint Presentation</vt:lpstr>
      <vt:lpstr>PowerPoint Presentation</vt:lpstr>
      <vt:lpstr>Ví dụ:</vt:lpstr>
      <vt:lpstr>PowerPoint Presentation</vt:lpstr>
      <vt:lpstr>PowerPoint Presentation</vt:lpstr>
      <vt:lpstr>Hàm Boole</vt:lpstr>
      <vt:lpstr>PowerPoint Presentation</vt:lpstr>
      <vt:lpstr>PowerPoint Presentation</vt:lpstr>
      <vt:lpstr>PowerPoint Presentation</vt:lpstr>
      <vt:lpstr>Ví dụ: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HCM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Nguyen Kim Khoang</dc:creator>
  <cp:lastModifiedBy>Trang Nguyen Thuy</cp:lastModifiedBy>
  <cp:revision>493</cp:revision>
  <dcterms:created xsi:type="dcterms:W3CDTF">2007-05-12T16:09:44Z</dcterms:created>
  <dcterms:modified xsi:type="dcterms:W3CDTF">2024-11-02T01:32:41Z</dcterms:modified>
</cp:coreProperties>
</file>