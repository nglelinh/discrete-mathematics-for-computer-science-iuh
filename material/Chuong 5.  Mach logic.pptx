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24"/>
  </p:notesMasterIdLst>
  <p:sldIdLst>
    <p:sldId id="547" r:id="rId2"/>
    <p:sldId id="568" r:id="rId3"/>
    <p:sldId id="569" r:id="rId4"/>
    <p:sldId id="567" r:id="rId5"/>
    <p:sldId id="555" r:id="rId6"/>
    <p:sldId id="556" r:id="rId7"/>
    <p:sldId id="396" r:id="rId8"/>
    <p:sldId id="557" r:id="rId9"/>
    <p:sldId id="558" r:id="rId10"/>
    <p:sldId id="548" r:id="rId11"/>
    <p:sldId id="549" r:id="rId12"/>
    <p:sldId id="550" r:id="rId13"/>
    <p:sldId id="559" r:id="rId14"/>
    <p:sldId id="551" r:id="rId15"/>
    <p:sldId id="561" r:id="rId16"/>
    <p:sldId id="552" r:id="rId17"/>
    <p:sldId id="560" r:id="rId18"/>
    <p:sldId id="562" r:id="rId19"/>
    <p:sldId id="563" r:id="rId20"/>
    <p:sldId id="564" r:id="rId21"/>
    <p:sldId id="565" r:id="rId22"/>
    <p:sldId id="566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y tan" initials="dt" lastIdx="1" clrIdx="0">
    <p:extLst>
      <p:ext uri="{19B8F6BF-5375-455C-9EA6-DF929625EA0E}">
        <p15:presenceInfo xmlns:p15="http://schemas.microsoft.com/office/powerpoint/2012/main" userId="10f0cccea2fc0f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7C80"/>
    <a:srgbClr val="FF0000"/>
    <a:srgbClr val="FF9900"/>
    <a:srgbClr val="FFCC00"/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3" autoAdjust="0"/>
    <p:restoredTop sz="87111" autoAdjust="0"/>
  </p:normalViewPr>
  <p:slideViewPr>
    <p:cSldViewPr>
      <p:cViewPr varScale="1">
        <p:scale>
          <a:sx n="76" d="100"/>
          <a:sy n="76" d="100"/>
        </p:scale>
        <p:origin x="17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93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7B7CC94-87B7-48A0-85C1-954A44E705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1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DFCD2A2-E5BA-4399-9AB2-5F198684B665}" type="slidenum">
              <a:rPr lang="en-US" smtClean="0">
                <a:latin typeface="Arial" panose="020B0604020202020204" pitchFamily="34" charset="0"/>
              </a:rPr>
              <a:pPr/>
              <a:t>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3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4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2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1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4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5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5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6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988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2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599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4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4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3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4476EB8B-100A-4103-9587-233B38A2C2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9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hyperlink" Target="javascript:void(0)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17513" y="285750"/>
            <a:ext cx="6048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sz="3600" b="1" dirty="0" err="1">
                <a:solidFill>
                  <a:srgbClr val="92D050"/>
                </a:solidFill>
              </a:rPr>
              <a:t>Mạch</a:t>
            </a:r>
            <a:r>
              <a:rPr lang="en-US" sz="3600" b="1" dirty="0">
                <a:solidFill>
                  <a:srgbClr val="92D050"/>
                </a:solidFill>
              </a:rPr>
              <a:t> </a:t>
            </a:r>
            <a:r>
              <a:rPr lang="en-US" sz="3600" b="1" dirty="0" err="1">
                <a:solidFill>
                  <a:srgbClr val="92D050"/>
                </a:solidFill>
              </a:rPr>
              <a:t>điện</a:t>
            </a:r>
            <a:endParaRPr lang="vi-VN" sz="3200" b="1" dirty="0">
              <a:solidFill>
                <a:srgbClr val="92D050"/>
              </a:solidFill>
            </a:endParaRPr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BC8B6B-F555-6178-0A5E-AE0CBDE1FB7A}"/>
              </a:ext>
            </a:extLst>
          </p:cNvPr>
          <p:cNvSpPr txBox="1"/>
          <p:nvPr/>
        </p:nvSpPr>
        <p:spPr>
          <a:xfrm>
            <a:off x="838200" y="1371600"/>
            <a:ext cx="6629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Mạch điện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 một hệ thống bao gồm các công tắc điện và các dây dẫn.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Mỗi công tắc điện tương ứng với một biến Boole (biến Boole này = 1 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tùy thuộc vào trạng thái đóng hoặc mở của công tắc)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Boole,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Boole).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EA5D9-4FC4-5D38-A4A9-12427AF9B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38200"/>
            <a:ext cx="6192114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96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B464A4-2FE4-7B80-DAF8-9A6508680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7735380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DDE47-729C-B99B-42BB-EB94D4C4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BD17-C126-DAC8-15F6-A68F0DA03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285750"/>
            <a:ext cx="6048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sz="3600" b="1">
                <a:solidFill>
                  <a:srgbClr val="92D050"/>
                </a:solidFill>
              </a:rPr>
              <a:t>Các cổng </a:t>
            </a:r>
            <a:r>
              <a:rPr lang="en-US" sz="3200" b="1">
                <a:solidFill>
                  <a:srgbClr val="92D050"/>
                </a:solidFill>
              </a:rPr>
              <a:t>logic</a:t>
            </a:r>
            <a:endParaRPr lang="vi-VN" sz="3200" b="1">
              <a:solidFill>
                <a:srgbClr val="92D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DE817-749E-B68E-BC96-335129878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1173163"/>
            <a:ext cx="6985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>
                <a:solidFill>
                  <a:srgbClr val="A65F12"/>
                </a:solidFill>
              </a:rPr>
              <a:t>1. Các phép toán ở đại số boole</a:t>
            </a:r>
            <a:endParaRPr lang="vi-VN">
              <a:solidFill>
                <a:srgbClr val="A65F1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E23FA-67D1-D997-951A-21741D9E3D82}"/>
              </a:ext>
            </a:extLst>
          </p:cNvPr>
          <p:cNvSpPr txBox="1"/>
          <p:nvPr/>
        </p:nvSpPr>
        <p:spPr>
          <a:xfrm>
            <a:off x="668338" y="1943100"/>
            <a:ext cx="6734175" cy="163121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sz="25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vi-VN" sz="25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5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vi-VN" sz="2500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25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5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  <a:p>
            <a:pPr>
              <a:defRPr/>
            </a:pP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0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pic>
        <p:nvPicPr>
          <p:cNvPr id="7" name="Picture 6" descr="http://vinacel.hcmute.edu.vn/vimach/Contents/Chuong_1/images_c1/cacpheptoan.gif">
            <a:extLst>
              <a:ext uri="{FF2B5EF4-FFF2-40B4-BE49-F238E27FC236}">
                <a16:creationId xmlns:a16="http://schemas.microsoft.com/office/drawing/2014/main" id="{7601B325-BAA7-706F-EDC4-89046B765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981" y="3886200"/>
            <a:ext cx="4135438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2F50BA86-C050-E5A7-32A3-C63AC25C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A1B3F4F-1238-3BFD-1A89-3A142227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7A44F36-1E06-2A40-E7B2-A6F4BEF6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3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85800"/>
            <a:ext cx="6732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err="1">
                <a:solidFill>
                  <a:prstClr val="black"/>
                </a:solidFill>
              </a:rPr>
              <a:t>Các</a:t>
            </a:r>
            <a:r>
              <a:rPr lang="en-US" u="sng">
                <a:solidFill>
                  <a:prstClr val="black"/>
                </a:solidFill>
              </a:rPr>
              <a:t> </a:t>
            </a:r>
            <a:r>
              <a:rPr lang="en-US" u="sng" err="1">
                <a:solidFill>
                  <a:prstClr val="black"/>
                </a:solidFill>
              </a:rPr>
              <a:t>cổng</a:t>
            </a:r>
            <a:r>
              <a:rPr lang="en-US" u="sng">
                <a:solidFill>
                  <a:prstClr val="black"/>
                </a:solidFill>
              </a:rPr>
              <a:t> </a:t>
            </a:r>
            <a:r>
              <a:rPr lang="en-US" u="sng" err="1">
                <a:solidFill>
                  <a:prstClr val="black"/>
                </a:solidFill>
              </a:rPr>
              <a:t>cơ</a:t>
            </a:r>
            <a:r>
              <a:rPr lang="en-US" u="sng">
                <a:solidFill>
                  <a:prstClr val="black"/>
                </a:solidFill>
              </a:rPr>
              <a:t> </a:t>
            </a:r>
            <a:r>
              <a:rPr lang="en-US" u="sng" err="1">
                <a:solidFill>
                  <a:prstClr val="black"/>
                </a:solidFill>
              </a:rPr>
              <a:t>bản</a:t>
            </a:r>
            <a:endParaRPr lang="en-US" u="sng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1332131"/>
            <a:ext cx="1579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Cổng</a:t>
            </a:r>
            <a:r>
              <a:rPr lang="en-US">
                <a:solidFill>
                  <a:prstClr val="black"/>
                </a:solidFill>
              </a:rPr>
              <a:t> AND</a:t>
            </a:r>
            <a:endParaRPr lang="vi-VN">
              <a:solidFill>
                <a:prstClr val="black"/>
              </a:solidFill>
            </a:endParaRPr>
          </a:p>
        </p:txBody>
      </p:sp>
      <p:pic>
        <p:nvPicPr>
          <p:cNvPr id="6" name="Picture 5" descr="https://encrypted-tbn1.gstatic.com/images?q=tbn:ANd9GcSRdmnAezOhRRhuH3so-XpPvFr_PDQazbOU-A5Gp_vXjp6DdWp0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179"/>
          <a:stretch/>
        </p:blipFill>
        <p:spPr bwMode="auto">
          <a:xfrm>
            <a:off x="1963065" y="1147463"/>
            <a:ext cx="2431415" cy="1371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2400" y="2906080"/>
            <a:ext cx="1356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Cổng</a:t>
            </a:r>
            <a:r>
              <a:rPr lang="en-US">
                <a:solidFill>
                  <a:prstClr val="black"/>
                </a:solidFill>
              </a:rPr>
              <a:t> OR</a:t>
            </a:r>
            <a:endParaRPr lang="vi-VN">
              <a:solidFill>
                <a:prstClr val="black"/>
              </a:solidFill>
            </a:endParaRPr>
          </a:p>
        </p:txBody>
      </p:sp>
      <p:pic>
        <p:nvPicPr>
          <p:cNvPr id="8" name="Picture 7" descr="https://encrypted-tbn2.gstatic.com/images?q=tbn:ANd9GcS50YJDPx5P3JGhyWviBacP7e-xp9EJlSU9NpEJZK2k6-cGNDHM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74"/>
          <a:stretch/>
        </p:blipFill>
        <p:spPr bwMode="auto">
          <a:xfrm>
            <a:off x="1963063" y="2901759"/>
            <a:ext cx="2249170" cy="13627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2400" y="4444687"/>
            <a:ext cx="156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Cổng</a:t>
            </a:r>
            <a:r>
              <a:rPr lang="en-US">
                <a:solidFill>
                  <a:prstClr val="black"/>
                </a:solidFill>
              </a:rPr>
              <a:t> NOT</a:t>
            </a:r>
          </a:p>
          <a:p>
            <a:endParaRPr lang="vi-VN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0940" y="2752119"/>
            <a:ext cx="3100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Đầu ra = 1 </a:t>
            </a:r>
            <a:r>
              <a:rPr lang="en-US" err="1">
                <a:solidFill>
                  <a:prstClr val="black"/>
                </a:solidFill>
              </a:rPr>
              <a:t>khi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có</a:t>
            </a:r>
            <a:r>
              <a:rPr lang="en-US">
                <a:solidFill>
                  <a:prstClr val="black"/>
                </a:solidFill>
              </a:rPr>
              <a:t> 1 ngõ</a:t>
            </a:r>
          </a:p>
          <a:p>
            <a:r>
              <a:rPr lang="en-US">
                <a:solidFill>
                  <a:prstClr val="black"/>
                </a:solidFill>
              </a:rPr>
              <a:t> 	vào 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948" y="1332131"/>
            <a:ext cx="32255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Đầu ra chỉ =1 </a:t>
            </a:r>
            <a:r>
              <a:rPr lang="en-US" err="1">
                <a:solidFill>
                  <a:prstClr val="black"/>
                </a:solidFill>
              </a:rPr>
              <a:t>khi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tất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cả</a:t>
            </a:r>
            <a:r>
              <a:rPr lang="en-US">
                <a:solidFill>
                  <a:prstClr val="black"/>
                </a:solidFill>
              </a:rPr>
              <a:t> </a:t>
            </a:r>
          </a:p>
          <a:p>
            <a:r>
              <a:rPr lang="en-US">
                <a:solidFill>
                  <a:prstClr val="black"/>
                </a:solidFill>
              </a:rPr>
              <a:t>	ngõ </a:t>
            </a:r>
            <a:r>
              <a:rPr lang="en-US" err="1">
                <a:solidFill>
                  <a:prstClr val="black"/>
                </a:solidFill>
              </a:rPr>
              <a:t>vào</a:t>
            </a:r>
            <a:r>
              <a:rPr lang="en-US">
                <a:solidFill>
                  <a:prstClr val="black"/>
                </a:solidFill>
              </a:rPr>
              <a:t> 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948" y="4444686"/>
            <a:ext cx="2993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Bù của giá trị đầu vào</a:t>
            </a:r>
            <a:endParaRPr lang="vi-VN">
              <a:solidFill>
                <a:prstClr val="black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191188" y="4444685"/>
            <a:ext cx="1851680" cy="552670"/>
            <a:chOff x="3224376" y="5903711"/>
            <a:chExt cx="2087791" cy="552670"/>
          </a:xfrm>
        </p:grpSpPr>
        <p:grpSp>
          <p:nvGrpSpPr>
            <p:cNvPr id="14" name="Group 13"/>
            <p:cNvGrpSpPr/>
            <p:nvPr/>
          </p:nvGrpSpPr>
          <p:grpSpPr>
            <a:xfrm>
              <a:off x="3224376" y="5903711"/>
              <a:ext cx="2087791" cy="552670"/>
              <a:chOff x="0" y="0"/>
              <a:chExt cx="2553323" cy="784860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77638" y="0"/>
                <a:ext cx="2475685" cy="784860"/>
                <a:chOff x="0" y="0"/>
                <a:chExt cx="2475685" cy="784860"/>
              </a:xfrm>
            </p:grpSpPr>
            <p:cxnSp>
              <p:nvCxnSpPr>
                <p:cNvPr id="19" name="Straight Arrow Connector 18"/>
                <p:cNvCxnSpPr/>
                <p:nvPr/>
              </p:nvCxnSpPr>
              <p:spPr>
                <a:xfrm>
                  <a:off x="0" y="388231"/>
                  <a:ext cx="82804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/>
                <p:nvPr/>
              </p:nvCxnSpPr>
              <p:spPr>
                <a:xfrm>
                  <a:off x="1647645" y="396857"/>
                  <a:ext cx="82804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" name="Isosceles Triangle 20"/>
                <p:cNvSpPr/>
                <p:nvPr/>
              </p:nvSpPr>
              <p:spPr>
                <a:xfrm rot="5400000">
                  <a:off x="737559" y="-133668"/>
                  <a:ext cx="784860" cy="1052195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vi-VN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7" name="Text Box 10"/>
              <p:cNvSpPr txBox="1"/>
              <p:nvPr/>
            </p:nvSpPr>
            <p:spPr>
              <a:xfrm>
                <a:off x="0" y="8627"/>
                <a:ext cx="319178" cy="327660"/>
              </a:xfrm>
              <a:prstGeom prst="rect">
                <a:avLst/>
              </a:prstGeom>
              <a:solidFill>
                <a:schemeClr val="lt1"/>
              </a:solidFill>
              <a:ln w="6350">
                <a:solidFill>
                  <a:schemeClr val="bg1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600">
                    <a:solidFill>
                      <a:prstClr val="black"/>
                    </a:solidFill>
                    <a:latin typeface="Cambria Math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A</a:t>
                </a:r>
                <a:endParaRPr lang="vi-VN" sz="1100">
                  <a:solidFill>
                    <a:prstClr val="black"/>
                  </a:solidFill>
                  <a:latin typeface="Arial" panose="020B0604020202020204" pitchFamily="34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 Box 11"/>
                  <p:cNvSpPr txBox="1"/>
                  <p:nvPr/>
                </p:nvSpPr>
                <p:spPr>
                  <a:xfrm>
                    <a:off x="2053087" y="8627"/>
                    <a:ext cx="310515" cy="327660"/>
                  </a:xfrm>
                  <a:prstGeom prst="rect">
                    <a:avLst/>
                  </a:prstGeom>
                  <a:solidFill>
                    <a:schemeClr val="lt1"/>
                  </a:solidFill>
                  <a:ln w="6350">
                    <a:solidFill>
                      <a:schemeClr val="bg1"/>
                    </a:solidFill>
                  </a:ln>
                  <a:effectLst/>
                </p:spPr>
                <p:style>
                  <a:lnRef idx="0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15000"/>
                      </a:lnSpc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vi-VN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</m:oMath>
                      </m:oMathPara>
                    </a14:m>
                    <a:endParaRPr lang="vi-VN" sz="1100">
                      <a:solidFill>
                        <a:prstClr val="black"/>
                      </a:solidFill>
                      <a:latin typeface="Arial" panose="020B0604020202020204" pitchFamily="34" charset="0"/>
                      <a:ea typeface="MS Mincho" panose="02020609040205080304" pitchFamily="49" charset="-128"/>
                      <a:cs typeface="Times New Roman" panose="02020603050405020304" pitchFamily="18" charset="0"/>
                    </a:endParaRPr>
                  </a:p>
                  <a:p>
                    <a:pPr>
                      <a:lnSpc>
                        <a:spcPct val="115000"/>
                      </a:lnSpc>
                      <a:spcAft>
                        <a:spcPts val="1000"/>
                      </a:spcAft>
                    </a:pPr>
                    <a:r>
                      <a:rPr lang="vi-VN" sz="1100">
                        <a:solidFill>
                          <a:prstClr val="black"/>
                        </a:solidFill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</mc:Choice>
            <mc:Fallback xmlns="">
              <p:sp>
                <p:nvSpPr>
                  <p:cNvPr id="21" name="Text 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3087" y="8627"/>
                    <a:ext cx="310515" cy="327660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10256"/>
                    </a:stretch>
                  </a:blipFill>
                  <a:ln w="6350">
                    <a:solidFill>
                      <a:schemeClr val="bg1"/>
                    </a:solidFill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Oval 14"/>
            <p:cNvSpPr/>
            <p:nvPr/>
          </p:nvSpPr>
          <p:spPr>
            <a:xfrm>
              <a:off x="4628553" y="6106191"/>
              <a:ext cx="131121" cy="131121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1469" y="6492874"/>
            <a:ext cx="1279333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52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6271" y="1348021"/>
            <a:ext cx="1819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Cổng</a:t>
            </a:r>
            <a:r>
              <a:rPr lang="en-US">
                <a:solidFill>
                  <a:prstClr val="black"/>
                </a:solidFill>
              </a:rPr>
              <a:t> NAND</a:t>
            </a:r>
            <a:endParaRPr lang="vi-VN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7626" y="2460305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Cổng</a:t>
            </a:r>
            <a:r>
              <a:rPr lang="en-US">
                <a:solidFill>
                  <a:prstClr val="black"/>
                </a:solidFill>
              </a:rPr>
              <a:t> NOR</a:t>
            </a:r>
            <a:endParaRPr lang="vi-VN">
              <a:solidFill>
                <a:prstClr val="black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9200"/>
            <a:ext cx="2179025" cy="91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983" y="2179018"/>
            <a:ext cx="2088882" cy="1072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985" y="3175070"/>
            <a:ext cx="1836579" cy="901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17681" y="3384629"/>
            <a:ext cx="1579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Cổng</a:t>
            </a:r>
            <a:r>
              <a:rPr lang="en-US">
                <a:solidFill>
                  <a:prstClr val="black"/>
                </a:solidFill>
              </a:rPr>
              <a:t> XOR</a:t>
            </a:r>
            <a:endParaRPr lang="vi-VN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04247" y="1301038"/>
            <a:ext cx="23887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Chỉ</a:t>
            </a:r>
            <a:r>
              <a:rPr lang="en-US">
                <a:solidFill>
                  <a:prstClr val="black"/>
                </a:solidFill>
              </a:rPr>
              <a:t> = 0 </a:t>
            </a:r>
            <a:r>
              <a:rPr lang="en-US" err="1">
                <a:solidFill>
                  <a:prstClr val="black"/>
                </a:solidFill>
              </a:rPr>
              <a:t>khi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tất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cả</a:t>
            </a:r>
            <a:r>
              <a:rPr lang="en-US">
                <a:solidFill>
                  <a:prstClr val="black"/>
                </a:solidFill>
              </a:rPr>
              <a:t> </a:t>
            </a:r>
          </a:p>
          <a:p>
            <a:r>
              <a:rPr lang="en-US" err="1">
                <a:solidFill>
                  <a:prstClr val="black"/>
                </a:solidFill>
              </a:rPr>
              <a:t>ngõ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vào</a:t>
            </a:r>
            <a:r>
              <a:rPr lang="en-US">
                <a:solidFill>
                  <a:prstClr val="black"/>
                </a:solidFill>
              </a:rPr>
              <a:t> 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777" y="2348388"/>
            <a:ext cx="23887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Chỉ</a:t>
            </a:r>
            <a:r>
              <a:rPr lang="en-US">
                <a:solidFill>
                  <a:prstClr val="black"/>
                </a:solidFill>
              </a:rPr>
              <a:t> = 1 </a:t>
            </a:r>
            <a:r>
              <a:rPr lang="en-US" err="1">
                <a:solidFill>
                  <a:prstClr val="black"/>
                </a:solidFill>
              </a:rPr>
              <a:t>khi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tất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cả</a:t>
            </a:r>
            <a:r>
              <a:rPr lang="en-US">
                <a:solidFill>
                  <a:prstClr val="black"/>
                </a:solidFill>
              </a:rPr>
              <a:t> </a:t>
            </a:r>
          </a:p>
          <a:p>
            <a:r>
              <a:rPr lang="en-US" err="1">
                <a:solidFill>
                  <a:prstClr val="black"/>
                </a:solidFill>
              </a:rPr>
              <a:t>ngõ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vào</a:t>
            </a:r>
            <a:r>
              <a:rPr lang="en-US">
                <a:solidFill>
                  <a:prstClr val="black"/>
                </a:solidFill>
              </a:rPr>
              <a:t> =0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6777" y="3404733"/>
            <a:ext cx="3013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2 </a:t>
            </a:r>
            <a:r>
              <a:rPr lang="en-US" err="1">
                <a:solidFill>
                  <a:prstClr val="black"/>
                </a:solidFill>
              </a:rPr>
              <a:t>ngõ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khác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nhau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thì</a:t>
            </a:r>
            <a:r>
              <a:rPr lang="en-US">
                <a:solidFill>
                  <a:prstClr val="black"/>
                </a:solidFill>
              </a:rPr>
              <a:t> 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683" y="4427843"/>
            <a:ext cx="1904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prstClr val="black"/>
                </a:solidFill>
              </a:rPr>
              <a:t>Cổng</a:t>
            </a:r>
            <a:r>
              <a:rPr lang="en-US">
                <a:solidFill>
                  <a:prstClr val="black"/>
                </a:solidFill>
              </a:rPr>
              <a:t> X-NOR</a:t>
            </a:r>
            <a:endParaRPr lang="vi-VN">
              <a:solidFill>
                <a:prstClr val="black"/>
              </a:solidFill>
            </a:endParaRPr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370" y="4191948"/>
            <a:ext cx="169545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788786" y="4290122"/>
            <a:ext cx="313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2 </a:t>
            </a:r>
            <a:r>
              <a:rPr lang="en-US" err="1">
                <a:solidFill>
                  <a:prstClr val="black"/>
                </a:solidFill>
              </a:rPr>
              <a:t>ngõ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giống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nhau</a:t>
            </a:r>
            <a:r>
              <a:rPr lang="en-US">
                <a:solidFill>
                  <a:prstClr val="black"/>
                </a:solidFill>
              </a:rPr>
              <a:t> </a:t>
            </a:r>
            <a:r>
              <a:rPr lang="en-US" err="1">
                <a:solidFill>
                  <a:prstClr val="black"/>
                </a:solidFill>
              </a:rPr>
              <a:t>thì</a:t>
            </a:r>
            <a:r>
              <a:rPr lang="en-US">
                <a:solidFill>
                  <a:prstClr val="black"/>
                </a:solidFill>
              </a:rPr>
              <a:t> =1</a:t>
            </a: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2977" y="6492874"/>
            <a:ext cx="1147825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0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60935" y="304800"/>
            <a:ext cx="6347714" cy="3880773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1)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modulo 2 – exclusive OR (XOR), P + Q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2) </a:t>
            </a:r>
            <a:r>
              <a:rPr lang="es-E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Vebb</a:t>
            </a:r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(NOR)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P  Q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3) </a:t>
            </a:r>
            <a:r>
              <a:rPr lang="es-E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Sheffer</a:t>
            </a:r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(NAND) P  Q</a:t>
            </a:r>
          </a:p>
          <a:p>
            <a:pPr algn="just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4) Exclusive NOR (XNOR) P </a:t>
            </a:r>
            <a:r>
              <a:rPr lang="en-US" sz="3200" dirty="0"/>
              <a:t>⊙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</a:t>
            </a:r>
            <a:endParaRPr lang="es-ES" sz="3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s-ES" sz="3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01000" y="6492874"/>
            <a:ext cx="1069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79A531-B516-5C10-B262-1DBB23198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80" y="3962400"/>
            <a:ext cx="6756398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0668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72" y="1630894"/>
            <a:ext cx="6708442" cy="3703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61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85800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15" y="1474302"/>
            <a:ext cx="6499822" cy="3274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19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11785" y="693927"/>
            <a:ext cx="68916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VD: Viết lại biểu thức logic sau từ mạch logic:</a:t>
            </a:r>
            <a:endParaRPr lang="vi-VN" sz="28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762000" y="1680083"/>
            <a:ext cx="5791200" cy="2809875"/>
            <a:chOff x="1906505" y="2567751"/>
            <a:chExt cx="5791200" cy="2809875"/>
          </a:xfrm>
        </p:grpSpPr>
        <p:pic>
          <p:nvPicPr>
            <p:cNvPr id="105477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6505" y="2567751"/>
              <a:ext cx="5791200" cy="280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5292643" y="2924938"/>
              <a:ext cx="647700" cy="360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vi-VN">
                <a:solidFill>
                  <a:prstClr val="black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621005" y="2567751"/>
              <a:ext cx="703263" cy="2968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vi-VN">
                <a:solidFill>
                  <a:prstClr val="black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03630" y="3669476"/>
              <a:ext cx="823913" cy="4222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vi-VN">
                <a:solidFill>
                  <a:prstClr val="black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621005" y="4523551"/>
              <a:ext cx="720725" cy="4222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vi-VN">
                <a:solidFill>
                  <a:prstClr val="black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753533" y="5032064"/>
                <a:ext cx="5799667" cy="50405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prstClr val="white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Kết quả: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Y</m:t>
                    </m:r>
                    <m:r>
                      <a:rPr lang="en-US" sz="280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=(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800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rPr>
                      <m:t>)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vi-VN" sz="2800">
                  <a:solidFill>
                    <a:prstClr val="whit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33" y="5032064"/>
                <a:ext cx="5799667" cy="504056"/>
              </a:xfrm>
              <a:prstGeom prst="roundRect">
                <a:avLst/>
              </a:prstGeom>
              <a:blipFill rotWithShape="0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57200"/>
            <a:ext cx="7848600" cy="498598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bước thiết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	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của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 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 	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ngõ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3: 	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và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ngõ 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4: 	Tìm công thức đa thức tối tiểu của biểu 		thức logic vừa tìm được. </a:t>
            </a: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5:  	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		mạch logic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lang="en-US" sz="28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-25400" y="533400"/>
            <a:ext cx="7340600" cy="290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 u="sng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</a:p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ngôi nhà có 3 công tắc, người chủ nhà muốn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bóng đèn sáng khi cả 3 công tắc đều hở, hoặc khi công tắc 1 và 2 đóng còn công tắc thứ 3 hở. </a:t>
            </a:r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Hãy thiết kế mạch logic thực hiện sao cho </a:t>
            </a:r>
            <a:r>
              <a:rPr 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cổng là ít nhất.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33800"/>
            <a:ext cx="7416800" cy="31085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			</a:t>
            </a:r>
            <a:r>
              <a:rPr lang="en-US" sz="2800" u="sng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u="sng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A, B, C. </a:t>
            </a: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Bóng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đèn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Y.</a:t>
            </a:r>
          </a:p>
          <a:p>
            <a:pPr>
              <a:defRPr/>
            </a:pP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1,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hở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 </a:t>
            </a:r>
          </a:p>
          <a:p>
            <a:pPr>
              <a:defRPr/>
            </a:pP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đèn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 0.</a:t>
            </a:r>
            <a:endParaRPr lang="en-US" sz="28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8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74000" y="6492874"/>
            <a:ext cx="11968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685800"/>
            <a:ext cx="586410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endParaRPr lang="en-US" sz="28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fr-FR" sz="28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http://vinacel.hcmute.edu.vn/vimach/Contents/Chuong_1/images_c1/vd6_mp.gif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5883249" cy="40031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35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501775" y="3241675"/>
            <a:ext cx="4786313" cy="2289175"/>
            <a:chOff x="1724529" y="4177952"/>
            <a:chExt cx="4786093" cy="2290196"/>
          </a:xfrm>
        </p:grpSpPr>
        <p:sp>
          <p:nvSpPr>
            <p:cNvPr id="108552" name="TextBox 8"/>
            <p:cNvSpPr txBox="1">
              <a:spLocks noChangeArrowheads="1"/>
            </p:cNvSpPr>
            <p:nvPr/>
          </p:nvSpPr>
          <p:spPr bwMode="auto">
            <a:xfrm>
              <a:off x="1724529" y="4178918"/>
              <a:ext cx="332254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sz="1700">
                  <a:solidFill>
                    <a:srgbClr val="000000"/>
                  </a:solidFill>
                </a:rPr>
                <a:t>A</a:t>
              </a:r>
              <a:endParaRPr lang="vi-VN" sz="1700">
                <a:solidFill>
                  <a:srgbClr val="000000"/>
                </a:solidFill>
              </a:endParaRPr>
            </a:p>
          </p:txBody>
        </p:sp>
        <p:sp>
          <p:nvSpPr>
            <p:cNvPr id="108553" name="TextBox 9"/>
            <p:cNvSpPr txBox="1">
              <a:spLocks noChangeArrowheads="1"/>
            </p:cNvSpPr>
            <p:nvPr/>
          </p:nvSpPr>
          <p:spPr bwMode="auto">
            <a:xfrm>
              <a:off x="2159468" y="4177952"/>
              <a:ext cx="332254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sz="1700">
                  <a:solidFill>
                    <a:srgbClr val="000000"/>
                  </a:solidFill>
                </a:rPr>
                <a:t>B</a:t>
              </a:r>
              <a:endParaRPr lang="vi-VN" sz="1700">
                <a:solidFill>
                  <a:srgbClr val="000000"/>
                </a:solidFill>
              </a:endParaRPr>
            </a:p>
          </p:txBody>
        </p:sp>
        <p:sp>
          <p:nvSpPr>
            <p:cNvPr id="108554" name="TextBox 10"/>
            <p:cNvSpPr txBox="1">
              <a:spLocks noChangeArrowheads="1"/>
            </p:cNvSpPr>
            <p:nvPr/>
          </p:nvSpPr>
          <p:spPr bwMode="auto">
            <a:xfrm>
              <a:off x="2717300" y="4178609"/>
              <a:ext cx="332254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sz="1700">
                  <a:solidFill>
                    <a:srgbClr val="000000"/>
                  </a:solidFill>
                </a:rPr>
                <a:t>C</a:t>
              </a:r>
              <a:endParaRPr lang="vi-VN" sz="1700">
                <a:solidFill>
                  <a:srgbClr val="000000"/>
                </a:solidFill>
              </a:endParaRPr>
            </a:p>
          </p:txBody>
        </p:sp>
        <p:grpSp>
          <p:nvGrpSpPr>
            <p:cNvPr id="108555" name="Group 11"/>
            <p:cNvGrpSpPr>
              <a:grpSpLocks/>
            </p:cNvGrpSpPr>
            <p:nvPr/>
          </p:nvGrpSpPr>
          <p:grpSpPr bwMode="auto">
            <a:xfrm>
              <a:off x="1907704" y="4518939"/>
              <a:ext cx="4602918" cy="1949209"/>
              <a:chOff x="1907704" y="4518939"/>
              <a:chExt cx="4602918" cy="1949209"/>
            </a:xfrm>
          </p:grpSpPr>
          <p:grpSp>
            <p:nvGrpSpPr>
              <p:cNvPr id="108556" name="Group 12"/>
              <p:cNvGrpSpPr>
                <a:grpSpLocks/>
              </p:cNvGrpSpPr>
              <p:nvPr/>
            </p:nvGrpSpPr>
            <p:grpSpPr bwMode="auto">
              <a:xfrm>
                <a:off x="1907704" y="4518939"/>
                <a:ext cx="4261122" cy="1949209"/>
                <a:chOff x="1187624" y="4437112"/>
                <a:chExt cx="4261122" cy="1949209"/>
              </a:xfrm>
            </p:grpSpPr>
            <p:grpSp>
              <p:nvGrpSpPr>
                <p:cNvPr id="108558" name="Group 14"/>
                <p:cNvGrpSpPr>
                  <a:grpSpLocks/>
                </p:cNvGrpSpPr>
                <p:nvPr/>
              </p:nvGrpSpPr>
              <p:grpSpPr bwMode="auto">
                <a:xfrm>
                  <a:off x="3381962" y="5261019"/>
                  <a:ext cx="1490720" cy="877460"/>
                  <a:chOff x="4194163" y="4296619"/>
                  <a:chExt cx="1119708" cy="659077"/>
                </a:xfrm>
              </p:grpSpPr>
              <p:sp>
                <p:nvSpPr>
                  <p:cNvPr id="49" name="Arc 48"/>
                  <p:cNvSpPr/>
                  <p:nvPr/>
                </p:nvSpPr>
                <p:spPr>
                  <a:xfrm>
                    <a:off x="4194503" y="4307995"/>
                    <a:ext cx="1119613" cy="647762"/>
                  </a:xfrm>
                  <a:prstGeom prst="arc">
                    <a:avLst>
                      <a:gd name="adj1" fmla="val 16083937"/>
                      <a:gd name="adj2" fmla="val 5651509"/>
                    </a:avLst>
                  </a:prstGeom>
                  <a:solidFill>
                    <a:schemeClr val="bg1"/>
                  </a:solidFill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0" name="Arc 49"/>
                  <p:cNvSpPr/>
                  <p:nvPr/>
                </p:nvSpPr>
                <p:spPr>
                  <a:xfrm>
                    <a:off x="4549822" y="4297258"/>
                    <a:ext cx="330280" cy="658499"/>
                  </a:xfrm>
                  <a:prstGeom prst="arc">
                    <a:avLst>
                      <a:gd name="adj1" fmla="val 16200000"/>
                      <a:gd name="adj2" fmla="val 5452621"/>
                    </a:avLst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</p:grp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636403" y="5349222"/>
                  <a:ext cx="576236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1187004" y="5878094"/>
                  <a:ext cx="2003333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2185495" y="6062327"/>
                  <a:ext cx="1436622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1628309" y="6237029"/>
                  <a:ext cx="2003333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1402894" y="5131637"/>
                  <a:ext cx="1787443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1618784" y="5301575"/>
                  <a:ext cx="1787443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1834674" y="5517572"/>
                  <a:ext cx="1787443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185495" y="4437590"/>
                  <a:ext cx="0" cy="190585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>
                  <a:stCxn id="45" idx="0"/>
                </p:cNvCxnSpPr>
                <p:nvPr/>
              </p:nvCxnSpPr>
              <p:spPr>
                <a:xfrm>
                  <a:off x="1842611" y="4998227"/>
                  <a:ext cx="0" cy="1345213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1187004" y="4437590"/>
                  <a:ext cx="0" cy="190585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1402894" y="4653587"/>
                  <a:ext cx="0" cy="14452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1618784" y="4437590"/>
                  <a:ext cx="0" cy="190585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H="1">
                  <a:off x="1187004" y="4653587"/>
                  <a:ext cx="21589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flipH="1">
                  <a:off x="1618784" y="4653587"/>
                  <a:ext cx="215890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8573" name="Group 29"/>
                <p:cNvGrpSpPr>
                  <a:grpSpLocks/>
                </p:cNvGrpSpPr>
                <p:nvPr/>
              </p:nvGrpSpPr>
              <p:grpSpPr bwMode="auto">
                <a:xfrm>
                  <a:off x="1285947" y="4797152"/>
                  <a:ext cx="239770" cy="249115"/>
                  <a:chOff x="2174352" y="5619504"/>
                  <a:chExt cx="352424" cy="366159"/>
                </a:xfrm>
              </p:grpSpPr>
              <p:sp>
                <p:nvSpPr>
                  <p:cNvPr id="47" name="Isosceles Triangle 46"/>
                  <p:cNvSpPr/>
                  <p:nvPr/>
                </p:nvSpPr>
                <p:spPr>
                  <a:xfrm rot="10800000">
                    <a:off x="2173583" y="5620917"/>
                    <a:ext cx="352323" cy="294136"/>
                  </a:xfrm>
                  <a:prstGeom prst="triangl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8" name="Oval 47"/>
                  <p:cNvSpPr/>
                  <p:nvPr/>
                </p:nvSpPr>
                <p:spPr>
                  <a:xfrm>
                    <a:off x="2315912" y="5917388"/>
                    <a:ext cx="83998" cy="67697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</p:grpSp>
            <p:cxnSp>
              <p:nvCxnSpPr>
                <p:cNvPr id="31" name="Straight Connector 30"/>
                <p:cNvCxnSpPr/>
                <p:nvPr/>
              </p:nvCxnSpPr>
              <p:spPr>
                <a:xfrm flipV="1">
                  <a:off x="1402894" y="5049050"/>
                  <a:ext cx="0" cy="129439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8575" name="Group 31"/>
                <p:cNvGrpSpPr>
                  <a:grpSpLocks/>
                </p:cNvGrpSpPr>
                <p:nvPr/>
              </p:nvGrpSpPr>
              <p:grpSpPr bwMode="auto">
                <a:xfrm>
                  <a:off x="1722815" y="4797152"/>
                  <a:ext cx="239770" cy="249115"/>
                  <a:chOff x="2174352" y="5619504"/>
                  <a:chExt cx="352424" cy="366159"/>
                </a:xfrm>
              </p:grpSpPr>
              <p:sp>
                <p:nvSpPr>
                  <p:cNvPr id="45" name="Isosceles Triangle 44"/>
                  <p:cNvSpPr/>
                  <p:nvPr/>
                </p:nvSpPr>
                <p:spPr>
                  <a:xfrm rot="10800000">
                    <a:off x="2173104" y="5620917"/>
                    <a:ext cx="352324" cy="294136"/>
                  </a:xfrm>
                  <a:prstGeom prst="triangl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6" name="Oval 45"/>
                  <p:cNvSpPr/>
                  <p:nvPr/>
                </p:nvSpPr>
                <p:spPr>
                  <a:xfrm>
                    <a:off x="2315434" y="5917388"/>
                    <a:ext cx="83998" cy="67697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</p:grp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1834674" y="4653587"/>
                  <a:ext cx="0" cy="14452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8577" name="Group 33"/>
                <p:cNvGrpSpPr>
                  <a:grpSpLocks/>
                </p:cNvGrpSpPr>
                <p:nvPr/>
              </p:nvGrpSpPr>
              <p:grpSpPr bwMode="auto">
                <a:xfrm>
                  <a:off x="2065728" y="4797152"/>
                  <a:ext cx="239770" cy="249115"/>
                  <a:chOff x="2174352" y="5619504"/>
                  <a:chExt cx="352424" cy="366159"/>
                </a:xfrm>
              </p:grpSpPr>
              <p:sp>
                <p:nvSpPr>
                  <p:cNvPr id="43" name="Isosceles Triangle 42"/>
                  <p:cNvSpPr/>
                  <p:nvPr/>
                </p:nvSpPr>
                <p:spPr>
                  <a:xfrm rot="10800000">
                    <a:off x="2173063" y="5620917"/>
                    <a:ext cx="352324" cy="294136"/>
                  </a:xfrm>
                  <a:prstGeom prst="triangl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4" name="Oval 43"/>
                  <p:cNvSpPr/>
                  <p:nvPr/>
                </p:nvSpPr>
                <p:spPr>
                  <a:xfrm>
                    <a:off x="2315393" y="5917388"/>
                    <a:ext cx="83998" cy="67697"/>
                  </a:xfrm>
                  <a:prstGeom prst="ellipse">
                    <a:avLst/>
                  </a:prstGeom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2630229" y="5013176"/>
                  <a:ext cx="1119708" cy="648252"/>
                  <a:chOff x="1619672" y="5336302"/>
                  <a:chExt cx="1368152" cy="792088"/>
                </a:xfrm>
                <a:solidFill>
                  <a:schemeClr val="bg1"/>
                </a:solidFill>
              </p:grpSpPr>
              <p:sp>
                <p:nvSpPr>
                  <p:cNvPr id="41" name="Arc 40"/>
                  <p:cNvSpPr/>
                  <p:nvPr/>
                </p:nvSpPr>
                <p:spPr>
                  <a:xfrm>
                    <a:off x="1619672" y="5336302"/>
                    <a:ext cx="1368152" cy="792088"/>
                  </a:xfrm>
                  <a:prstGeom prst="arc">
                    <a:avLst>
                      <a:gd name="adj1" fmla="val 16083937"/>
                      <a:gd name="adj2" fmla="val 5651509"/>
                    </a:avLst>
                  </a:prstGeom>
                  <a:grpFill/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  <p:cxnSp>
                <p:nvCxnSpPr>
                  <p:cNvPr id="42" name="Straight Connector 41"/>
                  <p:cNvCxnSpPr>
                    <a:endCxn id="41" idx="2"/>
                  </p:cNvCxnSpPr>
                  <p:nvPr/>
                </p:nvCxnSpPr>
                <p:spPr>
                  <a:xfrm>
                    <a:off x="2274747" y="5336302"/>
                    <a:ext cx="0" cy="791732"/>
                  </a:xfrm>
                  <a:prstGeom prst="line">
                    <a:avLst/>
                  </a:prstGeom>
                  <a:grpFill/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563382" y="6070268"/>
                  <a:ext cx="649258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Group 36"/>
                <p:cNvGrpSpPr/>
                <p:nvPr/>
              </p:nvGrpSpPr>
              <p:grpSpPr>
                <a:xfrm>
                  <a:off x="2630229" y="5738069"/>
                  <a:ext cx="1119708" cy="648252"/>
                  <a:chOff x="1619672" y="5336302"/>
                  <a:chExt cx="1368152" cy="792088"/>
                </a:xfrm>
                <a:solidFill>
                  <a:schemeClr val="bg1"/>
                </a:solidFill>
              </p:grpSpPr>
              <p:sp>
                <p:nvSpPr>
                  <p:cNvPr id="39" name="Arc 38"/>
                  <p:cNvSpPr/>
                  <p:nvPr/>
                </p:nvSpPr>
                <p:spPr>
                  <a:xfrm>
                    <a:off x="1619672" y="5336302"/>
                    <a:ext cx="1368152" cy="792088"/>
                  </a:xfrm>
                  <a:prstGeom prst="arc">
                    <a:avLst>
                      <a:gd name="adj1" fmla="val 16083937"/>
                      <a:gd name="adj2" fmla="val 5651509"/>
                    </a:avLst>
                  </a:prstGeom>
                  <a:grpFill/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vi-VN">
                      <a:solidFill>
                        <a:prstClr val="black"/>
                      </a:solidFill>
                    </a:endParaRPr>
                  </a:p>
                </p:txBody>
              </p:sp>
              <p:cxnSp>
                <p:nvCxnSpPr>
                  <p:cNvPr id="40" name="Straight Connector 39"/>
                  <p:cNvCxnSpPr>
                    <a:endCxn id="39" idx="2"/>
                  </p:cNvCxnSpPr>
                  <p:nvPr/>
                </p:nvCxnSpPr>
                <p:spPr>
                  <a:xfrm>
                    <a:off x="2274747" y="5336302"/>
                    <a:ext cx="0" cy="791732"/>
                  </a:xfrm>
                  <a:prstGeom prst="line">
                    <a:avLst/>
                  </a:prstGeom>
                  <a:grpFill/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4873009" y="5689098"/>
                  <a:ext cx="576235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557" name="TextBox 13"/>
              <p:cNvSpPr txBox="1">
                <a:spLocks noChangeArrowheads="1"/>
              </p:cNvSpPr>
              <p:nvPr/>
            </p:nvSpPr>
            <p:spPr bwMode="auto">
              <a:xfrm>
                <a:off x="6178368" y="5565992"/>
                <a:ext cx="332254" cy="353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n-US" sz="1700">
                    <a:solidFill>
                      <a:srgbClr val="000000"/>
                    </a:solidFill>
                  </a:rPr>
                  <a:t>Y</a:t>
                </a:r>
                <a:endParaRPr lang="vi-VN" sz="17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52" name="TextBox 51"/>
          <p:cNvSpPr txBox="1"/>
          <p:nvPr/>
        </p:nvSpPr>
        <p:spPr>
          <a:xfrm>
            <a:off x="-10791" y="548368"/>
            <a:ext cx="734912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chân trị ta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</a:t>
            </a:r>
            <a:endParaRPr lang="en-US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2269003" y="1219442"/>
                <a:ext cx="2522101" cy="477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5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5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fr-FR" sz="25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5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acc>
                        <m:accPr>
                          <m:chr m:val="̅"/>
                          <m:ctrlPr>
                            <a:rPr lang="en-US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250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003" y="1219442"/>
                <a:ext cx="2522101" cy="47788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/>
          <p:cNvSpPr/>
          <p:nvPr/>
        </p:nvSpPr>
        <p:spPr>
          <a:xfrm>
            <a:off x="157373" y="1731264"/>
            <a:ext cx="4756430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Rút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4723682" y="1731262"/>
                <a:ext cx="2522101" cy="477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5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5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fr-FR" sz="25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5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acc>
                        <m:accPr>
                          <m:chr m:val="̅"/>
                          <m:ctrlPr>
                            <a:rPr lang="en-US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5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250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682" y="1731262"/>
                <a:ext cx="2522101" cy="4778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/>
          <p:cNvSpPr/>
          <p:nvPr/>
        </p:nvSpPr>
        <p:spPr>
          <a:xfrm>
            <a:off x="157370" y="2131924"/>
            <a:ext cx="677682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5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48600" y="6492874"/>
            <a:ext cx="12222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55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A34CE7-D24B-7A7B-0AC9-9F2EBF6A2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05" y="1390365"/>
            <a:ext cx="6906589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5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525" y="990600"/>
            <a:ext cx="7200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000000"/>
                </a:solidFill>
              </a:rPr>
              <a:t>Ngoài ra, ta cũng có thể sử dụng cổng XOR cho bài toán như sau: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852738"/>
            <a:ext cx="6008688" cy="230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12"/>
          <a:stretch>
            <a:fillRect/>
          </a:stretch>
        </p:blipFill>
        <p:spPr bwMode="auto">
          <a:xfrm>
            <a:off x="514350" y="1543050"/>
            <a:ext cx="45720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341967" cy="365125"/>
          </a:xfrm>
        </p:spPr>
        <p:txBody>
          <a:bodyPr/>
          <a:lstStyle/>
          <a:p>
            <a:fld id="{2427EAB0-2476-4074-8F6C-AB2A1AC3F0F9}" type="datetime1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11/23/2024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05200" y="6492875"/>
            <a:ext cx="1761066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 Số Boole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24800" y="6492874"/>
            <a:ext cx="1146002" cy="365125"/>
          </a:xfrm>
        </p:spPr>
        <p:txBody>
          <a:bodyPr/>
          <a:lstStyle/>
          <a:p>
            <a:r>
              <a:rPr lang="en-US"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fld id="{8F363797-7495-404A-BEF8-43617C67D576}" type="slidenum">
              <a:rPr lang="en-US" sz="200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20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2F29A3-A6FE-6968-7707-347937CB7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84" y="1380839"/>
            <a:ext cx="6668431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7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06EFC4-DEA6-C9E6-97ED-538B72F13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7297168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3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BE7B56-5F73-8A92-73E0-0986DD646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553850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3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831BA8-002D-76EA-7232-34D966E7A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09600"/>
            <a:ext cx="7773485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9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145C-E6CF-1F02-935C-A4F848CB5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DC6A1-ADEE-7FB3-003D-5F458D0C4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8145012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5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DEE1-2252-A825-AE70-1A1315E2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7AC39-4DB7-361D-8A35-3414520EA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7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3034</TotalTime>
  <Words>713</Words>
  <Application>Microsoft Office PowerPoint</Application>
  <PresentationFormat>On-screen Show (4:3)</PresentationFormat>
  <Paragraphs>110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Cambria Math</vt:lpstr>
      <vt:lpstr>Tahoma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Nguyen Kim Khoang</dc:creator>
  <cp:lastModifiedBy>Trang Nguyen Thuy</cp:lastModifiedBy>
  <cp:revision>501</cp:revision>
  <dcterms:created xsi:type="dcterms:W3CDTF">2007-05-12T16:09:44Z</dcterms:created>
  <dcterms:modified xsi:type="dcterms:W3CDTF">2024-11-23T02:46:31Z</dcterms:modified>
</cp:coreProperties>
</file>