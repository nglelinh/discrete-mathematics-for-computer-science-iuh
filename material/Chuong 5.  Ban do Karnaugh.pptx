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1"/>
  </p:sldMasterIdLst>
  <p:notesMasterIdLst>
    <p:notesMasterId r:id="rId60"/>
  </p:notesMasterIdLst>
  <p:sldIdLst>
    <p:sldId id="452" r:id="rId2"/>
    <p:sldId id="566" r:id="rId3"/>
    <p:sldId id="588" r:id="rId4"/>
    <p:sldId id="576" r:id="rId5"/>
    <p:sldId id="577" r:id="rId6"/>
    <p:sldId id="579" r:id="rId7"/>
    <p:sldId id="586" r:id="rId8"/>
    <p:sldId id="571" r:id="rId9"/>
    <p:sldId id="578" r:id="rId10"/>
    <p:sldId id="527" r:id="rId11"/>
    <p:sldId id="528" r:id="rId12"/>
    <p:sldId id="529" r:id="rId13"/>
    <p:sldId id="530" r:id="rId14"/>
    <p:sldId id="531" r:id="rId15"/>
    <p:sldId id="532" r:id="rId16"/>
    <p:sldId id="533" r:id="rId17"/>
    <p:sldId id="534" r:id="rId18"/>
    <p:sldId id="535" r:id="rId19"/>
    <p:sldId id="568" r:id="rId20"/>
    <p:sldId id="569" r:id="rId21"/>
    <p:sldId id="570" r:id="rId22"/>
    <p:sldId id="391" r:id="rId23"/>
    <p:sldId id="472" r:id="rId24"/>
    <p:sldId id="473" r:id="rId25"/>
    <p:sldId id="536" r:id="rId26"/>
    <p:sldId id="537" r:id="rId27"/>
    <p:sldId id="538" r:id="rId28"/>
    <p:sldId id="539" r:id="rId29"/>
    <p:sldId id="540" r:id="rId30"/>
    <p:sldId id="541" r:id="rId31"/>
    <p:sldId id="542" r:id="rId32"/>
    <p:sldId id="543" r:id="rId33"/>
    <p:sldId id="544" r:id="rId34"/>
    <p:sldId id="545" r:id="rId35"/>
    <p:sldId id="546" r:id="rId36"/>
    <p:sldId id="587" r:id="rId37"/>
    <p:sldId id="567" r:id="rId38"/>
    <p:sldId id="572" r:id="rId39"/>
    <p:sldId id="573" r:id="rId40"/>
    <p:sldId id="574" r:id="rId41"/>
    <p:sldId id="575" r:id="rId42"/>
    <p:sldId id="580" r:id="rId43"/>
    <p:sldId id="581" r:id="rId44"/>
    <p:sldId id="582" r:id="rId45"/>
    <p:sldId id="585" r:id="rId46"/>
    <p:sldId id="560" r:id="rId47"/>
    <p:sldId id="589" r:id="rId48"/>
    <p:sldId id="592" r:id="rId49"/>
    <p:sldId id="593" r:id="rId50"/>
    <p:sldId id="561" r:id="rId51"/>
    <p:sldId id="562" r:id="rId52"/>
    <p:sldId id="563" r:id="rId53"/>
    <p:sldId id="564" r:id="rId54"/>
    <p:sldId id="565" r:id="rId55"/>
    <p:sldId id="594" r:id="rId56"/>
    <p:sldId id="595" r:id="rId57"/>
    <p:sldId id="597" r:id="rId58"/>
    <p:sldId id="596" r:id="rId5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y tan" initials="dt" lastIdx="1" clrIdx="0">
    <p:extLst>
      <p:ext uri="{19B8F6BF-5375-455C-9EA6-DF929625EA0E}">
        <p15:presenceInfo xmlns:p15="http://schemas.microsoft.com/office/powerpoint/2012/main" userId="10f0cccea2fc0fa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FF7C80"/>
    <a:srgbClr val="FF0000"/>
    <a:srgbClr val="FF9900"/>
    <a:srgbClr val="FFCC00"/>
    <a:srgbClr val="0099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87111" autoAdjust="0"/>
  </p:normalViewPr>
  <p:slideViewPr>
    <p:cSldViewPr>
      <p:cViewPr varScale="1">
        <p:scale>
          <a:sx n="76" d="100"/>
          <a:sy n="76" d="100"/>
        </p:scale>
        <p:origin x="173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p>
        </p:txBody>
      </p:sp>
      <p:sp>
        <p:nvSpPr>
          <p:cNvPr id="9933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933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933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p>
        </p:txBody>
      </p:sp>
      <p:sp>
        <p:nvSpPr>
          <p:cNvPr id="9933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77B7CC94-87B7-48A0-85C1-954A44E705D1}" type="slidenum">
              <a:rPr lang="en-US"/>
              <a:pPr>
                <a:defRPr/>
              </a:pPr>
              <a:t>‹#›</a:t>
            </a:fld>
            <a:endParaRPr lang="en-US"/>
          </a:p>
        </p:txBody>
      </p:sp>
    </p:spTree>
    <p:extLst>
      <p:ext uri="{BB962C8B-B14F-4D97-AF65-F5344CB8AC3E}">
        <p14:creationId xmlns:p14="http://schemas.microsoft.com/office/powerpoint/2010/main" val="1205015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5FFB6B7-F602-4965-84AE-1237CDF41D1A}" type="slidenum">
              <a:rPr lang="en-US" smtClean="0">
                <a:latin typeface="Arial" panose="020B0604020202020204" pitchFamily="34" charset="0"/>
              </a:rPr>
              <a:pPr/>
              <a:t>1</a:t>
            </a:fld>
            <a:endParaRPr lang="en-US">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030843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F7806-4E65-DCAC-388F-45EB690F2EF4}"/>
            </a:ext>
          </a:extLst>
        </p:cNvPr>
        <p:cNvGrpSpPr/>
        <p:nvPr/>
      </p:nvGrpSpPr>
      <p:grpSpPr>
        <a:xfrm>
          <a:off x="0" y="0"/>
          <a:ext cx="0" cy="0"/>
          <a:chOff x="0" y="0"/>
          <a:chExt cx="0" cy="0"/>
        </a:xfrm>
      </p:grpSpPr>
      <p:sp>
        <p:nvSpPr>
          <p:cNvPr id="74754" name="Rectangle 7">
            <a:extLst>
              <a:ext uri="{FF2B5EF4-FFF2-40B4-BE49-F238E27FC236}">
                <a16:creationId xmlns:a16="http://schemas.microsoft.com/office/drawing/2014/main" id="{5904FCE3-E94F-03A5-0F5D-C0FC2FD2A8FB}"/>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5FFB6B7-F602-4965-84AE-1237CDF41D1A}" type="slidenum">
              <a:rPr lang="en-US" smtClean="0">
                <a:latin typeface="Arial" panose="020B0604020202020204" pitchFamily="34" charset="0"/>
              </a:rPr>
              <a:pPr/>
              <a:t>4</a:t>
            </a:fld>
            <a:endParaRPr lang="en-US">
              <a:latin typeface="Arial" panose="020B0604020202020204" pitchFamily="34" charset="0"/>
            </a:endParaRPr>
          </a:p>
        </p:txBody>
      </p:sp>
      <p:sp>
        <p:nvSpPr>
          <p:cNvPr id="74755" name="Rectangle 2">
            <a:extLst>
              <a:ext uri="{FF2B5EF4-FFF2-40B4-BE49-F238E27FC236}">
                <a16:creationId xmlns:a16="http://schemas.microsoft.com/office/drawing/2014/main" id="{69FA42A3-4390-5B63-D126-D2D6C388CBF4}"/>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5539301A-AE94-0075-8FCF-D04F50C2E78D}"/>
              </a:ext>
            </a:extLst>
          </p:cNvPr>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5628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1D0F855-F5EE-45B9-A569-8BD57F0A49E0}" type="slidenum">
              <a:rPr lang="en-US" smtClean="0">
                <a:latin typeface="Arial" panose="020B0604020202020204" pitchFamily="34" charset="0"/>
              </a:rPr>
              <a:pPr/>
              <a:t>10</a:t>
            </a:fld>
            <a:endParaRPr lang="en-US">
              <a:latin typeface="Arial"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830017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B84C548-2A71-4E0C-AF0E-9C95388CD626}" type="slidenum">
              <a:rPr lang="en-US" smtClean="0">
                <a:latin typeface="Arial" panose="020B0604020202020204" pitchFamily="34" charset="0"/>
              </a:rPr>
              <a:pPr/>
              <a:t>11</a:t>
            </a:fld>
            <a:endParaRPr lang="en-US">
              <a:latin typeface="Arial"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905422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446C1F8-6FB5-4E9B-AEC0-F68961EB4C69}" type="slidenum">
              <a:rPr lang="en-US" smtClean="0">
                <a:latin typeface="Arial" panose="020B0604020202020204" pitchFamily="34" charset="0"/>
              </a:rPr>
              <a:pPr/>
              <a:t>22</a:t>
            </a:fld>
            <a:endParaRPr lang="en-US">
              <a:latin typeface="Arial" panose="020B0604020202020204"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829905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770B8B3-2D56-45E7-9695-4D7E1E782AAA}" type="slidenum">
              <a:rPr lang="en-US" smtClean="0">
                <a:latin typeface="Arial" panose="020B0604020202020204" pitchFamily="34" charset="0"/>
              </a:rPr>
              <a:pPr/>
              <a:t>23</a:t>
            </a:fld>
            <a:endParaRPr lang="en-US">
              <a:latin typeface="Arial" panose="020B0604020202020204"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563580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7D56773-9AFA-44C1-8249-B68CB021A40A}" type="slidenum">
              <a:rPr lang="en-US" smtClean="0">
                <a:latin typeface="Arial" panose="020B0604020202020204" pitchFamily="34" charset="0"/>
              </a:rPr>
              <a:pPr/>
              <a:t>24</a:t>
            </a:fld>
            <a:endParaRPr lang="en-US">
              <a:latin typeface="Arial" panose="020B0604020202020204"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83029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3708386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753142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35714280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2823113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621949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10292497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4820548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1949291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3534558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37935604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998852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4573280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359929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12608490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1746451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42842365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4476EB8B-100A-4103-9587-233B38A2C208}" type="slidenum">
              <a:rPr lang="en-US" smtClean="0"/>
              <a:pPr>
                <a:defRPr/>
              </a:pPr>
              <a:t>‹#›</a:t>
            </a:fld>
            <a:endParaRPr lang="en-US"/>
          </a:p>
        </p:txBody>
      </p:sp>
    </p:spTree>
    <p:extLst>
      <p:ext uri="{BB962C8B-B14F-4D97-AF65-F5344CB8AC3E}">
        <p14:creationId xmlns:p14="http://schemas.microsoft.com/office/powerpoint/2010/main" val="2266197548"/>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590.png"/></Relationships>
</file>

<file path=ppt/slides/_rels/slide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81000" y="0"/>
            <a:ext cx="6347713" cy="1320800"/>
          </a:xfrm>
        </p:spPr>
        <p:txBody>
          <a:bodyPr/>
          <a:lstStyle/>
          <a:p>
            <a:pPr eaLnBrk="1" hangingPunct="1"/>
            <a:r>
              <a:rPr lang="en-US" dirty="0" err="1"/>
              <a:t>Mã</a:t>
            </a:r>
            <a:r>
              <a:rPr lang="en-US" dirty="0"/>
              <a:t> Gray (Gray Code)</a:t>
            </a:r>
          </a:p>
        </p:txBody>
      </p:sp>
      <p:sp>
        <p:nvSpPr>
          <p:cNvPr id="6" name="Rectangle 5"/>
          <p:cNvSpPr/>
          <p:nvPr/>
        </p:nvSpPr>
        <p:spPr>
          <a:xfrm>
            <a:off x="228600" y="914400"/>
            <a:ext cx="7632848" cy="2492990"/>
          </a:xfrm>
          <a:prstGeom prst="rect">
            <a:avLst/>
          </a:prstGeom>
        </p:spPr>
        <p:txBody>
          <a:bodyPr wrap="square">
            <a:spAutoFit/>
          </a:bodyPr>
          <a:lstStyle/>
          <a:p>
            <a:pPr marL="342900" indent="-342900">
              <a:buFont typeface="Arial" panose="020B0604020202020204" pitchFamily="34" charset="0"/>
              <a:buChar char="•"/>
            </a:pPr>
            <a:r>
              <a:rPr lang="vi-VN" sz="2600" dirty="0">
                <a:solidFill>
                  <a:prstClr val="black"/>
                </a:solidFill>
                <a:latin typeface="Times New Roman" panose="02020603050405020304" pitchFamily="18" charset="0"/>
                <a:cs typeface="Times New Roman" panose="02020603050405020304" pitchFamily="18" charset="0"/>
              </a:rPr>
              <a:t>Mã Gray là một loại mã nhị phân trong đó hai giá trị liên tiếp chỉ khác nhau một bit. </a:t>
            </a:r>
            <a:endParaRPr lang="en-US" sz="2600" dirty="0">
              <a:solidFill>
                <a:prstClr val="black"/>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600" dirty="0">
                <a:solidFill>
                  <a:prstClr val="black"/>
                </a:solidFill>
                <a:latin typeface="Times New Roman" panose="02020603050405020304" pitchFamily="18" charset="0"/>
                <a:cs typeface="Times New Roman" panose="02020603050405020304" pitchFamily="18" charset="0"/>
              </a:rPr>
              <a:t>Điều này rất hữu ích trong các ứng dụng như mạch giải mã vị trí (encoder) hoặc các hệ thống cần giảm thiểu lỗi khi chuyển trạng thái.</a:t>
            </a:r>
            <a:endParaRPr lang="en-US" dirty="0">
              <a:solidFill>
                <a:prstClr val="black"/>
              </a:solidFill>
            </a:endParaRPr>
          </a:p>
          <a:p>
            <a:pPr marL="342900" indent="-342900">
              <a:buFont typeface="Arial" panose="020B0604020202020204" pitchFamily="34" charset="0"/>
              <a:buChar char="•"/>
            </a:pPr>
            <a:endParaRPr lang="en-US" sz="26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7"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456232-1D26-27AD-A609-8D63D5D7E7DF}"/>
              </a:ext>
            </a:extLst>
          </p:cNvPr>
          <p:cNvPicPr>
            <a:picLocks noChangeAspect="1"/>
          </p:cNvPicPr>
          <p:nvPr/>
        </p:nvPicPr>
        <p:blipFill>
          <a:blip r:embed="rId2"/>
          <a:stretch>
            <a:fillRect/>
          </a:stretch>
        </p:blipFill>
        <p:spPr>
          <a:xfrm>
            <a:off x="342309" y="385337"/>
            <a:ext cx="8459381" cy="6087325"/>
          </a:xfrm>
          <a:prstGeom prst="rect">
            <a:avLst/>
          </a:prstGeom>
        </p:spPr>
      </p:pic>
    </p:spTree>
    <p:extLst>
      <p:ext uri="{BB962C8B-B14F-4D97-AF65-F5344CB8AC3E}">
        <p14:creationId xmlns:p14="http://schemas.microsoft.com/office/powerpoint/2010/main" val="35581592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04C0-5AFC-FFD6-91C2-9A852742B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322B3-5499-271F-6393-2F5A3103CA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5FC474-97D5-791A-7117-B22F28F3DC9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686F019-6B66-3E41-AD3F-F46C85CADCCA}"/>
              </a:ext>
            </a:extLst>
          </p:cNvPr>
          <p:cNvPicPr>
            <a:picLocks noChangeAspect="1"/>
          </p:cNvPicPr>
          <p:nvPr/>
        </p:nvPicPr>
        <p:blipFill>
          <a:blip r:embed="rId2"/>
          <a:stretch>
            <a:fillRect/>
          </a:stretch>
        </p:blipFill>
        <p:spPr>
          <a:xfrm>
            <a:off x="399467" y="347232"/>
            <a:ext cx="8345065" cy="6163535"/>
          </a:xfrm>
          <a:prstGeom prst="rect">
            <a:avLst/>
          </a:prstGeom>
        </p:spPr>
      </p:pic>
    </p:spTree>
    <p:extLst>
      <p:ext uri="{BB962C8B-B14F-4D97-AF65-F5344CB8AC3E}">
        <p14:creationId xmlns:p14="http://schemas.microsoft.com/office/powerpoint/2010/main" val="11447145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CEE0B-7F11-8D2F-DBDA-1D3AB917B905}"/>
            </a:ext>
          </a:extLst>
        </p:cNvPr>
        <p:cNvGrpSpPr/>
        <p:nvPr/>
      </p:nvGrpSpPr>
      <p:grpSpPr>
        <a:xfrm>
          <a:off x="0" y="0"/>
          <a:ext cx="0" cy="0"/>
          <a:chOff x="0" y="0"/>
          <a:chExt cx="0" cy="0"/>
        </a:xfrm>
      </p:grpSpPr>
      <p:sp>
        <p:nvSpPr>
          <p:cNvPr id="73730" name="Rectangle 2">
            <a:extLst>
              <a:ext uri="{FF2B5EF4-FFF2-40B4-BE49-F238E27FC236}">
                <a16:creationId xmlns:a16="http://schemas.microsoft.com/office/drawing/2014/main" id="{BB0303CB-11D1-C6F0-C5CF-84BF761C08BE}"/>
              </a:ext>
            </a:extLst>
          </p:cNvPr>
          <p:cNvSpPr>
            <a:spLocks noGrp="1" noChangeArrowheads="1"/>
          </p:cNvSpPr>
          <p:nvPr>
            <p:ph type="title"/>
          </p:nvPr>
        </p:nvSpPr>
        <p:spPr>
          <a:xfrm>
            <a:off x="381000" y="0"/>
            <a:ext cx="6347713" cy="1320800"/>
          </a:xfrm>
        </p:spPr>
        <p:txBody>
          <a:bodyPr/>
          <a:lstStyle/>
          <a:p>
            <a:pPr eaLnBrk="1" hangingPunct="1"/>
            <a:r>
              <a:rPr lang="en-US" dirty="0" err="1"/>
              <a:t>Bản</a:t>
            </a:r>
            <a:r>
              <a:rPr lang="en-US" dirty="0"/>
              <a:t> </a:t>
            </a:r>
            <a:r>
              <a:rPr lang="en-US" dirty="0" err="1"/>
              <a:t>đồ</a:t>
            </a:r>
            <a:r>
              <a:rPr lang="en-US" dirty="0"/>
              <a:t> Karnaugh</a:t>
            </a:r>
          </a:p>
        </p:txBody>
      </p:sp>
      <p:sp>
        <p:nvSpPr>
          <p:cNvPr id="6" name="Rectangle 5">
            <a:extLst>
              <a:ext uri="{FF2B5EF4-FFF2-40B4-BE49-F238E27FC236}">
                <a16:creationId xmlns:a16="http://schemas.microsoft.com/office/drawing/2014/main" id="{6EA5C1DA-4117-75B3-232B-E6583E0DD98D}"/>
              </a:ext>
            </a:extLst>
          </p:cNvPr>
          <p:cNvSpPr/>
          <p:nvPr/>
        </p:nvSpPr>
        <p:spPr>
          <a:xfrm>
            <a:off x="228600" y="914400"/>
            <a:ext cx="7632848" cy="4770537"/>
          </a:xfrm>
          <a:prstGeom prst="rect">
            <a:avLst/>
          </a:prstGeom>
        </p:spPr>
        <p:txBody>
          <a:bodyPr wrap="square">
            <a:spAutoFit/>
          </a:bodyPr>
          <a:lstStyle/>
          <a:p>
            <a:pPr marL="342900" indent="-342900">
              <a:buFont typeface="Arial" panose="020B0604020202020204" pitchFamily="34" charset="0"/>
              <a:buChar char="•"/>
            </a:pPr>
            <a:r>
              <a:rPr lang="en-US" sz="2600" dirty="0" err="1">
                <a:solidFill>
                  <a:prstClr val="black"/>
                </a:solidFill>
                <a:latin typeface="Times New Roman" panose="02020603050405020304" pitchFamily="18" charset="0"/>
                <a:cs typeface="Times New Roman" panose="02020603050405020304" pitchFamily="18" charset="0"/>
              </a:rPr>
              <a:t>Sử</a:t>
            </a:r>
            <a:r>
              <a:rPr lang="en-US" sz="2600" dirty="0">
                <a:solidFill>
                  <a:prstClr val="black"/>
                </a:solidFill>
                <a:latin typeface="Times New Roman" panose="02020603050405020304" pitchFamily="18" charset="0"/>
                <a:cs typeface="Times New Roman" panose="02020603050405020304" pitchFamily="18" charset="0"/>
              </a:rPr>
              <a:t> </a:t>
            </a:r>
            <a:r>
              <a:rPr lang="en-US" sz="2600" dirty="0" err="1">
                <a:solidFill>
                  <a:prstClr val="black"/>
                </a:solidFill>
                <a:latin typeface="Times New Roman" panose="02020603050405020304" pitchFamily="18" charset="0"/>
                <a:cs typeface="Times New Roman" panose="02020603050405020304" pitchFamily="18" charset="0"/>
              </a:rPr>
              <a:t>dụng</a:t>
            </a:r>
            <a:r>
              <a:rPr lang="en-US" sz="2600" dirty="0">
                <a:solidFill>
                  <a:prstClr val="black"/>
                </a:solidFill>
                <a:latin typeface="Times New Roman" panose="02020603050405020304" pitchFamily="18" charset="0"/>
                <a:cs typeface="Times New Roman" panose="02020603050405020304" pitchFamily="18" charset="0"/>
              </a:rPr>
              <a:t> </a:t>
            </a:r>
            <a:r>
              <a:rPr lang="en-US" sz="2600" dirty="0" err="1">
                <a:solidFill>
                  <a:prstClr val="black"/>
                </a:solidFill>
                <a:latin typeface="Times New Roman" panose="02020603050405020304" pitchFamily="18" charset="0"/>
                <a:cs typeface="Times New Roman" panose="02020603050405020304" pitchFamily="18" charset="0"/>
              </a:rPr>
              <a:t>bảng</a:t>
            </a:r>
            <a:r>
              <a:rPr lang="en-US" sz="2600" dirty="0">
                <a:solidFill>
                  <a:prstClr val="black"/>
                </a:solidFill>
                <a:latin typeface="Times New Roman" panose="02020603050405020304" pitchFamily="18" charset="0"/>
                <a:cs typeface="Times New Roman" panose="02020603050405020304" pitchFamily="18" charset="0"/>
              </a:rPr>
              <a:t> Karnaugh </a:t>
            </a:r>
            <a:r>
              <a:rPr lang="en-US" sz="2600" dirty="0" err="1">
                <a:latin typeface="Times New Roman" panose="02020603050405020304" pitchFamily="18" charset="0"/>
                <a:cs typeface="Times New Roman" panose="02020603050405020304" pitchFamily="18" charset="0"/>
              </a:rPr>
              <a:t>là</a:t>
            </a:r>
            <a:r>
              <a:rPr lang="en-US" sz="2600" dirty="0">
                <a:latin typeface="Times New Roman" panose="02020603050405020304" pitchFamily="18" charset="0"/>
                <a:cs typeface="Times New Roman" panose="02020603050405020304" pitchFamily="18" charset="0"/>
              </a:rPr>
              <a:t> </a:t>
            </a:r>
            <a:r>
              <a:rPr lang="vi-VN" sz="2600" dirty="0">
                <a:latin typeface="Times New Roman" panose="02020603050405020304" pitchFamily="18" charset="0"/>
                <a:cs typeface="Times New Roman" panose="02020603050405020304" pitchFamily="18" charset="0"/>
              </a:rPr>
              <a:t>phương pháp </a:t>
            </a:r>
            <a:r>
              <a:rPr lang="vi-VN" sz="2600" dirty="0">
                <a:solidFill>
                  <a:srgbClr val="FF0000"/>
                </a:solidFill>
                <a:latin typeface="Times New Roman" panose="02020603050405020304" pitchFamily="18" charset="0"/>
                <a:cs typeface="Times New Roman" panose="02020603050405020304" pitchFamily="18" charset="0"/>
              </a:rPr>
              <a:t>xác định công thức đa thức tối tiểu</a:t>
            </a:r>
            <a:r>
              <a:rPr lang="en-US" sz="2600" dirty="0">
                <a:solidFill>
                  <a:srgbClr val="FF0000"/>
                </a:solidFill>
                <a:latin typeface="Times New Roman" panose="02020603050405020304" pitchFamily="18" charset="0"/>
                <a:cs typeface="Times New Roman" panose="02020603050405020304" pitchFamily="18" charset="0"/>
              </a:rPr>
              <a:t>.</a:t>
            </a:r>
          </a:p>
          <a:p>
            <a:endParaRPr lang="en-US" sz="2600" dirty="0">
              <a:solidFill>
                <a:prstClr val="black"/>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2600" dirty="0">
                <a:solidFill>
                  <a:prstClr val="black"/>
                </a:solidFill>
                <a:latin typeface="Times New Roman" panose="02020603050405020304" pitchFamily="18" charset="0"/>
                <a:cs typeface="Times New Roman" panose="02020603050405020304" pitchFamily="18" charset="0"/>
              </a:rPr>
              <a:t>Khi xây dựng bản đồ Karnaugh, một điểm quan trọng là thứ tự sắp xếp các biến trên trục (hàng và cột). Mã Gray thường được sử dụng để sắp xếp thứ tự các giá trị của các biến này, bởi vì:</a:t>
            </a:r>
            <a:endParaRPr lang="en-US" sz="2600" dirty="0">
              <a:solidFill>
                <a:prstClr val="black"/>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vi-VN" sz="2600" dirty="0">
                <a:solidFill>
                  <a:prstClr val="black"/>
                </a:solidFill>
                <a:latin typeface="Times New Roman" panose="02020603050405020304" pitchFamily="18" charset="0"/>
                <a:cs typeface="Times New Roman" panose="02020603050405020304" pitchFamily="18" charset="0"/>
              </a:rPr>
              <a:t>Trong mã Gray, hai giá trị liên tiếp chỉ khác nhau một bit.</a:t>
            </a:r>
            <a:r>
              <a:rPr lang="en-US" sz="2600" dirty="0">
                <a:solidFill>
                  <a:prstClr val="black"/>
                </a:solidFill>
                <a:latin typeface="Times New Roman" panose="02020603050405020304" pitchFamily="18" charset="0"/>
                <a:cs typeface="Times New Roman" panose="02020603050405020304" pitchFamily="18" charset="0"/>
              </a:rPr>
              <a:t> </a:t>
            </a:r>
            <a:r>
              <a:rPr lang="vi-VN" sz="2600" dirty="0">
                <a:solidFill>
                  <a:prstClr val="black"/>
                </a:solidFill>
                <a:latin typeface="Times New Roman" panose="02020603050405020304" pitchFamily="18" charset="0"/>
                <a:cs typeface="Times New Roman" panose="02020603050405020304" pitchFamily="18" charset="0"/>
              </a:rPr>
              <a:t>Điều này giúp bản đồ Karnaugh duy trì tính liên kết logic: các ô liền kề chỉ khác nhau bởi một biến đầu vào.</a:t>
            </a:r>
            <a:endParaRPr lang="en-US" sz="2600" dirty="0">
              <a:latin typeface="Times New Roman" panose="02020603050405020304" pitchFamily="18" charset="0"/>
              <a:cs typeface="Times New Roman" panose="02020603050405020304" pitchFamily="18" charset="0"/>
            </a:endParaRPr>
          </a:p>
          <a:p>
            <a:endParaRPr lang="en-US" dirty="0">
              <a:solidFill>
                <a:prstClr val="black"/>
              </a:solidFill>
            </a:endParaRPr>
          </a:p>
        </p:txBody>
      </p:sp>
      <p:sp>
        <p:nvSpPr>
          <p:cNvPr id="4" name="Date Placeholder 2">
            <a:extLst>
              <a:ext uri="{FF2B5EF4-FFF2-40B4-BE49-F238E27FC236}">
                <a16:creationId xmlns:a16="http://schemas.microsoft.com/office/drawing/2014/main" id="{1050129F-ABE3-0C98-8948-92402DE13D2D}"/>
              </a:ext>
            </a:extLst>
          </p:cNvPr>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a:extLst>
              <a:ext uri="{FF2B5EF4-FFF2-40B4-BE49-F238E27FC236}">
                <a16:creationId xmlns:a16="http://schemas.microsoft.com/office/drawing/2014/main" id="{2E391334-E4C4-13B2-372A-7C3A7F0E743C}"/>
              </a:ext>
            </a:extLst>
          </p:cNvPr>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7" name="Slide Number Placeholder 6">
            <a:extLst>
              <a:ext uri="{FF2B5EF4-FFF2-40B4-BE49-F238E27FC236}">
                <a16:creationId xmlns:a16="http://schemas.microsoft.com/office/drawing/2014/main" id="{030522C1-4F51-92E2-FBB4-2A0BA8A1BF84}"/>
              </a:ext>
            </a:extLst>
          </p:cNvPr>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4</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46091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1000"/>
                                        <p:tgtEl>
                                          <p:spTgt spid="6">
                                            <p:txEl>
                                              <p:pRg st="3" end="3"/>
                                            </p:txEl>
                                          </p:spTgt>
                                        </p:tgtEl>
                                      </p:cBhvr>
                                    </p:animEffect>
                                    <p:anim calcmode="lin" valueType="num">
                                      <p:cBhvr>
                                        <p:cTn id="2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603C71-63A3-46D3-56AF-E8B2A1E183AB}"/>
              </a:ext>
            </a:extLst>
          </p:cNvPr>
          <p:cNvPicPr>
            <a:picLocks noChangeAspect="1"/>
          </p:cNvPicPr>
          <p:nvPr/>
        </p:nvPicPr>
        <p:blipFill>
          <a:blip r:embed="rId2"/>
          <a:stretch>
            <a:fillRect/>
          </a:stretch>
        </p:blipFill>
        <p:spPr>
          <a:xfrm>
            <a:off x="990600" y="533400"/>
            <a:ext cx="6971405" cy="5562600"/>
          </a:xfrm>
          <a:prstGeom prst="rect">
            <a:avLst/>
          </a:prstGeom>
        </p:spPr>
      </p:pic>
    </p:spTree>
    <p:extLst>
      <p:ext uri="{BB962C8B-B14F-4D97-AF65-F5344CB8AC3E}">
        <p14:creationId xmlns:p14="http://schemas.microsoft.com/office/powerpoint/2010/main" val="932631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A1C76-FA9C-E3F6-A734-55C170A2D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EBEA2-C72F-8991-02EE-DC522F14AB5A}"/>
              </a:ext>
            </a:extLst>
          </p:cNvPr>
          <p:cNvSpPr>
            <a:spLocks noGrp="1"/>
          </p:cNvSpPr>
          <p:nvPr>
            <p:ph type="title"/>
          </p:nvPr>
        </p:nvSpPr>
        <p:spPr>
          <a:xfrm>
            <a:off x="15910" y="76200"/>
            <a:ext cx="6347713" cy="762000"/>
          </a:xfrm>
        </p:spPr>
        <p:txBody>
          <a:bodyPr>
            <a:normAutofit fontScale="90000"/>
          </a:bodyPr>
          <a:lstStyle/>
          <a:p>
            <a:r>
              <a:rPr lang="en-US" dirty="0" err="1"/>
              <a:t>Xây</a:t>
            </a:r>
            <a:r>
              <a:rPr lang="en-US" dirty="0"/>
              <a:t> </a:t>
            </a:r>
            <a:r>
              <a:rPr lang="en-US" dirty="0" err="1"/>
              <a:t>dựng</a:t>
            </a:r>
            <a:r>
              <a:rPr lang="en-US" dirty="0"/>
              <a:t> </a:t>
            </a:r>
            <a:r>
              <a:rPr lang="en-US" dirty="0" err="1"/>
              <a:t>bản</a:t>
            </a:r>
            <a:r>
              <a:rPr lang="en-US" dirty="0"/>
              <a:t> </a:t>
            </a:r>
            <a:r>
              <a:rPr lang="en-US" dirty="0" err="1"/>
              <a:t>đồ</a:t>
            </a:r>
            <a:r>
              <a:rPr lang="en-US" dirty="0"/>
              <a:t>:</a:t>
            </a:r>
            <a:br>
              <a:rPr lang="en-US" dirty="0"/>
            </a:br>
            <a:endParaRPr lang="en-US" dirty="0"/>
          </a:p>
        </p:txBody>
      </p:sp>
      <p:sp>
        <p:nvSpPr>
          <p:cNvPr id="3" name="Content Placeholder 2">
            <a:extLst>
              <a:ext uri="{FF2B5EF4-FFF2-40B4-BE49-F238E27FC236}">
                <a16:creationId xmlns:a16="http://schemas.microsoft.com/office/drawing/2014/main" id="{5BD699FE-1AEA-160B-A299-27F9677C3870}"/>
              </a:ext>
            </a:extLst>
          </p:cNvPr>
          <p:cNvSpPr>
            <a:spLocks noGrp="1"/>
          </p:cNvSpPr>
          <p:nvPr>
            <p:ph idx="1"/>
          </p:nvPr>
        </p:nvSpPr>
        <p:spPr>
          <a:xfrm>
            <a:off x="381000" y="1295400"/>
            <a:ext cx="7620000" cy="3880773"/>
          </a:xfrm>
        </p:spPr>
        <p:txBody>
          <a:bodyPr>
            <a:noAutofit/>
          </a:bodyPr>
          <a:lstStyle/>
          <a:p>
            <a:pPr>
              <a:spcAft>
                <a:spcPts val="600"/>
              </a:spcAft>
            </a:pPr>
            <a:r>
              <a:rPr lang="en-US" sz="2800" dirty="0">
                <a:solidFill>
                  <a:prstClr val="black"/>
                </a:solidFill>
                <a:latin typeface="Times New Roman" panose="02020603050405020304" pitchFamily="18" charset="0"/>
                <a:cs typeface="Times New Roman" panose="02020603050405020304" pitchFamily="18" charset="0"/>
              </a:rPr>
              <a:t>	</a:t>
            </a:r>
            <a:r>
              <a:rPr lang="vi-VN" sz="2800" dirty="0">
                <a:solidFill>
                  <a:prstClr val="black"/>
                </a:solidFill>
                <a:latin typeface="Times New Roman" panose="02020603050405020304" pitchFamily="18" charset="0"/>
                <a:cs typeface="Times New Roman" panose="02020603050405020304" pitchFamily="18" charset="0"/>
              </a:rPr>
              <a:t>Số lượng biến logic trong biểu thức sẽ quyết định kích thước bản đồ Karnaugh.</a:t>
            </a:r>
            <a:endParaRPr lang="en-US" sz="2800" dirty="0">
              <a:solidFill>
                <a:prstClr val="black"/>
              </a:solidFill>
              <a:latin typeface="Times New Roman" panose="02020603050405020304" pitchFamily="18" charset="0"/>
              <a:cs typeface="Times New Roman" panose="02020603050405020304" pitchFamily="18" charset="0"/>
            </a:endParaRPr>
          </a:p>
          <a:p>
            <a:pPr>
              <a:spcAft>
                <a:spcPts val="600"/>
              </a:spcAft>
            </a:pPr>
            <a:r>
              <a:rPr lang="vi-VN" sz="2800" dirty="0">
                <a:latin typeface="Times New Roman" panose="02020603050405020304" pitchFamily="18" charset="0"/>
                <a:cs typeface="Times New Roman" panose="02020603050405020304" pitchFamily="18" charset="0"/>
              </a:rPr>
              <a:t>Mã Gray được sử dụng để đánh số hàng và cột trong bản đồ để đảm bảo các ô liền kề chỉ khác nhau 1 bit.</a:t>
            </a:r>
            <a:endParaRPr lang="en-US" sz="2800" dirty="0">
              <a:latin typeface="Times New Roman" panose="02020603050405020304" pitchFamily="18" charset="0"/>
              <a:cs typeface="Times New Roman" panose="02020603050405020304" pitchFamily="18" charset="0"/>
            </a:endParaRPr>
          </a:p>
          <a:p>
            <a:pPr>
              <a:spcAft>
                <a:spcPts val="600"/>
              </a:spcAft>
            </a:pPr>
            <a:r>
              <a:rPr lang="en-US" sz="2800" dirty="0" err="1">
                <a:latin typeface="Times New Roman" panose="02020603050405020304" pitchFamily="18" charset="0"/>
                <a:cs typeface="Times New Roman" panose="02020603050405020304" pitchFamily="18" charset="0"/>
              </a:rPr>
              <a:t>Điền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đầu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đồ</a:t>
            </a:r>
            <a:endParaRPr lang="en-US" sz="2800" dirty="0">
              <a:latin typeface="Times New Roman" panose="02020603050405020304" pitchFamily="18" charset="0"/>
              <a:cs typeface="Times New Roman" panose="02020603050405020304" pitchFamily="18" charset="0"/>
            </a:endParaRPr>
          </a:p>
          <a:p>
            <a:pPr lvl="1">
              <a:spcAft>
                <a:spcPts val="600"/>
              </a:spcAft>
            </a:pPr>
            <a:r>
              <a:rPr lang="en-US" sz="2600" dirty="0" err="1">
                <a:latin typeface="Times New Roman" panose="02020603050405020304" pitchFamily="18" charset="0"/>
                <a:cs typeface="Times New Roman" panose="02020603050405020304" pitchFamily="18" charset="0"/>
              </a:rPr>
              <a:t>Đánh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dấu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các</a:t>
            </a:r>
            <a:r>
              <a:rPr lang="en-US" sz="2600" dirty="0">
                <a:latin typeface="Times New Roman" panose="02020603050405020304" pitchFamily="18" charset="0"/>
                <a:cs typeface="Times New Roman" panose="02020603050405020304" pitchFamily="18" charset="0"/>
              </a:rPr>
              <a:t> ô </a:t>
            </a:r>
            <a:r>
              <a:rPr lang="en-US" sz="2600" dirty="0" err="1">
                <a:latin typeface="Times New Roman" panose="02020603050405020304" pitchFamily="18" charset="0"/>
                <a:cs typeface="Times New Roman" panose="02020603050405020304" pitchFamily="18" charset="0"/>
              </a:rPr>
              <a:t>có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dòng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ứng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trên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bảng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là</a:t>
            </a:r>
            <a:r>
              <a:rPr lang="en-US" sz="2600" dirty="0">
                <a:latin typeface="Times New Roman" panose="02020603050405020304" pitchFamily="18" charset="0"/>
                <a:cs typeface="Times New Roman" panose="02020603050405020304" pitchFamily="18" charset="0"/>
              </a:rPr>
              <a:t> 1</a:t>
            </a:r>
          </a:p>
          <a:p>
            <a:pPr>
              <a:spcAft>
                <a:spcPts val="600"/>
              </a:spcAft>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0419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894C5-931F-8515-CDDD-BD2C445C2D95}"/>
              </a:ext>
            </a:extLst>
          </p:cNvPr>
          <p:cNvSpPr>
            <a:spLocks noGrp="1"/>
          </p:cNvSpPr>
          <p:nvPr>
            <p:ph type="title"/>
          </p:nvPr>
        </p:nvSpPr>
        <p:spPr>
          <a:xfrm>
            <a:off x="609599" y="609600"/>
            <a:ext cx="6781801" cy="1320800"/>
          </a:xfrm>
        </p:spPr>
        <p:txBody>
          <a:bodyPr/>
          <a:lstStyle/>
          <a:p>
            <a:r>
              <a:rPr lang="en-US" dirty="0" err="1"/>
              <a:t>Xây</a:t>
            </a:r>
            <a:r>
              <a:rPr lang="en-US" dirty="0"/>
              <a:t> </a:t>
            </a:r>
            <a:r>
              <a:rPr lang="en-US" dirty="0" err="1"/>
              <a:t>dựng</a:t>
            </a:r>
            <a:r>
              <a:rPr lang="en-US" dirty="0"/>
              <a:t> </a:t>
            </a:r>
            <a:r>
              <a:rPr lang="en-US" dirty="0" err="1"/>
              <a:t>bản</a:t>
            </a:r>
            <a:r>
              <a:rPr lang="en-US" dirty="0"/>
              <a:t> </a:t>
            </a:r>
            <a:r>
              <a:rPr lang="en-US" dirty="0" err="1"/>
              <a:t>đồ</a:t>
            </a:r>
            <a:r>
              <a:rPr lang="en-US" dirty="0"/>
              <a:t> </a:t>
            </a:r>
            <a:r>
              <a:rPr lang="en-US" dirty="0" err="1"/>
              <a:t>theo</a:t>
            </a:r>
            <a:r>
              <a:rPr lang="en-US" dirty="0"/>
              <a:t> </a:t>
            </a:r>
            <a:r>
              <a:rPr lang="en-US" dirty="0" err="1"/>
              <a:t>mã</a:t>
            </a:r>
            <a:r>
              <a:rPr lang="en-US" dirty="0"/>
              <a:t> Gray</a:t>
            </a:r>
          </a:p>
        </p:txBody>
      </p:sp>
      <p:pic>
        <p:nvPicPr>
          <p:cNvPr id="5" name="Picture 4">
            <a:extLst>
              <a:ext uri="{FF2B5EF4-FFF2-40B4-BE49-F238E27FC236}">
                <a16:creationId xmlns:a16="http://schemas.microsoft.com/office/drawing/2014/main" id="{54283EF1-9238-7422-CE80-2A4C85CB9A1C}"/>
              </a:ext>
            </a:extLst>
          </p:cNvPr>
          <p:cNvPicPr>
            <a:picLocks noChangeAspect="1"/>
          </p:cNvPicPr>
          <p:nvPr/>
        </p:nvPicPr>
        <p:blipFill>
          <a:blip r:embed="rId2"/>
          <a:stretch>
            <a:fillRect/>
          </a:stretch>
        </p:blipFill>
        <p:spPr>
          <a:xfrm>
            <a:off x="0" y="1447800"/>
            <a:ext cx="7235243" cy="5010743"/>
          </a:xfrm>
          <a:prstGeom prst="rect">
            <a:avLst/>
          </a:prstGeom>
        </p:spPr>
      </p:pic>
    </p:spTree>
    <p:extLst>
      <p:ext uri="{BB962C8B-B14F-4D97-AF65-F5344CB8AC3E}">
        <p14:creationId xmlns:p14="http://schemas.microsoft.com/office/powerpoint/2010/main" val="9346098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F2AFA-C856-64E2-C74D-6AC66A1093FF}"/>
              </a:ext>
            </a:extLst>
          </p:cNvPr>
          <p:cNvPicPr>
            <a:picLocks noChangeAspect="1"/>
          </p:cNvPicPr>
          <p:nvPr/>
        </p:nvPicPr>
        <p:blipFill>
          <a:blip r:embed="rId2"/>
          <a:stretch>
            <a:fillRect/>
          </a:stretch>
        </p:blipFill>
        <p:spPr>
          <a:xfrm>
            <a:off x="304800" y="914400"/>
            <a:ext cx="8183117" cy="4229690"/>
          </a:xfrm>
          <a:prstGeom prst="rect">
            <a:avLst/>
          </a:prstGeom>
        </p:spPr>
      </p:pic>
    </p:spTree>
    <p:extLst>
      <p:ext uri="{BB962C8B-B14F-4D97-AF65-F5344CB8AC3E}">
        <p14:creationId xmlns:p14="http://schemas.microsoft.com/office/powerpoint/2010/main" val="36048130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AF6B-04F3-19F5-4C5E-B6483FD52F4F}"/>
              </a:ext>
            </a:extLst>
          </p:cNvPr>
          <p:cNvSpPr>
            <a:spLocks noGrp="1"/>
          </p:cNvSpPr>
          <p:nvPr>
            <p:ph type="title"/>
          </p:nvPr>
        </p:nvSpPr>
        <p:spPr>
          <a:xfrm>
            <a:off x="15910" y="76200"/>
            <a:ext cx="6347713" cy="762000"/>
          </a:xfrm>
        </p:spPr>
        <p:txBody>
          <a:bodyPr>
            <a:normAutofit fontScale="90000"/>
          </a:bodyPr>
          <a:lstStyle/>
          <a:p>
            <a:r>
              <a:rPr lang="en-US" dirty="0"/>
              <a:t>Quy </a:t>
            </a:r>
            <a:r>
              <a:rPr lang="en-US" dirty="0" err="1"/>
              <a:t>tắc</a:t>
            </a:r>
            <a:r>
              <a:rPr lang="en-US" dirty="0"/>
              <a:t> </a:t>
            </a:r>
            <a:r>
              <a:rPr lang="en-US" dirty="0" err="1"/>
              <a:t>gom</a:t>
            </a:r>
            <a:r>
              <a:rPr lang="en-US" dirty="0"/>
              <a:t> </a:t>
            </a:r>
            <a:r>
              <a:rPr lang="en-US" dirty="0" err="1"/>
              <a:t>nhóm</a:t>
            </a:r>
            <a:r>
              <a:rPr lang="en-US" dirty="0"/>
              <a:t>:</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5B7780-D084-4208-FECB-33E4D479464D}"/>
                  </a:ext>
                </a:extLst>
              </p:cNvPr>
              <p:cNvSpPr>
                <a:spLocks noGrp="1"/>
              </p:cNvSpPr>
              <p:nvPr>
                <p:ph idx="1"/>
              </p:nvPr>
            </p:nvSpPr>
            <p:spPr>
              <a:xfrm>
                <a:off x="381000" y="1295400"/>
                <a:ext cx="7620000" cy="3880773"/>
              </a:xfrm>
            </p:spPr>
            <p:txBody>
              <a:bodyPr>
                <a:noAutofit/>
              </a:bodyPr>
              <a:lstStyle/>
              <a:p>
                <a:pPr>
                  <a:spcAft>
                    <a:spcPts val="600"/>
                  </a:spcAft>
                </a:pPr>
                <a:r>
                  <a:rPr lang="en-US" sz="2800" dirty="0">
                    <a:solidFill>
                      <a:prstClr val="black"/>
                    </a:solidFill>
                    <a:latin typeface="Times New Roman" panose="02020603050405020304" pitchFamily="18" charset="0"/>
                    <a:cs typeface="Times New Roman" panose="02020603050405020304" pitchFamily="18" charset="0"/>
                  </a:rPr>
                  <a:t>	- </a:t>
                </a:r>
                <a:r>
                  <a:rPr lang="en-US" sz="2800" dirty="0" err="1">
                    <a:solidFill>
                      <a:prstClr val="black"/>
                    </a:solidFill>
                    <a:latin typeface="Times New Roman" panose="02020603050405020304" pitchFamily="18" charset="0"/>
                    <a:cs typeface="Times New Roman" panose="02020603050405020304" pitchFamily="18" charset="0"/>
                  </a:rPr>
                  <a:t>Gom</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các</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tiểu</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hạng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mang</a:t>
                </a:r>
                <a:r>
                  <a:rPr lang="en-US" sz="2800"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biểu</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diễn</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là</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số</a:t>
                </a:r>
                <a:r>
                  <a:rPr lang="en-US" sz="2800" u="sng" dirty="0">
                    <a:solidFill>
                      <a:prstClr val="black"/>
                    </a:solidFill>
                    <a:latin typeface="Times New Roman" panose="02020603050405020304" pitchFamily="18" charset="0"/>
                    <a:cs typeface="Times New Roman" panose="02020603050405020304" pitchFamily="18" charset="0"/>
                  </a:rPr>
                  <a:t> 1</a:t>
                </a:r>
                <a:r>
                  <a:rPr lang="en-US" sz="2800" dirty="0">
                    <a:solidFill>
                      <a:prstClr val="black"/>
                    </a:solidFill>
                    <a:latin typeface="Times New Roman" panose="02020603050405020304" pitchFamily="18" charset="0"/>
                    <a:cs typeface="Times New Roman" panose="02020603050405020304" pitchFamily="18" charset="0"/>
                  </a:rPr>
                  <a:t>.</a:t>
                </a:r>
                <a:endParaRPr lang="vi-VN" sz="2800" dirty="0">
                  <a:solidFill>
                    <a:prstClr val="black"/>
                  </a:solidFill>
                  <a:latin typeface="Times New Roman" panose="02020603050405020304" pitchFamily="18" charset="0"/>
                  <a:cs typeface="Times New Roman" panose="02020603050405020304" pitchFamily="18" charset="0"/>
                </a:endParaRPr>
              </a:p>
              <a:p>
                <a:pPr>
                  <a:spcAft>
                    <a:spcPts val="600"/>
                  </a:spcAft>
                </a:pPr>
                <a:r>
                  <a:rPr lang="en-US" sz="2800" dirty="0">
                    <a:solidFill>
                      <a:prstClr val="black"/>
                    </a:solidFill>
                    <a:latin typeface="Times New Roman" panose="02020603050405020304" pitchFamily="18" charset="0"/>
                    <a:cs typeface="Times New Roman" panose="02020603050405020304" pitchFamily="18" charset="0"/>
                  </a:rPr>
                  <a:t>	- Khi </a:t>
                </a:r>
                <a:r>
                  <a:rPr lang="en-US" sz="2800" dirty="0" err="1">
                    <a:solidFill>
                      <a:prstClr val="black"/>
                    </a:solidFill>
                    <a:latin typeface="Times New Roman" panose="02020603050405020304" pitchFamily="18" charset="0"/>
                    <a:cs typeface="Times New Roman" panose="02020603050405020304" pitchFamily="18" charset="0"/>
                  </a:rPr>
                  <a:t>gom</a:t>
                </a:r>
                <a:r>
                  <a:rPr lang="en-US" sz="2800"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800" i="1" smtClean="0">
                            <a:solidFill>
                              <a:srgbClr val="FF0000"/>
                            </a:solidFill>
                            <a:latin typeface="Cambria Math" panose="02040503050406030204" pitchFamily="18" charset="0"/>
                          </a:rPr>
                        </m:ctrlPr>
                      </m:sSupPr>
                      <m:e>
                        <m:r>
                          <a:rPr lang="en-US" sz="2800" i="1">
                            <a:solidFill>
                              <a:srgbClr val="FF0000"/>
                            </a:solidFill>
                            <a:latin typeface="Cambria Math"/>
                          </a:rPr>
                          <m:t>2</m:t>
                        </m:r>
                      </m:e>
                      <m:sup>
                        <m:r>
                          <a:rPr lang="en-US" sz="2800" i="1">
                            <a:solidFill>
                              <a:srgbClr val="FF0000"/>
                            </a:solidFill>
                            <a:latin typeface="Cambria Math" panose="02040503050406030204" pitchFamily="18" charset="0"/>
                          </a:rPr>
                          <m:t>𝑛</m:t>
                        </m:r>
                      </m:sup>
                    </m:sSup>
                  </m:oMath>
                </a14:m>
                <a:r>
                  <a:rPr lang="en-US" sz="2800" dirty="0">
                    <a:solidFill>
                      <a:prstClr val="black"/>
                    </a:solidFill>
                    <a:latin typeface="Times New Roman" panose="02020603050405020304" pitchFamily="18" charset="0"/>
                    <a:cs typeface="Times New Roman" panose="02020603050405020304" pitchFamily="18" charset="0"/>
                  </a:rPr>
                  <a:t> Ô </a:t>
                </a:r>
                <a:r>
                  <a:rPr lang="en-US" sz="2800" dirty="0" err="1">
                    <a:solidFill>
                      <a:prstClr val="black"/>
                    </a:solidFill>
                    <a:latin typeface="Times New Roman" panose="02020603050405020304" pitchFamily="18" charset="0"/>
                    <a:cs typeface="Times New Roman" panose="02020603050405020304" pitchFamily="18" charset="0"/>
                  </a:rPr>
                  <a:t>kế</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cận</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sẽ</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loại</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được</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a:solidFill>
                      <a:srgbClr val="FF0000"/>
                    </a:solidFill>
                    <a:latin typeface="Times New Roman" panose="02020603050405020304" pitchFamily="18" charset="0"/>
                    <a:cs typeface="Times New Roman" panose="02020603050405020304" pitchFamily="18" charset="0"/>
                  </a:rPr>
                  <a:t>n</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biến</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Những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biến</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bị</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loại</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là</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những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biến</a:t>
                </a:r>
                <a:r>
                  <a:rPr lang="en-US" sz="2800"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khi</a:t>
                </a:r>
                <a:r>
                  <a:rPr lang="en-US" sz="2800" u="sng" dirty="0">
                    <a:solidFill>
                      <a:prstClr val="black"/>
                    </a:solidFill>
                    <a:latin typeface="Times New Roman" panose="02020603050405020304" pitchFamily="18" charset="0"/>
                    <a:cs typeface="Times New Roman" panose="02020603050405020304" pitchFamily="18" charset="0"/>
                  </a:rPr>
                  <a:t> ta </a:t>
                </a:r>
                <a:r>
                  <a:rPr lang="en-US" sz="2800" u="sng" dirty="0" err="1">
                    <a:solidFill>
                      <a:prstClr val="black"/>
                    </a:solidFill>
                    <a:latin typeface="Times New Roman" panose="02020603050405020304" pitchFamily="18" charset="0"/>
                    <a:cs typeface="Times New Roman" panose="02020603050405020304" pitchFamily="18" charset="0"/>
                  </a:rPr>
                  <a:t>đi</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vòng</a:t>
                </a:r>
                <a:r>
                  <a:rPr lang="en-US" sz="2800" u="sng" dirty="0">
                    <a:solidFill>
                      <a:prstClr val="black"/>
                    </a:solidFill>
                    <a:latin typeface="Times New Roman" panose="02020603050405020304" pitchFamily="18" charset="0"/>
                    <a:cs typeface="Times New Roman" panose="02020603050405020304" pitchFamily="18" charset="0"/>
                  </a:rPr>
                  <a:t> qua </a:t>
                </a:r>
                <a:r>
                  <a:rPr lang="en-US" sz="2800" u="sng" dirty="0" err="1">
                    <a:solidFill>
                      <a:prstClr val="black"/>
                    </a:solidFill>
                    <a:latin typeface="Times New Roman" panose="02020603050405020304" pitchFamily="18" charset="0"/>
                    <a:cs typeface="Times New Roman" panose="02020603050405020304" pitchFamily="18" charset="0"/>
                  </a:rPr>
                  <a:t>các</a:t>
                </a:r>
                <a:r>
                  <a:rPr lang="en-US" sz="2800" u="sng" dirty="0">
                    <a:solidFill>
                      <a:prstClr val="black"/>
                    </a:solidFill>
                    <a:latin typeface="Times New Roman" panose="02020603050405020304" pitchFamily="18" charset="0"/>
                    <a:cs typeface="Times New Roman" panose="02020603050405020304" pitchFamily="18" charset="0"/>
                  </a:rPr>
                  <a:t> ô </a:t>
                </a:r>
                <a:r>
                  <a:rPr lang="en-US" sz="2800" u="sng" dirty="0" err="1">
                    <a:solidFill>
                      <a:prstClr val="black"/>
                    </a:solidFill>
                    <a:latin typeface="Times New Roman" panose="02020603050405020304" pitchFamily="18" charset="0"/>
                    <a:cs typeface="Times New Roman" panose="02020603050405020304" pitchFamily="18" charset="0"/>
                  </a:rPr>
                  <a:t>kế</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cận</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mà</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giá</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trị</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của</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chúng</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thay</a:t>
                </a:r>
                <a:r>
                  <a:rPr lang="en-US" sz="2800" u="sng" dirty="0">
                    <a:solidFill>
                      <a:prstClr val="black"/>
                    </a:solidFill>
                    <a:latin typeface="Times New Roman" panose="02020603050405020304" pitchFamily="18" charset="0"/>
                    <a:cs typeface="Times New Roman" panose="02020603050405020304" pitchFamily="18" charset="0"/>
                  </a:rPr>
                  <a:t> </a:t>
                </a:r>
                <a:r>
                  <a:rPr lang="en-US" sz="2800" u="sng" dirty="0" err="1">
                    <a:solidFill>
                      <a:prstClr val="black"/>
                    </a:solidFill>
                    <a:latin typeface="Times New Roman" panose="02020603050405020304" pitchFamily="18" charset="0"/>
                    <a:cs typeface="Times New Roman" panose="02020603050405020304" pitchFamily="18" charset="0"/>
                  </a:rPr>
                  <a:t>đổi</a:t>
                </a:r>
                <a:r>
                  <a:rPr lang="en-US" sz="2800" dirty="0">
                    <a:solidFill>
                      <a:prstClr val="black"/>
                    </a:solidFill>
                    <a:latin typeface="Times New Roman" panose="02020603050405020304" pitchFamily="18" charset="0"/>
                    <a:cs typeface="Times New Roman" panose="02020603050405020304" pitchFamily="18" charset="0"/>
                  </a:rPr>
                  <a:t>.</a:t>
                </a:r>
              </a:p>
              <a:p>
                <a:pPr>
                  <a:spcAft>
                    <a:spcPts val="600"/>
                  </a:spcAft>
                </a:pPr>
                <a:r>
                  <a:rPr lang="en-US" sz="2800" dirty="0">
                    <a:solidFill>
                      <a:prstClr val="black"/>
                    </a:solidFill>
                    <a:latin typeface="Times New Roman" panose="02020603050405020304" pitchFamily="18" charset="0"/>
                    <a:cs typeface="Times New Roman" panose="02020603050405020304" pitchFamily="18" charset="0"/>
                  </a:rPr>
                  <a:t>	- </a:t>
                </a:r>
                <a:r>
                  <a:rPr lang="en-US" sz="2800" dirty="0" err="1">
                    <a:solidFill>
                      <a:prstClr val="black"/>
                    </a:solidFill>
                    <a:latin typeface="Times New Roman" panose="02020603050405020304" pitchFamily="18" charset="0"/>
                    <a:cs typeface="Times New Roman" panose="02020603050405020304" pitchFamily="18" charset="0"/>
                  </a:rPr>
                  <a:t>Các</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vòng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phải</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được</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gom</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sao</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cho</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số</a:t>
                </a:r>
                <a:r>
                  <a:rPr lang="en-US" sz="2800" dirty="0">
                    <a:solidFill>
                      <a:prstClr val="black"/>
                    </a:solidFill>
                    <a:latin typeface="Times New Roman" panose="02020603050405020304" pitchFamily="18" charset="0"/>
                    <a:cs typeface="Times New Roman" panose="02020603050405020304" pitchFamily="18" charset="0"/>
                  </a:rPr>
                  <a:t> ô </a:t>
                </a:r>
                <a:r>
                  <a:rPr lang="en-US" sz="2800" dirty="0" err="1">
                    <a:solidFill>
                      <a:prstClr val="black"/>
                    </a:solidFill>
                    <a:latin typeface="Times New Roman" panose="02020603050405020304" pitchFamily="18" charset="0"/>
                    <a:cs typeface="Times New Roman" panose="02020603050405020304" pitchFamily="18" charset="0"/>
                  </a:rPr>
                  <a:t>có</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thể</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vào</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trong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vòng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là</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lớn</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nhất</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và</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để</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đạt</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được</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điều</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đó</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thường</a:t>
                </a:r>
                <a:r>
                  <a:rPr lang="en-US" sz="2800" dirty="0">
                    <a:solidFill>
                      <a:prstClr val="black"/>
                    </a:solidFill>
                    <a:latin typeface="Times New Roman" panose="02020603050405020304" pitchFamily="18" charset="0"/>
                    <a:cs typeface="Times New Roman" panose="02020603050405020304" pitchFamily="18" charset="0"/>
                  </a:rPr>
                  <a:t> ta </a:t>
                </a:r>
                <a:r>
                  <a:rPr lang="en-US" sz="2800" dirty="0" err="1">
                    <a:solidFill>
                      <a:prstClr val="black"/>
                    </a:solidFill>
                    <a:latin typeface="Times New Roman" panose="02020603050405020304" pitchFamily="18" charset="0"/>
                    <a:cs typeface="Times New Roman" panose="02020603050405020304" pitchFamily="18" charset="0"/>
                  </a:rPr>
                  <a:t>phải</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gom</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cả</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những</a:t>
                </a:r>
                <a:r>
                  <a:rPr lang="en-US" sz="2800" dirty="0">
                    <a:solidFill>
                      <a:prstClr val="black"/>
                    </a:solidFill>
                    <a:latin typeface="Times New Roman" panose="02020603050405020304" pitchFamily="18" charset="0"/>
                    <a:cs typeface="Times New Roman" panose="02020603050405020304" pitchFamily="18" charset="0"/>
                  </a:rPr>
                  <a:t> ô </a:t>
                </a:r>
                <a:r>
                  <a:rPr lang="en-US" sz="2800" dirty="0" err="1">
                    <a:solidFill>
                      <a:prstClr val="black"/>
                    </a:solidFill>
                    <a:latin typeface="Times New Roman" panose="02020603050405020304" pitchFamily="18" charset="0"/>
                    <a:cs typeface="Times New Roman" panose="02020603050405020304" pitchFamily="18" charset="0"/>
                  </a:rPr>
                  <a:t>đã</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gom</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vào</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trong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các</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vòng</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khác</a:t>
                </a:r>
                <a:r>
                  <a:rPr lang="en-US" sz="2800" dirty="0">
                    <a:solidFill>
                      <a:prstClr val="black"/>
                    </a:solidFill>
                    <a:latin typeface="Times New Roman" panose="02020603050405020304" pitchFamily="18" charset="0"/>
                    <a:cs typeface="Times New Roman" panose="02020603050405020304" pitchFamily="18" charset="0"/>
                  </a:rPr>
                  <a:t>.</a:t>
                </a:r>
              </a:p>
              <a:p>
                <a:pPr>
                  <a:spcAft>
                    <a:spcPts val="600"/>
                  </a:spcAft>
                </a:pPr>
                <a:r>
                  <a:rPr lang="en-US" sz="2800" dirty="0">
                    <a:solidFill>
                      <a:prstClr val="black"/>
                    </a:solidFill>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Vòng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gom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1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nhật</a:t>
                </a:r>
                <a:r>
                  <a:rPr lang="en-US" sz="2800" dirty="0">
                    <a:latin typeface="Times New Roman" panose="02020603050405020304" pitchFamily="18" charset="0"/>
                    <a:cs typeface="Times New Roman" panose="02020603050405020304" pitchFamily="18" charset="0"/>
                  </a:rPr>
                  <a:t>.</a:t>
                </a:r>
                <a:endParaRPr lang="en-US" sz="2800" dirty="0"/>
              </a:p>
            </p:txBody>
          </p:sp>
        </mc:Choice>
        <mc:Fallback xmlns="">
          <p:sp>
            <p:nvSpPr>
              <p:cNvPr id="3" name="Content Placeholder 2">
                <a:extLst>
                  <a:ext uri="{FF2B5EF4-FFF2-40B4-BE49-F238E27FC236}">
                    <a16:creationId xmlns:a16="http://schemas.microsoft.com/office/drawing/2014/main" id="{BD5B7780-D084-4208-FECB-33E4D479464D}"/>
                  </a:ext>
                </a:extLst>
              </p:cNvPr>
              <p:cNvSpPr>
                <a:spLocks noGrp="1" noRot="1" noChangeAspect="1" noMove="1" noResize="1" noEditPoints="1" noAdjustHandles="1" noChangeArrowheads="1" noChangeShapeType="1" noTextEdit="1"/>
              </p:cNvSpPr>
              <p:nvPr>
                <p:ph idx="1"/>
              </p:nvPr>
            </p:nvSpPr>
            <p:spPr>
              <a:xfrm>
                <a:off x="381000" y="1295400"/>
                <a:ext cx="7620000" cy="3880773"/>
              </a:xfrm>
              <a:blipFill>
                <a:blip r:embed="rId2"/>
                <a:stretch>
                  <a:fillRect l="-1040" t="-1730" b="-21384"/>
                </a:stretch>
              </a:blipFill>
            </p:spPr>
            <p:txBody>
              <a:bodyPr/>
              <a:lstStyle/>
              <a:p>
                <a:r>
                  <a:rPr lang="en-US">
                    <a:noFill/>
                  </a:rPr>
                  <a:t> </a:t>
                </a:r>
              </a:p>
            </p:txBody>
          </p:sp>
        </mc:Fallback>
      </mc:AlternateContent>
    </p:spTree>
    <p:extLst>
      <p:ext uri="{BB962C8B-B14F-4D97-AF65-F5344CB8AC3E}">
        <p14:creationId xmlns:p14="http://schemas.microsoft.com/office/powerpoint/2010/main" val="758805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304800" y="16933"/>
            <a:ext cx="6347713" cy="1320800"/>
          </a:xfrm>
        </p:spPr>
        <p:txBody>
          <a:bodyPr/>
          <a:lstStyle/>
          <a:p>
            <a:pPr eaLnBrk="1" hangingPunct="1"/>
            <a:r>
              <a:rPr lang="en-US"/>
              <a:t>Karnaugh 2 biến</a:t>
            </a:r>
            <a:br>
              <a:rPr lang="en-US"/>
            </a:br>
            <a:endParaRPr lang="en-US"/>
          </a:p>
        </p:txBody>
      </p:sp>
      <p:sp>
        <p:nvSpPr>
          <p:cNvPr id="6" name="TextBox 5"/>
          <p:cNvSpPr txBox="1">
            <a:spLocks noChangeArrowheads="1"/>
          </p:cNvSpPr>
          <p:nvPr/>
        </p:nvSpPr>
        <p:spPr bwMode="auto">
          <a:xfrm>
            <a:off x="0" y="711200"/>
            <a:ext cx="7620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defRPr>
            </a:lvl1pPr>
            <a:lvl2pPr marL="800100" indent="-34290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Font typeface="Arial" panose="020B0604020202020204" pitchFamily="34" charset="0"/>
              <a:buChar char="•"/>
            </a:pPr>
            <a:r>
              <a:rPr lang="en-US" sz="2800">
                <a:solidFill>
                  <a:srgbClr val="000000"/>
                </a:solidFill>
                <a:latin typeface="Times New Roman" panose="02020603050405020304" pitchFamily="18" charset="0"/>
                <a:cs typeface="Times New Roman" panose="02020603050405020304" pitchFamily="18" charset="0"/>
              </a:rPr>
              <a:t>Đối với hàm Boole 2 biến x, y :</a:t>
            </a:r>
          </a:p>
          <a:p>
            <a:pPr>
              <a:buFont typeface="Arial" panose="020B0604020202020204" pitchFamily="34" charset="0"/>
              <a:buChar char="•"/>
            </a:pPr>
            <a:r>
              <a:rPr lang="en-US" sz="2800">
                <a:solidFill>
                  <a:srgbClr val="000000"/>
                </a:solidFill>
                <a:latin typeface="Times New Roman" panose="02020603050405020304" pitchFamily="18" charset="0"/>
                <a:cs typeface="Times New Roman" panose="02020603050405020304" pitchFamily="18" charset="0"/>
              </a:rPr>
              <a:t>Bảng karnaugh 2 biến có 4 ô vuông, trong đó:</a:t>
            </a:r>
            <a:endParaRPr lang="vi-VN" sz="2800">
              <a:solidFill>
                <a:srgbClr val="00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800">
                <a:solidFill>
                  <a:srgbClr val="000000"/>
                </a:solidFill>
                <a:latin typeface="Times New Roman" panose="02020603050405020304" pitchFamily="18" charset="0"/>
                <a:cs typeface="Times New Roman" panose="02020603050405020304" pitchFamily="18" charset="0"/>
              </a:rPr>
              <a:t>Ô được đánh số 1 để biểu diễn tiểu hạng có mặt trong hàm.</a:t>
            </a:r>
            <a:endParaRPr lang="vi-VN" sz="2800">
              <a:solidFill>
                <a:srgbClr val="00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800">
                <a:solidFill>
                  <a:srgbClr val="000000"/>
                </a:solidFill>
                <a:latin typeface="Times New Roman" panose="02020603050405020304" pitchFamily="18" charset="0"/>
                <a:cs typeface="Times New Roman" panose="02020603050405020304" pitchFamily="18" charset="0"/>
              </a:rPr>
              <a:t>Các ô được cho là liền nhau nếu các tiểu hạng mà chúng biểu diễn chỉ khác nhau 1 biến.</a:t>
            </a:r>
            <a:endParaRPr lang="vi-VN" sz="2800">
              <a:solidFill>
                <a:srgbClr val="000000"/>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966009306"/>
              </p:ext>
            </p:extLst>
          </p:nvPr>
        </p:nvGraphicFramePr>
        <p:xfrm>
          <a:off x="1828800" y="3657600"/>
          <a:ext cx="3600399" cy="2376264"/>
        </p:xfrm>
        <a:graphic>
          <a:graphicData uri="http://schemas.openxmlformats.org/drawingml/2006/table">
            <a:tbl>
              <a:tblPr bandRow="1">
                <a:tableStyleId>{5940675A-B579-460E-94D1-54222C63F5DA}</a:tableStyleId>
              </a:tblPr>
              <a:tblGrid>
                <a:gridCol w="1200133">
                  <a:extLst>
                    <a:ext uri="{9D8B030D-6E8A-4147-A177-3AD203B41FA5}">
                      <a16:colId xmlns:a16="http://schemas.microsoft.com/office/drawing/2014/main" val="20000"/>
                    </a:ext>
                  </a:extLst>
                </a:gridCol>
                <a:gridCol w="1200133">
                  <a:extLst>
                    <a:ext uri="{9D8B030D-6E8A-4147-A177-3AD203B41FA5}">
                      <a16:colId xmlns:a16="http://schemas.microsoft.com/office/drawing/2014/main" val="20001"/>
                    </a:ext>
                  </a:extLst>
                </a:gridCol>
                <a:gridCol w="1200133">
                  <a:extLst>
                    <a:ext uri="{9D8B030D-6E8A-4147-A177-3AD203B41FA5}">
                      <a16:colId xmlns:a16="http://schemas.microsoft.com/office/drawing/2014/main" val="20002"/>
                    </a:ext>
                  </a:extLst>
                </a:gridCol>
              </a:tblGrid>
              <a:tr h="805954">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 </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y</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endParaRPr lang="en-US"/>
                    </a:p>
                  </a:txBody>
                  <a:tcPr marL="68580" marR="68580" marT="0" marB="0" anchor="ctr">
                    <a:blipFill rotWithShape="0">
                      <a:blip r:embed="rId3"/>
                      <a:stretch>
                        <a:fillRect l="-201015" t="-752" r="-1015" b="-195489"/>
                      </a:stretch>
                    </a:blipFill>
                  </a:tcPr>
                </a:tc>
                <a:extLst>
                  <a:ext uri="{0D108BD9-81ED-4DB2-BD59-A6C34878D82A}">
                    <a16:rowId xmlns:a16="http://schemas.microsoft.com/office/drawing/2014/main" val="10000"/>
                  </a:ext>
                </a:extLst>
              </a:tr>
              <a:tr h="764356">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x</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 </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 </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1"/>
                  </a:ext>
                </a:extLst>
              </a:tr>
              <a:tr h="805954">
                <a:tc>
                  <a:txBody>
                    <a:bodyPr/>
                    <a:lstStyle/>
                    <a:p>
                      <a:endParaRPr lang="en-US"/>
                    </a:p>
                  </a:txBody>
                  <a:tcPr marL="68580" marR="68580" marT="0" marB="0" anchor="ctr">
                    <a:blipFill rotWithShape="0">
                      <a:blip r:embed="rId3"/>
                      <a:stretch>
                        <a:fillRect l="-508" t="-194737" r="-201523" b="-1504"/>
                      </a:stretch>
                    </a:blipFill>
                  </a:tcPr>
                </a:tc>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 </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3200">
                          <a:effectLst/>
                          <a:latin typeface="Arial" panose="020B0604020202020204" pitchFamily="34" charset="0"/>
                          <a:cs typeface="Arial" panose="020B0604020202020204" pitchFamily="34" charset="0"/>
                        </a:rPr>
                        <a:t> </a:t>
                      </a:r>
                      <a:endParaRPr lang="vi-VN" sz="3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5"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8"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9"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10</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par>
                          <p:cTn id="16" fill="hold" nodeType="afterGroup">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500"/>
                                        <p:tgtEl>
                                          <p:spTgt spid="6">
                                            <p:txEl>
                                              <p:pRg st="3" end="3"/>
                                            </p:txEl>
                                          </p:spTgt>
                                        </p:tgtEl>
                                      </p:cBhvr>
                                    </p:animEffect>
                                  </p:childTnLst>
                                </p:cTn>
                              </p:par>
                            </p:childTnLst>
                          </p:cTn>
                        </p:par>
                        <p:par>
                          <p:cTn id="20" fill="hold" nodeType="afterGroup">
                            <p:stCondLst>
                              <p:cond delay="2000"/>
                            </p:stCondLst>
                            <p:childTnLst>
                              <p:par>
                                <p:cTn id="21" presetID="1"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t>Karnaugh 2 biến</a:t>
            </a:r>
            <a:br>
              <a:rPr lang="en-US"/>
            </a:br>
            <a:endParaRPr lang="en-US"/>
          </a:p>
        </p:txBody>
      </p:sp>
      <mc:AlternateContent xmlns:mc="http://schemas.openxmlformats.org/markup-compatibility/2006" xmlns:a14="http://schemas.microsoft.com/office/drawing/2010/main">
        <mc:Choice Requires="a14">
          <p:sp>
            <p:nvSpPr>
              <p:cNvPr id="6" name="TextBox 5"/>
              <p:cNvSpPr txBox="1"/>
              <p:nvPr/>
            </p:nvSpPr>
            <p:spPr>
              <a:xfrm>
                <a:off x="304800" y="1638012"/>
                <a:ext cx="8316416" cy="523220"/>
              </a:xfrm>
              <a:prstGeom prst="rect">
                <a:avLst/>
              </a:prstGeom>
              <a:noFill/>
            </p:spPr>
            <p:txBody>
              <a:bodyPr wrap="square" rtlCol="0">
                <a:spAutoFit/>
              </a:bodyPr>
              <a:lstStyle/>
              <a:p>
                <a:r>
                  <a:rPr lang="en-US" sz="2800">
                    <a:solidFill>
                      <a:prstClr val="black"/>
                    </a:solidFill>
                    <a:latin typeface="Times New Roman" panose="02020603050405020304" pitchFamily="18" charset="0"/>
                    <a:cs typeface="Times New Roman" panose="02020603050405020304" pitchFamily="18" charset="0"/>
                  </a:rPr>
                  <a:t>Vd1: Tìm </a:t>
                </a:r>
                <a:r>
                  <a:rPr lang="en-US" sz="2800" err="1">
                    <a:solidFill>
                      <a:prstClr val="black"/>
                    </a:solidFill>
                    <a:latin typeface="Times New Roman" panose="02020603050405020304" pitchFamily="18" charset="0"/>
                    <a:cs typeface="Times New Roman" panose="02020603050405020304" pitchFamily="18" charset="0"/>
                  </a:rPr>
                  <a:t>bảng</a:t>
                </a:r>
                <a:r>
                  <a:rPr lang="en-US" sz="2800">
                    <a:solidFill>
                      <a:prstClr val="black"/>
                    </a:solidFill>
                    <a:latin typeface="Times New Roman" panose="02020603050405020304" pitchFamily="18" charset="0"/>
                    <a:cs typeface="Times New Roman" panose="02020603050405020304" pitchFamily="18" charset="0"/>
                  </a:rPr>
                  <a:t> </a:t>
                </a:r>
                <a:r>
                  <a:rPr lang="en-US" sz="2800" err="1">
                    <a:solidFill>
                      <a:prstClr val="black"/>
                    </a:solidFill>
                    <a:latin typeface="Times New Roman" panose="02020603050405020304" pitchFamily="18" charset="0"/>
                    <a:cs typeface="Times New Roman" panose="02020603050405020304" pitchFamily="18" charset="0"/>
                  </a:rPr>
                  <a:t>Karnaugh</a:t>
                </a:r>
                <a:r>
                  <a:rPr lang="en-US" sz="2800">
                    <a:solidFill>
                      <a:prstClr val="black"/>
                    </a:solidFill>
                    <a:latin typeface="Times New Roman" panose="02020603050405020304" pitchFamily="18" charset="0"/>
                    <a:cs typeface="Times New Roman" panose="02020603050405020304" pitchFamily="18" charset="0"/>
                  </a:rPr>
                  <a:t> </a:t>
                </a:r>
                <a:r>
                  <a:rPr lang="en-US" sz="2800" err="1">
                    <a:solidFill>
                      <a:prstClr val="black"/>
                    </a:solidFill>
                    <a:latin typeface="Times New Roman" panose="02020603050405020304" pitchFamily="18" charset="0"/>
                    <a:cs typeface="Times New Roman" panose="02020603050405020304" pitchFamily="18" charset="0"/>
                  </a:rPr>
                  <a:t>cho</a:t>
                </a:r>
                <a:r>
                  <a:rPr lang="en-US" sz="2800">
                    <a:solidFill>
                      <a:prstClr val="black"/>
                    </a:solidFill>
                    <a:latin typeface="Times New Roman" panose="02020603050405020304" pitchFamily="18" charset="0"/>
                    <a:cs typeface="Times New Roman" panose="02020603050405020304" pitchFamily="18" charset="0"/>
                  </a:rPr>
                  <a:t> 	F = </a:t>
                </a:r>
                <a14:m>
                  <m:oMath xmlns:m="http://schemas.openxmlformats.org/officeDocument/2006/math">
                    <m:r>
                      <a:rPr lang="en-US" sz="2800" i="1">
                        <a:solidFill>
                          <a:srgbClr val="FF0000"/>
                        </a:solidFill>
                        <a:latin typeface="Cambria Math"/>
                      </a:rPr>
                      <m:t>𝑥𝑦</m:t>
                    </m:r>
                    <m:r>
                      <a:rPr lang="en-US" sz="2800" i="1">
                        <a:solidFill>
                          <a:srgbClr val="FF0000"/>
                        </a:solidFill>
                        <a:latin typeface="Cambria Math"/>
                      </a:rPr>
                      <m:t>+</m:t>
                    </m:r>
                    <m:r>
                      <a:rPr lang="en-US" sz="2800" i="1">
                        <a:solidFill>
                          <a:srgbClr val="FF0000"/>
                        </a:solidFill>
                        <a:latin typeface="Cambria Math"/>
                      </a:rPr>
                      <m:t>𝑥</m:t>
                    </m:r>
                    <m:acc>
                      <m:accPr>
                        <m:chr m:val="̅"/>
                        <m:ctrlPr>
                          <a:rPr lang="vi-VN" sz="2800" i="1">
                            <a:solidFill>
                              <a:srgbClr val="FF0000"/>
                            </a:solidFill>
                            <a:latin typeface="Cambria Math" panose="02040503050406030204" pitchFamily="18" charset="0"/>
                          </a:rPr>
                        </m:ctrlPr>
                      </m:accPr>
                      <m:e>
                        <m:r>
                          <a:rPr lang="en-US" sz="2800" i="1">
                            <a:solidFill>
                              <a:srgbClr val="FF0000"/>
                            </a:solidFill>
                            <a:latin typeface="Cambria Math" panose="02040503050406030204" pitchFamily="18" charset="0"/>
                          </a:rPr>
                          <m:t>𝑦</m:t>
                        </m:r>
                      </m:e>
                    </m:acc>
                  </m:oMath>
                </a14:m>
                <a:endParaRPr lang="vi-VN" sz="280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04800" y="1638012"/>
                <a:ext cx="8316416" cy="523220"/>
              </a:xfrm>
              <a:prstGeom prst="rect">
                <a:avLst/>
              </a:prstGeom>
              <a:blipFill rotWithShape="0">
                <a:blip r:embed="rId3"/>
                <a:stretch>
                  <a:fillRect l="-1466"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234952246"/>
                  </p:ext>
                </p:extLst>
              </p:nvPr>
            </p:nvGraphicFramePr>
            <p:xfrm>
              <a:off x="1524000" y="2743200"/>
              <a:ext cx="4284474" cy="2808312"/>
            </p:xfrm>
            <a:graphic>
              <a:graphicData uri="http://schemas.openxmlformats.org/drawingml/2006/table">
                <a:tbl>
                  <a:tblPr bandRow="1">
                    <a:tableStyleId>{5940675A-B579-460E-94D1-54222C63F5DA}</a:tableStyleId>
                  </a:tblPr>
                  <a:tblGrid>
                    <a:gridCol w="1428158">
                      <a:extLst>
                        <a:ext uri="{9D8B030D-6E8A-4147-A177-3AD203B41FA5}">
                          <a16:colId xmlns:a16="http://schemas.microsoft.com/office/drawing/2014/main" val="20000"/>
                        </a:ext>
                      </a:extLst>
                    </a:gridCol>
                    <a:gridCol w="1428158">
                      <a:extLst>
                        <a:ext uri="{9D8B030D-6E8A-4147-A177-3AD203B41FA5}">
                          <a16:colId xmlns:a16="http://schemas.microsoft.com/office/drawing/2014/main" val="20001"/>
                        </a:ext>
                      </a:extLst>
                    </a:gridCol>
                    <a:gridCol w="1428158">
                      <a:extLst>
                        <a:ext uri="{9D8B030D-6E8A-4147-A177-3AD203B41FA5}">
                          <a16:colId xmlns:a16="http://schemas.microsoft.com/office/drawing/2014/main" val="20002"/>
                        </a:ext>
                      </a:extLst>
                    </a:gridCol>
                  </a:tblGrid>
                  <a:tr h="952491">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F</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y</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400" i="1" baseline="0">
                                        <a:latin typeface="Cambria Math" panose="02040503050406030204" pitchFamily="18" charset="0"/>
                                      </a:rPr>
                                    </m:ctrlPr>
                                  </m:accPr>
                                  <m:e>
                                    <m:r>
                                      <a:rPr lang="en-US" sz="2400" baseline="0">
                                        <a:latin typeface="Cambria Math" panose="02040503050406030204" pitchFamily="18" charset="0"/>
                                      </a:rPr>
                                      <m:t>𝑦</m:t>
                                    </m:r>
                                  </m:e>
                                </m:acc>
                              </m:oMath>
                            </m:oMathPara>
                          </a14:m>
                          <a:endParaRPr lang="vi-VN" sz="2400" baseline="0">
                            <a:latin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00"/>
                      </a:ext>
                    </a:extLst>
                  </a:tr>
                  <a:tr h="903330">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x</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1</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1</a:t>
                          </a:r>
                          <a:endParaRPr lang="vi-VN" sz="2400" baseline="0">
                            <a:latin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01"/>
                      </a:ext>
                    </a:extLst>
                  </a:tr>
                  <a:tr h="952491">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400" i="1" baseline="0">
                                        <a:latin typeface="Cambria Math" panose="02040503050406030204" pitchFamily="18" charset="0"/>
                                      </a:rPr>
                                    </m:ctrlPr>
                                  </m:accPr>
                                  <m:e>
                                    <m:r>
                                      <a:rPr lang="en-US" sz="2400" baseline="0">
                                        <a:latin typeface="Cambria Math" panose="02040503050406030204" pitchFamily="18" charset="0"/>
                                      </a:rPr>
                                      <m:t>𝑥</m:t>
                                    </m:r>
                                  </m:e>
                                </m:acc>
                              </m:oMath>
                            </m:oMathPara>
                          </a14:m>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endParaRPr lang="vi-VN" sz="2400" baseline="0">
                            <a:latin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234952246"/>
                  </p:ext>
                </p:extLst>
              </p:nvPr>
            </p:nvGraphicFramePr>
            <p:xfrm>
              <a:off x="1524000" y="2743200"/>
              <a:ext cx="4284474" cy="2808312"/>
            </p:xfrm>
            <a:graphic>
              <a:graphicData uri="http://schemas.openxmlformats.org/drawingml/2006/table">
                <a:tbl>
                  <a:tblPr bandRow="1">
                    <a:tableStyleId>{5940675A-B579-460E-94D1-54222C63F5DA}</a:tableStyleId>
                  </a:tblPr>
                  <a:tblGrid>
                    <a:gridCol w="1428158"/>
                    <a:gridCol w="1428158"/>
                    <a:gridCol w="1428158"/>
                  </a:tblGrid>
                  <a:tr h="952491">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r>
                            <a:rPr lang="en-US" sz="2400" baseline="0" smtClean="0">
                              <a:latin typeface="Arial" panose="020B0604020202020204" pitchFamily="34" charset="0"/>
                              <a:cs typeface="Arial" panose="020B0604020202020204" pitchFamily="34" charset="0"/>
                            </a:rPr>
                            <a:t>F</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smtClean="0">
                              <a:latin typeface="Arial" panose="020B0604020202020204" pitchFamily="34" charset="0"/>
                              <a:cs typeface="Arial" panose="020B0604020202020204" pitchFamily="34" charset="0"/>
                            </a:rPr>
                            <a:t>y</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endParaRPr lang="en-US"/>
                        </a:p>
                      </a:txBody>
                      <a:tcPr marL="68580" marR="68580" marT="0" marB="0" anchor="ctr">
                        <a:blipFill rotWithShape="0">
                          <a:blip r:embed="rId4"/>
                          <a:stretch>
                            <a:fillRect l="-201282" t="-1282" r="-855" b="-196795"/>
                          </a:stretch>
                        </a:blipFill>
                      </a:tcPr>
                    </a:tc>
                  </a:tr>
                  <a:tr h="903330">
                    <a:tc>
                      <a:txBody>
                        <a:bodyPr/>
                        <a:lstStyle/>
                        <a:p>
                          <a:pPr algn="ctr">
                            <a:lnSpc>
                              <a:spcPct val="115000"/>
                            </a:lnSpc>
                            <a:spcAft>
                              <a:spcPts val="0"/>
                            </a:spcAft>
                          </a:pPr>
                          <a:r>
                            <a:rPr lang="en-US" sz="2400" baseline="0" smtClean="0">
                              <a:latin typeface="Arial" panose="020B0604020202020204" pitchFamily="34" charset="0"/>
                              <a:cs typeface="Arial" panose="020B0604020202020204" pitchFamily="34" charset="0"/>
                            </a:rPr>
                            <a:t>x</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r>
                            <a:rPr lang="en-US" sz="2400" baseline="0" smtClean="0">
                              <a:latin typeface="Arial" panose="020B0604020202020204" pitchFamily="34" charset="0"/>
                              <a:cs typeface="Arial" panose="020B0604020202020204" pitchFamily="34" charset="0"/>
                            </a:rPr>
                            <a:t>1</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r>
                            <a:rPr lang="en-US" sz="2400" baseline="0" smtClean="0">
                              <a:latin typeface="Arial" panose="020B0604020202020204" pitchFamily="34" charset="0"/>
                              <a:cs typeface="Arial" panose="020B0604020202020204" pitchFamily="34" charset="0"/>
                            </a:rPr>
                            <a:t>1</a:t>
                          </a:r>
                          <a:endParaRPr lang="vi-VN" sz="2400" baseline="0">
                            <a:latin typeface="Arial" panose="020B0604020202020204" pitchFamily="34" charset="0"/>
                            <a:cs typeface="Arial" panose="020B0604020202020204" pitchFamily="34" charset="0"/>
                          </a:endParaRPr>
                        </a:p>
                      </a:txBody>
                      <a:tcPr marL="68580" marR="68580" marT="0" marB="0" anchor="ctr"/>
                    </a:tc>
                  </a:tr>
                  <a:tr h="952491">
                    <a:tc>
                      <a:txBody>
                        <a:bodyPr/>
                        <a:lstStyle/>
                        <a:p>
                          <a:endParaRPr lang="en-US"/>
                        </a:p>
                      </a:txBody>
                      <a:tcPr marL="68580" marR="68580" marT="0" marB="0" anchor="ctr">
                        <a:blipFill rotWithShape="0">
                          <a:blip r:embed="rId4"/>
                          <a:stretch>
                            <a:fillRect l="-855" t="-196795" r="-201282" b="-1282"/>
                          </a:stretch>
                        </a:blipFill>
                      </a:tcP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endParaRPr lang="vi-VN" sz="2400" baseline="0">
                            <a:latin typeface="Arial" panose="020B0604020202020204" pitchFamily="34" charset="0"/>
                            <a:cs typeface="Arial" panose="020B0604020202020204" pitchFamily="34" charset="0"/>
                          </a:endParaRPr>
                        </a:p>
                      </a:txBody>
                      <a:tcPr marL="68580" marR="68580" marT="0" marB="0" anchor="ctr"/>
                    </a:tc>
                    <a:tc>
                      <a:txBody>
                        <a:bodyPr/>
                        <a:lstStyle/>
                        <a:p>
                          <a:pPr algn="ctr">
                            <a:lnSpc>
                              <a:spcPct val="115000"/>
                            </a:lnSpc>
                            <a:spcAft>
                              <a:spcPts val="0"/>
                            </a:spcAft>
                          </a:pPr>
                          <a:r>
                            <a:rPr lang="en-US" sz="2400" baseline="0">
                              <a:latin typeface="Arial" panose="020B0604020202020204" pitchFamily="34" charset="0"/>
                              <a:cs typeface="Arial" panose="020B0604020202020204" pitchFamily="34" charset="0"/>
                            </a:rPr>
                            <a:t> </a:t>
                          </a:r>
                          <a:endParaRPr lang="vi-VN" sz="2400" baseline="0">
                            <a:latin typeface="Arial" panose="020B0604020202020204" pitchFamily="34" charset="0"/>
                            <a:cs typeface="Arial" panose="020B0604020202020204" pitchFamily="34" charset="0"/>
                          </a:endParaRPr>
                        </a:p>
                      </a:txBody>
                      <a:tcPr marL="68580" marR="68580" marT="0" marB="0" anchor="ctr"/>
                    </a:tc>
                  </a:tr>
                </a:tbl>
              </a:graphicData>
            </a:graphic>
          </p:graphicFrame>
        </mc:Fallback>
      </mc:AlternateContent>
      <p:sp>
        <p:nvSpPr>
          <p:cNvPr id="5"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8"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9"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11</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p:cNvSpPr txBox="1"/>
              <p:nvPr/>
            </p:nvSpPr>
            <p:spPr>
              <a:xfrm>
                <a:off x="0" y="1219200"/>
                <a:ext cx="8316416" cy="523220"/>
              </a:xfrm>
              <a:prstGeom prst="rect">
                <a:avLst/>
              </a:prstGeom>
              <a:noFill/>
            </p:spPr>
            <p:txBody>
              <a:bodyPr wrap="square" rtlCol="0">
                <a:spAutoFit/>
              </a:bodyPr>
              <a:lstStyle/>
              <a:p>
                <a:r>
                  <a:rPr lang="en-US" sz="2800">
                    <a:solidFill>
                      <a:prstClr val="black"/>
                    </a:solidFill>
                    <a:latin typeface="Times New Roman" panose="02020603050405020304" pitchFamily="18" charset="0"/>
                    <a:cs typeface="Times New Roman" panose="02020603050405020304" pitchFamily="18" charset="0"/>
                  </a:rPr>
                  <a:t>Vd2: </a:t>
                </a:r>
                <a:r>
                  <a:rPr lang="en-US" sz="2800" err="1">
                    <a:solidFill>
                      <a:prstClr val="black"/>
                    </a:solidFill>
                    <a:latin typeface="Times New Roman" panose="02020603050405020304" pitchFamily="18" charset="0"/>
                    <a:cs typeface="Times New Roman" panose="02020603050405020304" pitchFamily="18" charset="0"/>
                  </a:rPr>
                  <a:t>Tìm</a:t>
                </a:r>
                <a:r>
                  <a:rPr lang="en-US" sz="2800">
                    <a:solidFill>
                      <a:prstClr val="black"/>
                    </a:solidFill>
                    <a:latin typeface="Times New Roman" panose="02020603050405020304" pitchFamily="18" charset="0"/>
                    <a:cs typeface="Times New Roman" panose="02020603050405020304" pitchFamily="18" charset="0"/>
                  </a:rPr>
                  <a:t> bảng </a:t>
                </a:r>
                <a:r>
                  <a:rPr lang="en-US" sz="2800" err="1">
                    <a:solidFill>
                      <a:prstClr val="black"/>
                    </a:solidFill>
                    <a:latin typeface="Times New Roman" panose="02020603050405020304" pitchFamily="18" charset="0"/>
                    <a:cs typeface="Times New Roman" panose="02020603050405020304" pitchFamily="18" charset="0"/>
                  </a:rPr>
                  <a:t>Karnaugh</a:t>
                </a:r>
                <a:r>
                  <a:rPr lang="en-US" sz="2800">
                    <a:solidFill>
                      <a:prstClr val="black"/>
                    </a:solidFill>
                    <a:latin typeface="Times New Roman" panose="02020603050405020304" pitchFamily="18" charset="0"/>
                    <a:cs typeface="Times New Roman" panose="02020603050405020304" pitchFamily="18" charset="0"/>
                  </a:rPr>
                  <a:t> cho: 	A = </a:t>
                </a:r>
                <a14:m>
                  <m:oMath xmlns:m="http://schemas.openxmlformats.org/officeDocument/2006/math">
                    <m:r>
                      <a:rPr lang="en-US" sz="2800" i="1">
                        <a:solidFill>
                          <a:srgbClr val="FF0000"/>
                        </a:solidFill>
                        <a:latin typeface="Cambria Math"/>
                      </a:rPr>
                      <m:t>𝑥𝑦</m:t>
                    </m:r>
                    <m:r>
                      <a:rPr lang="en-US" sz="2800" i="1">
                        <a:solidFill>
                          <a:srgbClr val="FF0000"/>
                        </a:solidFill>
                        <a:latin typeface="Cambria Math"/>
                      </a:rPr>
                      <m:t>+</m:t>
                    </m:r>
                    <m:acc>
                      <m:accPr>
                        <m:chr m:val="̅"/>
                        <m:ctrlPr>
                          <a:rPr lang="vi-VN" sz="2800" i="1">
                            <a:solidFill>
                              <a:srgbClr val="FF0000"/>
                            </a:solidFill>
                            <a:latin typeface="Cambria Math" panose="02040503050406030204" pitchFamily="18" charset="0"/>
                          </a:rPr>
                        </m:ctrlPr>
                      </m:accPr>
                      <m:e>
                        <m:r>
                          <a:rPr lang="en-US" sz="2800" i="1">
                            <a:solidFill>
                              <a:srgbClr val="FF0000"/>
                            </a:solidFill>
                            <a:latin typeface="Cambria Math"/>
                          </a:rPr>
                          <m:t>𝑥</m:t>
                        </m:r>
                      </m:e>
                    </m:acc>
                    <m:r>
                      <a:rPr lang="en-US" sz="2800" i="1">
                        <a:solidFill>
                          <a:srgbClr val="FF0000"/>
                        </a:solidFill>
                        <a:latin typeface="Cambria Math"/>
                      </a:rPr>
                      <m:t>𝑦</m:t>
                    </m:r>
                    <m:r>
                      <a:rPr lang="en-US" sz="2800" i="1">
                        <a:solidFill>
                          <a:srgbClr val="FF0000"/>
                        </a:solidFill>
                        <a:latin typeface="Cambria Math"/>
                      </a:rPr>
                      <m:t>+</m:t>
                    </m:r>
                    <m:acc>
                      <m:accPr>
                        <m:chr m:val="̅"/>
                        <m:ctrlPr>
                          <a:rPr lang="vi-VN" sz="2800" i="1">
                            <a:solidFill>
                              <a:srgbClr val="FF0000"/>
                            </a:solidFill>
                            <a:latin typeface="Cambria Math" panose="02040503050406030204" pitchFamily="18" charset="0"/>
                          </a:rPr>
                        </m:ctrlPr>
                      </m:accPr>
                      <m:e>
                        <m:r>
                          <a:rPr lang="en-US" sz="2800" i="1">
                            <a:solidFill>
                              <a:srgbClr val="FF0000"/>
                            </a:solidFill>
                            <a:latin typeface="Cambria Math"/>
                          </a:rPr>
                          <m:t>𝑥</m:t>
                        </m:r>
                      </m:e>
                    </m:acc>
                    <m:acc>
                      <m:accPr>
                        <m:chr m:val="̅"/>
                        <m:ctrlPr>
                          <a:rPr lang="vi-VN" sz="2800" i="1">
                            <a:solidFill>
                              <a:srgbClr val="FF0000"/>
                            </a:solidFill>
                            <a:latin typeface="Cambria Math" panose="02040503050406030204" pitchFamily="18" charset="0"/>
                          </a:rPr>
                        </m:ctrlPr>
                      </m:accPr>
                      <m:e>
                        <m:r>
                          <a:rPr lang="en-US" sz="2800" i="1">
                            <a:solidFill>
                              <a:srgbClr val="FF0000"/>
                            </a:solidFill>
                            <a:latin typeface="Cambria Math"/>
                          </a:rPr>
                          <m:t>𝑦</m:t>
                        </m:r>
                      </m:e>
                    </m:acc>
                  </m:oMath>
                </a14:m>
                <a:endParaRPr lang="vi-VN" sz="2800">
                  <a:solidFill>
                    <a:srgbClr val="FF0000"/>
                  </a:solidFill>
                  <a:latin typeface="Times New Roman" panose="02020603050405020304" pitchFamily="18" charset="0"/>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0" y="1219200"/>
                <a:ext cx="8316416" cy="523220"/>
              </a:xfrm>
              <a:prstGeom prst="rect">
                <a:avLst/>
              </a:prstGeom>
              <a:blipFill rotWithShape="0">
                <a:blip r:embed="rId2"/>
                <a:stretch>
                  <a:fillRect l="-1466"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239342653"/>
                  </p:ext>
                </p:extLst>
              </p:nvPr>
            </p:nvGraphicFramePr>
            <p:xfrm>
              <a:off x="1600200" y="2514600"/>
              <a:ext cx="3600399" cy="2376264"/>
            </p:xfrm>
            <a:graphic>
              <a:graphicData uri="http://schemas.openxmlformats.org/drawingml/2006/table">
                <a:tbl>
                  <a:tblPr bandRow="1">
                    <a:tableStyleId>{5940675A-B579-460E-94D1-54222C63F5DA}</a:tableStyleId>
                  </a:tblPr>
                  <a:tblGrid>
                    <a:gridCol w="1200133">
                      <a:extLst>
                        <a:ext uri="{9D8B030D-6E8A-4147-A177-3AD203B41FA5}">
                          <a16:colId xmlns:a16="http://schemas.microsoft.com/office/drawing/2014/main" val="20000"/>
                        </a:ext>
                      </a:extLst>
                    </a:gridCol>
                    <a:gridCol w="1200133">
                      <a:extLst>
                        <a:ext uri="{9D8B030D-6E8A-4147-A177-3AD203B41FA5}">
                          <a16:colId xmlns:a16="http://schemas.microsoft.com/office/drawing/2014/main" val="20001"/>
                        </a:ext>
                      </a:extLst>
                    </a:gridCol>
                    <a:gridCol w="1200133">
                      <a:extLst>
                        <a:ext uri="{9D8B030D-6E8A-4147-A177-3AD203B41FA5}">
                          <a16:colId xmlns:a16="http://schemas.microsoft.com/office/drawing/2014/main" val="20002"/>
                        </a:ext>
                      </a:extLst>
                    </a:gridCol>
                  </a:tblGrid>
                  <a:tr h="805954">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y</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800" b="1" i="1" baseline="0">
                                        <a:latin typeface="Cambria Math" panose="02040503050406030204" pitchFamily="18" charset="0"/>
                                      </a:rPr>
                                    </m:ctrlPr>
                                  </m:accPr>
                                  <m:e>
                                    <m:r>
                                      <a:rPr lang="en-US" sz="2800" b="1" i="1" baseline="0">
                                        <a:latin typeface="Cambria Math" panose="02040503050406030204" pitchFamily="18" charset="0"/>
                                      </a:rPr>
                                      <m:t>𝒚</m:t>
                                    </m:r>
                                  </m:e>
                                </m:acc>
                              </m:oMath>
                            </m:oMathPara>
                          </a14:m>
                          <a:endParaRPr lang="vi-VN" sz="2800" b="1" baseline="0">
                            <a:latin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64356">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x</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1</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t>
                          </a:r>
                          <a:endParaRPr lang="vi-VN" sz="2800" b="1" baseline="0">
                            <a:latin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05954">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800" b="1" i="1" baseline="0">
                                        <a:latin typeface="Cambria Math" panose="02040503050406030204" pitchFamily="18" charset="0"/>
                                      </a:rPr>
                                    </m:ctrlPr>
                                  </m:accPr>
                                  <m:e>
                                    <m:r>
                                      <a:rPr lang="en-US" sz="2800" b="1" i="1" baseline="0">
                                        <a:latin typeface="Cambria Math" panose="02040503050406030204" pitchFamily="18" charset="0"/>
                                      </a:rPr>
                                      <m:t>𝒙</m:t>
                                    </m:r>
                                  </m:e>
                                </m:acc>
                              </m:oMath>
                            </m:oMathPara>
                          </a14:m>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1</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1</a:t>
                          </a:r>
                          <a:endParaRPr lang="vi-VN" sz="2800" b="1" baseline="0">
                            <a:latin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239342653"/>
                  </p:ext>
                </p:extLst>
              </p:nvPr>
            </p:nvGraphicFramePr>
            <p:xfrm>
              <a:off x="1600200" y="2514600"/>
              <a:ext cx="3600399" cy="2376264"/>
            </p:xfrm>
            <a:graphic>
              <a:graphicData uri="http://schemas.openxmlformats.org/drawingml/2006/table">
                <a:tbl>
                  <a:tblPr bandRow="1">
                    <a:tableStyleId>{5940675A-B579-460E-94D1-54222C63F5DA}</a:tableStyleId>
                  </a:tblPr>
                  <a:tblGrid>
                    <a:gridCol w="1200133"/>
                    <a:gridCol w="1200133"/>
                    <a:gridCol w="1200133"/>
                  </a:tblGrid>
                  <a:tr h="805954">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t>
                          </a:r>
                          <a:r>
                            <a:rPr lang="en-US" sz="2800" b="1" baseline="0" smtClean="0">
                              <a:latin typeface="Arial" panose="020B0604020202020204" pitchFamily="34" charset="0"/>
                              <a:cs typeface="Times New Roman" panose="02020603050405020304" pitchFamily="18" charset="0"/>
                            </a:rPr>
                            <a:t>A</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smtClean="0">
                              <a:latin typeface="Arial" panose="020B0604020202020204" pitchFamily="34" charset="0"/>
                              <a:cs typeface="Times New Roman" panose="02020603050405020304" pitchFamily="18" charset="0"/>
                            </a:rPr>
                            <a:t>y</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rotWithShape="0">
                          <a:blip r:embed="rId3"/>
                          <a:stretch>
                            <a:fillRect l="-201015" t="-752" r="-1015" b="-195489"/>
                          </a:stretch>
                        </a:blipFill>
                      </a:tcPr>
                    </a:tc>
                  </a:tr>
                  <a:tr h="764356">
                    <a:tc>
                      <a:txBody>
                        <a:bodyPr/>
                        <a:lstStyle/>
                        <a:p>
                          <a:pPr algn="ctr">
                            <a:lnSpc>
                              <a:spcPct val="115000"/>
                            </a:lnSpc>
                            <a:spcAft>
                              <a:spcPts val="0"/>
                            </a:spcAft>
                          </a:pPr>
                          <a:r>
                            <a:rPr lang="en-US" sz="2800" b="1" baseline="0" smtClean="0">
                              <a:latin typeface="Arial" panose="020B0604020202020204" pitchFamily="34" charset="0"/>
                              <a:cs typeface="Times New Roman" panose="02020603050405020304" pitchFamily="18" charset="0"/>
                            </a:rPr>
                            <a:t>x</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t>
                          </a:r>
                          <a:r>
                            <a:rPr lang="en-US" sz="2800" b="1" baseline="0" smtClean="0">
                              <a:latin typeface="Arial" panose="020B0604020202020204" pitchFamily="34" charset="0"/>
                              <a:cs typeface="Times New Roman" panose="02020603050405020304" pitchFamily="18" charset="0"/>
                            </a:rPr>
                            <a:t>1</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t>
                          </a:r>
                          <a:endParaRPr lang="vi-VN" sz="2800" b="1" baseline="0">
                            <a:latin typeface="Arial" panose="020B0604020202020204" pitchFamily="34" charset="0"/>
                            <a:cs typeface="Times New Roman" panose="02020603050405020304" pitchFamily="18" charset="0"/>
                          </a:endParaRPr>
                        </a:p>
                      </a:txBody>
                      <a:tcPr marL="68580" marR="68580" marT="0" marB="0" anchor="ctr"/>
                    </a:tc>
                  </a:tr>
                  <a:tr h="805954">
                    <a:tc>
                      <a:txBody>
                        <a:bodyPr/>
                        <a:lstStyle/>
                        <a:p>
                          <a:endParaRPr lang="en-US"/>
                        </a:p>
                      </a:txBody>
                      <a:tcPr marL="68580" marR="68580" marT="0" marB="0" anchor="ctr">
                        <a:blipFill rotWithShape="0">
                          <a:blip r:embed="rId3"/>
                          <a:stretch>
                            <a:fillRect l="-508" t="-194737" r="-201523" b="-1504"/>
                          </a:stretch>
                        </a:blipFill>
                      </a:tcP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t>
                          </a:r>
                          <a:r>
                            <a:rPr lang="en-US" sz="2800" b="1" baseline="0" smtClean="0">
                              <a:latin typeface="Arial" panose="020B0604020202020204" pitchFamily="34" charset="0"/>
                              <a:cs typeface="Times New Roman" panose="02020603050405020304" pitchFamily="18" charset="0"/>
                            </a:rPr>
                            <a:t>1</a:t>
                          </a:r>
                          <a:endParaRPr lang="vi-VN" sz="2800" b="1" baseline="0">
                            <a:latin typeface="Arial" panose="020B06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800" b="1" baseline="0">
                              <a:latin typeface="Arial" panose="020B0604020202020204" pitchFamily="34" charset="0"/>
                              <a:cs typeface="Times New Roman" panose="02020603050405020304" pitchFamily="18" charset="0"/>
                            </a:rPr>
                            <a:t> </a:t>
                          </a:r>
                          <a:r>
                            <a:rPr lang="en-US" sz="2800" b="1" baseline="0" smtClean="0">
                              <a:latin typeface="Arial" panose="020B0604020202020204" pitchFamily="34" charset="0"/>
                              <a:cs typeface="Times New Roman" panose="02020603050405020304" pitchFamily="18" charset="0"/>
                            </a:rPr>
                            <a:t>1</a:t>
                          </a:r>
                          <a:endParaRPr lang="vi-VN" sz="2800" b="1" baseline="0">
                            <a:latin typeface="Arial" panose="020B0604020202020204" pitchFamily="34" charset="0"/>
                            <a:cs typeface="Times New Roman" panose="02020603050405020304" pitchFamily="18" charset="0"/>
                          </a:endParaRPr>
                        </a:p>
                      </a:txBody>
                      <a:tcPr marL="68580" marR="68580" marT="0" marB="0" anchor="ctr"/>
                    </a:tc>
                  </a:tr>
                </a:tbl>
              </a:graphicData>
            </a:graphic>
          </p:graphicFrame>
        </mc:Fallback>
      </mc:AlternateContent>
      <p:sp>
        <p:nvSpPr>
          <p:cNvPr id="4"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12</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Box 3"/>
          <p:cNvSpPr txBox="1">
            <a:spLocks noChangeArrowheads="1"/>
          </p:cNvSpPr>
          <p:nvPr/>
        </p:nvSpPr>
        <p:spPr bwMode="auto">
          <a:xfrm>
            <a:off x="762000" y="74907"/>
            <a:ext cx="3816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sz="2800">
                <a:solidFill>
                  <a:schemeClr val="accent1"/>
                </a:solidFill>
                <a:latin typeface="Times New Roman" panose="02020603050405020304" pitchFamily="18" charset="0"/>
                <a:cs typeface="Times New Roman" panose="02020603050405020304" pitchFamily="18" charset="0"/>
              </a:rPr>
              <a:t>Gom nhóm:</a:t>
            </a:r>
          </a:p>
        </p:txBody>
      </p:sp>
      <mc:AlternateContent xmlns:mc="http://schemas.openxmlformats.org/markup-compatibility/2006" xmlns:a14="http://schemas.microsoft.com/office/drawing/2010/main">
        <mc:Choice Requires="a14">
          <p:sp>
            <p:nvSpPr>
              <p:cNvPr id="7" name="TextBox 6"/>
              <p:cNvSpPr txBox="1"/>
              <p:nvPr/>
            </p:nvSpPr>
            <p:spPr>
              <a:xfrm>
                <a:off x="1089649" y="2742849"/>
                <a:ext cx="4091951" cy="523220"/>
              </a:xfrm>
              <a:prstGeom prst="rect">
                <a:avLst/>
              </a:prstGeom>
              <a:noFill/>
            </p:spPr>
            <p:txBody>
              <a:bodyPr wrap="square" rtlCol="0">
                <a:spAutoFit/>
              </a:bodyPr>
              <a:lstStyle/>
              <a:p>
                <a:r>
                  <a:rPr lang="en-US" sz="2800" dirty="0">
                    <a:solidFill>
                      <a:prstClr val="black"/>
                    </a:solidFill>
                    <a:latin typeface="Times New Roman" panose="02020603050405020304" pitchFamily="18" charset="0"/>
                    <a:cs typeface="Times New Roman" panose="02020603050405020304" pitchFamily="18" charset="0"/>
                  </a:rPr>
                  <a:t>Ví </a:t>
                </a:r>
                <a:r>
                  <a:rPr lang="en-US" sz="2800" dirty="0" err="1">
                    <a:solidFill>
                      <a:prstClr val="black"/>
                    </a:solidFill>
                    <a:latin typeface="Times New Roman" panose="02020603050405020304" pitchFamily="18" charset="0"/>
                    <a:cs typeface="Times New Roman" panose="02020603050405020304" pitchFamily="18" charset="0"/>
                  </a:rPr>
                  <a:t>dụ</a:t>
                </a:r>
                <a:r>
                  <a:rPr lang="en-US" sz="2800" dirty="0">
                    <a:solidFill>
                      <a:prstClr val="black"/>
                    </a:solidFill>
                    <a:latin typeface="Times New Roman" panose="02020603050405020304" pitchFamily="18" charset="0"/>
                    <a:cs typeface="Times New Roman" panose="02020603050405020304" pitchFamily="18" charset="0"/>
                  </a:rPr>
                  <a:t>: F = </a:t>
                </a:r>
                <a14:m>
                  <m:oMath xmlns:m="http://schemas.openxmlformats.org/officeDocument/2006/math">
                    <m:r>
                      <a:rPr lang="en-US" sz="2800" i="1">
                        <a:solidFill>
                          <a:prstClr val="black"/>
                        </a:solidFill>
                        <a:latin typeface="Cambria Math" panose="02040503050406030204" pitchFamily="18" charset="0"/>
                      </a:rPr>
                      <m:t>𝑥𝑦</m:t>
                    </m:r>
                    <m:r>
                      <a:rPr lang="en-US" sz="2800" i="1">
                        <a:solidFill>
                          <a:prstClr val="black"/>
                        </a:solidFill>
                        <a:latin typeface="Cambria Math" panose="02040503050406030204" pitchFamily="18" charset="0"/>
                      </a:rPr>
                      <m:t>+</m:t>
                    </m:r>
                    <m:r>
                      <a:rPr lang="en-US" sz="2800" i="1">
                        <a:solidFill>
                          <a:prstClr val="black"/>
                        </a:solidFill>
                        <a:latin typeface="Cambria Math" panose="02040503050406030204" pitchFamily="18" charset="0"/>
                      </a:rPr>
                      <m:t>𝑥</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panose="02040503050406030204" pitchFamily="18" charset="0"/>
                          </a:rPr>
                          <m:t>𝑦</m:t>
                        </m:r>
                      </m:e>
                    </m:acc>
                    <m:r>
                      <a:rPr lang="en-US" sz="2800" b="0" i="1" smtClean="0">
                        <a:solidFill>
                          <a:prstClr val="black"/>
                        </a:solidFill>
                        <a:latin typeface="Cambria Math" panose="02040503050406030204" pitchFamily="18" charset="0"/>
                      </a:rPr>
                      <m:t>=</m:t>
                    </m:r>
                    <m:r>
                      <a:rPr lang="en-US" sz="2800" b="0" i="1" smtClean="0">
                        <a:solidFill>
                          <a:prstClr val="black"/>
                        </a:solidFill>
                        <a:latin typeface="Cambria Math" panose="02040503050406030204" pitchFamily="18" charset="0"/>
                      </a:rPr>
                      <m:t>𝑥</m:t>
                    </m:r>
                  </m:oMath>
                </a14:m>
                <a:endParaRPr lang="vi-VN" sz="28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089649" y="2742849"/>
                <a:ext cx="4091951" cy="523220"/>
              </a:xfrm>
              <a:prstGeom prst="rect">
                <a:avLst/>
              </a:prstGeom>
              <a:blipFill>
                <a:blip r:embed="rId2"/>
                <a:stretch>
                  <a:fillRect l="-3130"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2952363448"/>
                  </p:ext>
                </p:extLst>
              </p:nvPr>
            </p:nvGraphicFramePr>
            <p:xfrm>
              <a:off x="977951" y="3581400"/>
              <a:ext cx="3600399" cy="2376264"/>
            </p:xfrm>
            <a:graphic>
              <a:graphicData uri="http://schemas.openxmlformats.org/drawingml/2006/table">
                <a:tbl>
                  <a:tblPr bandRow="1">
                    <a:tableStyleId>{5940675A-B579-460E-94D1-54222C63F5DA}</a:tableStyleId>
                  </a:tblPr>
                  <a:tblGrid>
                    <a:gridCol w="1200133">
                      <a:extLst>
                        <a:ext uri="{9D8B030D-6E8A-4147-A177-3AD203B41FA5}">
                          <a16:colId xmlns:a16="http://schemas.microsoft.com/office/drawing/2014/main" val="20000"/>
                        </a:ext>
                      </a:extLst>
                    </a:gridCol>
                    <a:gridCol w="1200133">
                      <a:extLst>
                        <a:ext uri="{9D8B030D-6E8A-4147-A177-3AD203B41FA5}">
                          <a16:colId xmlns:a16="http://schemas.microsoft.com/office/drawing/2014/main" val="20001"/>
                        </a:ext>
                      </a:extLst>
                    </a:gridCol>
                    <a:gridCol w="1200133">
                      <a:extLst>
                        <a:ext uri="{9D8B030D-6E8A-4147-A177-3AD203B41FA5}">
                          <a16:colId xmlns:a16="http://schemas.microsoft.com/office/drawing/2014/main" val="20002"/>
                        </a:ext>
                      </a:extLst>
                    </a:gridCol>
                  </a:tblGrid>
                  <a:tr h="805954">
                    <a:tc>
                      <a:txBody>
                        <a:bodyPr/>
                        <a:lstStyle/>
                        <a:p>
                          <a:pPr algn="ctr">
                            <a:lnSpc>
                              <a:spcPct val="115000"/>
                            </a:lnSpc>
                            <a:spcAft>
                              <a:spcPts val="0"/>
                            </a:spcAft>
                          </a:pPr>
                          <a:r>
                            <a:rPr lang="en-US"/>
                            <a:t>F </a:t>
                          </a:r>
                          <a:endParaRPr lang="vi-VN"/>
                        </a:p>
                      </a:txBody>
                      <a:tcPr marL="68580" marR="68580" marT="0" marB="0" anchor="ctr"/>
                    </a:tc>
                    <a:tc>
                      <a:txBody>
                        <a:bodyPr/>
                        <a:lstStyle/>
                        <a:p>
                          <a:pPr algn="ctr">
                            <a:lnSpc>
                              <a:spcPct val="115000"/>
                            </a:lnSpc>
                            <a:spcAft>
                              <a:spcPts val="0"/>
                            </a:spcAft>
                          </a:pPr>
                          <a:r>
                            <a:rPr lang="en-US"/>
                            <a:t>y</a:t>
                          </a:r>
                          <a:endParaRPr lang="vi-VN"/>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i="1">
                                        <a:latin typeface="Cambria Math" panose="02040503050406030204" pitchFamily="18" charset="0"/>
                                      </a:rPr>
                                    </m:ctrlPr>
                                  </m:accPr>
                                  <m:e>
                                    <m:r>
                                      <a:rPr lang="en-US">
                                        <a:latin typeface="Cambria Math" panose="02040503050406030204" pitchFamily="18" charset="0"/>
                                      </a:rPr>
                                      <m:t>𝑦</m:t>
                                    </m:r>
                                  </m:e>
                                </m:acc>
                              </m:oMath>
                            </m:oMathPara>
                          </a14:m>
                          <a:endParaRPr lang="vi-VN"/>
                        </a:p>
                      </a:txBody>
                      <a:tcPr marL="68580" marR="68580" marT="0" marB="0" anchor="ctr"/>
                    </a:tc>
                    <a:extLst>
                      <a:ext uri="{0D108BD9-81ED-4DB2-BD59-A6C34878D82A}">
                        <a16:rowId xmlns:a16="http://schemas.microsoft.com/office/drawing/2014/main" val="10000"/>
                      </a:ext>
                    </a:extLst>
                  </a:tr>
                  <a:tr h="764356">
                    <a:tc>
                      <a:txBody>
                        <a:bodyPr/>
                        <a:lstStyle/>
                        <a:p>
                          <a:pPr algn="ctr">
                            <a:lnSpc>
                              <a:spcPct val="115000"/>
                            </a:lnSpc>
                            <a:spcAft>
                              <a:spcPts val="0"/>
                            </a:spcAft>
                          </a:pPr>
                          <a:r>
                            <a:rPr lang="en-US"/>
                            <a:t>x</a:t>
                          </a:r>
                          <a:endParaRPr lang="vi-VN"/>
                        </a:p>
                      </a:txBody>
                      <a:tcPr marL="68580" marR="68580" marT="0" marB="0" anchor="ctr"/>
                    </a:tc>
                    <a:tc>
                      <a:txBody>
                        <a:bodyPr/>
                        <a:lstStyle/>
                        <a:p>
                          <a:pPr algn="ctr">
                            <a:lnSpc>
                              <a:spcPct val="115000"/>
                            </a:lnSpc>
                            <a:spcAft>
                              <a:spcPts val="0"/>
                            </a:spcAft>
                          </a:pPr>
                          <a:r>
                            <a:rPr lang="en-US"/>
                            <a:t> 1</a:t>
                          </a:r>
                          <a:endParaRPr lang="vi-VN"/>
                        </a:p>
                      </a:txBody>
                      <a:tcPr marL="68580" marR="68580" marT="0" marB="0" anchor="ctr"/>
                    </a:tc>
                    <a:tc>
                      <a:txBody>
                        <a:bodyPr/>
                        <a:lstStyle/>
                        <a:p>
                          <a:pPr algn="ctr">
                            <a:lnSpc>
                              <a:spcPct val="115000"/>
                            </a:lnSpc>
                            <a:spcAft>
                              <a:spcPts val="0"/>
                            </a:spcAft>
                          </a:pPr>
                          <a:r>
                            <a:rPr lang="en-US"/>
                            <a:t> 1</a:t>
                          </a:r>
                          <a:endParaRPr lang="vi-VN"/>
                        </a:p>
                      </a:txBody>
                      <a:tcPr marL="68580" marR="68580" marT="0" marB="0" anchor="ctr"/>
                    </a:tc>
                    <a:extLst>
                      <a:ext uri="{0D108BD9-81ED-4DB2-BD59-A6C34878D82A}">
                        <a16:rowId xmlns:a16="http://schemas.microsoft.com/office/drawing/2014/main" val="10001"/>
                      </a:ext>
                    </a:extLst>
                  </a:tr>
                  <a:tr h="805954">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i="1">
                                        <a:latin typeface="Cambria Math" panose="02040503050406030204" pitchFamily="18" charset="0"/>
                                      </a:rPr>
                                    </m:ctrlPr>
                                  </m:accPr>
                                  <m:e>
                                    <m:r>
                                      <a:rPr lang="en-US">
                                        <a:latin typeface="Cambria Math" panose="02040503050406030204" pitchFamily="18" charset="0"/>
                                      </a:rPr>
                                      <m:t>𝑥</m:t>
                                    </m:r>
                                  </m:e>
                                </m:acc>
                              </m:oMath>
                            </m:oMathPara>
                          </a14:m>
                          <a:endParaRPr lang="vi-VN"/>
                        </a:p>
                      </a:txBody>
                      <a:tcPr marL="68580" marR="68580" marT="0" marB="0" anchor="ctr"/>
                    </a:tc>
                    <a:tc>
                      <a:txBody>
                        <a:bodyPr/>
                        <a:lstStyle/>
                        <a:p>
                          <a:pPr algn="ctr">
                            <a:lnSpc>
                              <a:spcPct val="115000"/>
                            </a:lnSpc>
                            <a:spcAft>
                              <a:spcPts val="0"/>
                            </a:spcAft>
                          </a:pPr>
                          <a:r>
                            <a:rPr lang="en-US"/>
                            <a:t> </a:t>
                          </a:r>
                          <a:endParaRPr lang="vi-VN"/>
                        </a:p>
                      </a:txBody>
                      <a:tcPr marL="68580" marR="68580" marT="0" marB="0" anchor="ctr"/>
                    </a:tc>
                    <a:tc>
                      <a:txBody>
                        <a:bodyPr/>
                        <a:lstStyle/>
                        <a:p>
                          <a:pPr algn="ctr">
                            <a:lnSpc>
                              <a:spcPct val="115000"/>
                            </a:lnSpc>
                            <a:spcAft>
                              <a:spcPts val="0"/>
                            </a:spcAft>
                          </a:pPr>
                          <a:r>
                            <a:rPr lang="en-US"/>
                            <a:t> </a:t>
                          </a:r>
                          <a:endParaRPr lang="vi-VN"/>
                        </a:p>
                      </a:txBody>
                      <a:tcPr marL="68580" marR="68580" marT="0" marB="0" anchor="ctr"/>
                    </a:tc>
                    <a:extLst>
                      <a:ext uri="{0D108BD9-81ED-4DB2-BD59-A6C34878D82A}">
                        <a16:rowId xmlns:a16="http://schemas.microsoft.com/office/drawing/2014/main" val="10002"/>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2952363448"/>
                  </p:ext>
                </p:extLst>
              </p:nvPr>
            </p:nvGraphicFramePr>
            <p:xfrm>
              <a:off x="977951" y="3581400"/>
              <a:ext cx="3600399" cy="2376264"/>
            </p:xfrm>
            <a:graphic>
              <a:graphicData uri="http://schemas.openxmlformats.org/drawingml/2006/table">
                <a:tbl>
                  <a:tblPr bandRow="1">
                    <a:tableStyleId>{5940675A-B579-460E-94D1-54222C63F5DA}</a:tableStyleId>
                  </a:tblPr>
                  <a:tblGrid>
                    <a:gridCol w="1200133"/>
                    <a:gridCol w="1200133"/>
                    <a:gridCol w="1200133"/>
                  </a:tblGrid>
                  <a:tr h="805954">
                    <a:tc>
                      <a:txBody>
                        <a:bodyPr/>
                        <a:lstStyle/>
                        <a:p>
                          <a:pPr algn="ctr">
                            <a:lnSpc>
                              <a:spcPct val="115000"/>
                            </a:lnSpc>
                            <a:spcAft>
                              <a:spcPts val="0"/>
                            </a:spcAft>
                          </a:pPr>
                          <a:r>
                            <a:rPr lang="en-US" smtClean="0"/>
                            <a:t>F</a:t>
                          </a:r>
                          <a:r>
                            <a:rPr lang="en-US"/>
                            <a:t> </a:t>
                          </a:r>
                          <a:endParaRPr lang="vi-VN"/>
                        </a:p>
                      </a:txBody>
                      <a:tcPr marL="68580" marR="68580" marT="0" marB="0" anchor="ctr"/>
                    </a:tc>
                    <a:tc>
                      <a:txBody>
                        <a:bodyPr/>
                        <a:lstStyle/>
                        <a:p>
                          <a:pPr algn="ctr">
                            <a:lnSpc>
                              <a:spcPct val="115000"/>
                            </a:lnSpc>
                            <a:spcAft>
                              <a:spcPts val="0"/>
                            </a:spcAft>
                          </a:pPr>
                          <a:r>
                            <a:rPr lang="en-US" smtClean="0"/>
                            <a:t>y</a:t>
                          </a:r>
                          <a:endParaRPr lang="vi-VN"/>
                        </a:p>
                      </a:txBody>
                      <a:tcPr marL="68580" marR="68580" marT="0" marB="0" anchor="ctr"/>
                    </a:tc>
                    <a:tc>
                      <a:txBody>
                        <a:bodyPr/>
                        <a:lstStyle/>
                        <a:p>
                          <a:endParaRPr lang="en-US"/>
                        </a:p>
                      </a:txBody>
                      <a:tcPr marL="68580" marR="68580" marT="0" marB="0" anchor="ctr">
                        <a:blipFill rotWithShape="0">
                          <a:blip r:embed="rId3"/>
                          <a:stretch>
                            <a:fillRect l="-201015" t="-752" r="-1015" b="-195489"/>
                          </a:stretch>
                        </a:blipFill>
                      </a:tcPr>
                    </a:tc>
                  </a:tr>
                  <a:tr h="764356">
                    <a:tc>
                      <a:txBody>
                        <a:bodyPr/>
                        <a:lstStyle/>
                        <a:p>
                          <a:pPr algn="ctr">
                            <a:lnSpc>
                              <a:spcPct val="115000"/>
                            </a:lnSpc>
                            <a:spcAft>
                              <a:spcPts val="0"/>
                            </a:spcAft>
                          </a:pPr>
                          <a:r>
                            <a:rPr lang="en-US" smtClean="0"/>
                            <a:t>x</a:t>
                          </a:r>
                          <a:endParaRPr lang="vi-VN"/>
                        </a:p>
                      </a:txBody>
                      <a:tcPr marL="68580" marR="68580" marT="0" marB="0" anchor="ctr"/>
                    </a:tc>
                    <a:tc>
                      <a:txBody>
                        <a:bodyPr/>
                        <a:lstStyle/>
                        <a:p>
                          <a:pPr algn="ctr">
                            <a:lnSpc>
                              <a:spcPct val="115000"/>
                            </a:lnSpc>
                            <a:spcAft>
                              <a:spcPts val="0"/>
                            </a:spcAft>
                          </a:pPr>
                          <a:r>
                            <a:rPr lang="en-US"/>
                            <a:t> </a:t>
                          </a:r>
                          <a:r>
                            <a:rPr lang="en-US" smtClean="0"/>
                            <a:t>1</a:t>
                          </a:r>
                          <a:endParaRPr lang="vi-VN"/>
                        </a:p>
                      </a:txBody>
                      <a:tcPr marL="68580" marR="68580" marT="0" marB="0" anchor="ctr"/>
                    </a:tc>
                    <a:tc>
                      <a:txBody>
                        <a:bodyPr/>
                        <a:lstStyle/>
                        <a:p>
                          <a:pPr algn="ctr">
                            <a:lnSpc>
                              <a:spcPct val="115000"/>
                            </a:lnSpc>
                            <a:spcAft>
                              <a:spcPts val="0"/>
                            </a:spcAft>
                          </a:pPr>
                          <a:r>
                            <a:rPr lang="en-US"/>
                            <a:t> </a:t>
                          </a:r>
                          <a:r>
                            <a:rPr lang="en-US" smtClean="0"/>
                            <a:t>1</a:t>
                          </a:r>
                          <a:endParaRPr lang="vi-VN"/>
                        </a:p>
                      </a:txBody>
                      <a:tcPr marL="68580" marR="68580" marT="0" marB="0" anchor="ctr"/>
                    </a:tc>
                  </a:tr>
                  <a:tr h="805954">
                    <a:tc>
                      <a:txBody>
                        <a:bodyPr/>
                        <a:lstStyle/>
                        <a:p>
                          <a:endParaRPr lang="en-US"/>
                        </a:p>
                      </a:txBody>
                      <a:tcPr marL="68580" marR="68580" marT="0" marB="0" anchor="ctr">
                        <a:blipFill rotWithShape="0">
                          <a:blip r:embed="rId3"/>
                          <a:stretch>
                            <a:fillRect l="-508" t="-194737" r="-201523" b="-1504"/>
                          </a:stretch>
                        </a:blipFill>
                      </a:tcPr>
                    </a:tc>
                    <a:tc>
                      <a:txBody>
                        <a:bodyPr/>
                        <a:lstStyle/>
                        <a:p>
                          <a:pPr algn="ctr">
                            <a:lnSpc>
                              <a:spcPct val="115000"/>
                            </a:lnSpc>
                            <a:spcAft>
                              <a:spcPts val="0"/>
                            </a:spcAft>
                          </a:pPr>
                          <a:r>
                            <a:rPr lang="en-US"/>
                            <a:t> </a:t>
                          </a:r>
                          <a:endParaRPr lang="vi-VN"/>
                        </a:p>
                      </a:txBody>
                      <a:tcPr marL="68580" marR="68580" marT="0" marB="0" anchor="ctr"/>
                    </a:tc>
                    <a:tc>
                      <a:txBody>
                        <a:bodyPr/>
                        <a:lstStyle/>
                        <a:p>
                          <a:pPr algn="ctr">
                            <a:lnSpc>
                              <a:spcPct val="115000"/>
                            </a:lnSpc>
                            <a:spcAft>
                              <a:spcPts val="0"/>
                            </a:spcAft>
                          </a:pPr>
                          <a:r>
                            <a:rPr lang="en-US"/>
                            <a:t> </a:t>
                          </a:r>
                          <a:endParaRPr lang="vi-VN"/>
                        </a:p>
                      </a:txBody>
                      <a:tcPr marL="68580" marR="68580" marT="0" marB="0" anchor="ctr"/>
                    </a:tc>
                  </a:tr>
                </a:tbl>
              </a:graphicData>
            </a:graphic>
          </p:graphicFrame>
        </mc:Fallback>
      </mc:AlternateContent>
      <mc:AlternateContent xmlns:mc="http://schemas.openxmlformats.org/markup-compatibility/2006" xmlns:a14="http://schemas.microsoft.com/office/drawing/2010/main">
        <mc:Choice Requires="a14">
          <p:sp>
            <p:nvSpPr>
              <p:cNvPr id="11" name="Rectangle 10"/>
              <p:cNvSpPr/>
              <p:nvPr/>
            </p:nvSpPr>
            <p:spPr>
              <a:xfrm>
                <a:off x="0" y="882147"/>
                <a:ext cx="7518400" cy="1815882"/>
              </a:xfrm>
              <a:prstGeom prst="rect">
                <a:avLst/>
              </a:prstGeom>
            </p:spPr>
            <p:txBody>
              <a:bodyPr wrap="square">
                <a:spAutoFit/>
              </a:bodyPr>
              <a:lstStyle/>
              <a:p>
                <a:pPr marL="342900"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Từ bảng Karnaugh </a:t>
                </a:r>
                <a:r>
                  <a:rPr lang="en-US" sz="2800">
                    <a:latin typeface="Times New Roman" panose="02020603050405020304" pitchFamily="18" charset="0"/>
                    <a:cs typeface="Times New Roman" panose="02020603050405020304" pitchFamily="18" charset="0"/>
                    <a:sym typeface="Wingdings" panose="05000000000000000000" pitchFamily="2" charset="2"/>
                  </a:rPr>
                  <a:t></a:t>
                </a:r>
                <a:r>
                  <a:rPr lang="en-US" sz="2800">
                    <a:latin typeface="Times New Roman" panose="02020603050405020304" pitchFamily="18" charset="0"/>
                    <a:cs typeface="Times New Roman" panose="02020603050405020304" pitchFamily="18" charset="0"/>
                  </a:rPr>
                  <a:t> Tổ hợp các tiểu hạng mang biểu diễn là số 1.</a:t>
                </a:r>
                <a:endParaRPr lang="vi-VN"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Các tổ hợp được gom phải là khối khả dĩ lớn nhất và số ô là </a:t>
                </a:r>
                <a14:m>
                  <m:oMath xmlns:m="http://schemas.openxmlformats.org/officeDocument/2006/math">
                    <m:sSup>
                      <m:sSupPr>
                        <m:ctrlPr>
                          <a:rPr lang="en-US" sz="2800" i="1">
                            <a:latin typeface="Cambria Math" panose="02040503050406030204" pitchFamily="18" charset="0"/>
                          </a:rPr>
                        </m:ctrlPr>
                      </m:sSupPr>
                      <m:e>
                        <m:r>
                          <a:rPr lang="en-US" sz="2800" i="1">
                            <a:latin typeface="Cambria Math"/>
                          </a:rPr>
                          <m:t>2</m:t>
                        </m:r>
                      </m:e>
                      <m:sup>
                        <m:r>
                          <a:rPr lang="en-US" sz="2800" i="1">
                            <a:latin typeface="Cambria Math" panose="02040503050406030204" pitchFamily="18" charset="0"/>
                          </a:rPr>
                          <m:t>𝑛</m:t>
                        </m:r>
                      </m:sup>
                    </m:sSup>
                  </m:oMath>
                </a14:m>
                <a:r>
                  <a:rPr lang="en-US" sz="2800">
                    <a:solidFill>
                      <a:prstClr val="black"/>
                    </a:solidFill>
                    <a:latin typeface="Times New Roman" panose="02020603050405020304" pitchFamily="18" charset="0"/>
                    <a:cs typeface="Times New Roman" panose="02020603050405020304" pitchFamily="18" charset="0"/>
                  </a:rPr>
                  <a:t> , với n = 1, 2.</a:t>
                </a:r>
                <a:endParaRPr lang="vi-VN" sz="2800">
                  <a:latin typeface="Times New Roman" panose="02020603050405020304" pitchFamily="18" charset="0"/>
                  <a:cs typeface="Times New Roman" panose="02020603050405020304" pitchFamily="18"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0" y="882147"/>
                <a:ext cx="7518400" cy="1815882"/>
              </a:xfrm>
              <a:prstGeom prst="rect">
                <a:avLst/>
              </a:prstGeom>
              <a:blipFill rotWithShape="0">
                <a:blip r:embed="rId4"/>
                <a:stretch>
                  <a:fillRect l="-1460" t="-4027" b="-8389"/>
                </a:stretch>
              </a:blipFill>
            </p:spPr>
            <p:txBody>
              <a:bodyPr/>
              <a:lstStyle/>
              <a:p>
                <a:r>
                  <a:rPr lang="en-US">
                    <a:noFill/>
                  </a:rPr>
                  <a:t> </a:t>
                </a:r>
              </a:p>
            </p:txBody>
          </p:sp>
        </mc:Fallback>
      </mc:AlternateContent>
      <p:sp>
        <p:nvSpPr>
          <p:cNvPr id="6"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8"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9" name="Slide Number Placeholder 6"/>
          <p:cNvSpPr>
            <a:spLocks noGrp="1"/>
          </p:cNvSpPr>
          <p:nvPr>
            <p:ph type="sldNum" sz="quarter" idx="12"/>
          </p:nvPr>
        </p:nvSpPr>
        <p:spPr>
          <a:xfrm>
            <a:off x="7848600" y="6492874"/>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13</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1066799" y="990600"/>
                <a:ext cx="4163017" cy="523220"/>
              </a:xfrm>
              <a:prstGeom prst="rect">
                <a:avLst/>
              </a:prstGeom>
              <a:noFill/>
            </p:spPr>
            <p:txBody>
              <a:bodyPr wrap="square" rtlCol="0">
                <a:spAutoFit/>
              </a:bodyPr>
              <a:lstStyle/>
              <a:p>
                <a:r>
                  <a:rPr lang="en-US" sz="2800" dirty="0" err="1">
                    <a:solidFill>
                      <a:prstClr val="black"/>
                    </a:solidFill>
                    <a:latin typeface="Times New Roman" panose="02020603050405020304" pitchFamily="18" charset="0"/>
                    <a:cs typeface="Times New Roman" panose="02020603050405020304" pitchFamily="18" charset="0"/>
                  </a:rPr>
                  <a:t>Ví</a:t>
                </a:r>
                <a:r>
                  <a:rPr lang="en-US" sz="2800" dirty="0">
                    <a:solidFill>
                      <a:prstClr val="black"/>
                    </a:solidFill>
                    <a:latin typeface="Times New Roman" panose="02020603050405020304" pitchFamily="18" charset="0"/>
                    <a:cs typeface="Times New Roman" panose="02020603050405020304" pitchFamily="18" charset="0"/>
                  </a:rPr>
                  <a:t> </a:t>
                </a:r>
                <a:r>
                  <a:rPr lang="en-US" sz="2800" dirty="0" err="1">
                    <a:solidFill>
                      <a:prstClr val="black"/>
                    </a:solidFill>
                    <a:latin typeface="Times New Roman" panose="02020603050405020304" pitchFamily="18" charset="0"/>
                    <a:cs typeface="Times New Roman" panose="02020603050405020304" pitchFamily="18" charset="0"/>
                  </a:rPr>
                  <a:t>dụ</a:t>
                </a:r>
                <a:r>
                  <a:rPr lang="en-US" sz="2800" dirty="0">
                    <a:solidFill>
                      <a:prstClr val="black"/>
                    </a:solidFill>
                    <a:latin typeface="Times New Roman" panose="02020603050405020304" pitchFamily="18" charset="0"/>
                    <a:cs typeface="Times New Roman" panose="02020603050405020304" pitchFamily="18" charset="0"/>
                  </a:rPr>
                  <a:t>: B = </a:t>
                </a:r>
                <a14:m>
                  <m:oMath xmlns:m="http://schemas.openxmlformats.org/officeDocument/2006/math">
                    <m:r>
                      <a:rPr lang="en-US" sz="2800" i="1">
                        <a:solidFill>
                          <a:prstClr val="black"/>
                        </a:solidFill>
                        <a:latin typeface="Cambria Math"/>
                      </a:rPr>
                      <m:t>𝑥𝑦</m:t>
                    </m:r>
                    <m:r>
                      <a:rPr lang="en-US" sz="2800" i="1">
                        <a:solidFill>
                          <a:prstClr val="black"/>
                        </a:solidFill>
                        <a:latin typeface="Cambria Math"/>
                      </a:rPr>
                      <m:t>+</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𝑥</m:t>
                        </m:r>
                      </m:e>
                    </m:acc>
                    <m:r>
                      <a:rPr lang="en-US" sz="2800" i="1">
                        <a:solidFill>
                          <a:prstClr val="black"/>
                        </a:solidFill>
                        <a:latin typeface="Cambria Math"/>
                      </a:rPr>
                      <m:t>𝑦</m:t>
                    </m:r>
                    <m:r>
                      <a:rPr lang="en-US" sz="2800" i="1">
                        <a:solidFill>
                          <a:prstClr val="black"/>
                        </a:solidFill>
                        <a:latin typeface="Cambria Math"/>
                      </a:rPr>
                      <m:t>+</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𝑥</m:t>
                        </m:r>
                      </m:e>
                    </m:acc>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 </m:t>
                        </m:r>
                        <m:r>
                          <a:rPr lang="en-US" sz="2800" i="1">
                            <a:solidFill>
                              <a:prstClr val="black"/>
                            </a:solidFill>
                            <a:latin typeface="Cambria Math"/>
                          </a:rPr>
                          <m:t>𝑦</m:t>
                        </m:r>
                      </m:e>
                    </m:acc>
                  </m:oMath>
                </a14:m>
                <a:endParaRPr lang="vi-VN" sz="28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066799" y="990600"/>
                <a:ext cx="4163017" cy="523220"/>
              </a:xfrm>
              <a:prstGeom prst="rect">
                <a:avLst/>
              </a:prstGeom>
              <a:blipFill rotWithShape="0">
                <a:blip r:embed="rId2"/>
                <a:stretch>
                  <a:fillRect l="-2928" t="-12941"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610624021"/>
                  </p:ext>
                </p:extLst>
              </p:nvPr>
            </p:nvGraphicFramePr>
            <p:xfrm>
              <a:off x="1066799" y="2362200"/>
              <a:ext cx="3600399" cy="2376264"/>
            </p:xfrm>
            <a:graphic>
              <a:graphicData uri="http://schemas.openxmlformats.org/drawingml/2006/table">
                <a:tbl>
                  <a:tblPr bandRow="1">
                    <a:tableStyleId>{5940675A-B579-460E-94D1-54222C63F5DA}</a:tableStyleId>
                  </a:tblPr>
                  <a:tblGrid>
                    <a:gridCol w="1200133">
                      <a:extLst>
                        <a:ext uri="{9D8B030D-6E8A-4147-A177-3AD203B41FA5}">
                          <a16:colId xmlns:a16="http://schemas.microsoft.com/office/drawing/2014/main" val="20000"/>
                        </a:ext>
                      </a:extLst>
                    </a:gridCol>
                    <a:gridCol w="1200133">
                      <a:extLst>
                        <a:ext uri="{9D8B030D-6E8A-4147-A177-3AD203B41FA5}">
                          <a16:colId xmlns:a16="http://schemas.microsoft.com/office/drawing/2014/main" val="20001"/>
                        </a:ext>
                      </a:extLst>
                    </a:gridCol>
                    <a:gridCol w="1200133">
                      <a:extLst>
                        <a:ext uri="{9D8B030D-6E8A-4147-A177-3AD203B41FA5}">
                          <a16:colId xmlns:a16="http://schemas.microsoft.com/office/drawing/2014/main" val="20002"/>
                        </a:ext>
                      </a:extLst>
                    </a:gridCol>
                  </a:tblGrid>
                  <a:tr h="805954">
                    <a:tc>
                      <a:txBody>
                        <a:bodyPr/>
                        <a:lstStyle/>
                        <a:p>
                          <a:pPr algn="ctr">
                            <a:lnSpc>
                              <a:spcPct val="115000"/>
                            </a:lnSpc>
                            <a:spcAft>
                              <a:spcPts val="0"/>
                            </a:spcAft>
                          </a:pPr>
                          <a:r>
                            <a:rPr lang="en-US" sz="2000" b="1">
                              <a:effectLst/>
                              <a:latin typeface="Times New Roman" panose="02020603050405020304" pitchFamily="18" charset="0"/>
                              <a:cs typeface="Times New Roman" panose="02020603050405020304" pitchFamily="18" charset="0"/>
                            </a:rPr>
                            <a:t> B</a:t>
                          </a:r>
                          <a:endParaRPr lang="vi-VN"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y</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000" i="1">
                                        <a:effectLst/>
                                        <a:latin typeface="Cambria Math" panose="02040503050406030204" pitchFamily="18" charset="0"/>
                                      </a:rPr>
                                    </m:ctrlPr>
                                  </m:accPr>
                                  <m:e>
                                    <m:r>
                                      <a:rPr lang="en-US" sz="2000">
                                        <a:effectLst/>
                                        <a:latin typeface="Cambria Math"/>
                                      </a:rPr>
                                      <m:t>𝑦</m:t>
                                    </m:r>
                                  </m:e>
                                </m:acc>
                              </m:oMath>
                            </m:oMathPara>
                          </a14:m>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64356">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x</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 1</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 </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05954">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000" i="1">
                                        <a:effectLst/>
                                        <a:latin typeface="Cambria Math" panose="02040503050406030204" pitchFamily="18" charset="0"/>
                                      </a:rPr>
                                    </m:ctrlPr>
                                  </m:accPr>
                                  <m:e>
                                    <m:r>
                                      <a:rPr lang="en-US" sz="2000">
                                        <a:effectLst/>
                                        <a:latin typeface="Cambria Math"/>
                                      </a:rPr>
                                      <m:t>𝑥</m:t>
                                    </m:r>
                                  </m:e>
                                </m:acc>
                              </m:oMath>
                            </m:oMathPara>
                          </a14:m>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 1</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dirty="0">
                              <a:effectLst/>
                              <a:latin typeface="Times New Roman" panose="02020603050405020304" pitchFamily="18" charset="0"/>
                              <a:cs typeface="Times New Roman" panose="02020603050405020304" pitchFamily="18" charset="0"/>
                            </a:rPr>
                            <a:t>1 </a:t>
                          </a:r>
                          <a:endParaRPr lang="vi-V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610624021"/>
                  </p:ext>
                </p:extLst>
              </p:nvPr>
            </p:nvGraphicFramePr>
            <p:xfrm>
              <a:off x="1066799" y="2362200"/>
              <a:ext cx="3600399" cy="2376264"/>
            </p:xfrm>
            <a:graphic>
              <a:graphicData uri="http://schemas.openxmlformats.org/drawingml/2006/table">
                <a:tbl>
                  <a:tblPr bandRow="1">
                    <a:tableStyleId>{5940675A-B579-460E-94D1-54222C63F5DA}</a:tableStyleId>
                  </a:tblPr>
                  <a:tblGrid>
                    <a:gridCol w="1200133"/>
                    <a:gridCol w="1200133"/>
                    <a:gridCol w="1200133"/>
                  </a:tblGrid>
                  <a:tr h="805954">
                    <a:tc>
                      <a:txBody>
                        <a:bodyPr/>
                        <a:lstStyle/>
                        <a:p>
                          <a:pPr algn="ctr">
                            <a:lnSpc>
                              <a:spcPct val="115000"/>
                            </a:lnSpc>
                            <a:spcAft>
                              <a:spcPts val="0"/>
                            </a:spcAft>
                          </a:pPr>
                          <a:r>
                            <a:rPr lang="en-US" sz="2000" b="1">
                              <a:effectLst/>
                              <a:latin typeface="Times New Roman" panose="02020603050405020304" pitchFamily="18" charset="0"/>
                              <a:cs typeface="Times New Roman" panose="02020603050405020304" pitchFamily="18" charset="0"/>
                            </a:rPr>
                            <a:t> </a:t>
                          </a:r>
                          <a:r>
                            <a:rPr lang="en-US" sz="2000" b="1" smtClean="0">
                              <a:effectLst/>
                              <a:latin typeface="Times New Roman" panose="02020603050405020304" pitchFamily="18" charset="0"/>
                              <a:cs typeface="Times New Roman" panose="02020603050405020304" pitchFamily="18" charset="0"/>
                            </a:rPr>
                            <a:t>B</a:t>
                          </a:r>
                          <a:endParaRPr lang="vi-VN" sz="2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smtClean="0">
                              <a:effectLst/>
                              <a:latin typeface="Times New Roman" panose="02020603050405020304" pitchFamily="18" charset="0"/>
                              <a:cs typeface="Times New Roman" panose="02020603050405020304" pitchFamily="18" charset="0"/>
                            </a:rPr>
                            <a:t>y</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rotWithShape="0">
                          <a:blip r:embed="rId3"/>
                          <a:stretch>
                            <a:fillRect l="-201015" t="-752" r="-1015" b="-195489"/>
                          </a:stretch>
                        </a:blipFill>
                      </a:tcPr>
                    </a:tc>
                  </a:tr>
                  <a:tr h="764356">
                    <a:tc>
                      <a:txBody>
                        <a:bodyPr/>
                        <a:lstStyle/>
                        <a:p>
                          <a:pPr algn="ctr">
                            <a:lnSpc>
                              <a:spcPct val="115000"/>
                            </a:lnSpc>
                            <a:spcAft>
                              <a:spcPts val="0"/>
                            </a:spcAft>
                          </a:pPr>
                          <a:r>
                            <a:rPr lang="en-US" sz="2000" smtClean="0">
                              <a:effectLst/>
                              <a:latin typeface="Times New Roman" panose="02020603050405020304" pitchFamily="18" charset="0"/>
                              <a:cs typeface="Times New Roman" panose="02020603050405020304" pitchFamily="18" charset="0"/>
                            </a:rPr>
                            <a:t>x</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 </a:t>
                          </a:r>
                          <a:r>
                            <a:rPr lang="en-US" sz="2000" smtClean="0">
                              <a:effectLst/>
                              <a:latin typeface="Times New Roman" panose="02020603050405020304" pitchFamily="18" charset="0"/>
                              <a:cs typeface="Times New Roman" panose="02020603050405020304" pitchFamily="18" charset="0"/>
                            </a:rPr>
                            <a:t>1</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 </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r>
                  <a:tr h="805954">
                    <a:tc>
                      <a:txBody>
                        <a:bodyPr/>
                        <a:lstStyle/>
                        <a:p>
                          <a:endParaRPr lang="en-US"/>
                        </a:p>
                      </a:txBody>
                      <a:tcPr marL="68580" marR="68580" marT="0" marB="0" anchor="ctr">
                        <a:blipFill rotWithShape="0">
                          <a:blip r:embed="rId3"/>
                          <a:stretch>
                            <a:fillRect l="-508" t="-194737" r="-201523" b="-1504"/>
                          </a:stretch>
                        </a:blipFill>
                      </a:tcPr>
                    </a:tc>
                    <a:tc>
                      <a:txBody>
                        <a:bodyPr/>
                        <a:lstStyle/>
                        <a:p>
                          <a:pPr algn="ctr">
                            <a:lnSpc>
                              <a:spcPct val="115000"/>
                            </a:lnSpc>
                            <a:spcAft>
                              <a:spcPts val="0"/>
                            </a:spcAft>
                          </a:pPr>
                          <a:r>
                            <a:rPr lang="en-US" sz="2000">
                              <a:effectLst/>
                              <a:latin typeface="Times New Roman" panose="02020603050405020304" pitchFamily="18" charset="0"/>
                              <a:cs typeface="Times New Roman" panose="02020603050405020304" pitchFamily="18" charset="0"/>
                            </a:rPr>
                            <a:t> </a:t>
                          </a:r>
                          <a:r>
                            <a:rPr lang="en-US" sz="2000" smtClean="0">
                              <a:effectLst/>
                              <a:latin typeface="Times New Roman" panose="02020603050405020304" pitchFamily="18" charset="0"/>
                              <a:cs typeface="Times New Roman" panose="02020603050405020304" pitchFamily="18" charset="0"/>
                            </a:rPr>
                            <a:t>1</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2000" smtClean="0">
                              <a:effectLst/>
                              <a:latin typeface="Times New Roman" panose="02020603050405020304" pitchFamily="18" charset="0"/>
                              <a:cs typeface="Times New Roman" panose="02020603050405020304" pitchFamily="18" charset="0"/>
                            </a:rPr>
                            <a:t>1</a:t>
                          </a:r>
                          <a:r>
                            <a:rPr lang="en-US" sz="2000">
                              <a:effectLst/>
                              <a:latin typeface="Times New Roman" panose="02020603050405020304" pitchFamily="18" charset="0"/>
                              <a:cs typeface="Times New Roman" panose="02020603050405020304" pitchFamily="18" charset="0"/>
                            </a:rPr>
                            <a:t> </a:t>
                          </a:r>
                          <a:endParaRPr lang="vi-V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r>
                </a:tbl>
              </a:graphicData>
            </a:graphic>
          </p:graphicFrame>
        </mc:Fallback>
      </mc:AlternateContent>
      <p:sp>
        <p:nvSpPr>
          <p:cNvPr id="9" name="Rounded Rectangle 8"/>
          <p:cNvSpPr/>
          <p:nvPr/>
        </p:nvSpPr>
        <p:spPr>
          <a:xfrm>
            <a:off x="2421502" y="4153723"/>
            <a:ext cx="2088232" cy="461665"/>
          </a:xfrm>
          <a:prstGeom prst="roundRect">
            <a:avLst/>
          </a:prstGeom>
          <a:noFill/>
          <a:ln w="57150">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ln w="38100">
                <a:solidFill>
                  <a:prstClr val="black"/>
                </a:solidFill>
              </a:ln>
              <a:solidFill>
                <a:prstClr val="black"/>
              </a:solidFill>
            </a:endParaRPr>
          </a:p>
        </p:txBody>
      </p:sp>
      <mc:AlternateContent xmlns:mc="http://schemas.openxmlformats.org/markup-compatibility/2006" xmlns:a14="http://schemas.microsoft.com/office/drawing/2010/main">
        <mc:Choice Requires="a14">
          <p:sp>
            <p:nvSpPr>
              <p:cNvPr id="10" name="TextBox 9"/>
              <p:cNvSpPr txBox="1"/>
              <p:nvPr/>
            </p:nvSpPr>
            <p:spPr>
              <a:xfrm>
                <a:off x="5221349" y="3322726"/>
                <a:ext cx="2304256" cy="800219"/>
              </a:xfrm>
              <a:prstGeom prst="rect">
                <a:avLst/>
              </a:prstGeom>
              <a:noFill/>
            </p:spPr>
            <p:txBody>
              <a:bodyPr wrap="square" rtlCol="0">
                <a:spAutoFit/>
              </a:bodyPr>
              <a:lstStyle/>
              <a:p>
                <a:r>
                  <a:rPr lang="en-US" sz="2800"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 = </a:t>
                </a:r>
                <a14:m>
                  <m:oMath xmlns:m="http://schemas.openxmlformats.org/officeDocument/2006/math">
                    <m:r>
                      <a:rPr lang="en-US" sz="2800" i="1">
                        <a:solidFill>
                          <a:srgbClr val="FF0000"/>
                        </a:solidFill>
                        <a:latin typeface="Cambria Math"/>
                      </a:rPr>
                      <m:t>𝑦</m:t>
                    </m:r>
                    <m:r>
                      <a:rPr lang="en-US" sz="2800" i="1">
                        <a:solidFill>
                          <a:prstClr val="black"/>
                        </a:solidFill>
                        <a:latin typeface="Cambria Math"/>
                      </a:rPr>
                      <m:t>+ </m:t>
                    </m:r>
                    <m:acc>
                      <m:accPr>
                        <m:chr m:val="̅"/>
                        <m:ctrlPr>
                          <a:rPr lang="vi-VN" sz="2800" i="1">
                            <a:solidFill>
                              <a:prstClr val="black"/>
                            </a:solidFill>
                            <a:latin typeface="Cambria Math" panose="02040503050406030204" pitchFamily="18" charset="0"/>
                          </a:rPr>
                        </m:ctrlPr>
                      </m:accPr>
                      <m:e>
                        <m:r>
                          <a:rPr lang="en-US" sz="2800" i="1">
                            <a:solidFill>
                              <a:srgbClr val="0070C0"/>
                            </a:solidFill>
                            <a:latin typeface="Cambria Math"/>
                          </a:rPr>
                          <m:t>𝑥</m:t>
                        </m:r>
                      </m:e>
                    </m:acc>
                  </m:oMath>
                </a14:m>
                <a:endParaRPr lang="vi-VN" sz="2800" dirty="0">
                  <a:solidFill>
                    <a:prstClr val="black"/>
                  </a:solidFill>
                  <a:latin typeface="Times New Roman" panose="02020603050405020304" pitchFamily="18" charset="0"/>
                  <a:cs typeface="Times New Roman" panose="02020603050405020304" pitchFamily="18" charset="0"/>
                </a:endParaRPr>
              </a:p>
              <a:p>
                <a:endParaRPr lang="vi-VN" dirty="0">
                  <a:solidFill>
                    <a:prstClr val="black"/>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5221349" y="3322726"/>
                <a:ext cx="2304256" cy="800219"/>
              </a:xfrm>
              <a:prstGeom prst="rect">
                <a:avLst/>
              </a:prstGeom>
              <a:blipFill rotWithShape="0">
                <a:blip r:embed="rId4"/>
                <a:stretch>
                  <a:fillRect l="-5556" t="-8397"/>
                </a:stretch>
              </a:blipFill>
            </p:spPr>
            <p:txBody>
              <a:bodyPr/>
              <a:lstStyle/>
              <a:p>
                <a:r>
                  <a:rPr lang="en-US">
                    <a:noFill/>
                  </a:rPr>
                  <a:t> </a:t>
                </a:r>
              </a:p>
            </p:txBody>
          </p:sp>
        </mc:Fallback>
      </mc:AlternateContent>
      <p:sp>
        <p:nvSpPr>
          <p:cNvPr id="11" name="Rounded Rectangle 10"/>
          <p:cNvSpPr/>
          <p:nvPr/>
        </p:nvSpPr>
        <p:spPr>
          <a:xfrm rot="5400000">
            <a:off x="2113863" y="3761602"/>
            <a:ext cx="1512167" cy="461665"/>
          </a:xfrm>
          <a:prstGeom prst="round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ln w="38100">
                <a:solidFill>
                  <a:prstClr val="black"/>
                </a:solidFill>
              </a:ln>
              <a:solidFill>
                <a:prstClr val="black"/>
              </a:solidFill>
            </a:endParaRPr>
          </a:p>
        </p:txBody>
      </p:sp>
      <p:sp>
        <p:nvSpPr>
          <p:cNvPr id="12"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3"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4"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14</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animBg="1"/>
      <p:bldP spid="10"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381000"/>
            <a:ext cx="5184775" cy="1077913"/>
          </a:xfrm>
          <a:prstGeom prst="rect">
            <a:avLst/>
          </a:prstGeom>
          <a:noFill/>
        </p:spPr>
        <p:txBody>
          <a:bodyPr>
            <a:spAutoFit/>
          </a:bodyPr>
          <a:lstStyle/>
          <a:p>
            <a:pPr>
              <a:defRPr/>
            </a:pPr>
            <a:r>
              <a:rPr lang="en-US" sz="3200" b="1">
                <a:solidFill>
                  <a:schemeClr val="accent1"/>
                </a:solidFill>
              </a:rPr>
              <a:t>karnaugh 3 </a:t>
            </a:r>
            <a:r>
              <a:rPr lang="en-US" sz="3200" b="1" err="1">
                <a:solidFill>
                  <a:schemeClr val="accent1"/>
                </a:solidFill>
              </a:rPr>
              <a:t>biến</a:t>
            </a:r>
            <a:endParaRPr lang="vi-VN" sz="3200" b="1">
              <a:solidFill>
                <a:schemeClr val="accent1"/>
              </a:solidFill>
            </a:endParaRPr>
          </a:p>
          <a:p>
            <a:pPr marL="514350" indent="-514350">
              <a:buFont typeface="+mj-lt"/>
              <a:buAutoNum type="alphaUcPeriod"/>
              <a:defRPr/>
            </a:pPr>
            <a:endParaRPr lang="vi-VN" sz="3200" b="1">
              <a:solidFill>
                <a:srgbClr val="0070C0"/>
              </a:solidFill>
            </a:endParaRPr>
          </a:p>
        </p:txBody>
      </p:sp>
      <p:sp>
        <p:nvSpPr>
          <p:cNvPr id="5" name="TextBox 4"/>
          <p:cNvSpPr txBox="1">
            <a:spLocks noChangeArrowheads="1"/>
          </p:cNvSpPr>
          <p:nvPr/>
        </p:nvSpPr>
        <p:spPr bwMode="auto">
          <a:xfrm>
            <a:off x="0" y="1219200"/>
            <a:ext cx="77041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Font typeface="Arial" panose="020B0604020202020204" pitchFamily="34" charset="0"/>
              <a:buChar char="•"/>
            </a:pPr>
            <a:r>
              <a:rPr lang="en-US" sz="2800">
                <a:solidFill>
                  <a:srgbClr val="000000"/>
                </a:solidFill>
                <a:latin typeface="Times New Roman" panose="02020603050405020304" pitchFamily="18" charset="0"/>
                <a:cs typeface="Times New Roman" panose="02020603050405020304" pitchFamily="18" charset="0"/>
              </a:rPr>
              <a:t>Bảng karnaugh 3 biến là 1 hình chữ nhật chia thành 8 ô.</a:t>
            </a:r>
            <a:endParaRPr lang="vi-VN" sz="2800">
              <a:solidFill>
                <a:srgbClr val="00000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774387885"/>
              </p:ext>
            </p:extLst>
          </p:nvPr>
        </p:nvGraphicFramePr>
        <p:xfrm>
          <a:off x="1518182" y="2353898"/>
          <a:ext cx="3672409" cy="2232246"/>
        </p:xfrm>
        <a:graphic>
          <a:graphicData uri="http://schemas.openxmlformats.org/drawingml/2006/table">
            <a:tbl>
              <a:tblPr firstRow="1" firstCol="1" bandRow="1">
                <a:tableStyleId>{5940675A-B579-460E-94D1-54222C63F5DA}</a:tableStyleId>
              </a:tblPr>
              <a:tblGrid>
                <a:gridCol w="734237">
                  <a:extLst>
                    <a:ext uri="{9D8B030D-6E8A-4147-A177-3AD203B41FA5}">
                      <a16:colId xmlns:a16="http://schemas.microsoft.com/office/drawing/2014/main" val="20000"/>
                    </a:ext>
                  </a:extLst>
                </a:gridCol>
                <a:gridCol w="734237">
                  <a:extLst>
                    <a:ext uri="{9D8B030D-6E8A-4147-A177-3AD203B41FA5}">
                      <a16:colId xmlns:a16="http://schemas.microsoft.com/office/drawing/2014/main" val="20001"/>
                    </a:ext>
                  </a:extLst>
                </a:gridCol>
                <a:gridCol w="734237">
                  <a:extLst>
                    <a:ext uri="{9D8B030D-6E8A-4147-A177-3AD203B41FA5}">
                      <a16:colId xmlns:a16="http://schemas.microsoft.com/office/drawing/2014/main" val="20002"/>
                    </a:ext>
                  </a:extLst>
                </a:gridCol>
                <a:gridCol w="734237">
                  <a:extLst>
                    <a:ext uri="{9D8B030D-6E8A-4147-A177-3AD203B41FA5}">
                      <a16:colId xmlns:a16="http://schemas.microsoft.com/office/drawing/2014/main" val="20003"/>
                    </a:ext>
                  </a:extLst>
                </a:gridCol>
                <a:gridCol w="735461">
                  <a:extLst>
                    <a:ext uri="{9D8B030D-6E8A-4147-A177-3AD203B41FA5}">
                      <a16:colId xmlns:a16="http://schemas.microsoft.com/office/drawing/2014/main" val="20004"/>
                    </a:ext>
                  </a:extLst>
                </a:gridCol>
              </a:tblGrid>
              <a:tr h="734352">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endParaRPr lang="en-US"/>
                    </a:p>
                  </a:txBody>
                  <a:tcPr marL="68580" marR="68580" marT="0" marB="0" anchor="ctr">
                    <a:blipFill rotWithShape="0">
                      <a:blip r:embed="rId2"/>
                      <a:stretch>
                        <a:fillRect l="-100826" t="-826" r="-300826" b="-204959"/>
                      </a:stretch>
                    </a:blipFill>
                  </a:tcPr>
                </a:tc>
                <a:tc>
                  <a:txBody>
                    <a:bodyPr/>
                    <a:lstStyle/>
                    <a:p>
                      <a:endParaRPr lang="en-US"/>
                    </a:p>
                  </a:txBody>
                  <a:tcPr marL="68580" marR="68580" marT="0" marB="0" anchor="ctr">
                    <a:blipFill rotWithShape="0">
                      <a:blip r:embed="rId2"/>
                      <a:stretch>
                        <a:fillRect l="-202500" t="-826" r="-203333" b="-204959"/>
                      </a:stretch>
                    </a:blipFill>
                  </a:tcPr>
                </a:tc>
                <a:tc>
                  <a:txBody>
                    <a:bodyPr/>
                    <a:lstStyle/>
                    <a:p>
                      <a:endParaRPr lang="en-US"/>
                    </a:p>
                  </a:txBody>
                  <a:tcPr marL="68580" marR="68580" marT="0" marB="0" anchor="ctr">
                    <a:blipFill rotWithShape="0">
                      <a:blip r:embed="rId2"/>
                      <a:stretch>
                        <a:fillRect l="-300000" t="-826" r="-101653" b="-204959"/>
                      </a:stretch>
                    </a:blipFill>
                  </a:tcPr>
                </a:tc>
                <a:tc>
                  <a:txBody>
                    <a:bodyPr/>
                    <a:lstStyle/>
                    <a:p>
                      <a:endParaRPr lang="en-US"/>
                    </a:p>
                  </a:txBody>
                  <a:tcPr marL="68580" marR="68580" marT="0" marB="0" anchor="ctr">
                    <a:blipFill rotWithShape="0">
                      <a:blip r:embed="rId2"/>
                      <a:stretch>
                        <a:fillRect l="-400000" t="-826" r="-1653" b="-204959"/>
                      </a:stretch>
                    </a:blipFill>
                  </a:tcPr>
                </a:tc>
                <a:extLst>
                  <a:ext uri="{0D108BD9-81ED-4DB2-BD59-A6C34878D82A}">
                    <a16:rowId xmlns:a16="http://schemas.microsoft.com/office/drawing/2014/main" val="10000"/>
                  </a:ext>
                </a:extLst>
              </a:tr>
              <a:tr h="734352">
                <a:tc>
                  <a:txBody>
                    <a:bodyPr/>
                    <a:lstStyle/>
                    <a:p>
                      <a:endParaRPr lang="en-US"/>
                    </a:p>
                  </a:txBody>
                  <a:tcPr marL="68580" marR="68580" marT="0" marB="0" anchor="ctr">
                    <a:blipFill rotWithShape="0">
                      <a:blip r:embed="rId2"/>
                      <a:stretch>
                        <a:fillRect l="-826" t="-101667" r="-400826" b="-106667"/>
                      </a:stretch>
                    </a:blip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extLst>
                  <a:ext uri="{0D108BD9-81ED-4DB2-BD59-A6C34878D82A}">
                    <a16:rowId xmlns:a16="http://schemas.microsoft.com/office/drawing/2014/main" val="10001"/>
                  </a:ext>
                </a:extLst>
              </a:tr>
              <a:tr h="763542">
                <a:tc>
                  <a:txBody>
                    <a:bodyPr/>
                    <a:lstStyle/>
                    <a:p>
                      <a:endParaRPr lang="en-US"/>
                    </a:p>
                  </a:txBody>
                  <a:tcPr marL="68580" marR="68580" marT="0" marB="0" anchor="ctr">
                    <a:blipFill rotWithShape="0">
                      <a:blip r:embed="rId2"/>
                      <a:stretch>
                        <a:fillRect l="-826" t="-192063" r="-400826" b="-1587"/>
                      </a:stretch>
                    </a:blip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tc>
                  <a:txBody>
                    <a:bodyPr/>
                    <a:lstStyle/>
                    <a:p>
                      <a:pPr algn="ctr">
                        <a:lnSpc>
                          <a:spcPct val="115000"/>
                        </a:lnSpc>
                        <a:spcAft>
                          <a:spcPts val="0"/>
                        </a:spcAft>
                      </a:pPr>
                      <a:r>
                        <a:rPr lang="en-US"/>
                        <a:t> </a:t>
                      </a:r>
                      <a:endParaRPr lang="vi-VN"/>
                    </a:p>
                  </a:txBody>
                  <a:tcPr marL="68580" marR="68580" marT="0" marB="0" anchor="ctr">
                    <a:solidFill>
                      <a:schemeClr val="bg1"/>
                    </a:solidFill>
                  </a:tcPr>
                </a:tc>
                <a:extLst>
                  <a:ext uri="{0D108BD9-81ED-4DB2-BD59-A6C34878D82A}">
                    <a16:rowId xmlns:a16="http://schemas.microsoft.com/office/drawing/2014/main" val="10002"/>
                  </a:ext>
                </a:extLst>
              </a:tr>
            </a:tbl>
          </a:graphicData>
        </a:graphic>
      </p:graphicFrame>
      <p:sp>
        <p:nvSpPr>
          <p:cNvPr id="7" name="TextBox 6"/>
          <p:cNvSpPr txBox="1">
            <a:spLocks noChangeArrowheads="1"/>
          </p:cNvSpPr>
          <p:nvPr/>
        </p:nvSpPr>
        <p:spPr bwMode="auto">
          <a:xfrm>
            <a:off x="228600" y="5083175"/>
            <a:ext cx="770413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Font typeface="Arial" panose="020B0604020202020204" pitchFamily="34" charset="0"/>
              <a:buChar char="•"/>
            </a:pPr>
            <a:r>
              <a:rPr lang="en-US" sz="2800">
                <a:solidFill>
                  <a:srgbClr val="000000"/>
                </a:solidFill>
                <a:latin typeface="Times New Roman" panose="02020603050405020304" pitchFamily="18" charset="0"/>
                <a:cs typeface="Times New Roman" panose="02020603050405020304" pitchFamily="18" charset="0"/>
              </a:rPr>
              <a:t>Sau khi có bảng Karnaugh, ta bắt đầu gom nhóm các tiểu hạng.</a:t>
            </a:r>
            <a:endParaRPr lang="vi-VN" sz="2800">
              <a:solidFill>
                <a:srgbClr val="00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a:solidFill>
                  <a:srgbClr val="000000"/>
                </a:solidFill>
                <a:latin typeface="Times New Roman" panose="02020603050405020304" pitchFamily="18" charset="0"/>
                <a:cs typeface="Times New Roman" panose="02020603050405020304" pitchFamily="18" charset="0"/>
              </a:rPr>
              <a:t>Quy tắc tương tự Bảng Karnaugh 2 biến.</a:t>
            </a:r>
            <a:endParaRPr lang="vi-VN" sz="2800">
              <a:solidFill>
                <a:srgbClr val="000000"/>
              </a:solidFill>
              <a:latin typeface="Times New Roman" panose="02020603050405020304" pitchFamily="18" charset="0"/>
              <a:cs typeface="Times New Roman" panose="02020603050405020304" pitchFamily="18" charset="0"/>
            </a:endParaRPr>
          </a:p>
        </p:txBody>
      </p:sp>
      <p:sp>
        <p:nvSpPr>
          <p:cNvPr id="8"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9"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0" name="Slide Number Placeholder 6"/>
          <p:cNvSpPr>
            <a:spLocks noGrp="1"/>
          </p:cNvSpPr>
          <p:nvPr>
            <p:ph type="sldNum" sz="quarter" idx="12"/>
          </p:nvPr>
        </p:nvSpPr>
        <p:spPr>
          <a:xfrm>
            <a:off x="7932738" y="6492874"/>
            <a:ext cx="1138064"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15</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fade">
                                      <p:cBhvr>
                                        <p:cTn id="16" dur="500"/>
                                        <p:tgtEl>
                                          <p:spTgt spid="7">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19611306"/>
                  </p:ext>
                </p:extLst>
              </p:nvPr>
            </p:nvGraphicFramePr>
            <p:xfrm>
              <a:off x="2057400" y="2465847"/>
              <a:ext cx="3672409" cy="2232246"/>
            </p:xfrm>
            <a:graphic>
              <a:graphicData uri="http://schemas.openxmlformats.org/drawingml/2006/table">
                <a:tbl>
                  <a:tblPr firstRow="1" firstCol="1" bandRow="1">
                    <a:tableStyleId>{5940675A-B579-460E-94D1-54222C63F5DA}</a:tableStyleId>
                  </a:tblPr>
                  <a:tblGrid>
                    <a:gridCol w="734237">
                      <a:extLst>
                        <a:ext uri="{9D8B030D-6E8A-4147-A177-3AD203B41FA5}">
                          <a16:colId xmlns:a16="http://schemas.microsoft.com/office/drawing/2014/main" val="20000"/>
                        </a:ext>
                      </a:extLst>
                    </a:gridCol>
                    <a:gridCol w="734237">
                      <a:extLst>
                        <a:ext uri="{9D8B030D-6E8A-4147-A177-3AD203B41FA5}">
                          <a16:colId xmlns:a16="http://schemas.microsoft.com/office/drawing/2014/main" val="20001"/>
                        </a:ext>
                      </a:extLst>
                    </a:gridCol>
                    <a:gridCol w="734237">
                      <a:extLst>
                        <a:ext uri="{9D8B030D-6E8A-4147-A177-3AD203B41FA5}">
                          <a16:colId xmlns:a16="http://schemas.microsoft.com/office/drawing/2014/main" val="20002"/>
                        </a:ext>
                      </a:extLst>
                    </a:gridCol>
                    <a:gridCol w="734237">
                      <a:extLst>
                        <a:ext uri="{9D8B030D-6E8A-4147-A177-3AD203B41FA5}">
                          <a16:colId xmlns:a16="http://schemas.microsoft.com/office/drawing/2014/main" val="20003"/>
                        </a:ext>
                      </a:extLst>
                    </a:gridCol>
                    <a:gridCol w="735461">
                      <a:extLst>
                        <a:ext uri="{9D8B030D-6E8A-4147-A177-3AD203B41FA5}">
                          <a16:colId xmlns:a16="http://schemas.microsoft.com/office/drawing/2014/main" val="20004"/>
                        </a:ext>
                      </a:extLst>
                    </a:gridCol>
                  </a:tblGrid>
                  <a:tr h="734352">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𝑦𝑧</m:t>
                                </m:r>
                              </m:oMath>
                            </m:oMathPara>
                          </a14:m>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𝑦</m:t>
                                </m:r>
                                <m:acc>
                                  <m:accPr>
                                    <m:chr m:val="̅"/>
                                    <m:ctrlPr>
                                      <a:rPr lang="vi-VN" sz="1800" i="1">
                                        <a:effectLst/>
                                        <a:latin typeface="Cambria Math" panose="02040503050406030204" pitchFamily="18" charset="0"/>
                                      </a:rPr>
                                    </m:ctrlPr>
                                  </m:accPr>
                                  <m:e>
                                    <m:r>
                                      <a:rPr lang="en-US" sz="1800">
                                        <a:effectLst/>
                                        <a:latin typeface="Cambria Math"/>
                                      </a:rPr>
                                      <m:t>𝑧</m:t>
                                    </m:r>
                                  </m:e>
                                </m:acc>
                              </m:oMath>
                            </m:oMathPara>
                          </a14:m>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1800" i="1">
                                        <a:effectLst/>
                                        <a:latin typeface="Cambria Math" panose="02040503050406030204" pitchFamily="18" charset="0"/>
                                      </a:rPr>
                                    </m:ctrlPr>
                                  </m:accPr>
                                  <m:e>
                                    <m:r>
                                      <a:rPr lang="en-US" sz="1800">
                                        <a:effectLst/>
                                        <a:latin typeface="Cambria Math"/>
                                      </a:rPr>
                                      <m:t>𝑦</m:t>
                                    </m:r>
                                  </m:e>
                                </m:acc>
                                <m:acc>
                                  <m:accPr>
                                    <m:chr m:val="̅"/>
                                    <m:ctrlPr>
                                      <a:rPr lang="vi-VN" sz="1800" i="1">
                                        <a:effectLst/>
                                        <a:latin typeface="Cambria Math" panose="02040503050406030204" pitchFamily="18" charset="0"/>
                                      </a:rPr>
                                    </m:ctrlPr>
                                  </m:accPr>
                                  <m:e>
                                    <m:r>
                                      <a:rPr lang="en-US" sz="1800">
                                        <a:effectLst/>
                                        <a:latin typeface="Cambria Math"/>
                                      </a:rPr>
                                      <m:t>𝑧</m:t>
                                    </m:r>
                                  </m:e>
                                </m:acc>
                              </m:oMath>
                            </m:oMathPara>
                          </a14:m>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1800" i="1">
                                        <a:effectLst/>
                                        <a:latin typeface="Cambria Math" panose="02040503050406030204" pitchFamily="18" charset="0"/>
                                      </a:rPr>
                                    </m:ctrlPr>
                                  </m:accPr>
                                  <m:e>
                                    <m:r>
                                      <a:rPr lang="en-US" sz="1800">
                                        <a:effectLst/>
                                        <a:latin typeface="Cambria Math"/>
                                      </a:rPr>
                                      <m:t>𝑦</m:t>
                                    </m:r>
                                  </m:e>
                                </m:acc>
                                <m:r>
                                  <a:rPr lang="en-US" sz="1800">
                                    <a:effectLst/>
                                    <a:latin typeface="Cambria Math"/>
                                  </a:rPr>
                                  <m:t>𝑧</m:t>
                                </m:r>
                              </m:oMath>
                            </m:oMathPara>
                          </a14:m>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0"/>
                      </a:ext>
                    </a:extLst>
                  </a:tr>
                  <a:tr h="734352">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𝑥</m:t>
                                </m:r>
                              </m:oMath>
                            </m:oMathPara>
                          </a14:m>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1 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1</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1"/>
                      </a:ext>
                    </a:extLst>
                  </a:tr>
                  <a:tr h="763542">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1800" i="1">
                                        <a:effectLst/>
                                        <a:latin typeface="Cambria Math" panose="02040503050406030204" pitchFamily="18" charset="0"/>
                                      </a:rPr>
                                    </m:ctrlPr>
                                  </m:accPr>
                                  <m:e>
                                    <m:r>
                                      <a:rPr lang="en-US" sz="1800">
                                        <a:effectLst/>
                                        <a:latin typeface="Cambria Math"/>
                                      </a:rPr>
                                      <m:t>𝑥</m:t>
                                    </m:r>
                                  </m:e>
                                </m:acc>
                              </m:oMath>
                            </m:oMathPara>
                          </a14:m>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1 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1 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1 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19611306"/>
                  </p:ext>
                </p:extLst>
              </p:nvPr>
            </p:nvGraphicFramePr>
            <p:xfrm>
              <a:off x="2057400" y="2465847"/>
              <a:ext cx="3672409" cy="2232246"/>
            </p:xfrm>
            <a:graphic>
              <a:graphicData uri="http://schemas.openxmlformats.org/drawingml/2006/table">
                <a:tbl>
                  <a:tblPr firstRow="1" firstCol="1" bandRow="1">
                    <a:tableStyleId>{5940675A-B579-460E-94D1-54222C63F5DA}</a:tableStyleId>
                  </a:tblPr>
                  <a:tblGrid>
                    <a:gridCol w="734237"/>
                    <a:gridCol w="734237"/>
                    <a:gridCol w="734237"/>
                    <a:gridCol w="734237"/>
                    <a:gridCol w="735461"/>
                  </a:tblGrid>
                  <a:tr h="734352">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endParaRPr lang="en-US"/>
                        </a:p>
                      </a:txBody>
                      <a:tcPr marL="68580" marR="68580" marT="0" marB="0" anchor="ctr">
                        <a:blipFill rotWithShape="0">
                          <a:blip r:embed="rId2"/>
                          <a:stretch>
                            <a:fillRect l="-101667" t="-826" r="-304167" b="-204959"/>
                          </a:stretch>
                        </a:blipFill>
                      </a:tcPr>
                    </a:tc>
                    <a:tc>
                      <a:txBody>
                        <a:bodyPr/>
                        <a:lstStyle/>
                        <a:p>
                          <a:endParaRPr lang="en-US"/>
                        </a:p>
                      </a:txBody>
                      <a:tcPr marL="68580" marR="68580" marT="0" marB="0" anchor="ctr">
                        <a:blipFill rotWithShape="0">
                          <a:blip r:embed="rId2"/>
                          <a:stretch>
                            <a:fillRect l="-200000" t="-826" r="-201653" b="-204959"/>
                          </a:stretch>
                        </a:blipFill>
                      </a:tcPr>
                    </a:tc>
                    <a:tc>
                      <a:txBody>
                        <a:bodyPr/>
                        <a:lstStyle/>
                        <a:p>
                          <a:endParaRPr lang="en-US"/>
                        </a:p>
                      </a:txBody>
                      <a:tcPr marL="68580" marR="68580" marT="0" marB="0" anchor="ctr">
                        <a:blipFill rotWithShape="0">
                          <a:blip r:embed="rId2"/>
                          <a:stretch>
                            <a:fillRect l="-302500" t="-826" r="-103333" b="-204959"/>
                          </a:stretch>
                        </a:blipFill>
                      </a:tcPr>
                    </a:tc>
                    <a:tc>
                      <a:txBody>
                        <a:bodyPr/>
                        <a:lstStyle/>
                        <a:p>
                          <a:endParaRPr lang="en-US"/>
                        </a:p>
                      </a:txBody>
                      <a:tcPr marL="68580" marR="68580" marT="0" marB="0" anchor="ctr">
                        <a:blipFill rotWithShape="0">
                          <a:blip r:embed="rId2"/>
                          <a:stretch>
                            <a:fillRect l="-399174" t="-826" r="-2479" b="-204959"/>
                          </a:stretch>
                        </a:blipFill>
                      </a:tcPr>
                    </a:tc>
                  </a:tr>
                  <a:tr h="734352">
                    <a:tc>
                      <a:txBody>
                        <a:bodyPr/>
                        <a:lstStyle/>
                        <a:p>
                          <a:endParaRPr lang="en-US"/>
                        </a:p>
                      </a:txBody>
                      <a:tcPr marL="68580" marR="68580" marT="0" marB="0" anchor="ctr">
                        <a:blipFill rotWithShape="0">
                          <a:blip r:embed="rId2"/>
                          <a:stretch>
                            <a:fillRect l="-826" t="-101667" r="-400826" b="-106667"/>
                          </a:stretch>
                        </a:blip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smtClean="0">
                              <a:effectLst/>
                              <a:latin typeface="Times New Roman" panose="02020603050405020304" pitchFamily="18" charset="0"/>
                              <a:cs typeface="Times New Roman" panose="02020603050405020304" pitchFamily="18" charset="0"/>
                            </a:rPr>
                            <a:t>1</a:t>
                          </a: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r>
                            <a:rPr lang="en-US" sz="1800" smtClean="0">
                              <a:effectLst/>
                              <a:latin typeface="Times New Roman" panose="02020603050405020304" pitchFamily="18" charset="0"/>
                              <a:cs typeface="Times New Roman" panose="02020603050405020304" pitchFamily="18" charset="0"/>
                            </a:rPr>
                            <a:t>1</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r>
                  <a:tr h="763542">
                    <a:tc>
                      <a:txBody>
                        <a:bodyPr/>
                        <a:lstStyle/>
                        <a:p>
                          <a:endParaRPr lang="en-US"/>
                        </a:p>
                      </a:txBody>
                      <a:tcPr marL="68580" marR="68580" marT="0" marB="0" anchor="ctr">
                        <a:blipFill rotWithShape="0">
                          <a:blip r:embed="rId2"/>
                          <a:stretch>
                            <a:fillRect l="-826" t="-192063" r="-400826" b="-1587"/>
                          </a:stretch>
                        </a:blipFill>
                      </a:tcPr>
                    </a:tc>
                    <a:tc>
                      <a:txBody>
                        <a:bodyPr/>
                        <a:lstStyle/>
                        <a:p>
                          <a:pPr algn="ctr">
                            <a:lnSpc>
                              <a:spcPct val="115000"/>
                            </a:lnSpc>
                            <a:spcAft>
                              <a:spcPts val="0"/>
                            </a:spcAft>
                          </a:pPr>
                          <a:r>
                            <a:rPr lang="en-US" sz="1800" smtClean="0">
                              <a:effectLst/>
                              <a:latin typeface="Times New Roman" panose="02020603050405020304" pitchFamily="18" charset="0"/>
                              <a:cs typeface="Times New Roman" panose="02020603050405020304" pitchFamily="18" charset="0"/>
                            </a:rPr>
                            <a:t>1</a:t>
                          </a: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smtClean="0">
                              <a:effectLst/>
                              <a:latin typeface="Times New Roman" panose="02020603050405020304" pitchFamily="18" charset="0"/>
                              <a:cs typeface="Times New Roman" panose="02020603050405020304" pitchFamily="18" charset="0"/>
                            </a:rPr>
                            <a:t>1</a:t>
                          </a: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smtClean="0">
                              <a:effectLst/>
                              <a:latin typeface="Times New Roman" panose="02020603050405020304" pitchFamily="18" charset="0"/>
                              <a:cs typeface="Times New Roman" panose="02020603050405020304" pitchFamily="18" charset="0"/>
                            </a:rPr>
                            <a:t>1</a:t>
                          </a: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c>
                      <a:txBody>
                        <a:bodyPr/>
                        <a:lstStyle/>
                        <a:p>
                          <a:pPr algn="ctr">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vi-V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bg1"/>
                        </a:solidFill>
                      </a:tcPr>
                    </a:tc>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3130400" y="5043326"/>
                <a:ext cx="1707519" cy="523220"/>
              </a:xfrm>
              <a:prstGeom prst="rect">
                <a:avLst/>
              </a:prstGeom>
              <a:noFill/>
            </p:spPr>
            <p:txBody>
              <a:bodyPr wrap="none" rtlCol="0">
                <a:spAutoFit/>
              </a:bodyPr>
              <a:lstStyle/>
              <a:p>
                <a:r>
                  <a:rPr lang="en-US" sz="280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14:m>
                  <m:oMath xmlns:m="http://schemas.openxmlformats.org/officeDocument/2006/math">
                    <m:r>
                      <a:rPr lang="en-US" sz="2800" i="1">
                        <a:solidFill>
                          <a:prstClr val="black"/>
                        </a:solidFill>
                        <a:latin typeface="Cambria Math" panose="02040503050406030204" pitchFamily="18" charset="0"/>
                      </a:rPr>
                      <m:t> </m:t>
                    </m:r>
                    <m:acc>
                      <m:accPr>
                        <m:chr m:val="̅"/>
                        <m:ctrlPr>
                          <a:rPr lang="vi-VN" sz="2800" i="1">
                            <a:solidFill>
                              <a:srgbClr val="FF0000"/>
                            </a:solidFill>
                            <a:latin typeface="Cambria Math" panose="02040503050406030204" pitchFamily="18" charset="0"/>
                          </a:rPr>
                        </m:ctrlPr>
                      </m:accPr>
                      <m:e>
                        <m:r>
                          <a:rPr lang="en-US" sz="2800" i="1">
                            <a:solidFill>
                              <a:srgbClr val="FF0000"/>
                            </a:solidFill>
                            <a:latin typeface="Cambria Math"/>
                          </a:rPr>
                          <m:t>𝑧</m:t>
                        </m:r>
                      </m:e>
                    </m:acc>
                    <m:r>
                      <a:rPr lang="en-US" sz="2800" i="1">
                        <a:solidFill>
                          <a:prstClr val="black"/>
                        </a:solidFill>
                        <a:latin typeface="Cambria Math"/>
                      </a:rPr>
                      <m:t>+ </m:t>
                    </m:r>
                    <m:acc>
                      <m:accPr>
                        <m:chr m:val="̅"/>
                        <m:ctrlPr>
                          <a:rPr lang="vi-VN" sz="2800" i="1">
                            <a:solidFill>
                              <a:srgbClr val="0070C0"/>
                            </a:solidFill>
                            <a:latin typeface="Cambria Math" panose="02040503050406030204" pitchFamily="18" charset="0"/>
                          </a:rPr>
                        </m:ctrlPr>
                      </m:accPr>
                      <m:e>
                        <m:r>
                          <a:rPr lang="en-US" sz="2800" i="1">
                            <a:solidFill>
                              <a:srgbClr val="0070C0"/>
                            </a:solidFill>
                            <a:latin typeface="Cambria Math"/>
                          </a:rPr>
                          <m:t>𝑥</m:t>
                        </m:r>
                      </m:e>
                    </m:acc>
                    <m:r>
                      <a:rPr lang="en-US" sz="2800" i="1">
                        <a:solidFill>
                          <a:srgbClr val="0070C0"/>
                        </a:solidFill>
                        <a:latin typeface="Cambria Math"/>
                      </a:rPr>
                      <m:t>𝑦</m:t>
                    </m:r>
                  </m:oMath>
                </a14:m>
                <a:endParaRPr lang="vi-VN" sz="2800">
                  <a:solidFill>
                    <a:prstClr val="black"/>
                  </a:solidFill>
                  <a:latin typeface="Times New Roman" panose="02020603050405020304" pitchFamily="18"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130400" y="5043326"/>
                <a:ext cx="1707519" cy="523220"/>
              </a:xfrm>
              <a:prstGeom prst="rect">
                <a:avLst/>
              </a:prstGeom>
              <a:blipFill rotWithShape="0">
                <a:blip r:embed="rId3"/>
                <a:stretch>
                  <a:fillRect l="-7500" t="-12791" b="-30233"/>
                </a:stretch>
              </a:blipFill>
            </p:spPr>
            <p:txBody>
              <a:bodyPr/>
              <a:lstStyle/>
              <a:p>
                <a:r>
                  <a:rPr lang="en-US">
                    <a:noFill/>
                  </a:rPr>
                  <a:t> </a:t>
                </a:r>
              </a:p>
            </p:txBody>
          </p:sp>
        </mc:Fallback>
      </mc:AlternateContent>
      <p:sp>
        <p:nvSpPr>
          <p:cNvPr id="11" name="Rounded Rectangle 10"/>
          <p:cNvSpPr/>
          <p:nvPr/>
        </p:nvSpPr>
        <p:spPr>
          <a:xfrm>
            <a:off x="3641575" y="3329943"/>
            <a:ext cx="1224136" cy="122413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prstClr val="white"/>
              </a:solidFill>
            </a:endParaRPr>
          </a:p>
        </p:txBody>
      </p:sp>
      <p:sp>
        <p:nvSpPr>
          <p:cNvPr id="12" name="Rounded Rectangle 11"/>
          <p:cNvSpPr/>
          <p:nvPr/>
        </p:nvSpPr>
        <p:spPr>
          <a:xfrm>
            <a:off x="2849487" y="4050023"/>
            <a:ext cx="1224136" cy="504056"/>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prstClr val="white"/>
              </a:solidFill>
            </a:endParaRPr>
          </a:p>
        </p:txBody>
      </p:sp>
      <mc:AlternateContent xmlns:mc="http://schemas.openxmlformats.org/markup-compatibility/2006" xmlns:a14="http://schemas.microsoft.com/office/drawing/2010/main">
        <mc:Choice Requires="a14">
          <p:sp>
            <p:nvSpPr>
              <p:cNvPr id="13" name="TextBox 12"/>
              <p:cNvSpPr txBox="1"/>
              <p:nvPr/>
            </p:nvSpPr>
            <p:spPr>
              <a:xfrm>
                <a:off x="152400" y="609600"/>
                <a:ext cx="7446664" cy="1661993"/>
              </a:xfrm>
              <a:prstGeom prst="rect">
                <a:avLst/>
              </a:prstGeom>
              <a:noFill/>
            </p:spPr>
            <p:txBody>
              <a:bodyPr wrap="square" rtlCol="0">
                <a:spAutoFit/>
              </a:bodyPr>
              <a:lstStyle/>
              <a:p>
                <a:r>
                  <a:rPr lang="fr-FR" sz="2800">
                    <a:solidFill>
                      <a:prstClr val="black"/>
                    </a:solidFill>
                    <a:latin typeface="Times New Roman" panose="02020603050405020304" pitchFamily="18" charset="0"/>
                    <a:cs typeface="Times New Roman" panose="02020603050405020304" pitchFamily="18" charset="0"/>
                  </a:rPr>
                  <a:t>VD: </a:t>
                </a:r>
                <a:r>
                  <a:rPr lang="fr-FR" sz="2800" err="1">
                    <a:solidFill>
                      <a:prstClr val="black"/>
                    </a:solidFill>
                    <a:latin typeface="Times New Roman" panose="02020603050405020304" pitchFamily="18" charset="0"/>
                    <a:cs typeface="Times New Roman" panose="02020603050405020304" pitchFamily="18" charset="0"/>
                  </a:rPr>
                  <a:t>Dùng</a:t>
                </a:r>
                <a:r>
                  <a:rPr lang="fr-FR" sz="2800">
                    <a:solidFill>
                      <a:prstClr val="black"/>
                    </a:solidFill>
                    <a:latin typeface="Times New Roman" panose="02020603050405020304" pitchFamily="18" charset="0"/>
                    <a:cs typeface="Times New Roman" panose="02020603050405020304" pitchFamily="18" charset="0"/>
                  </a:rPr>
                  <a:t> </a:t>
                </a:r>
                <a:r>
                  <a:rPr lang="fr-FR" sz="2800" err="1">
                    <a:solidFill>
                      <a:prstClr val="black"/>
                    </a:solidFill>
                    <a:latin typeface="Times New Roman" panose="02020603050405020304" pitchFamily="18" charset="0"/>
                    <a:cs typeface="Times New Roman" panose="02020603050405020304" pitchFamily="18" charset="0"/>
                  </a:rPr>
                  <a:t>bảng</a:t>
                </a:r>
                <a:r>
                  <a:rPr lang="fr-FR" sz="2800">
                    <a:solidFill>
                      <a:prstClr val="black"/>
                    </a:solidFill>
                    <a:latin typeface="Times New Roman" panose="02020603050405020304" pitchFamily="18" charset="0"/>
                    <a:cs typeface="Times New Roman" panose="02020603050405020304" pitchFamily="18" charset="0"/>
                  </a:rPr>
                  <a:t> </a:t>
                </a:r>
                <a:r>
                  <a:rPr lang="fr-FR" sz="2800" err="1">
                    <a:solidFill>
                      <a:prstClr val="black"/>
                    </a:solidFill>
                    <a:latin typeface="Times New Roman" panose="02020603050405020304" pitchFamily="18" charset="0"/>
                    <a:cs typeface="Times New Roman" panose="02020603050405020304" pitchFamily="18" charset="0"/>
                  </a:rPr>
                  <a:t>Karnaugh</a:t>
                </a:r>
                <a:r>
                  <a:rPr lang="fr-FR" sz="2800">
                    <a:solidFill>
                      <a:prstClr val="black"/>
                    </a:solidFill>
                    <a:latin typeface="Times New Roman" panose="02020603050405020304" pitchFamily="18" charset="0"/>
                    <a:cs typeface="Times New Roman" panose="02020603050405020304" pitchFamily="18" charset="0"/>
                  </a:rPr>
                  <a:t> 3 </a:t>
                </a:r>
                <a:r>
                  <a:rPr lang="fr-FR" sz="2800" err="1">
                    <a:solidFill>
                      <a:prstClr val="black"/>
                    </a:solidFill>
                    <a:latin typeface="Times New Roman" panose="02020603050405020304" pitchFamily="18" charset="0"/>
                    <a:cs typeface="Times New Roman" panose="02020603050405020304" pitchFamily="18" charset="0"/>
                  </a:rPr>
                  <a:t>biến</a:t>
                </a:r>
                <a:r>
                  <a:rPr lang="fr-FR" sz="2800">
                    <a:solidFill>
                      <a:prstClr val="black"/>
                    </a:solidFill>
                    <a:latin typeface="Times New Roman" panose="02020603050405020304" pitchFamily="18" charset="0"/>
                    <a:cs typeface="Times New Roman" panose="02020603050405020304" pitchFamily="18" charset="0"/>
                  </a:rPr>
                  <a:t> </a:t>
                </a:r>
                <a:r>
                  <a:rPr lang="fr-FR" sz="2800" err="1">
                    <a:solidFill>
                      <a:prstClr val="black"/>
                    </a:solidFill>
                    <a:latin typeface="Times New Roman" panose="02020603050405020304" pitchFamily="18" charset="0"/>
                    <a:cs typeface="Times New Roman" panose="02020603050405020304" pitchFamily="18" charset="0"/>
                  </a:rPr>
                  <a:t>để</a:t>
                </a:r>
                <a:r>
                  <a:rPr lang="fr-FR" sz="2800">
                    <a:solidFill>
                      <a:prstClr val="black"/>
                    </a:solidFill>
                    <a:latin typeface="Times New Roman" panose="02020603050405020304" pitchFamily="18" charset="0"/>
                    <a:cs typeface="Times New Roman" panose="02020603050405020304" pitchFamily="18" charset="0"/>
                  </a:rPr>
                  <a:t> </a:t>
                </a:r>
                <a:r>
                  <a:rPr lang="fr-FR" sz="2800" err="1">
                    <a:solidFill>
                      <a:prstClr val="black"/>
                    </a:solidFill>
                    <a:latin typeface="Times New Roman" panose="02020603050405020304" pitchFamily="18" charset="0"/>
                    <a:cs typeface="Times New Roman" panose="02020603050405020304" pitchFamily="18" charset="0"/>
                  </a:rPr>
                  <a:t>rút</a:t>
                </a:r>
                <a:r>
                  <a:rPr lang="fr-FR" sz="2800">
                    <a:solidFill>
                      <a:prstClr val="black"/>
                    </a:solidFill>
                    <a:latin typeface="Times New Roman" panose="02020603050405020304" pitchFamily="18" charset="0"/>
                    <a:cs typeface="Times New Roman" panose="02020603050405020304" pitchFamily="18" charset="0"/>
                  </a:rPr>
                  <a:t> gọn tổng </a:t>
                </a:r>
                <a:r>
                  <a:rPr lang="fr-FR" sz="2800" err="1">
                    <a:solidFill>
                      <a:prstClr val="black"/>
                    </a:solidFill>
                    <a:latin typeface="Times New Roman" panose="02020603050405020304" pitchFamily="18" charset="0"/>
                    <a:cs typeface="Times New Roman" panose="02020603050405020304" pitchFamily="18" charset="0"/>
                  </a:rPr>
                  <a:t>các</a:t>
                </a:r>
                <a:r>
                  <a:rPr lang="fr-FR" sz="2800">
                    <a:solidFill>
                      <a:prstClr val="black"/>
                    </a:solidFill>
                    <a:latin typeface="Times New Roman" panose="02020603050405020304" pitchFamily="18" charset="0"/>
                    <a:cs typeface="Times New Roman" panose="02020603050405020304" pitchFamily="18" charset="0"/>
                  </a:rPr>
                  <a:t> </a:t>
                </a:r>
                <a:r>
                  <a:rPr lang="fr-FR" sz="2800" err="1">
                    <a:solidFill>
                      <a:prstClr val="black"/>
                    </a:solidFill>
                    <a:latin typeface="Times New Roman" panose="02020603050405020304" pitchFamily="18" charset="0"/>
                    <a:cs typeface="Times New Roman" panose="02020603050405020304" pitchFamily="18" charset="0"/>
                  </a:rPr>
                  <a:t>tích</a:t>
                </a:r>
                <a:r>
                  <a:rPr lang="fr-FR" sz="2800">
                    <a:solidFill>
                      <a:prstClr val="black"/>
                    </a:solidFill>
                    <a:latin typeface="Times New Roman" panose="02020603050405020304" pitchFamily="18" charset="0"/>
                    <a:cs typeface="Times New Roman" panose="02020603050405020304" pitchFamily="18" charset="0"/>
                  </a:rPr>
                  <a:t> </a:t>
                </a:r>
                <a:r>
                  <a:rPr lang="fr-FR" sz="2800" err="1">
                    <a:solidFill>
                      <a:prstClr val="black"/>
                    </a:solidFill>
                    <a:latin typeface="Times New Roman" panose="02020603050405020304" pitchFamily="18" charset="0"/>
                    <a:cs typeface="Times New Roman" panose="02020603050405020304" pitchFamily="18" charset="0"/>
                  </a:rPr>
                  <a:t>sau</a:t>
                </a:r>
                <a:endParaRPr lang="vi-VN" sz="2800">
                  <a:solidFill>
                    <a:prstClr val="black"/>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800" i="1">
                          <a:solidFill>
                            <a:prstClr val="black"/>
                          </a:solidFill>
                          <a:latin typeface="Cambria Math"/>
                        </a:rPr>
                        <m:t>𝑥𝑦</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𝑧</m:t>
                          </m:r>
                        </m:e>
                      </m:acc>
                      <m:r>
                        <a:rPr lang="en-US" sz="2800" i="1">
                          <a:solidFill>
                            <a:prstClr val="black"/>
                          </a:solidFill>
                          <a:latin typeface="Cambria Math"/>
                        </a:rPr>
                        <m:t>+</m:t>
                      </m:r>
                      <m:r>
                        <a:rPr lang="en-US" sz="2800" i="1">
                          <a:solidFill>
                            <a:prstClr val="black"/>
                          </a:solidFill>
                          <a:latin typeface="Cambria Math"/>
                        </a:rPr>
                        <m:t>𝑥</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𝑦</m:t>
                          </m:r>
                        </m:e>
                      </m:acc>
                      <m:acc>
                        <m:accPr>
                          <m:chr m:val="̅"/>
                          <m:ctrlPr>
                            <a:rPr lang="en-US" sz="2800" i="1">
                              <a:solidFill>
                                <a:prstClr val="black"/>
                              </a:solidFill>
                              <a:latin typeface="Cambria Math" panose="02040503050406030204" pitchFamily="18" charset="0"/>
                            </a:rPr>
                          </m:ctrlPr>
                        </m:accPr>
                        <m:e>
                          <m:r>
                            <a:rPr lang="en-US" sz="2800" i="1">
                              <a:solidFill>
                                <a:prstClr val="black"/>
                              </a:solidFill>
                              <a:latin typeface="Cambria Math" panose="02040503050406030204" pitchFamily="18" charset="0"/>
                            </a:rPr>
                            <m:t>𝑧</m:t>
                          </m:r>
                        </m:e>
                      </m:acc>
                      <m:r>
                        <a:rPr lang="en-US" sz="2800" i="1">
                          <a:solidFill>
                            <a:prstClr val="black"/>
                          </a:solidFill>
                          <a:latin typeface="Cambria Math"/>
                        </a:rPr>
                        <m:t>+ </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𝑥</m:t>
                          </m:r>
                        </m:e>
                      </m:acc>
                      <m:r>
                        <a:rPr lang="en-US" sz="2800" i="1">
                          <a:solidFill>
                            <a:prstClr val="black"/>
                          </a:solidFill>
                          <a:latin typeface="Cambria Math"/>
                        </a:rPr>
                        <m:t>𝑦𝑧</m:t>
                      </m:r>
                      <m:r>
                        <a:rPr lang="en-US" sz="2800" i="1">
                          <a:solidFill>
                            <a:prstClr val="black"/>
                          </a:solidFill>
                          <a:latin typeface="Cambria Math"/>
                        </a:rPr>
                        <m:t>+ </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𝑥</m:t>
                          </m:r>
                        </m:e>
                      </m:acc>
                      <m:r>
                        <a:rPr lang="en-US" sz="2800" i="1">
                          <a:solidFill>
                            <a:prstClr val="black"/>
                          </a:solidFill>
                          <a:latin typeface="Cambria Math"/>
                        </a:rPr>
                        <m:t>𝑦</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𝑧</m:t>
                          </m:r>
                        </m:e>
                      </m:acc>
                      <m:r>
                        <a:rPr lang="en-US" sz="2800" i="1">
                          <a:solidFill>
                            <a:prstClr val="black"/>
                          </a:solidFill>
                          <a:latin typeface="Cambria Math"/>
                        </a:rPr>
                        <m:t>+ </m:t>
                      </m:r>
                      <m:acc>
                        <m:accPr>
                          <m:chr m:val="̅"/>
                          <m:ctrlPr>
                            <a:rPr lang="vi-VN" sz="2800" i="1">
                              <a:solidFill>
                                <a:prstClr val="black"/>
                              </a:solidFill>
                              <a:latin typeface="Cambria Math" panose="02040503050406030204" pitchFamily="18" charset="0"/>
                            </a:rPr>
                          </m:ctrlPr>
                        </m:accPr>
                        <m:e>
                          <m:r>
                            <a:rPr lang="en-US" sz="2800" i="1">
                              <a:solidFill>
                                <a:prstClr val="black"/>
                              </a:solidFill>
                              <a:latin typeface="Cambria Math"/>
                            </a:rPr>
                            <m:t>𝑥</m:t>
                          </m:r>
                        </m:e>
                      </m:acc>
                      <m:acc>
                        <m:accPr>
                          <m:chr m:val="̅"/>
                          <m:ctrlPr>
                            <a:rPr lang="en-US" sz="2800" i="1">
                              <a:solidFill>
                                <a:prstClr val="black"/>
                              </a:solidFill>
                              <a:latin typeface="Cambria Math" panose="02040503050406030204" pitchFamily="18" charset="0"/>
                            </a:rPr>
                          </m:ctrlPr>
                        </m:accPr>
                        <m:e>
                          <m:r>
                            <a:rPr lang="en-US" sz="2800" i="1">
                              <a:solidFill>
                                <a:prstClr val="black"/>
                              </a:solidFill>
                              <a:latin typeface="Cambria Math" panose="02040503050406030204" pitchFamily="18" charset="0"/>
                            </a:rPr>
                            <m:t>𝑦</m:t>
                          </m:r>
                        </m:e>
                      </m:acc>
                      <m:acc>
                        <m:accPr>
                          <m:chr m:val="̅"/>
                          <m:ctrlPr>
                            <a:rPr lang="en-US" sz="2800" i="1">
                              <a:solidFill>
                                <a:prstClr val="black"/>
                              </a:solidFill>
                              <a:latin typeface="Cambria Math" panose="02040503050406030204" pitchFamily="18" charset="0"/>
                            </a:rPr>
                          </m:ctrlPr>
                        </m:accPr>
                        <m:e>
                          <m:r>
                            <a:rPr lang="en-US" sz="2800" i="1">
                              <a:solidFill>
                                <a:prstClr val="black"/>
                              </a:solidFill>
                              <a:latin typeface="Cambria Math" panose="02040503050406030204" pitchFamily="18" charset="0"/>
                            </a:rPr>
                            <m:t>𝑧</m:t>
                          </m:r>
                        </m:e>
                      </m:acc>
                    </m:oMath>
                  </m:oMathPara>
                </a14:m>
                <a:endParaRPr lang="vi-VN" sz="2800">
                  <a:solidFill>
                    <a:prstClr val="black"/>
                  </a:solidFill>
                  <a:latin typeface="Times New Roman" panose="02020603050405020304" pitchFamily="18" charset="0"/>
                  <a:cs typeface="Times New Roman" panose="02020603050405020304" pitchFamily="18" charset="0"/>
                </a:endParaRPr>
              </a:p>
              <a:p>
                <a:endParaRPr lang="vi-VN">
                  <a:solidFill>
                    <a:prstClr val="black"/>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52400" y="609600"/>
                <a:ext cx="7446664" cy="1661993"/>
              </a:xfrm>
              <a:prstGeom prst="rect">
                <a:avLst/>
              </a:prstGeom>
              <a:blipFill rotWithShape="0">
                <a:blip r:embed="rId4"/>
                <a:stretch>
                  <a:fillRect l="-1637" t="-3663"/>
                </a:stretch>
              </a:blipFill>
            </p:spPr>
            <p:txBody>
              <a:bodyPr/>
              <a:lstStyle/>
              <a:p>
                <a:r>
                  <a:rPr lang="en-US">
                    <a:noFill/>
                  </a:rPr>
                  <a:t> </a:t>
                </a:r>
              </a:p>
            </p:txBody>
          </p:sp>
        </mc:Fallback>
      </mc:AlternateContent>
      <p:sp>
        <p:nvSpPr>
          <p:cNvPr id="8"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9"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0" name="Slide Number Placeholder 6"/>
          <p:cNvSpPr>
            <a:spLocks noGrp="1"/>
          </p:cNvSpPr>
          <p:nvPr>
            <p:ph type="sldNum" sz="quarter" idx="12"/>
          </p:nvPr>
        </p:nvSpPr>
        <p:spPr>
          <a:xfrm>
            <a:off x="7848600" y="6492874"/>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16</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animBg="1"/>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685800"/>
            <a:ext cx="5184775" cy="1077913"/>
          </a:xfrm>
          <a:prstGeom prst="rect">
            <a:avLst/>
          </a:prstGeom>
          <a:noFill/>
        </p:spPr>
        <p:txBody>
          <a:bodyPr>
            <a:spAutoFit/>
          </a:bodyPr>
          <a:lstStyle/>
          <a:p>
            <a:pPr>
              <a:defRPr/>
            </a:pPr>
            <a:r>
              <a:rPr lang="en-US" sz="3200" b="1">
                <a:solidFill>
                  <a:schemeClr val="accent1"/>
                </a:solidFill>
              </a:rPr>
              <a:t>Karnaugh 4 </a:t>
            </a:r>
            <a:r>
              <a:rPr lang="en-US" sz="3200" b="1" err="1">
                <a:solidFill>
                  <a:schemeClr val="accent1"/>
                </a:solidFill>
              </a:rPr>
              <a:t>biến</a:t>
            </a:r>
            <a:endParaRPr lang="vi-VN" sz="3200" b="1">
              <a:solidFill>
                <a:schemeClr val="accent1"/>
              </a:solidFill>
            </a:endParaRPr>
          </a:p>
          <a:p>
            <a:pPr marL="514350" indent="-514350">
              <a:buFont typeface="+mj-lt"/>
              <a:buAutoNum type="alphaUcPeriod"/>
              <a:defRPr/>
            </a:pPr>
            <a:endParaRPr lang="vi-VN" sz="3200" b="1">
              <a:solidFill>
                <a:srgbClr val="0070C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328454504"/>
              </p:ext>
            </p:extLst>
          </p:nvPr>
        </p:nvGraphicFramePr>
        <p:xfrm>
          <a:off x="1447800" y="2514600"/>
          <a:ext cx="4392489" cy="3456382"/>
        </p:xfrm>
        <a:graphic>
          <a:graphicData uri="http://schemas.openxmlformats.org/drawingml/2006/table">
            <a:tbl>
              <a:tblPr firstRow="1" firstCol="1" bandRow="1">
                <a:tableStyleId>{5940675A-B579-460E-94D1-54222C63F5DA}</a:tableStyleId>
              </a:tblPr>
              <a:tblGrid>
                <a:gridCol w="878170">
                  <a:extLst>
                    <a:ext uri="{9D8B030D-6E8A-4147-A177-3AD203B41FA5}">
                      <a16:colId xmlns:a16="http://schemas.microsoft.com/office/drawing/2014/main" val="20000"/>
                    </a:ext>
                  </a:extLst>
                </a:gridCol>
                <a:gridCol w="878170">
                  <a:extLst>
                    <a:ext uri="{9D8B030D-6E8A-4147-A177-3AD203B41FA5}">
                      <a16:colId xmlns:a16="http://schemas.microsoft.com/office/drawing/2014/main" val="20001"/>
                    </a:ext>
                  </a:extLst>
                </a:gridCol>
                <a:gridCol w="878170">
                  <a:extLst>
                    <a:ext uri="{9D8B030D-6E8A-4147-A177-3AD203B41FA5}">
                      <a16:colId xmlns:a16="http://schemas.microsoft.com/office/drawing/2014/main" val="20002"/>
                    </a:ext>
                  </a:extLst>
                </a:gridCol>
                <a:gridCol w="878170">
                  <a:extLst>
                    <a:ext uri="{9D8B030D-6E8A-4147-A177-3AD203B41FA5}">
                      <a16:colId xmlns:a16="http://schemas.microsoft.com/office/drawing/2014/main" val="20003"/>
                    </a:ext>
                  </a:extLst>
                </a:gridCol>
                <a:gridCol w="879809">
                  <a:extLst>
                    <a:ext uri="{9D8B030D-6E8A-4147-A177-3AD203B41FA5}">
                      <a16:colId xmlns:a16="http://schemas.microsoft.com/office/drawing/2014/main" val="20004"/>
                    </a:ext>
                  </a:extLst>
                </a:gridCol>
              </a:tblGrid>
              <a:tr h="680470">
                <a:tc>
                  <a:txBody>
                    <a:bodyPr/>
                    <a:lstStyle/>
                    <a:p>
                      <a:pPr algn="ctr">
                        <a:lnSpc>
                          <a:spcPct val="115000"/>
                        </a:lnSpc>
                        <a:spcAft>
                          <a:spcPts val="0"/>
                        </a:spcAft>
                      </a:pPr>
                      <a:r>
                        <a:rPr lang="en-US" sz="2400"/>
                        <a:t> </a:t>
                      </a:r>
                      <a:endParaRPr lang="vi-VN" sz="2400"/>
                    </a:p>
                  </a:txBody>
                  <a:tcPr marL="68580" marR="68580" marT="0" marB="0" anchor="ctr"/>
                </a:tc>
                <a:tc>
                  <a:txBody>
                    <a:bodyPr/>
                    <a:lstStyle/>
                    <a:p>
                      <a:endParaRPr lang="en-US"/>
                    </a:p>
                  </a:txBody>
                  <a:tcPr marL="68580" marR="68580" marT="0" marB="0" anchor="ctr">
                    <a:blipFill rotWithShape="0">
                      <a:blip r:embed="rId2"/>
                      <a:stretch>
                        <a:fillRect l="-100694" t="-893" r="-302083" b="-408929"/>
                      </a:stretch>
                    </a:blipFill>
                  </a:tcPr>
                </a:tc>
                <a:tc>
                  <a:txBody>
                    <a:bodyPr/>
                    <a:lstStyle/>
                    <a:p>
                      <a:endParaRPr lang="en-US"/>
                    </a:p>
                  </a:txBody>
                  <a:tcPr marL="68580" marR="68580" marT="0" marB="0" anchor="ctr">
                    <a:blipFill rotWithShape="0">
                      <a:blip r:embed="rId2"/>
                      <a:stretch>
                        <a:fillRect l="-200694" t="-893" r="-202083" b="-408929"/>
                      </a:stretch>
                    </a:blipFill>
                  </a:tcPr>
                </a:tc>
                <a:tc>
                  <a:txBody>
                    <a:bodyPr/>
                    <a:lstStyle/>
                    <a:p>
                      <a:endParaRPr lang="en-US"/>
                    </a:p>
                  </a:txBody>
                  <a:tcPr marL="68580" marR="68580" marT="0" marB="0" anchor="ctr">
                    <a:blipFill rotWithShape="0">
                      <a:blip r:embed="rId2"/>
                      <a:stretch>
                        <a:fillRect l="-298621" t="-893" r="-100690" b="-408929"/>
                      </a:stretch>
                    </a:blipFill>
                  </a:tcPr>
                </a:tc>
                <a:tc>
                  <a:txBody>
                    <a:bodyPr/>
                    <a:lstStyle/>
                    <a:p>
                      <a:endParaRPr lang="en-US"/>
                    </a:p>
                  </a:txBody>
                  <a:tcPr marL="68580" marR="68580" marT="0" marB="0" anchor="ctr">
                    <a:blipFill rotWithShape="0">
                      <a:blip r:embed="rId2"/>
                      <a:stretch>
                        <a:fillRect l="-401389" t="-893" r="-1389" b="-408929"/>
                      </a:stretch>
                    </a:blipFill>
                  </a:tcPr>
                </a:tc>
                <a:extLst>
                  <a:ext uri="{0D108BD9-81ED-4DB2-BD59-A6C34878D82A}">
                    <a16:rowId xmlns:a16="http://schemas.microsoft.com/office/drawing/2014/main" val="10000"/>
                  </a:ext>
                </a:extLst>
              </a:tr>
              <a:tr h="707486">
                <a:tc>
                  <a:txBody>
                    <a:bodyPr/>
                    <a:lstStyle/>
                    <a:p>
                      <a:endParaRPr lang="en-US"/>
                    </a:p>
                  </a:txBody>
                  <a:tcPr marL="68580" marR="68580" marT="0" marB="0" anchor="ctr">
                    <a:blipFill rotWithShape="0">
                      <a:blip r:embed="rId2"/>
                      <a:stretch>
                        <a:fillRect l="-694" t="-97414" r="-402083" b="-294828"/>
                      </a:stretch>
                    </a:blipFill>
                  </a:tcP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extLst>
                  <a:ext uri="{0D108BD9-81ED-4DB2-BD59-A6C34878D82A}">
                    <a16:rowId xmlns:a16="http://schemas.microsoft.com/office/drawing/2014/main" val="10001"/>
                  </a:ext>
                </a:extLst>
              </a:tr>
              <a:tr h="680470">
                <a:tc>
                  <a:txBody>
                    <a:bodyPr/>
                    <a:lstStyle/>
                    <a:p>
                      <a:endParaRPr lang="en-US"/>
                    </a:p>
                  </a:txBody>
                  <a:tcPr marL="68580" marR="68580" marT="0" marB="0" anchor="ctr">
                    <a:blipFill rotWithShape="0">
                      <a:blip r:embed="rId2"/>
                      <a:stretch>
                        <a:fillRect l="-694" t="-204464" r="-402083" b="-205357"/>
                      </a:stretch>
                    </a:blipFill>
                  </a:tcP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extLst>
                  <a:ext uri="{0D108BD9-81ED-4DB2-BD59-A6C34878D82A}">
                    <a16:rowId xmlns:a16="http://schemas.microsoft.com/office/drawing/2014/main" val="10002"/>
                  </a:ext>
                </a:extLst>
              </a:tr>
              <a:tr h="680470">
                <a:tc>
                  <a:txBody>
                    <a:bodyPr/>
                    <a:lstStyle/>
                    <a:p>
                      <a:endParaRPr lang="en-US"/>
                    </a:p>
                  </a:txBody>
                  <a:tcPr marL="68580" marR="68580" marT="0" marB="0" anchor="ctr">
                    <a:blipFill rotWithShape="0">
                      <a:blip r:embed="rId2"/>
                      <a:stretch>
                        <a:fillRect l="-694" t="-304464" r="-402083" b="-105357"/>
                      </a:stretch>
                    </a:blipFill>
                  </a:tcP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extLst>
                  <a:ext uri="{0D108BD9-81ED-4DB2-BD59-A6C34878D82A}">
                    <a16:rowId xmlns:a16="http://schemas.microsoft.com/office/drawing/2014/main" val="10003"/>
                  </a:ext>
                </a:extLst>
              </a:tr>
              <a:tr h="707486">
                <a:tc>
                  <a:txBody>
                    <a:bodyPr/>
                    <a:lstStyle/>
                    <a:p>
                      <a:endParaRPr lang="en-US"/>
                    </a:p>
                  </a:txBody>
                  <a:tcPr marL="68580" marR="68580" marT="0" marB="0" anchor="ctr">
                    <a:blipFill rotWithShape="0">
                      <a:blip r:embed="rId2"/>
                      <a:stretch>
                        <a:fillRect l="-694" t="-390517" r="-402083" b="-1724"/>
                      </a:stretch>
                    </a:blipFill>
                  </a:tcP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tc>
                  <a:txBody>
                    <a:bodyPr/>
                    <a:lstStyle/>
                    <a:p>
                      <a:pPr algn="ctr">
                        <a:lnSpc>
                          <a:spcPct val="115000"/>
                        </a:lnSpc>
                        <a:spcAft>
                          <a:spcPts val="0"/>
                        </a:spcAft>
                      </a:pPr>
                      <a:r>
                        <a:rPr lang="en-US" sz="2400"/>
                        <a:t> </a:t>
                      </a:r>
                      <a:endParaRPr lang="vi-VN" sz="2400"/>
                    </a:p>
                  </a:txBody>
                  <a:tcPr marL="68580" marR="68580" marT="0" marB="0" anchor="ctr"/>
                </a:tc>
                <a:extLst>
                  <a:ext uri="{0D108BD9-81ED-4DB2-BD59-A6C34878D82A}">
                    <a16:rowId xmlns:a16="http://schemas.microsoft.com/office/drawing/2014/main" val="10004"/>
                  </a:ext>
                </a:extLst>
              </a:tr>
            </a:tbl>
          </a:graphicData>
        </a:graphic>
      </p:graphicFrame>
      <p:sp>
        <p:nvSpPr>
          <p:cNvPr id="6" name="TextBox 5"/>
          <p:cNvSpPr txBox="1">
            <a:spLocks noChangeArrowheads="1"/>
          </p:cNvSpPr>
          <p:nvPr/>
        </p:nvSpPr>
        <p:spPr bwMode="auto">
          <a:xfrm>
            <a:off x="838200" y="1763713"/>
            <a:ext cx="7446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Font typeface="Arial" panose="020B0604020202020204" pitchFamily="34" charset="0"/>
              <a:buChar char="•"/>
            </a:pPr>
            <a:r>
              <a:rPr lang="en-US" sz="2800">
                <a:solidFill>
                  <a:srgbClr val="000000"/>
                </a:solidFill>
                <a:latin typeface="Times New Roman" panose="02020603050405020304" pitchFamily="18" charset="0"/>
                <a:cs typeface="Times New Roman" panose="02020603050405020304" pitchFamily="18" charset="0"/>
              </a:rPr>
              <a:t>Bảng gồm 16 ô vuông như sau:</a:t>
            </a:r>
            <a:endParaRPr lang="vi-VN" sz="2800">
              <a:solidFill>
                <a:srgbClr val="000000"/>
              </a:solidFill>
              <a:latin typeface="Times New Roman" panose="02020603050405020304" pitchFamily="18" charset="0"/>
              <a:cs typeface="Times New Roman" panose="02020603050405020304" pitchFamily="18" charset="0"/>
            </a:endParaRPr>
          </a:p>
        </p:txBody>
      </p:sp>
      <p:sp>
        <p:nvSpPr>
          <p:cNvPr id="7"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8"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9" name="Slide Number Placeholder 6"/>
          <p:cNvSpPr>
            <a:spLocks noGrp="1"/>
          </p:cNvSpPr>
          <p:nvPr>
            <p:ph type="sldNum" sz="quarter" idx="12"/>
          </p:nvPr>
        </p:nvSpPr>
        <p:spPr>
          <a:xfrm>
            <a:off x="7848600" y="6492874"/>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17</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82706" y="364217"/>
                <a:ext cx="9085584" cy="950517"/>
              </a:xfrm>
              <a:prstGeom prst="rect">
                <a:avLst/>
              </a:prstGeom>
              <a:noFill/>
            </p:spPr>
            <p:txBody>
              <a:bodyPr wrap="square" rtlCol="0">
                <a:spAutoFit/>
              </a:bodyPr>
              <a:lstStyle/>
              <a:p>
                <a:pPr>
                  <a:lnSpc>
                    <a:spcPct val="150000"/>
                  </a:lnSpc>
                </a:pPr>
                <a:r>
                  <a:rPr lang="en-US" dirty="0">
                    <a:solidFill>
                      <a:prstClr val="black"/>
                    </a:solidFill>
                  </a:rPr>
                  <a:t>VD: </a:t>
                </a:r>
                <a:r>
                  <a:rPr lang="en-US" dirty="0" err="1">
                    <a:solidFill>
                      <a:prstClr val="black"/>
                    </a:solidFill>
                  </a:rPr>
                  <a:t>Dùng</a:t>
                </a:r>
                <a:r>
                  <a:rPr lang="en-US" dirty="0">
                    <a:solidFill>
                      <a:prstClr val="black"/>
                    </a:solidFill>
                  </a:rPr>
                  <a:t> </a:t>
                </a:r>
                <a:r>
                  <a:rPr lang="en-US" dirty="0" err="1">
                    <a:solidFill>
                      <a:prstClr val="black"/>
                    </a:solidFill>
                  </a:rPr>
                  <a:t>bảng</a:t>
                </a:r>
                <a:r>
                  <a:rPr lang="en-US" dirty="0">
                    <a:solidFill>
                      <a:prstClr val="black"/>
                    </a:solidFill>
                  </a:rPr>
                  <a:t> Karnaugh 4 </a:t>
                </a:r>
                <a:r>
                  <a:rPr lang="en-US" dirty="0" err="1">
                    <a:solidFill>
                      <a:prstClr val="black"/>
                    </a:solidFill>
                  </a:rPr>
                  <a:t>biến</a:t>
                </a:r>
                <a:r>
                  <a:rPr lang="en-US" dirty="0">
                    <a:solidFill>
                      <a:prstClr val="black"/>
                    </a:solidFill>
                  </a:rPr>
                  <a:t> </a:t>
                </a:r>
                <a:r>
                  <a:rPr lang="en-US" dirty="0" err="1">
                    <a:solidFill>
                      <a:prstClr val="black"/>
                    </a:solidFill>
                  </a:rPr>
                  <a:t>để</a:t>
                </a:r>
                <a:r>
                  <a:rPr lang="en-US" dirty="0">
                    <a:solidFill>
                      <a:prstClr val="black"/>
                    </a:solidFill>
                  </a:rPr>
                  <a:t> </a:t>
                </a:r>
                <a:r>
                  <a:rPr lang="en-US" b="1" dirty="0" err="1">
                    <a:solidFill>
                      <a:prstClr val="black"/>
                    </a:solidFill>
                  </a:rPr>
                  <a:t>rút</a:t>
                </a:r>
                <a:r>
                  <a:rPr lang="en-US" b="1" dirty="0">
                    <a:solidFill>
                      <a:prstClr val="black"/>
                    </a:solidFill>
                  </a:rPr>
                  <a:t> </a:t>
                </a:r>
                <a:r>
                  <a:rPr lang="en-US" b="1" dirty="0" err="1">
                    <a:solidFill>
                      <a:prstClr val="black"/>
                    </a:solidFill>
                  </a:rPr>
                  <a:t>gọn</a:t>
                </a:r>
                <a:r>
                  <a:rPr lang="en-US" b="1" dirty="0">
                    <a:solidFill>
                      <a:prstClr val="black"/>
                    </a:solidFill>
                  </a:rPr>
                  <a:t> </a:t>
                </a:r>
                <a:r>
                  <a:rPr lang="en-US" dirty="0" err="1">
                    <a:solidFill>
                      <a:prstClr val="black"/>
                    </a:solidFill>
                  </a:rPr>
                  <a:t>hàm</a:t>
                </a:r>
                <a:r>
                  <a:rPr lang="en-US" dirty="0">
                    <a:solidFill>
                      <a:prstClr val="black"/>
                    </a:solidFill>
                  </a:rPr>
                  <a:t> </a:t>
                </a:r>
                <a:r>
                  <a:rPr lang="en-US" dirty="0" err="1">
                    <a:solidFill>
                      <a:prstClr val="black"/>
                    </a:solidFill>
                  </a:rPr>
                  <a:t>sau</a:t>
                </a:r>
                <a:r>
                  <a:rPr lang="en-US" dirty="0">
                    <a:solidFill>
                      <a:prstClr val="black"/>
                    </a:solidFill>
                  </a:rPr>
                  <a:t>:</a:t>
                </a:r>
                <a:endParaRPr lang="vi-VN" dirty="0">
                  <a:solidFill>
                    <a:prstClr val="black"/>
                  </a:solidFill>
                </a:endParaRPr>
              </a:p>
              <a:p>
                <a:pPr>
                  <a:lnSpc>
                    <a:spcPct val="150000"/>
                  </a:lnSpc>
                </a:pPr>
                <a:r>
                  <a:rPr lang="en-US" sz="2200" b="1" dirty="0">
                    <a:solidFill>
                      <a:schemeClr val="accent5">
                        <a:lumMod val="50000"/>
                      </a:schemeClr>
                    </a:solidFill>
                  </a:rPr>
                  <a:t>D = </a:t>
                </a:r>
                <a14:m>
                  <m:oMath xmlns:m="http://schemas.openxmlformats.org/officeDocument/2006/math">
                    <m:r>
                      <a:rPr lang="en-US" sz="2200" b="1" i="1">
                        <a:solidFill>
                          <a:schemeClr val="accent5">
                            <a:lumMod val="50000"/>
                          </a:schemeClr>
                        </a:solidFill>
                        <a:latin typeface="Cambria Math"/>
                      </a:rPr>
                      <m:t>𝝎</m:t>
                    </m:r>
                    <m:r>
                      <a:rPr lang="en-US" sz="2200" b="1" i="1">
                        <a:solidFill>
                          <a:schemeClr val="accent5">
                            <a:lumMod val="50000"/>
                          </a:schemeClr>
                        </a:solidFill>
                        <a:latin typeface="Cambria Math"/>
                      </a:rPr>
                      <m:t>𝒙𝒚𝒛</m:t>
                    </m:r>
                    <m:r>
                      <a:rPr lang="en-US" sz="2200" b="1" i="1">
                        <a:solidFill>
                          <a:schemeClr val="accent5">
                            <a:lumMod val="50000"/>
                          </a:schemeClr>
                        </a:solidFill>
                        <a:latin typeface="Cambria Math"/>
                      </a:rPr>
                      <m:t>+ </m:t>
                    </m:r>
                    <m:r>
                      <a:rPr lang="en-US" sz="2200" b="1" i="1">
                        <a:solidFill>
                          <a:schemeClr val="accent5">
                            <a:lumMod val="50000"/>
                          </a:schemeClr>
                        </a:solidFill>
                        <a:latin typeface="Cambria Math"/>
                      </a:rPr>
                      <m:t>𝝎</m:t>
                    </m:r>
                    <m:r>
                      <a:rPr lang="en-US" sz="2200" b="1" i="1">
                        <a:solidFill>
                          <a:schemeClr val="accent5">
                            <a:lumMod val="50000"/>
                          </a:schemeClr>
                        </a:solidFill>
                        <a:latin typeface="Cambria Math"/>
                      </a:rPr>
                      <m:t>𝒙𝒚</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𝒛</m:t>
                        </m:r>
                      </m:e>
                    </m:acc>
                    <m:r>
                      <a:rPr lang="en-US" sz="2200" b="1" i="1">
                        <a:solidFill>
                          <a:schemeClr val="accent5">
                            <a:lumMod val="50000"/>
                          </a:schemeClr>
                        </a:solidFill>
                        <a:latin typeface="Cambria Math"/>
                      </a:rPr>
                      <m:t>+</m:t>
                    </m:r>
                    <m:r>
                      <a:rPr lang="en-US" sz="2200" b="1" i="1">
                        <a:solidFill>
                          <a:schemeClr val="accent5">
                            <a:lumMod val="50000"/>
                          </a:schemeClr>
                        </a:solidFill>
                        <a:latin typeface="Cambria Math"/>
                      </a:rPr>
                      <m:t>𝝎</m:t>
                    </m:r>
                    <m:r>
                      <a:rPr lang="en-US" sz="2200" b="1" i="1">
                        <a:solidFill>
                          <a:schemeClr val="accent5">
                            <a:lumMod val="50000"/>
                          </a:schemeClr>
                        </a:solidFill>
                        <a:latin typeface="Cambria Math"/>
                      </a:rPr>
                      <m:t>𝒙</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𝒚</m:t>
                        </m:r>
                      </m:e>
                    </m:acc>
                    <m:r>
                      <a:rPr lang="en-US" sz="2200" b="1" i="1">
                        <a:solidFill>
                          <a:schemeClr val="accent5">
                            <a:lumMod val="50000"/>
                          </a:schemeClr>
                        </a:solidFill>
                        <a:latin typeface="Cambria Math"/>
                      </a:rPr>
                      <m:t>𝒛</m:t>
                    </m:r>
                    <m:r>
                      <a:rPr lang="en-US" sz="2200" b="1" i="1">
                        <a:solidFill>
                          <a:schemeClr val="accent5">
                            <a:lumMod val="50000"/>
                          </a:schemeClr>
                        </a:solidFill>
                        <a:latin typeface="Cambria Math"/>
                      </a:rPr>
                      <m:t>+</m:t>
                    </m:r>
                    <m:r>
                      <a:rPr lang="en-US" sz="2200" b="1" i="1">
                        <a:solidFill>
                          <a:schemeClr val="accent5">
                            <a:lumMod val="50000"/>
                          </a:schemeClr>
                        </a:solidFill>
                        <a:latin typeface="Cambria Math"/>
                      </a:rPr>
                      <m:t>𝝎</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𝒙</m:t>
                        </m:r>
                      </m:e>
                    </m:acc>
                    <m:r>
                      <a:rPr lang="en-US" sz="2200" b="1" i="1">
                        <a:solidFill>
                          <a:schemeClr val="accent5">
                            <a:lumMod val="50000"/>
                          </a:schemeClr>
                        </a:solidFill>
                        <a:latin typeface="Cambria Math"/>
                      </a:rPr>
                      <m:t>𝒚</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𝒛</m:t>
                        </m:r>
                      </m:e>
                    </m:acc>
                    <m:r>
                      <a:rPr lang="en-US" sz="2200" b="1" i="1">
                        <a:solidFill>
                          <a:schemeClr val="accent5">
                            <a:lumMod val="50000"/>
                          </a:schemeClr>
                        </a:solidFill>
                        <a:latin typeface="Cambria Math"/>
                      </a:rPr>
                      <m:t>+ </m:t>
                    </m:r>
                    <m:r>
                      <a:rPr lang="en-US" sz="2200" b="1" i="1">
                        <a:solidFill>
                          <a:schemeClr val="accent5">
                            <a:lumMod val="50000"/>
                          </a:schemeClr>
                        </a:solidFill>
                        <a:latin typeface="Cambria Math"/>
                      </a:rPr>
                      <m:t>𝝎</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𝒙</m:t>
                        </m:r>
                      </m:e>
                    </m:acc>
                    <m:acc>
                      <m:accPr>
                        <m:chr m:val="̅"/>
                        <m:ctrlPr>
                          <a:rPr lang="en-US"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panose="02040503050406030204" pitchFamily="18" charset="0"/>
                          </a:rPr>
                          <m:t>𝒚</m:t>
                        </m:r>
                      </m:e>
                    </m:acc>
                    <m:r>
                      <a:rPr lang="en-US" sz="2200" b="1" i="1">
                        <a:solidFill>
                          <a:schemeClr val="accent5">
                            <a:lumMod val="50000"/>
                          </a:schemeClr>
                        </a:solidFill>
                        <a:latin typeface="Cambria Math"/>
                      </a:rPr>
                      <m:t>𝒛</m:t>
                    </m:r>
                    <m:r>
                      <a:rPr lang="en-US" sz="2200" b="1" i="1">
                        <a:solidFill>
                          <a:schemeClr val="accent5">
                            <a:lumMod val="50000"/>
                          </a:schemeClr>
                        </a:solidFill>
                        <a:latin typeface="Cambria Math"/>
                      </a:rPr>
                      <m:t>+  </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𝝎</m:t>
                        </m:r>
                      </m:e>
                    </m:acc>
                    <m:acc>
                      <m:accPr>
                        <m:chr m:val="̅"/>
                        <m:ctrlPr>
                          <a:rPr lang="en-US"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panose="02040503050406030204" pitchFamily="18" charset="0"/>
                          </a:rPr>
                          <m:t>𝒙</m:t>
                        </m:r>
                      </m:e>
                    </m:acc>
                    <m:r>
                      <a:rPr lang="en-US" sz="2200" b="1" i="1">
                        <a:solidFill>
                          <a:schemeClr val="accent5">
                            <a:lumMod val="50000"/>
                          </a:schemeClr>
                        </a:solidFill>
                        <a:latin typeface="Cambria Math"/>
                      </a:rPr>
                      <m:t>𝒚𝒛</m:t>
                    </m:r>
                    <m:r>
                      <a:rPr lang="en-US" sz="2200" b="1" i="1">
                        <a:solidFill>
                          <a:schemeClr val="accent5">
                            <a:lumMod val="50000"/>
                          </a:schemeClr>
                        </a:solidFill>
                        <a:latin typeface="Cambria Math"/>
                      </a:rPr>
                      <m:t>+ </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𝝎</m:t>
                        </m:r>
                      </m:e>
                    </m:acc>
                    <m:acc>
                      <m:accPr>
                        <m:chr m:val="̅"/>
                        <m:ctrlPr>
                          <a:rPr lang="en-US"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panose="02040503050406030204" pitchFamily="18" charset="0"/>
                          </a:rPr>
                          <m:t>𝒙</m:t>
                        </m:r>
                      </m:e>
                    </m:acc>
                    <m:acc>
                      <m:accPr>
                        <m:chr m:val="̅"/>
                        <m:ctrlPr>
                          <a:rPr lang="en-US"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panose="02040503050406030204" pitchFamily="18" charset="0"/>
                          </a:rPr>
                          <m:t>𝒚</m:t>
                        </m:r>
                      </m:e>
                    </m:acc>
                    <m:r>
                      <a:rPr lang="en-US" sz="2200" b="1" i="1">
                        <a:solidFill>
                          <a:schemeClr val="accent5">
                            <a:lumMod val="50000"/>
                          </a:schemeClr>
                        </a:solidFill>
                        <a:latin typeface="Cambria Math"/>
                      </a:rPr>
                      <m:t>𝒛</m:t>
                    </m:r>
                    <m:r>
                      <a:rPr lang="en-US" sz="2200" b="1" i="1">
                        <a:solidFill>
                          <a:schemeClr val="accent5">
                            <a:lumMod val="50000"/>
                          </a:schemeClr>
                        </a:solidFill>
                        <a:latin typeface="Cambria Math"/>
                      </a:rPr>
                      <m:t>+ </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𝝎</m:t>
                        </m:r>
                      </m:e>
                    </m:acc>
                    <m:r>
                      <a:rPr lang="en-US" sz="2200" b="1" i="1">
                        <a:solidFill>
                          <a:schemeClr val="accent5">
                            <a:lumMod val="50000"/>
                          </a:schemeClr>
                        </a:solidFill>
                        <a:latin typeface="Cambria Math"/>
                      </a:rPr>
                      <m:t>𝒙</m:t>
                    </m:r>
                    <m:acc>
                      <m:accPr>
                        <m:chr m:val="̅"/>
                        <m:ctrlPr>
                          <a:rPr lang="vi-VN" sz="2200" b="1" i="1">
                            <a:solidFill>
                              <a:schemeClr val="accent5">
                                <a:lumMod val="50000"/>
                              </a:schemeClr>
                            </a:solidFill>
                            <a:latin typeface="Cambria Math" panose="02040503050406030204" pitchFamily="18" charset="0"/>
                          </a:rPr>
                        </m:ctrlPr>
                      </m:accPr>
                      <m:e>
                        <m:r>
                          <a:rPr lang="en-US" sz="2200" b="1" i="1">
                            <a:solidFill>
                              <a:schemeClr val="accent5">
                                <a:lumMod val="50000"/>
                              </a:schemeClr>
                            </a:solidFill>
                            <a:latin typeface="Cambria Math"/>
                          </a:rPr>
                          <m:t>𝒚</m:t>
                        </m:r>
                      </m:e>
                    </m:acc>
                    <m:r>
                      <a:rPr lang="en-US" sz="2200" b="1" i="1">
                        <a:solidFill>
                          <a:schemeClr val="accent5">
                            <a:lumMod val="50000"/>
                          </a:schemeClr>
                        </a:solidFill>
                        <a:latin typeface="Cambria Math"/>
                      </a:rPr>
                      <m:t>𝒛</m:t>
                    </m:r>
                  </m:oMath>
                </a14:m>
                <a:endParaRPr lang="vi-VN" sz="2200" b="1" dirty="0">
                  <a:solidFill>
                    <a:schemeClr val="accent5">
                      <a:lumMod val="50000"/>
                    </a:schemeClr>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82706" y="364217"/>
                <a:ext cx="9085584" cy="950517"/>
              </a:xfrm>
              <a:prstGeom prst="rect">
                <a:avLst/>
              </a:prstGeom>
              <a:blipFill>
                <a:blip r:embed="rId2"/>
                <a:stretch>
                  <a:fillRect l="-872" r="-2483"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3117984409"/>
                  </p:ext>
                </p:extLst>
              </p:nvPr>
            </p:nvGraphicFramePr>
            <p:xfrm>
              <a:off x="791072" y="1661084"/>
              <a:ext cx="4176464" cy="3260326"/>
            </p:xfrm>
            <a:graphic>
              <a:graphicData uri="http://schemas.openxmlformats.org/drawingml/2006/table">
                <a:tbl>
                  <a:tblPr firstRow="1" firstCol="1" bandRow="1">
                    <a:tableStyleId>{5940675A-B579-460E-94D1-54222C63F5DA}</a:tableStyleId>
                  </a:tblPr>
                  <a:tblGrid>
                    <a:gridCol w="834981">
                      <a:extLst>
                        <a:ext uri="{9D8B030D-6E8A-4147-A177-3AD203B41FA5}">
                          <a16:colId xmlns:a16="http://schemas.microsoft.com/office/drawing/2014/main" val="20000"/>
                        </a:ext>
                      </a:extLst>
                    </a:gridCol>
                    <a:gridCol w="834981">
                      <a:extLst>
                        <a:ext uri="{9D8B030D-6E8A-4147-A177-3AD203B41FA5}">
                          <a16:colId xmlns:a16="http://schemas.microsoft.com/office/drawing/2014/main" val="20001"/>
                        </a:ext>
                      </a:extLst>
                    </a:gridCol>
                    <a:gridCol w="834981">
                      <a:extLst>
                        <a:ext uri="{9D8B030D-6E8A-4147-A177-3AD203B41FA5}">
                          <a16:colId xmlns:a16="http://schemas.microsoft.com/office/drawing/2014/main" val="20002"/>
                        </a:ext>
                      </a:extLst>
                    </a:gridCol>
                    <a:gridCol w="834981">
                      <a:extLst>
                        <a:ext uri="{9D8B030D-6E8A-4147-A177-3AD203B41FA5}">
                          <a16:colId xmlns:a16="http://schemas.microsoft.com/office/drawing/2014/main" val="20003"/>
                        </a:ext>
                      </a:extLst>
                    </a:gridCol>
                    <a:gridCol w="836540">
                      <a:extLst>
                        <a:ext uri="{9D8B030D-6E8A-4147-A177-3AD203B41FA5}">
                          <a16:colId xmlns:a16="http://schemas.microsoft.com/office/drawing/2014/main" val="20004"/>
                        </a:ext>
                      </a:extLst>
                    </a:gridCol>
                  </a:tblGrid>
                  <a:tr h="641872">
                    <a:tc>
                      <a:txBody>
                        <a:bodyPr/>
                        <a:lstStyle/>
                        <a:p>
                          <a:pPr algn="ctr">
                            <a:lnSpc>
                              <a:spcPct val="115000"/>
                            </a:lnSpc>
                            <a:spcAft>
                              <a:spcPts val="0"/>
                            </a:spcAft>
                          </a:pPr>
                          <a:r>
                            <a:rPr lang="en-US" sz="2000"/>
                            <a:t>D </a:t>
                          </a:r>
                          <a:endParaRPr lang="vi-VN" sz="200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𝑦𝑧</m:t>
                                </m:r>
                              </m:oMath>
                            </m:oMathPara>
                          </a14:m>
                          <a:endParaRPr lang="vi-VN" sz="200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𝑦</m:t>
                                </m:r>
                                <m:acc>
                                  <m:accPr>
                                    <m:chr m:val="̅"/>
                                    <m:ctrlPr>
                                      <a:rPr lang="vi-VN" sz="2000" i="1">
                                        <a:latin typeface="Cambria Math" panose="02040503050406030204" pitchFamily="18" charset="0"/>
                                      </a:rPr>
                                    </m:ctrlPr>
                                  </m:accPr>
                                  <m:e>
                                    <m:r>
                                      <a:rPr lang="en-US" sz="2000">
                                        <a:latin typeface="Cambria Math" panose="02040503050406030204" pitchFamily="18" charset="0"/>
                                      </a:rPr>
                                      <m:t>𝑧</m:t>
                                    </m:r>
                                  </m:e>
                                </m:acc>
                              </m:oMath>
                            </m:oMathPara>
                          </a14:m>
                          <a:endParaRPr lang="vi-VN" sz="200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000" i="1" smtClean="0">
                                        <a:latin typeface="Cambria Math" panose="02040503050406030204" pitchFamily="18" charset="0"/>
                                      </a:rPr>
                                    </m:ctrlPr>
                                  </m:accPr>
                                  <m:e>
                                    <m:r>
                                      <a:rPr lang="en-US" sz="2000">
                                        <a:latin typeface="Cambria Math" panose="02040503050406030204" pitchFamily="18" charset="0"/>
                                      </a:rPr>
                                      <m:t>𝑦</m:t>
                                    </m:r>
                                  </m:e>
                                </m:acc>
                                <m:acc>
                                  <m:accPr>
                                    <m:chr m:val="̅"/>
                                    <m:ctrlPr>
                                      <a:rPr lang="en-US" sz="2000" i="1" smtClean="0">
                                        <a:latin typeface="Cambria Math" panose="02040503050406030204" pitchFamily="18" charset="0"/>
                                      </a:rPr>
                                    </m:ctrlPr>
                                  </m:accPr>
                                  <m:e>
                                    <m:r>
                                      <a:rPr lang="vi-VN" sz="2000" b="0" i="1" smtClean="0">
                                        <a:latin typeface="Cambria Math" panose="02040503050406030204" pitchFamily="18" charset="0"/>
                                      </a:rPr>
                                      <m:t>𝑧</m:t>
                                    </m:r>
                                  </m:e>
                                </m:acc>
                              </m:oMath>
                            </m:oMathPara>
                          </a14:m>
                          <a:endParaRPr lang="vi-VN" sz="2000"/>
                        </a:p>
                      </a:txBody>
                      <a:tcPr marL="68580" marR="68580" marT="0" marB="0" anchor="ct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000" i="1">
                                        <a:latin typeface="Cambria Math" panose="02040503050406030204" pitchFamily="18" charset="0"/>
                                      </a:rPr>
                                    </m:ctrlPr>
                                  </m:accPr>
                                  <m:e>
                                    <m:r>
                                      <a:rPr lang="en-US" sz="2000">
                                        <a:latin typeface="Cambria Math" panose="02040503050406030204" pitchFamily="18" charset="0"/>
                                      </a:rPr>
                                      <m:t>𝑦</m:t>
                                    </m:r>
                                  </m:e>
                                </m:acc>
                                <m:r>
                                  <a:rPr lang="en-US" sz="2000">
                                    <a:latin typeface="Cambria Math" panose="02040503050406030204" pitchFamily="18" charset="0"/>
                                  </a:rPr>
                                  <m:t>𝑧</m:t>
                                </m:r>
                              </m:oMath>
                            </m:oMathPara>
                          </a14:m>
                          <a:endParaRPr lang="vi-VN" sz="2000"/>
                        </a:p>
                      </a:txBody>
                      <a:tcPr marL="68580" marR="68580" marT="0" marB="0" anchor="ctr"/>
                    </a:tc>
                    <a:extLst>
                      <a:ext uri="{0D108BD9-81ED-4DB2-BD59-A6C34878D82A}">
                        <a16:rowId xmlns:a16="http://schemas.microsoft.com/office/drawing/2014/main" val="10000"/>
                      </a:ext>
                    </a:extLst>
                  </a:tr>
                  <a:tr h="667355">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𝜔</m:t>
                                </m:r>
                                <m:r>
                                  <a:rPr lang="en-US" sz="2000">
                                    <a:latin typeface="Cambria Math" panose="02040503050406030204" pitchFamily="18" charset="0"/>
                                  </a:rPr>
                                  <m:t>𝑥</m:t>
                                </m:r>
                              </m:oMath>
                            </m:oMathPara>
                          </a14:m>
                          <a:endParaRPr lang="vi-VN" sz="2000"/>
                        </a:p>
                      </a:txBody>
                      <a:tcPr marL="68580" marR="68580" marT="0" marB="0" anchor="ctr"/>
                    </a:tc>
                    <a:tc>
                      <a:txBody>
                        <a:bodyPr/>
                        <a:lstStyle/>
                        <a:p>
                          <a:pPr algn="ctr">
                            <a:lnSpc>
                              <a:spcPct val="115000"/>
                            </a:lnSpc>
                            <a:spcAft>
                              <a:spcPts val="0"/>
                            </a:spcAft>
                          </a:pPr>
                          <a:r>
                            <a:rPr lang="en-US" sz="2000"/>
                            <a:t> 1</a:t>
                          </a:r>
                          <a:endParaRPr lang="vi-VN" sz="2000"/>
                        </a:p>
                      </a:txBody>
                      <a:tcPr marL="68580" marR="68580" marT="0" marB="0" anchor="ctr"/>
                    </a:tc>
                    <a:tc>
                      <a:txBody>
                        <a:bodyPr/>
                        <a:lstStyle/>
                        <a:p>
                          <a:pPr algn="ctr">
                            <a:lnSpc>
                              <a:spcPct val="115000"/>
                            </a:lnSpc>
                            <a:spcAft>
                              <a:spcPts val="0"/>
                            </a:spcAft>
                          </a:pPr>
                          <a:r>
                            <a:rPr lang="en-US" sz="2000"/>
                            <a:t> 1</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1 </a:t>
                          </a:r>
                          <a:endParaRPr lang="vi-VN" sz="2000"/>
                        </a:p>
                      </a:txBody>
                      <a:tcPr marL="68580" marR="68580" marT="0" marB="0" anchor="ctr"/>
                    </a:tc>
                    <a:extLst>
                      <a:ext uri="{0D108BD9-81ED-4DB2-BD59-A6C34878D82A}">
                        <a16:rowId xmlns:a16="http://schemas.microsoft.com/office/drawing/2014/main" val="10001"/>
                      </a:ext>
                    </a:extLst>
                  </a:tr>
                  <a:tr h="641872">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𝜔</m:t>
                                </m:r>
                                <m:acc>
                                  <m:accPr>
                                    <m:chr m:val="̅"/>
                                    <m:ctrlPr>
                                      <a:rPr lang="vi-VN" sz="2000" i="1">
                                        <a:latin typeface="Cambria Math" panose="02040503050406030204" pitchFamily="18" charset="0"/>
                                      </a:rPr>
                                    </m:ctrlPr>
                                  </m:accPr>
                                  <m:e>
                                    <m:r>
                                      <a:rPr lang="en-US" sz="2000">
                                        <a:latin typeface="Cambria Math" panose="02040503050406030204" pitchFamily="18" charset="0"/>
                                      </a:rPr>
                                      <m:t>𝑥</m:t>
                                    </m:r>
                                  </m:e>
                                </m:acc>
                              </m:oMath>
                            </m:oMathPara>
                          </a14:m>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1</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1</a:t>
                          </a:r>
                          <a:endParaRPr lang="vi-VN" sz="2000"/>
                        </a:p>
                      </a:txBody>
                      <a:tcPr marL="68580" marR="68580" marT="0" marB="0" anchor="ctr"/>
                    </a:tc>
                    <a:extLst>
                      <a:ext uri="{0D108BD9-81ED-4DB2-BD59-A6C34878D82A}">
                        <a16:rowId xmlns:a16="http://schemas.microsoft.com/office/drawing/2014/main" val="10002"/>
                      </a:ext>
                    </a:extLst>
                  </a:tr>
                  <a:tr h="641872">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000" i="1" smtClean="0">
                                        <a:latin typeface="Cambria Math" panose="02040503050406030204" pitchFamily="18" charset="0"/>
                                      </a:rPr>
                                    </m:ctrlPr>
                                  </m:accPr>
                                  <m:e>
                                    <m:r>
                                      <a:rPr lang="en-US" sz="2000">
                                        <a:latin typeface="Cambria Math" panose="02040503050406030204" pitchFamily="18" charset="0"/>
                                      </a:rPr>
                                      <m:t>𝜔</m:t>
                                    </m:r>
                                  </m:e>
                                </m:acc>
                                <m:acc>
                                  <m:accPr>
                                    <m:chr m:val="̅"/>
                                    <m:ctrlPr>
                                      <a:rPr lang="en-US" sz="2000" i="1" smtClean="0">
                                        <a:latin typeface="Cambria Math" panose="02040503050406030204" pitchFamily="18" charset="0"/>
                                      </a:rPr>
                                    </m:ctrlPr>
                                  </m:accPr>
                                  <m:e>
                                    <m:r>
                                      <a:rPr lang="vi-VN" sz="2000" b="0" i="1" smtClean="0">
                                        <a:latin typeface="Cambria Math" panose="02040503050406030204" pitchFamily="18" charset="0"/>
                                      </a:rPr>
                                      <m:t>𝑥</m:t>
                                    </m:r>
                                  </m:e>
                                </m:acc>
                              </m:oMath>
                            </m:oMathPara>
                          </a14:m>
                          <a:endParaRPr lang="vi-VN" sz="2000"/>
                        </a:p>
                      </a:txBody>
                      <a:tcPr marL="68580" marR="68580" marT="0" marB="0" anchor="ctr"/>
                    </a:tc>
                    <a:tc>
                      <a:txBody>
                        <a:bodyPr/>
                        <a:lstStyle/>
                        <a:p>
                          <a:pPr algn="ctr">
                            <a:lnSpc>
                              <a:spcPct val="115000"/>
                            </a:lnSpc>
                            <a:spcAft>
                              <a:spcPts val="0"/>
                            </a:spcAft>
                          </a:pPr>
                          <a:r>
                            <a:rPr lang="en-US" sz="2000"/>
                            <a:t>1 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1 </a:t>
                          </a:r>
                          <a:endParaRPr lang="vi-VN" sz="2000"/>
                        </a:p>
                      </a:txBody>
                      <a:tcPr marL="68580" marR="68580" marT="0" marB="0" anchor="ctr"/>
                    </a:tc>
                    <a:extLst>
                      <a:ext uri="{0D108BD9-81ED-4DB2-BD59-A6C34878D82A}">
                        <a16:rowId xmlns:a16="http://schemas.microsoft.com/office/drawing/2014/main" val="10003"/>
                      </a:ext>
                    </a:extLst>
                  </a:tr>
                  <a:tr h="667355">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acc>
                                  <m:accPr>
                                    <m:chr m:val="̅"/>
                                    <m:ctrlPr>
                                      <a:rPr lang="vi-VN" sz="2000" i="1">
                                        <a:latin typeface="Cambria Math" panose="02040503050406030204" pitchFamily="18" charset="0"/>
                                      </a:rPr>
                                    </m:ctrlPr>
                                  </m:accPr>
                                  <m:e>
                                    <m:r>
                                      <a:rPr lang="en-US" sz="2000">
                                        <a:latin typeface="Cambria Math" panose="02040503050406030204" pitchFamily="18" charset="0"/>
                                      </a:rPr>
                                      <m:t>𝜔</m:t>
                                    </m:r>
                                  </m:e>
                                </m:acc>
                                <m:r>
                                  <a:rPr lang="en-US" sz="2000">
                                    <a:latin typeface="Cambria Math" panose="02040503050406030204" pitchFamily="18" charset="0"/>
                                  </a:rPr>
                                  <m:t>𝑥</m:t>
                                </m:r>
                              </m:oMath>
                            </m:oMathPara>
                          </a14:m>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1 </a:t>
                          </a:r>
                          <a:endParaRPr lang="vi-VN" sz="2000"/>
                        </a:p>
                      </a:txBody>
                      <a:tcPr marL="68580" marR="68580" marT="0" marB="0" anchor="ctr"/>
                    </a:tc>
                    <a:extLst>
                      <a:ext uri="{0D108BD9-81ED-4DB2-BD59-A6C34878D82A}">
                        <a16:rowId xmlns:a16="http://schemas.microsoft.com/office/drawing/2014/main" val="10004"/>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3117984409"/>
                  </p:ext>
                </p:extLst>
              </p:nvPr>
            </p:nvGraphicFramePr>
            <p:xfrm>
              <a:off x="791072" y="1661084"/>
              <a:ext cx="4176464" cy="3260326"/>
            </p:xfrm>
            <a:graphic>
              <a:graphicData uri="http://schemas.openxmlformats.org/drawingml/2006/table">
                <a:tbl>
                  <a:tblPr firstRow="1" firstCol="1" bandRow="1">
                    <a:tableStyleId>{5940675A-B579-460E-94D1-54222C63F5DA}</a:tableStyleId>
                  </a:tblPr>
                  <a:tblGrid>
                    <a:gridCol w="834981"/>
                    <a:gridCol w="834981"/>
                    <a:gridCol w="834981"/>
                    <a:gridCol w="834981"/>
                    <a:gridCol w="836540"/>
                  </a:tblGrid>
                  <a:tr h="641872">
                    <a:tc>
                      <a:txBody>
                        <a:bodyPr/>
                        <a:lstStyle/>
                        <a:p>
                          <a:pPr algn="ctr">
                            <a:lnSpc>
                              <a:spcPct val="115000"/>
                            </a:lnSpc>
                            <a:spcAft>
                              <a:spcPts val="0"/>
                            </a:spcAft>
                          </a:pPr>
                          <a:r>
                            <a:rPr lang="en-US" sz="2000" smtClean="0"/>
                            <a:t>D</a:t>
                          </a:r>
                          <a:r>
                            <a:rPr lang="en-US" sz="2000"/>
                            <a:t> </a:t>
                          </a:r>
                          <a:endParaRPr lang="vi-VN" sz="2000"/>
                        </a:p>
                      </a:txBody>
                      <a:tcPr marL="68580" marR="68580" marT="0" marB="0" anchor="ctr"/>
                    </a:tc>
                    <a:tc>
                      <a:txBody>
                        <a:bodyPr/>
                        <a:lstStyle/>
                        <a:p>
                          <a:endParaRPr lang="en-US"/>
                        </a:p>
                      </a:txBody>
                      <a:tcPr marL="68580" marR="68580" marT="0" marB="0" anchor="ctr">
                        <a:blipFill rotWithShape="0">
                          <a:blip r:embed="rId3"/>
                          <a:stretch>
                            <a:fillRect l="-100730" t="-943" r="-302190" b="-407547"/>
                          </a:stretch>
                        </a:blipFill>
                      </a:tcPr>
                    </a:tc>
                    <a:tc>
                      <a:txBody>
                        <a:bodyPr/>
                        <a:lstStyle/>
                        <a:p>
                          <a:endParaRPr lang="en-US"/>
                        </a:p>
                      </a:txBody>
                      <a:tcPr marL="68580" marR="68580" marT="0" marB="0" anchor="ctr">
                        <a:blipFill rotWithShape="0">
                          <a:blip r:embed="rId3"/>
                          <a:stretch>
                            <a:fillRect l="-200730" t="-943" r="-202190" b="-407547"/>
                          </a:stretch>
                        </a:blipFill>
                      </a:tcPr>
                    </a:tc>
                    <a:tc>
                      <a:txBody>
                        <a:bodyPr/>
                        <a:lstStyle/>
                        <a:p>
                          <a:endParaRPr lang="en-US"/>
                        </a:p>
                      </a:txBody>
                      <a:tcPr marL="68580" marR="68580" marT="0" marB="0" anchor="ctr">
                        <a:blipFill rotWithShape="0">
                          <a:blip r:embed="rId3"/>
                          <a:stretch>
                            <a:fillRect l="-298551" t="-943" r="-100725" b="-407547"/>
                          </a:stretch>
                        </a:blipFill>
                      </a:tcPr>
                    </a:tc>
                    <a:tc>
                      <a:txBody>
                        <a:bodyPr/>
                        <a:lstStyle/>
                        <a:p>
                          <a:endParaRPr lang="en-US"/>
                        </a:p>
                      </a:txBody>
                      <a:tcPr marL="68580" marR="68580" marT="0" marB="0" anchor="ctr">
                        <a:blipFill rotWithShape="0">
                          <a:blip r:embed="rId3"/>
                          <a:stretch>
                            <a:fillRect l="-401460" t="-943" r="-1460" b="-407547"/>
                          </a:stretch>
                        </a:blipFill>
                      </a:tcPr>
                    </a:tc>
                  </a:tr>
                  <a:tr h="667355">
                    <a:tc>
                      <a:txBody>
                        <a:bodyPr/>
                        <a:lstStyle/>
                        <a:p>
                          <a:endParaRPr lang="en-US"/>
                        </a:p>
                      </a:txBody>
                      <a:tcPr marL="68580" marR="68580" marT="0" marB="0" anchor="ctr">
                        <a:blipFill rotWithShape="0">
                          <a:blip r:embed="rId3"/>
                          <a:stretch>
                            <a:fillRect l="-730" t="-98165" r="-402190" b="-296330"/>
                          </a:stretch>
                        </a:blipFill>
                      </a:tcPr>
                    </a:tc>
                    <a:tc>
                      <a:txBody>
                        <a:bodyPr/>
                        <a:lstStyle/>
                        <a:p>
                          <a:pPr algn="ctr">
                            <a:lnSpc>
                              <a:spcPct val="115000"/>
                            </a:lnSpc>
                            <a:spcAft>
                              <a:spcPts val="0"/>
                            </a:spcAft>
                          </a:pPr>
                          <a:r>
                            <a:rPr lang="en-US" sz="2000"/>
                            <a:t> </a:t>
                          </a:r>
                          <a:r>
                            <a:rPr lang="en-US" sz="2000" smtClean="0"/>
                            <a:t>1</a:t>
                          </a:r>
                          <a:endParaRPr lang="vi-VN" sz="2000"/>
                        </a:p>
                      </a:txBody>
                      <a:tcPr marL="68580" marR="68580" marT="0" marB="0" anchor="ctr"/>
                    </a:tc>
                    <a:tc>
                      <a:txBody>
                        <a:bodyPr/>
                        <a:lstStyle/>
                        <a:p>
                          <a:pPr algn="ctr">
                            <a:lnSpc>
                              <a:spcPct val="115000"/>
                            </a:lnSpc>
                            <a:spcAft>
                              <a:spcPts val="0"/>
                            </a:spcAft>
                          </a:pPr>
                          <a:r>
                            <a:rPr lang="en-US" sz="2000"/>
                            <a:t> </a:t>
                          </a:r>
                          <a:r>
                            <a:rPr lang="en-US" sz="2000" smtClean="0"/>
                            <a:t>1</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smtClean="0"/>
                            <a:t>1</a:t>
                          </a:r>
                          <a:r>
                            <a:rPr lang="en-US" sz="2000"/>
                            <a:t> </a:t>
                          </a:r>
                          <a:endParaRPr lang="vi-VN" sz="2000"/>
                        </a:p>
                      </a:txBody>
                      <a:tcPr marL="68580" marR="68580" marT="0" marB="0" anchor="ctr"/>
                    </a:tc>
                  </a:tr>
                  <a:tr h="641872">
                    <a:tc>
                      <a:txBody>
                        <a:bodyPr/>
                        <a:lstStyle/>
                        <a:p>
                          <a:endParaRPr lang="en-US"/>
                        </a:p>
                      </a:txBody>
                      <a:tcPr marL="68580" marR="68580" marT="0" marB="0" anchor="ctr">
                        <a:blipFill rotWithShape="0">
                          <a:blip r:embed="rId3"/>
                          <a:stretch>
                            <a:fillRect l="-730" t="-203774" r="-402190" b="-204717"/>
                          </a:stretch>
                        </a:blipFill>
                      </a:tcP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r>
                            <a:rPr lang="en-US" sz="2000" smtClean="0"/>
                            <a:t>1</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smtClean="0"/>
                            <a:t>1</a:t>
                          </a:r>
                          <a:endParaRPr lang="vi-VN" sz="2000"/>
                        </a:p>
                      </a:txBody>
                      <a:tcPr marL="68580" marR="68580" marT="0" marB="0" anchor="ctr"/>
                    </a:tc>
                  </a:tr>
                  <a:tr h="641872">
                    <a:tc>
                      <a:txBody>
                        <a:bodyPr/>
                        <a:lstStyle/>
                        <a:p>
                          <a:endParaRPr lang="en-US"/>
                        </a:p>
                      </a:txBody>
                      <a:tcPr marL="68580" marR="68580" marT="0" marB="0" anchor="ctr">
                        <a:blipFill rotWithShape="0">
                          <a:blip r:embed="rId3"/>
                          <a:stretch>
                            <a:fillRect l="-730" t="-306667" r="-402190" b="-106667"/>
                          </a:stretch>
                        </a:blipFill>
                      </a:tcPr>
                    </a:tc>
                    <a:tc>
                      <a:txBody>
                        <a:bodyPr/>
                        <a:lstStyle/>
                        <a:p>
                          <a:pPr algn="ctr">
                            <a:lnSpc>
                              <a:spcPct val="115000"/>
                            </a:lnSpc>
                            <a:spcAft>
                              <a:spcPts val="0"/>
                            </a:spcAft>
                          </a:pPr>
                          <a:r>
                            <a:rPr lang="en-US" sz="2000" smtClean="0"/>
                            <a:t>1</a:t>
                          </a: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smtClean="0"/>
                            <a:t>1</a:t>
                          </a:r>
                          <a:r>
                            <a:rPr lang="en-US" sz="2000"/>
                            <a:t> </a:t>
                          </a:r>
                          <a:endParaRPr lang="vi-VN" sz="2000"/>
                        </a:p>
                      </a:txBody>
                      <a:tcPr marL="68580" marR="68580" marT="0" marB="0" anchor="ctr"/>
                    </a:tc>
                  </a:tr>
                  <a:tr h="667355">
                    <a:tc>
                      <a:txBody>
                        <a:bodyPr/>
                        <a:lstStyle/>
                        <a:p>
                          <a:endParaRPr lang="en-US"/>
                        </a:p>
                      </a:txBody>
                      <a:tcPr marL="68580" marR="68580" marT="0" marB="0" anchor="ctr">
                        <a:blipFill rotWithShape="0">
                          <a:blip r:embed="rId3"/>
                          <a:stretch>
                            <a:fillRect l="-730" t="-388182" r="-402190" b="-1818"/>
                          </a:stretch>
                        </a:blipFill>
                      </a:tcP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a:t> </a:t>
                          </a:r>
                          <a:endParaRPr lang="vi-VN" sz="2000"/>
                        </a:p>
                      </a:txBody>
                      <a:tcPr marL="68580" marR="68580" marT="0" marB="0" anchor="ctr"/>
                    </a:tc>
                    <a:tc>
                      <a:txBody>
                        <a:bodyPr/>
                        <a:lstStyle/>
                        <a:p>
                          <a:pPr algn="ctr">
                            <a:lnSpc>
                              <a:spcPct val="115000"/>
                            </a:lnSpc>
                            <a:spcAft>
                              <a:spcPts val="0"/>
                            </a:spcAft>
                          </a:pPr>
                          <a:r>
                            <a:rPr lang="en-US" sz="2000" smtClean="0"/>
                            <a:t>1</a:t>
                          </a:r>
                          <a:r>
                            <a:rPr lang="en-US" sz="2000"/>
                            <a:t> </a:t>
                          </a:r>
                          <a:endParaRPr lang="vi-VN" sz="2000"/>
                        </a:p>
                      </a:txBody>
                      <a:tcPr marL="68580" marR="68580" marT="0" marB="0" anchor="ctr"/>
                    </a:tc>
                  </a:tr>
                </a:tbl>
              </a:graphicData>
            </a:graphic>
          </p:graphicFrame>
        </mc:Fallback>
      </mc:AlternateContent>
      <p:sp>
        <p:nvSpPr>
          <p:cNvPr id="16" name="Flowchart: Alternate Process 15"/>
          <p:cNvSpPr/>
          <p:nvPr/>
        </p:nvSpPr>
        <p:spPr>
          <a:xfrm>
            <a:off x="1812256" y="2381164"/>
            <a:ext cx="1296144" cy="504056"/>
          </a:xfrm>
          <a:prstGeom prst="flowChartAlternateProcess">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prstClr val="white"/>
              </a:solidFill>
            </a:endParaRPr>
          </a:p>
        </p:txBody>
      </p:sp>
      <p:sp>
        <p:nvSpPr>
          <p:cNvPr id="17" name="Flowchart: Alternate Process 16"/>
          <p:cNvSpPr/>
          <p:nvPr/>
        </p:nvSpPr>
        <p:spPr>
          <a:xfrm rot="16200000">
            <a:off x="2280308" y="2705200"/>
            <a:ext cx="1296144" cy="504056"/>
          </a:xfrm>
          <a:prstGeom prst="flowChartAlternateProcess">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prstClr val="white"/>
              </a:solidFill>
            </a:endParaRPr>
          </a:p>
        </p:txBody>
      </p:sp>
      <p:sp>
        <p:nvSpPr>
          <p:cNvPr id="18" name="Flowchart: Alternate Process 17"/>
          <p:cNvSpPr/>
          <p:nvPr/>
        </p:nvSpPr>
        <p:spPr>
          <a:xfrm rot="16200000">
            <a:off x="3275782" y="3340634"/>
            <a:ext cx="2473548" cy="504056"/>
          </a:xfrm>
          <a:prstGeom prst="flowChartAlternateProcess">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prstClr val="white"/>
              </a:solidFill>
            </a:endParaRPr>
          </a:p>
        </p:txBody>
      </p:sp>
      <mc:AlternateContent xmlns:mc="http://schemas.openxmlformats.org/markup-compatibility/2006" xmlns:a14="http://schemas.microsoft.com/office/drawing/2010/main">
        <mc:Choice Requires="a14">
          <p:sp>
            <p:nvSpPr>
              <p:cNvPr id="19" name="TextBox 18"/>
              <p:cNvSpPr txBox="1"/>
              <p:nvPr/>
            </p:nvSpPr>
            <p:spPr>
              <a:xfrm>
                <a:off x="803990" y="5159113"/>
                <a:ext cx="7425609" cy="523220"/>
              </a:xfrm>
              <a:prstGeom prst="rect">
                <a:avLst/>
              </a:prstGeom>
              <a:noFill/>
            </p:spPr>
            <p:txBody>
              <a:bodyPr wrap="square" rtlCol="0">
                <a:spAutoFit/>
              </a:bodyPr>
              <a:lstStyle/>
              <a:p>
                <a:pPr marL="342900" indent="-342900">
                  <a:buFont typeface="Wingdings" panose="05000000000000000000" pitchFamily="2" charset="2"/>
                  <a:buChar char="à"/>
                </a:pPr>
                <a:r>
                  <a:rPr lang="en-US" sz="280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 = </a:t>
                </a:r>
                <a14:m>
                  <m:oMath xmlns:m="http://schemas.openxmlformats.org/officeDocument/2006/math">
                    <m:r>
                      <a:rPr lang="en-US" sz="2800" i="1">
                        <a:solidFill>
                          <a:srgbClr val="FF0000"/>
                        </a:solidFill>
                        <a:latin typeface="Cambria Math" panose="02040503050406030204" pitchFamily="18" charset="0"/>
                      </a:rPr>
                      <m:t>𝜔</m:t>
                    </m:r>
                    <m:r>
                      <a:rPr lang="en-US" sz="2800" i="1">
                        <a:solidFill>
                          <a:srgbClr val="FF0000"/>
                        </a:solidFill>
                        <a:latin typeface="Cambria Math" panose="02040503050406030204" pitchFamily="18" charset="0"/>
                      </a:rPr>
                      <m:t>𝑥𝑦</m:t>
                    </m:r>
                    <m:r>
                      <a:rPr lang="en-US" sz="2800" i="1">
                        <a:solidFill>
                          <a:prstClr val="black"/>
                        </a:solidFill>
                        <a:latin typeface="Cambria Math"/>
                      </a:rPr>
                      <m:t>+</m:t>
                    </m:r>
                    <m:r>
                      <a:rPr lang="en-US" sz="2800" i="1" smtClean="0">
                        <a:solidFill>
                          <a:schemeClr val="tx1"/>
                        </a:solidFill>
                        <a:latin typeface="Cambria Math"/>
                      </a:rPr>
                      <m:t>𝜔</m:t>
                    </m:r>
                    <m:r>
                      <a:rPr lang="en-US" sz="2800" b="0" i="1" smtClean="0">
                        <a:solidFill>
                          <a:schemeClr val="tx1"/>
                        </a:solidFill>
                        <a:latin typeface="Cambria Math" panose="02040503050406030204" pitchFamily="18" charset="0"/>
                      </a:rPr>
                      <m:t>𝑥𝑧</m:t>
                    </m:r>
                    <m:r>
                      <a:rPr lang="en-US" sz="2800" b="0" i="1" smtClean="0">
                        <a:solidFill>
                          <a:schemeClr val="tx1"/>
                        </a:solidFill>
                        <a:latin typeface="Cambria Math" panose="02040503050406030204" pitchFamily="18" charset="0"/>
                      </a:rPr>
                      <m:t>+</m:t>
                    </m:r>
                    <m:r>
                      <a:rPr lang="en-US" sz="2800" i="1">
                        <a:solidFill>
                          <a:srgbClr val="0070C0"/>
                        </a:solidFill>
                        <a:latin typeface="Cambria Math"/>
                      </a:rPr>
                      <m:t>𝜔</m:t>
                    </m:r>
                    <m:r>
                      <a:rPr lang="en-US" sz="2800" i="1">
                        <a:solidFill>
                          <a:srgbClr val="0070C0"/>
                        </a:solidFill>
                        <a:latin typeface="Cambria Math"/>
                      </a:rPr>
                      <m:t>𝑦</m:t>
                    </m:r>
                    <m:acc>
                      <m:accPr>
                        <m:chr m:val="̅"/>
                        <m:ctrlPr>
                          <a:rPr lang="en-US" sz="2800" i="1">
                            <a:solidFill>
                              <a:srgbClr val="0070C0"/>
                            </a:solidFill>
                            <a:latin typeface="Cambria Math" panose="02040503050406030204" pitchFamily="18" charset="0"/>
                          </a:rPr>
                        </m:ctrlPr>
                      </m:accPr>
                      <m:e>
                        <m:r>
                          <a:rPr lang="en-US" sz="2800" i="1">
                            <a:solidFill>
                              <a:srgbClr val="0070C0"/>
                            </a:solidFill>
                            <a:latin typeface="Cambria Math" panose="02040503050406030204" pitchFamily="18" charset="0"/>
                          </a:rPr>
                          <m:t>𝑧</m:t>
                        </m:r>
                      </m:e>
                    </m:acc>
                    <m:r>
                      <a:rPr lang="en-US" sz="2800" i="1">
                        <a:solidFill>
                          <a:prstClr val="black"/>
                        </a:solidFill>
                        <a:latin typeface="Cambria Math"/>
                      </a:rPr>
                      <m:t>+</m:t>
                    </m:r>
                    <m:acc>
                      <m:accPr>
                        <m:chr m:val="̅"/>
                        <m:ctrlPr>
                          <a:rPr lang="vi-VN" sz="2800" i="1">
                            <a:solidFill>
                              <a:srgbClr val="006600"/>
                            </a:solidFill>
                            <a:latin typeface="Cambria Math" panose="02040503050406030204" pitchFamily="18" charset="0"/>
                          </a:rPr>
                        </m:ctrlPr>
                      </m:accPr>
                      <m:e>
                        <m:r>
                          <a:rPr lang="en-US" sz="2800" i="1">
                            <a:solidFill>
                              <a:srgbClr val="006600"/>
                            </a:solidFill>
                            <a:latin typeface="Cambria Math" panose="02040503050406030204" pitchFamily="18" charset="0"/>
                          </a:rPr>
                          <m:t>𝜔</m:t>
                        </m:r>
                      </m:e>
                    </m:acc>
                    <m:acc>
                      <m:accPr>
                        <m:chr m:val="̅"/>
                        <m:ctrlPr>
                          <a:rPr lang="en-US" sz="2800" i="1">
                            <a:solidFill>
                              <a:srgbClr val="006600"/>
                            </a:solidFill>
                            <a:latin typeface="Cambria Math" panose="02040503050406030204" pitchFamily="18" charset="0"/>
                          </a:rPr>
                        </m:ctrlPr>
                      </m:accPr>
                      <m:e>
                        <m:r>
                          <a:rPr lang="en-US" sz="2800" i="1">
                            <a:solidFill>
                              <a:srgbClr val="006600"/>
                            </a:solidFill>
                            <a:latin typeface="Cambria Math" panose="02040503050406030204" pitchFamily="18" charset="0"/>
                          </a:rPr>
                          <m:t>𝑥</m:t>
                        </m:r>
                      </m:e>
                    </m:acc>
                    <m:r>
                      <a:rPr lang="en-US" sz="2800" i="1">
                        <a:solidFill>
                          <a:srgbClr val="006600"/>
                        </a:solidFill>
                        <a:latin typeface="Cambria Math" panose="02040503050406030204" pitchFamily="18" charset="0"/>
                      </a:rPr>
                      <m:t>𝑧</m:t>
                    </m:r>
                    <m:r>
                      <a:rPr lang="en-US" sz="2800" i="1">
                        <a:solidFill>
                          <a:prstClr val="black"/>
                        </a:solidFill>
                        <a:latin typeface="Cambria Math" panose="02040503050406030204" pitchFamily="18" charset="0"/>
                      </a:rPr>
                      <m:t>+</m:t>
                    </m:r>
                    <m:acc>
                      <m:accPr>
                        <m:chr m:val="̅"/>
                        <m:ctrlPr>
                          <a:rPr lang="en-US" sz="2800" i="1">
                            <a:solidFill>
                              <a:srgbClr val="E6AA00"/>
                            </a:solidFill>
                            <a:latin typeface="Cambria Math" panose="02040503050406030204" pitchFamily="18" charset="0"/>
                          </a:rPr>
                        </m:ctrlPr>
                      </m:accPr>
                      <m:e>
                        <m:r>
                          <a:rPr lang="en-US" sz="2800" i="1">
                            <a:solidFill>
                              <a:srgbClr val="E6AA00"/>
                            </a:solidFill>
                            <a:latin typeface="Cambria Math" panose="02040503050406030204" pitchFamily="18" charset="0"/>
                          </a:rPr>
                          <m:t>𝑦</m:t>
                        </m:r>
                      </m:e>
                    </m:acc>
                    <m:r>
                      <a:rPr lang="en-US" sz="2800" i="1">
                        <a:solidFill>
                          <a:srgbClr val="E6AA00"/>
                        </a:solidFill>
                        <a:latin typeface="Cambria Math"/>
                      </a:rPr>
                      <m:t>𝑧</m:t>
                    </m:r>
                  </m:oMath>
                </a14:m>
                <a:endParaRPr lang="vi-VN" sz="2800">
                  <a:solidFill>
                    <a:srgbClr val="E6AA00"/>
                  </a:solidFill>
                  <a:latin typeface="Times New Roman" panose="02020603050405020304" pitchFamily="18" charset="0"/>
                  <a:cs typeface="Times New Roman" panose="02020603050405020304" pitchFamily="18"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803990" y="5159113"/>
                <a:ext cx="7425609" cy="523220"/>
              </a:xfrm>
              <a:prstGeom prst="rect">
                <a:avLst/>
              </a:prstGeom>
              <a:blipFill rotWithShape="0">
                <a:blip r:embed="rId4"/>
                <a:stretch>
                  <a:fillRect l="-1478" t="-11628" b="-31395"/>
                </a:stretch>
              </a:blipFill>
            </p:spPr>
            <p:txBody>
              <a:bodyPr/>
              <a:lstStyle/>
              <a:p>
                <a:r>
                  <a:rPr lang="en-US">
                    <a:noFill/>
                  </a:rPr>
                  <a:t> </a:t>
                </a:r>
              </a:p>
            </p:txBody>
          </p:sp>
        </mc:Fallback>
      </mc:AlternateContent>
      <p:sp>
        <p:nvSpPr>
          <p:cNvPr id="20" name="Right Bracket 19"/>
          <p:cNvSpPr/>
          <p:nvPr/>
        </p:nvSpPr>
        <p:spPr>
          <a:xfrm>
            <a:off x="1727176" y="3677308"/>
            <a:ext cx="540060" cy="504056"/>
          </a:xfrm>
          <a:prstGeom prst="rightBracket">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solidFill>
                <a:prstClr val="black"/>
              </a:solidFill>
            </a:endParaRPr>
          </a:p>
        </p:txBody>
      </p:sp>
      <p:sp>
        <p:nvSpPr>
          <p:cNvPr id="21" name="Right Bracket 20"/>
          <p:cNvSpPr/>
          <p:nvPr/>
        </p:nvSpPr>
        <p:spPr>
          <a:xfrm flipH="1">
            <a:off x="4319464" y="3677308"/>
            <a:ext cx="540060" cy="504056"/>
          </a:xfrm>
          <a:prstGeom prst="rightBracket">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solidFill>
                <a:prstClr val="black"/>
              </a:solidFill>
            </a:endParaRPr>
          </a:p>
        </p:txBody>
      </p:sp>
      <p:sp>
        <p:nvSpPr>
          <p:cNvPr id="22" name="Right Bracket 21"/>
          <p:cNvSpPr/>
          <p:nvPr/>
        </p:nvSpPr>
        <p:spPr>
          <a:xfrm>
            <a:off x="1704244" y="2381164"/>
            <a:ext cx="540060" cy="504056"/>
          </a:xfrm>
          <a:prstGeom prst="righ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solidFill>
                <a:prstClr val="black"/>
              </a:solidFill>
            </a:endParaRPr>
          </a:p>
        </p:txBody>
      </p:sp>
      <p:sp>
        <p:nvSpPr>
          <p:cNvPr id="23" name="Right Bracket 22"/>
          <p:cNvSpPr/>
          <p:nvPr/>
        </p:nvSpPr>
        <p:spPr>
          <a:xfrm flipH="1">
            <a:off x="4355468" y="2381164"/>
            <a:ext cx="540060" cy="504056"/>
          </a:xfrm>
          <a:prstGeom prst="righ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solidFill>
                <a:prstClr val="black"/>
              </a:solidFill>
            </a:endParaRPr>
          </a:p>
        </p:txBody>
      </p:sp>
      <p:sp>
        <p:nvSpPr>
          <p:cNvPr id="12"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3"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24"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18</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animBg="1"/>
      <p:bldP spid="17" grpId="0" animBg="1"/>
      <p:bldP spid="18" grpId="0" animBg="1"/>
      <p:bldP spid="19" grpId="0"/>
      <p:bldP spid="20" grpId="0" animBg="1"/>
      <p:bldP spid="21" grpId="0" animBg="1"/>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432A41-F2AC-08D7-4F5C-2FBFB1BB0DF4}"/>
              </a:ext>
            </a:extLst>
          </p:cNvPr>
          <p:cNvPicPr>
            <a:picLocks noChangeAspect="1"/>
          </p:cNvPicPr>
          <p:nvPr/>
        </p:nvPicPr>
        <p:blipFill>
          <a:blip r:embed="rId2"/>
          <a:stretch>
            <a:fillRect/>
          </a:stretch>
        </p:blipFill>
        <p:spPr>
          <a:xfrm>
            <a:off x="0" y="1444760"/>
            <a:ext cx="9144000" cy="3968479"/>
          </a:xfrm>
          <a:prstGeom prst="rect">
            <a:avLst/>
          </a:prstGeom>
        </p:spPr>
      </p:pic>
    </p:spTree>
    <p:extLst>
      <p:ext uri="{BB962C8B-B14F-4D97-AF65-F5344CB8AC3E}">
        <p14:creationId xmlns:p14="http://schemas.microsoft.com/office/powerpoint/2010/main" val="40801242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46B7BA-F1E1-19B0-600C-D426BAE7B5DB}"/>
              </a:ext>
            </a:extLst>
          </p:cNvPr>
          <p:cNvPicPr>
            <a:picLocks noChangeAspect="1"/>
          </p:cNvPicPr>
          <p:nvPr/>
        </p:nvPicPr>
        <p:blipFill>
          <a:blip r:embed="rId2"/>
          <a:stretch>
            <a:fillRect/>
          </a:stretch>
        </p:blipFill>
        <p:spPr>
          <a:xfrm>
            <a:off x="457200" y="1414181"/>
            <a:ext cx="6439799" cy="4029637"/>
          </a:xfrm>
          <a:prstGeom prst="rect">
            <a:avLst/>
          </a:prstGeom>
        </p:spPr>
      </p:pic>
    </p:spTree>
    <p:extLst>
      <p:ext uri="{BB962C8B-B14F-4D97-AF65-F5344CB8AC3E}">
        <p14:creationId xmlns:p14="http://schemas.microsoft.com/office/powerpoint/2010/main" val="36877876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A1B99D-E16D-6420-9D55-257A5A4BA2F6}"/>
              </a:ext>
            </a:extLst>
          </p:cNvPr>
          <p:cNvPicPr>
            <a:picLocks noChangeAspect="1"/>
          </p:cNvPicPr>
          <p:nvPr/>
        </p:nvPicPr>
        <p:blipFill>
          <a:blip r:embed="rId2"/>
          <a:stretch>
            <a:fillRect/>
          </a:stretch>
        </p:blipFill>
        <p:spPr>
          <a:xfrm>
            <a:off x="1066800" y="609600"/>
            <a:ext cx="5372850" cy="5268060"/>
          </a:xfrm>
          <a:prstGeom prst="rect">
            <a:avLst/>
          </a:prstGeom>
        </p:spPr>
      </p:pic>
    </p:spTree>
    <p:extLst>
      <p:ext uri="{BB962C8B-B14F-4D97-AF65-F5344CB8AC3E}">
        <p14:creationId xmlns:p14="http://schemas.microsoft.com/office/powerpoint/2010/main" val="1843550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en-US"/>
              <a:t>Phủ tối tiểu của một tập</a:t>
            </a:r>
          </a:p>
        </p:txBody>
      </p:sp>
      <p:sp>
        <p:nvSpPr>
          <p:cNvPr id="87043" name="Rectangle 3"/>
          <p:cNvSpPr>
            <a:spLocks noGrp="1" noChangeArrowheads="1"/>
          </p:cNvSpPr>
          <p:nvPr>
            <p:ph idx="1"/>
          </p:nvPr>
        </p:nvSpPr>
        <p:spPr>
          <a:xfrm>
            <a:off x="609599" y="1828800"/>
            <a:ext cx="6347714" cy="4212563"/>
          </a:xfrm>
        </p:spPr>
        <p:txBody>
          <a:bodyPr>
            <a:normAutofit/>
          </a:bodyPr>
          <a:lstStyle/>
          <a:p>
            <a:pPr algn="just"/>
            <a:r>
              <a:rPr lang="en-US" sz="3000" dirty="0" err="1">
                <a:latin typeface="Times New Roman" panose="02020603050405020304" pitchFamily="18" charset="0"/>
                <a:cs typeface="Times New Roman" panose="02020603050405020304" pitchFamily="18" charset="0"/>
              </a:rPr>
              <a:t>Việc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tìm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cả</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tổng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chuẩn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tắc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không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dư</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thừa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của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hàm</a:t>
            </a:r>
            <a:r>
              <a:rPr lang="en-US" sz="3000" dirty="0">
                <a:latin typeface="Times New Roman" panose="02020603050405020304" pitchFamily="18" charset="0"/>
                <a:cs typeface="Times New Roman" panose="02020603050405020304" pitchFamily="18" charset="0"/>
              </a:rPr>
              <a:t> Boole f, </a:t>
            </a:r>
            <a:r>
              <a:rPr lang="en-US" sz="3000" dirty="0" err="1">
                <a:latin typeface="Times New Roman" panose="02020603050405020304" pitchFamily="18" charset="0"/>
                <a:cs typeface="Times New Roman" panose="02020603050405020304" pitchFamily="18" charset="0"/>
              </a:rPr>
              <a:t>từ</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tsc</a:t>
            </a:r>
            <a:r>
              <a:rPr lang="en-US" sz="3000" dirty="0">
                <a:latin typeface="Times New Roman" panose="02020603050405020304" pitchFamily="18" charset="0"/>
                <a:cs typeface="Times New Roman" panose="02020603050405020304" pitchFamily="18" charset="0"/>
              </a:rPr>
              <a:t>(</a:t>
            </a:r>
            <a:r>
              <a:rPr lang="en-US" sz="3000" dirty="0" err="1">
                <a:latin typeface="Times New Roman" panose="02020603050405020304" pitchFamily="18" charset="0"/>
                <a:cs typeface="Times New Roman" panose="02020603050405020304" pitchFamily="18" charset="0"/>
              </a:rPr>
              <a:t>Tổng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chuẩn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tắc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tối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đại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của</a:t>
            </a:r>
            <a:r>
              <a:rPr lang="en-US" sz="3000" dirty="0">
                <a:latin typeface="Times New Roman" panose="02020603050405020304" pitchFamily="18" charset="0"/>
                <a:cs typeface="Times New Roman" panose="02020603050405020304" pitchFamily="18" charset="0"/>
              </a:rPr>
              <a:t> f, </a:t>
            </a:r>
            <a:r>
              <a:rPr lang="en-US" sz="3000" dirty="0" err="1">
                <a:latin typeface="Times New Roman" panose="02020603050405020304" pitchFamily="18" charset="0"/>
                <a:cs typeface="Times New Roman" panose="02020603050405020304" pitchFamily="18" charset="0"/>
              </a:rPr>
              <a:t>là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một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vấn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đề</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khá</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phức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tạp</a:t>
            </a:r>
            <a:r>
              <a:rPr lang="en-US" sz="3000" dirty="0">
                <a:latin typeface="Times New Roman" panose="02020603050405020304" pitchFamily="18" charset="0"/>
                <a:cs typeface="Times New Roman" panose="02020603050405020304" pitchFamily="18" charset="0"/>
              </a:rPr>
              <a:t>. </a:t>
            </a:r>
          </a:p>
          <a:p>
            <a:pPr algn="just" eaLnBrk="1" hangingPunct="1"/>
            <a:r>
              <a:rPr lang="en-US" sz="3000" dirty="0" err="1">
                <a:latin typeface="Times New Roman" panose="02020603050405020304" pitchFamily="18" charset="0"/>
                <a:cs typeface="Times New Roman" panose="02020603050405020304" pitchFamily="18" charset="0"/>
              </a:rPr>
              <a:t>Trước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hết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chúng</a:t>
            </a:r>
            <a:r>
              <a:rPr lang="en-US" sz="3000" dirty="0">
                <a:latin typeface="Times New Roman" panose="02020603050405020304" pitchFamily="18" charset="0"/>
                <a:cs typeface="Times New Roman" panose="02020603050405020304" pitchFamily="18" charset="0"/>
              </a:rPr>
              <a:t> ta </a:t>
            </a:r>
            <a:r>
              <a:rPr lang="en-US" sz="3000" dirty="0" err="1">
                <a:latin typeface="Times New Roman" panose="02020603050405020304" pitchFamily="18" charset="0"/>
                <a:cs typeface="Times New Roman" panose="02020603050405020304" pitchFamily="18" charset="0"/>
              </a:rPr>
              <a:t>xét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bài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toán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tìm</a:t>
            </a:r>
            <a:r>
              <a:rPr lang="en-US" sz="3000" dirty="0">
                <a:latin typeface="Times New Roman" panose="02020603050405020304" pitchFamily="18" charset="0"/>
                <a:cs typeface="Times New Roman" panose="02020603050405020304" pitchFamily="18" charset="0"/>
              </a:rPr>
              <a:t> </a:t>
            </a:r>
            <a:r>
              <a:rPr lang="en-US" sz="3000" u="sng" dirty="0" err="1">
                <a:latin typeface="Times New Roman" panose="02020603050405020304" pitchFamily="18" charset="0"/>
                <a:cs typeface="Times New Roman" panose="02020603050405020304" pitchFamily="18" charset="0"/>
              </a:rPr>
              <a:t>phủ</a:t>
            </a:r>
            <a:r>
              <a:rPr lang="en-US" sz="3000" u="sng" dirty="0">
                <a:latin typeface="Times New Roman" panose="02020603050405020304" pitchFamily="18" charset="0"/>
                <a:cs typeface="Times New Roman" panose="02020603050405020304" pitchFamily="18" charset="0"/>
              </a:rPr>
              <a:t> </a:t>
            </a:r>
            <a:r>
              <a:rPr lang="en-US" sz="3000" u="sng" dirty="0" err="1">
                <a:latin typeface="Times New Roman" panose="02020603050405020304" pitchFamily="18" charset="0"/>
                <a:cs typeface="Times New Roman" panose="02020603050405020304" pitchFamily="18" charset="0"/>
              </a:rPr>
              <a:t>tối</a:t>
            </a:r>
            <a:r>
              <a:rPr lang="en-US" sz="3000" u="sng" dirty="0">
                <a:latin typeface="Times New Roman" panose="02020603050405020304" pitchFamily="18" charset="0"/>
                <a:cs typeface="Times New Roman" panose="02020603050405020304" pitchFamily="18" charset="0"/>
              </a:rPr>
              <a:t> </a:t>
            </a:r>
            <a:r>
              <a:rPr lang="en-US" sz="3000" u="sng" dirty="0" err="1">
                <a:latin typeface="Times New Roman" panose="02020603050405020304" pitchFamily="18" charset="0"/>
                <a:cs typeface="Times New Roman" panose="02020603050405020304" pitchFamily="18" charset="0"/>
              </a:rPr>
              <a:t>tiểu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của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một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tập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như</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sau</a:t>
            </a:r>
            <a:r>
              <a:rPr lang="en-US" sz="3000" dirty="0">
                <a:latin typeface="Times New Roman" panose="02020603050405020304" pitchFamily="18" charset="0"/>
                <a:cs typeface="Times New Roman" panose="02020603050405020304" pitchFamily="18" charset="0"/>
              </a:rPr>
              <a:t>.</a:t>
            </a:r>
          </a:p>
        </p:txBody>
      </p:sp>
      <p:sp>
        <p:nvSpPr>
          <p:cNvPr id="4"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6"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22</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Effect transition="in" filter="strips(downLeft)">
                                      <p:cBhvr>
                                        <p:cTn id="7" dur="500"/>
                                        <p:tgtEl>
                                          <p:spTgt spid="87043">
                                            <p:txEl>
                                              <p:pRg st="0" end="0"/>
                                            </p:txEl>
                                          </p:spTgt>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animEffect transition="in" filter="strips(downLeft)">
                                      <p:cBhvr>
                                        <p:cTn id="11" dur="500"/>
                                        <p:tgtEl>
                                          <p:spTgt spid="870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a:xfrm>
            <a:off x="304800" y="914400"/>
            <a:ext cx="6934200" cy="3880773"/>
          </a:xfrm>
        </p:spPr>
        <p:txBody>
          <a:bodyPr/>
          <a:lstStyle/>
          <a:p>
            <a:pPr eaLnBrk="1" hangingPunct="1">
              <a:lnSpc>
                <a:spcPct val="90000"/>
              </a:lnSpc>
              <a:buFont typeface="Wingdings" panose="05000000000000000000" pitchFamily="2" charset="2"/>
              <a:buNone/>
            </a:pPr>
            <a:r>
              <a:rPr lang="en-US"/>
              <a:t>	</a:t>
            </a:r>
            <a:r>
              <a:rPr lang="en-US" sz="2800" u="sng">
                <a:latin typeface="Times New Roman" panose="02020603050405020304" pitchFamily="18" charset="0"/>
                <a:cs typeface="Times New Roman" panose="02020603050405020304" pitchFamily="18" charset="0"/>
              </a:rPr>
              <a:t>Phủ của tập X</a:t>
            </a:r>
            <a:endParaRPr lang="en-US" sz="280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pPr>
            <a:r>
              <a:rPr lang="en-US" sz="2800">
                <a:latin typeface="Times New Roman" panose="02020603050405020304" pitchFamily="18" charset="0"/>
                <a:cs typeface="Times New Roman" panose="02020603050405020304" pitchFamily="18" charset="0"/>
              </a:rPr>
              <a:t>	Cho S = </a:t>
            </a:r>
            <a:r>
              <a:rPr lang="en-US" sz="2800">
                <a:latin typeface="Times New Roman" panose="02020603050405020304" pitchFamily="18" charset="0"/>
                <a:cs typeface="Times New Roman" panose="02020603050405020304" pitchFamily="18" charset="0"/>
                <a:sym typeface="Symbol" panose="05050102010706020507" pitchFamily="18" charset="2"/>
              </a:rPr>
              <a:t>X</a:t>
            </a:r>
            <a:r>
              <a:rPr lang="en-US" sz="2800" baseline="-25000">
                <a:latin typeface="Times New Roman" panose="02020603050405020304" pitchFamily="18" charset="0"/>
                <a:cs typeface="Times New Roman" panose="02020603050405020304" pitchFamily="18" charset="0"/>
                <a:sym typeface="Symbol" panose="05050102010706020507" pitchFamily="18" charset="2"/>
              </a:rPr>
              <a:t>1</a:t>
            </a:r>
            <a:r>
              <a:rPr lang="en-US" sz="2800">
                <a:latin typeface="Times New Roman" panose="02020603050405020304" pitchFamily="18" charset="0"/>
                <a:cs typeface="Times New Roman" panose="02020603050405020304" pitchFamily="18" charset="0"/>
                <a:sym typeface="Symbol" panose="05050102010706020507" pitchFamily="18" charset="2"/>
              </a:rPr>
              <a:t>, …, X</a:t>
            </a:r>
            <a:r>
              <a:rPr lang="en-US" sz="2800" baseline="-25000">
                <a:latin typeface="Times New Roman" panose="02020603050405020304" pitchFamily="18" charset="0"/>
                <a:cs typeface="Times New Roman" panose="02020603050405020304" pitchFamily="18" charset="0"/>
                <a:sym typeface="Symbol" panose="05050102010706020507" pitchFamily="18" charset="2"/>
              </a:rPr>
              <a:t>n</a:t>
            </a:r>
            <a:r>
              <a:rPr lang="en-US" sz="2800">
                <a:latin typeface="Times New Roman" panose="02020603050405020304" pitchFamily="18" charset="0"/>
                <a:cs typeface="Times New Roman" panose="02020603050405020304" pitchFamily="18" charset="0"/>
                <a:sym typeface="Symbol" panose="05050102010706020507" pitchFamily="18" charset="2"/>
              </a:rPr>
              <a:t> là họ các tập con của X. S gọi là phủ của X nếu X = X</a:t>
            </a:r>
            <a:r>
              <a:rPr lang="en-US" sz="2800" baseline="-25000">
                <a:latin typeface="Times New Roman" panose="02020603050405020304" pitchFamily="18" charset="0"/>
                <a:cs typeface="Times New Roman" panose="02020603050405020304" pitchFamily="18" charset="0"/>
                <a:sym typeface="Symbol" panose="05050102010706020507" pitchFamily="18" charset="2"/>
              </a:rPr>
              <a:t>i</a:t>
            </a:r>
            <a:r>
              <a:rPr lang="en-US" sz="280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 typeface="Wingdings" panose="05000000000000000000" pitchFamily="2" charset="2"/>
              <a:buNone/>
            </a:pPr>
            <a:endParaRPr lang="en-US" sz="2800">
              <a:latin typeface="Times New Roman" panose="02020603050405020304" pitchFamily="18" charset="0"/>
              <a:cs typeface="Times New Roman" panose="02020603050405020304" pitchFamily="18" charset="0"/>
              <a:sym typeface="Symbol" panose="05050102010706020507" pitchFamily="18" charset="2"/>
            </a:endParaRPr>
          </a:p>
          <a:p>
            <a:pPr algn="just" eaLnBrk="1" hangingPunct="1">
              <a:lnSpc>
                <a:spcPct val="90000"/>
              </a:lnSpc>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a:t>
            </a:r>
            <a:r>
              <a:rPr lang="en-US" sz="2800" u="sng">
                <a:latin typeface="Times New Roman" panose="02020603050405020304" pitchFamily="18" charset="0"/>
                <a:cs typeface="Times New Roman" panose="02020603050405020304" pitchFamily="18" charset="0"/>
                <a:sym typeface="Symbol" panose="05050102010706020507" pitchFamily="18" charset="2"/>
              </a:rPr>
              <a:t>Phủ tối tiểu của X</a:t>
            </a:r>
            <a:endParaRPr lang="en-US" sz="2800">
              <a:latin typeface="Times New Roman" panose="02020603050405020304" pitchFamily="18" charset="0"/>
              <a:cs typeface="Times New Roman" panose="02020603050405020304" pitchFamily="18" charset="0"/>
              <a:sym typeface="Symbol" panose="05050102010706020507" pitchFamily="18" charset="2"/>
            </a:endParaRPr>
          </a:p>
          <a:p>
            <a:pPr algn="just" eaLnBrk="1" hangingPunct="1">
              <a:lnSpc>
                <a:spcPct val="90000"/>
              </a:lnSpc>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Giả sử S là một phủ của X. S gọi là phủ tối tiểu của X nếu với mọi i, S\X</a:t>
            </a:r>
            <a:r>
              <a:rPr lang="en-US" sz="2800" baseline="-25000">
                <a:latin typeface="Times New Roman" panose="02020603050405020304" pitchFamily="18" charset="0"/>
                <a:cs typeface="Times New Roman" panose="02020603050405020304" pitchFamily="18" charset="0"/>
                <a:sym typeface="Symbol" panose="05050102010706020507" pitchFamily="18" charset="2"/>
              </a:rPr>
              <a:t>i</a:t>
            </a:r>
            <a:r>
              <a:rPr lang="en-US" sz="2800">
                <a:latin typeface="Times New Roman" panose="02020603050405020304" pitchFamily="18" charset="0"/>
                <a:cs typeface="Times New Roman" panose="02020603050405020304" pitchFamily="18" charset="0"/>
                <a:sym typeface="Symbol" panose="05050102010706020507" pitchFamily="18" charset="2"/>
              </a:rPr>
              <a:t> không phủ X.</a:t>
            </a:r>
          </a:p>
        </p:txBody>
      </p:sp>
      <p:sp>
        <p:nvSpPr>
          <p:cNvPr id="3"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4"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5"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23</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wipe(down)">
                                      <p:cBhvr>
                                        <p:cTn id="7" dur="500"/>
                                        <p:tgtEl>
                                          <p:spTgt spid="89091">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9091">
                                            <p:txEl>
                                              <p:pRg st="1" end="1"/>
                                            </p:txEl>
                                          </p:spTgt>
                                        </p:tgtEl>
                                        <p:attrNameLst>
                                          <p:attrName>style.visibility</p:attrName>
                                        </p:attrNameLst>
                                      </p:cBhvr>
                                      <p:to>
                                        <p:strVal val="visible"/>
                                      </p:to>
                                    </p:set>
                                    <p:animEffect transition="in" filter="wipe(down)">
                                      <p:cBhvr>
                                        <p:cTn id="10" dur="500"/>
                                        <p:tgtEl>
                                          <p:spTgt spid="89091">
                                            <p:txEl>
                                              <p:pRg st="1" end="1"/>
                                            </p:txEl>
                                          </p:spTgt>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89091">
                                            <p:txEl>
                                              <p:pRg st="3" end="3"/>
                                            </p:txEl>
                                          </p:spTgt>
                                        </p:tgtEl>
                                        <p:attrNameLst>
                                          <p:attrName>style.visibility</p:attrName>
                                        </p:attrNameLst>
                                      </p:cBhvr>
                                      <p:to>
                                        <p:strVal val="visible"/>
                                      </p:to>
                                    </p:set>
                                    <p:animEffect transition="in" filter="wipe(down)">
                                      <p:cBhvr>
                                        <p:cTn id="14" dur="500"/>
                                        <p:tgtEl>
                                          <p:spTgt spid="89091">
                                            <p:txEl>
                                              <p:pRg st="3" end="3"/>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89091">
                                            <p:txEl>
                                              <p:pRg st="4" end="4"/>
                                            </p:txEl>
                                          </p:spTgt>
                                        </p:tgtEl>
                                        <p:attrNameLst>
                                          <p:attrName>style.visibility</p:attrName>
                                        </p:attrNameLst>
                                      </p:cBhvr>
                                      <p:to>
                                        <p:strVal val="visible"/>
                                      </p:to>
                                    </p:set>
                                    <p:animEffect transition="in" filter="wipe(down)">
                                      <p:cBhvr>
                                        <p:cTn id="17" dur="500"/>
                                        <p:tgtEl>
                                          <p:spTgt spid="890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t>Ví dụ</a:t>
            </a:r>
          </a:p>
        </p:txBody>
      </p:sp>
      <p:sp>
        <p:nvSpPr>
          <p:cNvPr id="91139" name="Rectangle 3"/>
          <p:cNvSpPr>
            <a:spLocks noGrp="1" noChangeArrowheads="1"/>
          </p:cNvSpPr>
          <p:nvPr>
            <p:ph idx="1"/>
          </p:nvPr>
        </p:nvSpPr>
        <p:spPr>
          <a:xfrm>
            <a:off x="381000" y="1676400"/>
            <a:ext cx="6347714" cy="3880773"/>
          </a:xfrm>
        </p:spPr>
        <p:txBody>
          <a:bodyPr/>
          <a:lstStyle/>
          <a:p>
            <a:pPr eaLnBrk="1" hangingPunct="1">
              <a:buFont typeface="Wingdings" panose="05000000000000000000" pitchFamily="2" charset="2"/>
              <a:buNone/>
            </a:pPr>
            <a:r>
              <a:rPr lang="en-US"/>
              <a:t>	</a:t>
            </a:r>
            <a:r>
              <a:rPr lang="en-US" sz="2800">
                <a:latin typeface="Times New Roman" panose="02020603050405020304" pitchFamily="18" charset="0"/>
                <a:cs typeface="Times New Roman" panose="02020603050405020304" pitchFamily="18" charset="0"/>
              </a:rPr>
              <a:t>X = </a:t>
            </a:r>
            <a:r>
              <a:rPr lang="en-US" sz="2800">
                <a:latin typeface="Times New Roman" panose="02020603050405020304" pitchFamily="18" charset="0"/>
                <a:cs typeface="Times New Roman" panose="02020603050405020304" pitchFamily="18" charset="0"/>
                <a:sym typeface="Symbol" panose="05050102010706020507" pitchFamily="18" charset="2"/>
              </a:rPr>
              <a:t>a, b, c, d</a:t>
            </a:r>
          </a:p>
          <a:p>
            <a:pPr eaLnBrk="1" hangingPunct="1">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A = a,b	 B = c,d</a:t>
            </a:r>
          </a:p>
          <a:p>
            <a:pPr eaLnBrk="1" hangingPunct="1">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C = a,d 	 D = b,c</a:t>
            </a:r>
          </a:p>
          <a:p>
            <a:pPr eaLnBrk="1" hangingPunct="1">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A, B, C, D phủ không tối tiểu.</a:t>
            </a:r>
          </a:p>
          <a:p>
            <a:pPr eaLnBrk="1" hangingPunct="1">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A, B, C, D là các phủ tối tiểu.</a:t>
            </a:r>
          </a:p>
          <a:p>
            <a:pPr eaLnBrk="1" hangingPunct="1">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A, C, D phủ không tối tiểu.</a:t>
            </a:r>
          </a:p>
          <a:p>
            <a:pPr eaLnBrk="1" hangingPunct="1">
              <a:buFont typeface="Wingdings" panose="05000000000000000000" pitchFamily="2" charset="2"/>
              <a:buNone/>
            </a:pPr>
            <a:r>
              <a:rPr lang="en-US" sz="2800">
                <a:latin typeface="Times New Roman" panose="02020603050405020304" pitchFamily="18" charset="0"/>
                <a:cs typeface="Times New Roman" panose="02020603050405020304" pitchFamily="18" charset="0"/>
                <a:sym typeface="Symbol" panose="05050102010706020507" pitchFamily="18" charset="2"/>
              </a:rPr>
              <a:t>   B, D không phủ.</a:t>
            </a:r>
          </a:p>
          <a:p>
            <a:pPr eaLnBrk="1" hangingPunct="1">
              <a:buFont typeface="Wingdings" panose="05000000000000000000" pitchFamily="2" charset="2"/>
              <a:buNone/>
            </a:pPr>
            <a:endParaRPr lang="en-US">
              <a:sym typeface="Symbol" panose="05050102010706020507" pitchFamily="18" charset="2"/>
            </a:endParaRPr>
          </a:p>
        </p:txBody>
      </p:sp>
      <p:sp>
        <p:nvSpPr>
          <p:cNvPr id="4"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6"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24</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heel(1)">
                                      <p:cBhvr>
                                        <p:cTn id="7" dur="1000"/>
                                        <p:tgtEl>
                                          <p:spTgt spid="91139">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91139">
                                            <p:txEl>
                                              <p:pRg st="1" end="1"/>
                                            </p:txEl>
                                          </p:spTgt>
                                        </p:tgtEl>
                                        <p:attrNameLst>
                                          <p:attrName>style.visibility</p:attrName>
                                        </p:attrNameLst>
                                      </p:cBhvr>
                                      <p:to>
                                        <p:strVal val="visible"/>
                                      </p:to>
                                    </p:set>
                                    <p:animEffect transition="in" filter="wheel(1)">
                                      <p:cBhvr>
                                        <p:cTn id="10" dur="1000"/>
                                        <p:tgtEl>
                                          <p:spTgt spid="91139">
                                            <p:txEl>
                                              <p:pRg st="1" end="1"/>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91139">
                                            <p:txEl>
                                              <p:pRg st="2" end="2"/>
                                            </p:txEl>
                                          </p:spTgt>
                                        </p:tgtEl>
                                        <p:attrNameLst>
                                          <p:attrName>style.visibility</p:attrName>
                                        </p:attrNameLst>
                                      </p:cBhvr>
                                      <p:to>
                                        <p:strVal val="visible"/>
                                      </p:to>
                                    </p:set>
                                    <p:animEffect transition="in" filter="wheel(1)">
                                      <p:cBhvr>
                                        <p:cTn id="13" dur="1000"/>
                                        <p:tgtEl>
                                          <p:spTgt spid="91139">
                                            <p:txEl>
                                              <p:pRg st="2" end="2"/>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91139">
                                            <p:txEl>
                                              <p:pRg st="3" end="3"/>
                                            </p:txEl>
                                          </p:spTgt>
                                        </p:tgtEl>
                                        <p:attrNameLst>
                                          <p:attrName>style.visibility</p:attrName>
                                        </p:attrNameLst>
                                      </p:cBhvr>
                                      <p:to>
                                        <p:strVal val="visible"/>
                                      </p:to>
                                    </p:set>
                                    <p:animEffect transition="in" filter="wheel(1)">
                                      <p:cBhvr>
                                        <p:cTn id="16" dur="1000"/>
                                        <p:tgtEl>
                                          <p:spTgt spid="91139">
                                            <p:txEl>
                                              <p:pRg st="3" end="3"/>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91139">
                                            <p:txEl>
                                              <p:pRg st="4" end="4"/>
                                            </p:txEl>
                                          </p:spTgt>
                                        </p:tgtEl>
                                        <p:attrNameLst>
                                          <p:attrName>style.visibility</p:attrName>
                                        </p:attrNameLst>
                                      </p:cBhvr>
                                      <p:to>
                                        <p:strVal val="visible"/>
                                      </p:to>
                                    </p:set>
                                    <p:animEffect transition="in" filter="wheel(1)">
                                      <p:cBhvr>
                                        <p:cTn id="19" dur="1000"/>
                                        <p:tgtEl>
                                          <p:spTgt spid="91139">
                                            <p:txEl>
                                              <p:pRg st="4" end="4"/>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91139">
                                            <p:txEl>
                                              <p:pRg st="5" end="5"/>
                                            </p:txEl>
                                          </p:spTgt>
                                        </p:tgtEl>
                                        <p:attrNameLst>
                                          <p:attrName>style.visibility</p:attrName>
                                        </p:attrNameLst>
                                      </p:cBhvr>
                                      <p:to>
                                        <p:strVal val="visible"/>
                                      </p:to>
                                    </p:set>
                                    <p:animEffect transition="in" filter="wheel(1)">
                                      <p:cBhvr>
                                        <p:cTn id="22" dur="1000"/>
                                        <p:tgtEl>
                                          <p:spTgt spid="91139">
                                            <p:txEl>
                                              <p:pRg st="5" end="5"/>
                                            </p:txEl>
                                          </p:spTgt>
                                        </p:tgtEl>
                                      </p:cBhvr>
                                    </p:animEffect>
                                  </p:childTnLst>
                                </p:cTn>
                              </p:par>
                              <p:par>
                                <p:cTn id="23" presetID="21" presetClass="entr" presetSubtype="1" fill="hold" nodeType="withEffect">
                                  <p:stCondLst>
                                    <p:cond delay="0"/>
                                  </p:stCondLst>
                                  <p:childTnLst>
                                    <p:set>
                                      <p:cBhvr>
                                        <p:cTn id="24" dur="1" fill="hold">
                                          <p:stCondLst>
                                            <p:cond delay="0"/>
                                          </p:stCondLst>
                                        </p:cTn>
                                        <p:tgtEl>
                                          <p:spTgt spid="91139">
                                            <p:txEl>
                                              <p:pRg st="6" end="6"/>
                                            </p:txEl>
                                          </p:spTgt>
                                        </p:tgtEl>
                                        <p:attrNameLst>
                                          <p:attrName>style.visibility</p:attrName>
                                        </p:attrNameLst>
                                      </p:cBhvr>
                                      <p:to>
                                        <p:strVal val="visible"/>
                                      </p:to>
                                    </p:set>
                                    <p:animEffect transition="in" filter="wheel(1)">
                                      <p:cBhvr>
                                        <p:cTn id="25" dur="1000"/>
                                        <p:tgtEl>
                                          <p:spTgt spid="911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125413" y="700088"/>
            <a:ext cx="8207375" cy="635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ts val="600"/>
              </a:spcBef>
              <a:spcAft>
                <a:spcPts val="600"/>
              </a:spcAft>
            </a:pPr>
            <a:r>
              <a:rPr lang="en-US" sz="2800" i="1" dirty="0" err="1"/>
              <a:t>Gồm</a:t>
            </a:r>
            <a:r>
              <a:rPr lang="en-US" sz="2800" i="1" dirty="0"/>
              <a:t> 5 </a:t>
            </a:r>
            <a:r>
              <a:rPr lang="en-US" sz="2800" i="1" dirty="0" err="1"/>
              <a:t>bước</a:t>
            </a:r>
            <a:r>
              <a:rPr lang="en-US" sz="2800" i="1" dirty="0"/>
              <a:t>:</a:t>
            </a:r>
          </a:p>
          <a:p>
            <a:pPr>
              <a:spcBef>
                <a:spcPts val="600"/>
              </a:spcBef>
              <a:spcAft>
                <a:spcPts val="600"/>
              </a:spcAft>
            </a:pPr>
            <a:r>
              <a:rPr lang="vi-VN" sz="3000" dirty="0">
                <a:solidFill>
                  <a:srgbClr val="FF0000"/>
                </a:solidFill>
              </a:rPr>
              <a:t>Bước 1: </a:t>
            </a:r>
            <a:r>
              <a:rPr lang="vi-VN" sz="3000" dirty="0"/>
              <a:t>Vẽ biểu đồ karnaugh của f.</a:t>
            </a:r>
          </a:p>
          <a:p>
            <a:pPr>
              <a:spcBef>
                <a:spcPts val="600"/>
              </a:spcBef>
              <a:spcAft>
                <a:spcPts val="600"/>
              </a:spcAft>
            </a:pPr>
            <a:r>
              <a:rPr lang="vi-VN" sz="3000" dirty="0">
                <a:solidFill>
                  <a:srgbClr val="FF0000"/>
                </a:solidFill>
              </a:rPr>
              <a:t>Bước 2: </a:t>
            </a:r>
            <a:r>
              <a:rPr lang="vi-VN" sz="3000" dirty="0"/>
              <a:t>Xác định tất cả các </a:t>
            </a:r>
            <a:r>
              <a:rPr lang="en-US" sz="3000" dirty="0" err="1"/>
              <a:t>tế</a:t>
            </a:r>
            <a:r>
              <a:rPr lang="en-US" sz="3000" dirty="0"/>
              <a:t> </a:t>
            </a:r>
            <a:r>
              <a:rPr lang="en-US" sz="3000" dirty="0" err="1"/>
              <a:t>bào</a:t>
            </a:r>
            <a:r>
              <a:rPr lang="en-US" sz="3000" dirty="0"/>
              <a:t> </a:t>
            </a:r>
            <a:r>
              <a:rPr lang="en-US" sz="3000" dirty="0" err="1"/>
              <a:t>lớn</a:t>
            </a:r>
            <a:r>
              <a:rPr lang="en-US" sz="3000" dirty="0"/>
              <a:t> </a:t>
            </a:r>
            <a:r>
              <a:rPr lang="vi-VN" sz="3000" dirty="0"/>
              <a:t>của kar(f).</a:t>
            </a:r>
          </a:p>
          <a:p>
            <a:pPr>
              <a:spcBef>
                <a:spcPts val="600"/>
              </a:spcBef>
              <a:spcAft>
                <a:spcPts val="600"/>
              </a:spcAft>
            </a:pPr>
            <a:r>
              <a:rPr lang="vi-VN" sz="3000" dirty="0">
                <a:solidFill>
                  <a:srgbClr val="FF0000"/>
                </a:solidFill>
              </a:rPr>
              <a:t>Bước 3: </a:t>
            </a:r>
            <a:r>
              <a:rPr lang="vi-VN" sz="3000" dirty="0"/>
              <a:t>Xác định các </a:t>
            </a:r>
            <a:r>
              <a:rPr lang="en-US" sz="3200" dirty="0" err="1"/>
              <a:t>tế</a:t>
            </a:r>
            <a:r>
              <a:rPr lang="en-US" sz="3200" dirty="0"/>
              <a:t> </a:t>
            </a:r>
            <a:r>
              <a:rPr lang="en-US" sz="3200" dirty="0" err="1"/>
              <a:t>bào</a:t>
            </a:r>
            <a:r>
              <a:rPr lang="en-US" sz="3200" dirty="0"/>
              <a:t> </a:t>
            </a:r>
            <a:r>
              <a:rPr lang="en-US" sz="3200" dirty="0" err="1"/>
              <a:t>lớn</a:t>
            </a:r>
            <a:r>
              <a:rPr lang="en-US" sz="3000" dirty="0"/>
              <a:t> </a:t>
            </a:r>
            <a:r>
              <a:rPr lang="vi-VN" sz="3000" dirty="0"/>
              <a:t>nhất thiết phải</a:t>
            </a:r>
            <a:r>
              <a:rPr lang="en-US" sz="3000" dirty="0"/>
              <a:t> </a:t>
            </a:r>
            <a:r>
              <a:rPr lang="vi-VN" sz="3000" dirty="0"/>
              <a:t>chọn.</a:t>
            </a:r>
          </a:p>
          <a:p>
            <a:pPr>
              <a:spcBef>
                <a:spcPts val="600"/>
              </a:spcBef>
              <a:spcAft>
                <a:spcPts val="600"/>
              </a:spcAft>
            </a:pPr>
            <a:r>
              <a:rPr lang="vi-VN" sz="3000" dirty="0"/>
              <a:t>Ta nhất thiết phải chọn</a:t>
            </a:r>
            <a:r>
              <a:rPr lang="en-US" sz="3200" dirty="0"/>
              <a:t> </a:t>
            </a:r>
            <a:r>
              <a:rPr lang="en-US" sz="3200" dirty="0" err="1"/>
              <a:t>tế</a:t>
            </a:r>
            <a:r>
              <a:rPr lang="en-US" sz="3200" dirty="0"/>
              <a:t> </a:t>
            </a:r>
            <a:r>
              <a:rPr lang="en-US" sz="3200" dirty="0" err="1"/>
              <a:t>bào</a:t>
            </a:r>
            <a:r>
              <a:rPr lang="en-US" sz="3200" dirty="0"/>
              <a:t> </a:t>
            </a:r>
            <a:r>
              <a:rPr lang="vi-VN" sz="3000" dirty="0"/>
              <a:t>lớn T khi tồn tại một ô của kar(f) mà ô này chỉ nằm trong tế bào lớn T và không nằm trong bất kỳ tế bào lớn nào khác.</a:t>
            </a:r>
            <a:endParaRPr lang="en-US" sz="3000" dirty="0"/>
          </a:p>
          <a:p>
            <a:endParaRPr lang="en-US" sz="3000" dirty="0"/>
          </a:p>
          <a:p>
            <a:endParaRPr lang="vi-VN" sz="3000" dirty="0"/>
          </a:p>
        </p:txBody>
      </p:sp>
      <p:sp>
        <p:nvSpPr>
          <p:cNvPr id="93187" name="TextBox 4"/>
          <p:cNvSpPr txBox="1">
            <a:spLocks noChangeArrowheads="1"/>
          </p:cNvSpPr>
          <p:nvPr/>
        </p:nvSpPr>
        <p:spPr bwMode="auto">
          <a:xfrm>
            <a:off x="-381000" y="36513"/>
            <a:ext cx="9220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vi-VN" sz="3600">
                <a:solidFill>
                  <a:srgbClr val="C00000"/>
                </a:solidFill>
              </a:rPr>
              <a:t>Thuật toán tìm</a:t>
            </a:r>
            <a:r>
              <a:rPr lang="en-US" sz="3600">
                <a:solidFill>
                  <a:srgbClr val="C00000"/>
                </a:solidFill>
              </a:rPr>
              <a:t> công thức</a:t>
            </a:r>
            <a:r>
              <a:rPr lang="vi-VN" sz="3600">
                <a:solidFill>
                  <a:srgbClr val="C00000"/>
                </a:solidFill>
              </a:rPr>
              <a:t> đa thức tối tiểu</a:t>
            </a:r>
          </a:p>
        </p:txBody>
      </p:sp>
      <p:sp>
        <p:nvSpPr>
          <p:cNvPr id="5"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7"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25</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barn(inVertical)">
                                      <p:cBhvr>
                                        <p:cTn id="11" dur="500"/>
                                        <p:tgtEl>
                                          <p:spTgt spid="4">
                                            <p:txEl>
                                              <p:pRg st="1" end="1"/>
                                            </p:txEl>
                                          </p:spTgt>
                                        </p:tgtEl>
                                      </p:cBhvr>
                                    </p:animEffect>
                                  </p:childTnLst>
                                </p:cTn>
                              </p:par>
                            </p:childTnLst>
                          </p:cTn>
                        </p:par>
                        <p:par>
                          <p:cTn id="12" fill="hold" nodeType="afterGroup">
                            <p:stCondLst>
                              <p:cond delay="1000"/>
                            </p:stCondLst>
                            <p:childTnLst>
                              <p:par>
                                <p:cTn id="13" presetID="16" presetClass="entr" presetSubtype="21" fill="hold"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childTnLst>
                          </p:cTn>
                        </p:par>
                        <p:par>
                          <p:cTn id="16" fill="hold" nodeType="afterGroup">
                            <p:stCondLst>
                              <p:cond delay="1500"/>
                            </p:stCondLst>
                            <p:childTnLst>
                              <p:par>
                                <p:cTn id="17" presetID="16" presetClass="entr" presetSubtype="21" fill="hold"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barn(inVertical)">
                                      <p:cBhvr>
                                        <p:cTn id="19" dur="500"/>
                                        <p:tgtEl>
                                          <p:spTgt spid="4">
                                            <p:txEl>
                                              <p:pRg st="3" end="3"/>
                                            </p:txEl>
                                          </p:spTgt>
                                        </p:tgtEl>
                                      </p:cBhvr>
                                    </p:animEffect>
                                  </p:childTnLst>
                                </p:cTn>
                              </p:par>
                            </p:childTnLst>
                          </p:cTn>
                        </p:par>
                        <p:par>
                          <p:cTn id="20" fill="hold" nodeType="afterGroup">
                            <p:stCondLst>
                              <p:cond delay="2000"/>
                            </p:stCondLst>
                            <p:childTnLst>
                              <p:par>
                                <p:cTn id="21" presetID="16" presetClass="entr" presetSubtype="21" fill="hold"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barn(inVertical)">
                                      <p:cBhvr>
                                        <p:cTn id="23"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74613" y="381000"/>
            <a:ext cx="8229601"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vi-VN" sz="2600">
                <a:solidFill>
                  <a:srgbClr val="FF0000"/>
                </a:solidFill>
              </a:rPr>
              <a:t>Bước 4: </a:t>
            </a:r>
            <a:r>
              <a:rPr lang="vi-VN" sz="2600"/>
              <a:t>Xác định các phủ tối tiểu gồm các </a:t>
            </a:r>
            <a:r>
              <a:rPr lang="en-US" sz="2600"/>
              <a:t>tế bào</a:t>
            </a:r>
            <a:r>
              <a:rPr lang="vi-VN" sz="2600"/>
              <a:t> lớn</a:t>
            </a:r>
            <a:r>
              <a:rPr lang="en-US"/>
              <a:t>:</a:t>
            </a:r>
            <a:endParaRPr lang="vi-VN"/>
          </a:p>
        </p:txBody>
      </p:sp>
      <p:sp>
        <p:nvSpPr>
          <p:cNvPr id="5" name="TextBox 4"/>
          <p:cNvSpPr txBox="1">
            <a:spLocks noChangeArrowheads="1"/>
          </p:cNvSpPr>
          <p:nvPr/>
        </p:nvSpPr>
        <p:spPr bwMode="auto">
          <a:xfrm>
            <a:off x="-17462" y="990600"/>
            <a:ext cx="817245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Tahoma" panose="020B0604030504040204" pitchFamily="34" charset="0"/>
              </a:defRPr>
            </a:lvl1pPr>
            <a:lvl2pPr marL="914400" indent="-45720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Font typeface="Arial" panose="020B0604020202020204" pitchFamily="34" charset="0"/>
              <a:buChar char="•"/>
            </a:pPr>
            <a:r>
              <a:rPr lang="vi-VN" sz="2800"/>
              <a:t>Nếu các tế bào lớn chọn được ở bước 3 đã phủ được</a:t>
            </a:r>
            <a:r>
              <a:rPr lang="en-US" sz="2800"/>
              <a:t> </a:t>
            </a:r>
            <a:r>
              <a:rPr lang="vi-VN" sz="2800"/>
              <a:t>kar(f) thì ta có duy nhất một phủ tối tiểu gồm các </a:t>
            </a:r>
            <a:r>
              <a:rPr lang="en-US" sz="2800"/>
              <a:t>tế bào </a:t>
            </a:r>
            <a:r>
              <a:rPr lang="vi-VN" sz="2800"/>
              <a:t>lớn của kar(f).</a:t>
            </a:r>
          </a:p>
          <a:p>
            <a:pPr>
              <a:buFont typeface="Arial" panose="020B0604020202020204" pitchFamily="34" charset="0"/>
              <a:buChar char="•"/>
            </a:pPr>
            <a:r>
              <a:rPr lang="vi-VN" sz="2800"/>
              <a:t>Nếu các </a:t>
            </a:r>
            <a:r>
              <a:rPr lang="en-US" sz="2800"/>
              <a:t>tế bào</a:t>
            </a:r>
            <a:r>
              <a:rPr lang="vi-VN" sz="2800"/>
              <a:t> lớn chọn được ở bước 3 chưa phủ được kar(f) thì:</a:t>
            </a:r>
          </a:p>
          <a:p>
            <a:pPr lvl="1">
              <a:buFont typeface="Courier New" panose="02070309020205020404" pitchFamily="49" charset="0"/>
              <a:buChar char="o"/>
            </a:pPr>
            <a:r>
              <a:rPr lang="vi-VN" sz="2800"/>
              <a:t>Xét một ô chưa bị phủ, sẽ có ít nhất hai </a:t>
            </a:r>
            <a:r>
              <a:rPr lang="en-US" sz="2800"/>
              <a:t>tế bào </a:t>
            </a:r>
            <a:r>
              <a:rPr lang="vi-VN" sz="2800"/>
              <a:t>lớn chứa ô này, ta chọn một trong các </a:t>
            </a:r>
            <a:r>
              <a:rPr lang="en-US" sz="2800"/>
              <a:t>tế bào </a:t>
            </a:r>
            <a:r>
              <a:rPr lang="vi-VN" sz="2800"/>
              <a:t>lớn này.  Cứ tiếp tục như thế ta sẽ tìm được tất cả các phủ gồm các tế bào lớn của kar(f). </a:t>
            </a:r>
          </a:p>
          <a:p>
            <a:pPr lvl="1">
              <a:buFont typeface="Courier New" panose="02070309020205020404" pitchFamily="49" charset="0"/>
              <a:buChar char="o"/>
            </a:pPr>
            <a:r>
              <a:rPr lang="vi-VN" sz="2800"/>
              <a:t>Loại bỏ các phủ không tối tiểu, ta tìm được tất cả các phủ tối tiểu gồm các </a:t>
            </a:r>
            <a:r>
              <a:rPr lang="en-US" sz="2800"/>
              <a:t>tế bào </a:t>
            </a:r>
            <a:r>
              <a:rPr lang="vi-VN" sz="2800"/>
              <a:t>lớn của kar(f).</a:t>
            </a:r>
          </a:p>
        </p:txBody>
      </p:sp>
      <p:sp>
        <p:nvSpPr>
          <p:cNvPr id="6"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26</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1000"/>
                                        <p:tgtEl>
                                          <p:spTgt spid="5">
                                            <p:txEl>
                                              <p:pRg st="1" end="1"/>
                                            </p:txEl>
                                          </p:spTgt>
                                        </p:tgtEl>
                                      </p:cBhvr>
                                    </p:animEffect>
                                    <p:anim calcmode="lin" valueType="num">
                                      <p:cBhvr>
                                        <p:cTn id="21"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1000"/>
                            </p:stCondLst>
                            <p:childTnLst>
                              <p:par>
                                <p:cTn id="24" presetID="42" presetClass="entr" presetSubtype="0" fill="hold" nodeType="after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1000"/>
                                        <p:tgtEl>
                                          <p:spTgt spid="5">
                                            <p:txEl>
                                              <p:pRg st="2" end="2"/>
                                            </p:txEl>
                                          </p:spTgt>
                                        </p:tgtEl>
                                      </p:cBhvr>
                                    </p:animEffect>
                                    <p:anim calcmode="lin" valueType="num">
                                      <p:cBhvr>
                                        <p:cTn id="27"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par>
                          <p:cTn id="29" fill="hold" nodeType="afterGroup">
                            <p:stCondLst>
                              <p:cond delay="2000"/>
                            </p:stCondLst>
                            <p:childTnLst>
                              <p:par>
                                <p:cTn id="30" presetID="42" presetClass="entr" presetSubtype="0" fill="hold" nodeType="after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fade">
                                      <p:cBhvr>
                                        <p:cTn id="32" dur="1000"/>
                                        <p:tgtEl>
                                          <p:spTgt spid="5">
                                            <p:txEl>
                                              <p:pRg st="3" end="3"/>
                                            </p:txEl>
                                          </p:spTgt>
                                        </p:tgtEl>
                                      </p:cBhvr>
                                    </p:animEffect>
                                    <p:anim calcmode="lin" valueType="num">
                                      <p:cBhvr>
                                        <p:cTn id="3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533400"/>
            <a:ext cx="75612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vi-VN" sz="2600" dirty="0">
                <a:solidFill>
                  <a:srgbClr val="FF0000"/>
                </a:solidFill>
              </a:rPr>
              <a:t>Bước 5: </a:t>
            </a:r>
            <a:r>
              <a:rPr lang="vi-VN" sz="2600" dirty="0"/>
              <a:t>Xác định các công thức đa thức tối tiểu của f.</a:t>
            </a:r>
          </a:p>
        </p:txBody>
      </p:sp>
      <p:sp>
        <p:nvSpPr>
          <p:cNvPr id="5" name="Rectangle 4"/>
          <p:cNvSpPr>
            <a:spLocks noChangeArrowheads="1"/>
          </p:cNvSpPr>
          <p:nvPr/>
        </p:nvSpPr>
        <p:spPr bwMode="auto">
          <a:xfrm>
            <a:off x="152400" y="2133600"/>
            <a:ext cx="763270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Font typeface="Arial" panose="020B0604020202020204" pitchFamily="34" charset="0"/>
              <a:buChar char="•"/>
            </a:pPr>
            <a:r>
              <a:rPr lang="vi-VN" sz="2600" dirty="0"/>
              <a:t>Từ các phủ tối tiểu gồm các </a:t>
            </a:r>
            <a:r>
              <a:rPr lang="en-US" sz="2600" dirty="0" err="1"/>
              <a:t>tế</a:t>
            </a:r>
            <a:r>
              <a:rPr lang="en-US" sz="2600" dirty="0"/>
              <a:t> </a:t>
            </a:r>
            <a:r>
              <a:rPr lang="en-US" sz="2600" dirty="0" err="1"/>
              <a:t>bào</a:t>
            </a:r>
            <a:r>
              <a:rPr lang="en-US" sz="2600" dirty="0"/>
              <a:t> </a:t>
            </a:r>
            <a:r>
              <a:rPr lang="vi-VN" sz="2600" dirty="0"/>
              <a:t>lớn của kar(f) tìm</a:t>
            </a:r>
            <a:r>
              <a:rPr lang="en-US" sz="2600" dirty="0"/>
              <a:t> </a:t>
            </a:r>
            <a:r>
              <a:rPr lang="vi-VN" sz="2600" dirty="0"/>
              <a:t>được ở bước 4 ta xác định được các công thức đa thức</a:t>
            </a:r>
            <a:r>
              <a:rPr lang="en-US" sz="2600" dirty="0"/>
              <a:t> </a:t>
            </a:r>
            <a:r>
              <a:rPr lang="vi-VN" sz="2600" dirty="0"/>
              <a:t>tương ứng của f</a:t>
            </a:r>
            <a:r>
              <a:rPr lang="en-US" sz="2600" dirty="0"/>
              <a:t>.</a:t>
            </a:r>
            <a:endParaRPr lang="vi-VN" sz="2600" dirty="0"/>
          </a:p>
          <a:p>
            <a:pPr>
              <a:buFont typeface="Arial" panose="020B0604020202020204" pitchFamily="34" charset="0"/>
              <a:buChar char="•"/>
            </a:pPr>
            <a:r>
              <a:rPr lang="vi-VN" sz="2600" dirty="0"/>
              <a:t>Loại bỏ các công thức đa thức mà có một công thức đa </a:t>
            </a:r>
            <a:r>
              <a:rPr lang="en-US" sz="2600" dirty="0"/>
              <a:t> </a:t>
            </a:r>
            <a:r>
              <a:rPr lang="vi-VN" sz="2600" dirty="0"/>
              <a:t>thức nào đó thực sự đơn giản hơn chúng.</a:t>
            </a:r>
          </a:p>
          <a:p>
            <a:pPr>
              <a:buFont typeface="Arial" panose="020B0604020202020204" pitchFamily="34" charset="0"/>
              <a:buChar char="•"/>
            </a:pPr>
            <a:r>
              <a:rPr lang="vi-VN" sz="2600" dirty="0"/>
              <a:t>Các công thức đa thức còn lại chính là các</a:t>
            </a:r>
            <a:r>
              <a:rPr lang="en-US" sz="2600" dirty="0"/>
              <a:t> </a:t>
            </a:r>
            <a:r>
              <a:rPr lang="vi-VN" sz="2600" dirty="0"/>
              <a:t>công thức đa thức tối tiểu của f.</a:t>
            </a:r>
          </a:p>
        </p:txBody>
      </p:sp>
      <p:sp>
        <p:nvSpPr>
          <p:cNvPr id="6"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27</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par>
                          <p:cTn id="16" fill="hold" nodeType="afterGroup">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Box 3"/>
          <p:cNvSpPr txBox="1">
            <a:spLocks noChangeArrowheads="1"/>
          </p:cNvSpPr>
          <p:nvPr/>
        </p:nvSpPr>
        <p:spPr bwMode="auto">
          <a:xfrm>
            <a:off x="457200" y="185304"/>
            <a:ext cx="29527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sz="2800" b="1" u="sng">
                <a:solidFill>
                  <a:srgbClr val="000000"/>
                </a:solidFill>
                <a:latin typeface="Times New Roman" panose="02020603050405020304" pitchFamily="18" charset="0"/>
                <a:cs typeface="Times New Roman" panose="02020603050405020304" pitchFamily="18" charset="0"/>
              </a:rPr>
              <a:t>Ví dụ 1</a:t>
            </a:r>
            <a:endParaRPr lang="en-US" sz="2800" u="sng">
              <a:solidFill>
                <a:srgbClr val="0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p:cNvSpPr txBox="1"/>
              <p:nvPr/>
            </p:nvSpPr>
            <p:spPr>
              <a:xfrm>
                <a:off x="150354" y="919163"/>
                <a:ext cx="7128792" cy="954107"/>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Tìm </a:t>
                </a:r>
                <a:r>
                  <a:rPr lang="en-US" sz="2800" err="1">
                    <a:latin typeface="Times New Roman" panose="02020603050405020304" pitchFamily="18" charset="0"/>
                    <a:cs typeface="Times New Roman" panose="02020603050405020304" pitchFamily="18" charset="0"/>
                  </a:rPr>
                  <a:t>các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công</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tối</a:t>
                </a:r>
                <a:r>
                  <a:rPr lang="en-US" sz="2800">
                    <a:latin typeface="Times New Roman" panose="02020603050405020304" pitchFamily="18" charset="0"/>
                    <a:cs typeface="Times New Roman" panose="02020603050405020304" pitchFamily="18" charset="0"/>
                  </a:rPr>
                  <a:t> tiểu </a:t>
                </a:r>
                <a:r>
                  <a:rPr lang="en-US" sz="2800" err="1">
                    <a:latin typeface="Times New Roman" panose="02020603050405020304" pitchFamily="18" charset="0"/>
                    <a:cs typeface="Times New Roman" panose="02020603050405020304" pitchFamily="18" charset="0"/>
                  </a:rPr>
                  <a:t>của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hàm</a:t>
                </a:r>
                <a:r>
                  <a:rPr lang="en-US" sz="2800">
                    <a:latin typeface="Times New Roman" panose="02020603050405020304" pitchFamily="18" charset="0"/>
                    <a:cs typeface="Times New Roman" panose="02020603050405020304" pitchFamily="18" charset="0"/>
                  </a:rPr>
                  <a:t> </a:t>
                </a:r>
                <a14:m>
                  <m:oMath xmlns:m="http://schemas.openxmlformats.org/officeDocument/2006/math">
                    <m:r>
                      <a:rPr lang="pt-BR" sz="2800" i="1">
                        <a:latin typeface="Cambria Math" panose="02040503050406030204" pitchFamily="18" charset="0"/>
                      </a:rPr>
                      <m:t>𝑓</m:t>
                    </m:r>
                  </m:oMath>
                </a14:m>
                <a:r>
                  <a:rPr lang="en-US" sz="2800">
                    <a:latin typeface="Times New Roman" panose="02020603050405020304" pitchFamily="18" charset="0"/>
                    <a:cs typeface="Times New Roman" panose="02020603050405020304" pitchFamily="18" charset="0"/>
                  </a:rPr>
                  <a:t>:</a:t>
                </a:r>
              </a:p>
              <a:p>
                <a:pPr algn="ctr"/>
                <a14:m>
                  <m:oMath xmlns:m="http://schemas.openxmlformats.org/officeDocument/2006/math">
                    <m:r>
                      <a:rPr lang="pt-BR" sz="2800" i="1">
                        <a:latin typeface="Cambria Math" panose="02040503050406030204" pitchFamily="18" charset="0"/>
                      </a:rPr>
                      <m:t>𝑓</m:t>
                    </m:r>
                    <m:r>
                      <a:rPr lang="pt-BR" sz="2800" i="1">
                        <a:latin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a:t>
                </a:r>
                <a:r>
                  <a:rPr lang="en-US" sz="2800" err="1">
                    <a:latin typeface="Times New Roman" panose="02020603050405020304" pitchFamily="18" charset="0"/>
                    <a:cs typeface="Times New Roman" panose="02020603050405020304" pitchFamily="18" charset="0"/>
                  </a:rPr>
                  <a:t>x,y,z,t</a:t>
                </a:r>
                <a:r>
                  <a:rPr lang="en-US" sz="2800">
                    <a:latin typeface="Times New Roman" panose="02020603050405020304" pitchFamily="18" charset="0"/>
                    <a:cs typeface="Times New Roman" panose="02020603050405020304" pitchFamily="18" charset="0"/>
                  </a:rPr>
                  <a:t>) = xyzt </a:t>
                </a:r>
                <a14:m>
                  <m:oMath xmlns:m="http://schemas.openxmlformats.org/officeDocument/2006/math">
                    <m:r>
                      <a:rPr lang="en-US" sz="2800" i="1">
                        <a:latin typeface="Cambria Math" panose="02040503050406030204" pitchFamily="18" charset="0"/>
                        <a:ea typeface="Cambria Math" panose="02040503050406030204" pitchFamily="18" charset="0"/>
                      </a:rPr>
                      <m:t>∨</m:t>
                    </m:r>
                  </m:oMath>
                </a14:m>
                <a:r>
                  <a:rPr lang="en-US" sz="2800">
                    <a:latin typeface="Times New Roman" panose="02020603050405020304" pitchFamily="18" charset="0"/>
                    <a:cs typeface="Times New Roman" panose="02020603050405020304" pitchFamily="18" charset="0"/>
                  </a:rPr>
                  <a:t> x</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𝑦</m:t>
                        </m:r>
                      </m:e>
                    </m:acc>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m:t>
                    </m:r>
                  </m:oMath>
                </a14:m>
                <a:r>
                  <a:rPr lang="en-US" sz="2800">
                    <a:latin typeface="Times New Roman" panose="02020603050405020304" pitchFamily="18" charset="0"/>
                    <a:cs typeface="Times New Roman" panose="02020603050405020304" pitchFamily="18" charset="0"/>
                  </a:rPr>
                  <a:t> x</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m:t>
                        </m:r>
                      </m:e>
                    </m:acc>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yz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xy</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m:t>
                        </m:r>
                      </m:e>
                    </m:acc>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xy</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oMath>
                </a14:m>
                <a:r>
                  <a:rPr lang="en-US" sz="2800">
                    <a:cs typeface="Times New Roman" panose="02020603050405020304" pitchFamily="18" charset="0"/>
                  </a:rPr>
                  <a:t> </a:t>
                </a:r>
              </a:p>
            </p:txBody>
          </p:sp>
        </mc:Choice>
        <mc:Fallback xmlns="">
          <p:sp>
            <p:nvSpPr>
              <p:cNvPr id="8" name="TextBox 7"/>
              <p:cNvSpPr txBox="1">
                <a:spLocks noRot="1" noChangeAspect="1" noMove="1" noResize="1" noEditPoints="1" noAdjustHandles="1" noChangeArrowheads="1" noChangeShapeType="1" noTextEdit="1"/>
              </p:cNvSpPr>
              <p:nvPr/>
            </p:nvSpPr>
            <p:spPr>
              <a:xfrm>
                <a:off x="150354" y="919163"/>
                <a:ext cx="7128792" cy="954107"/>
              </a:xfrm>
              <a:prstGeom prst="rect">
                <a:avLst/>
              </a:prstGeom>
              <a:blipFill rotWithShape="0">
                <a:blip r:embed="rId2"/>
                <a:stretch>
                  <a:fillRect l="-1796" t="-7051" b="-179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73310" y="1955100"/>
                <a:ext cx="6970490" cy="1231106"/>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B1: Bảng </a:t>
                </a:r>
                <a:r>
                  <a:rPr lang="en-US" sz="2800" err="1">
                    <a:latin typeface="Times New Roman" panose="02020603050405020304" pitchFamily="18" charset="0"/>
                    <a:cs typeface="Times New Roman" panose="02020603050405020304" pitchFamily="18" charset="0"/>
                  </a:rPr>
                  <a:t>Kar</a:t>
                </a:r>
                <a:r>
                  <a:rPr lang="en-US" sz="2800">
                    <a:latin typeface="Times New Roman" panose="02020603050405020304" pitchFamily="18" charset="0"/>
                    <a:cs typeface="Times New Roman" panose="02020603050405020304" pitchFamily="18" charset="0"/>
                  </a:rPr>
                  <a:t>(</a:t>
                </a:r>
                <a14:m>
                  <m:oMath xmlns:m="http://schemas.openxmlformats.org/officeDocument/2006/math">
                    <m:r>
                      <a:rPr lang="pt-BR" sz="2800" i="1">
                        <a:latin typeface="Cambria Math" panose="02040503050406030204" pitchFamily="18" charset="0"/>
                      </a:rPr>
                      <m:t>𝑓</m:t>
                    </m:r>
                  </m:oMath>
                </a14:m>
                <a:r>
                  <a:rPr lang="en-US" sz="2800">
                    <a:latin typeface="Times New Roman" panose="02020603050405020304" pitchFamily="18" charset="0"/>
                    <a:cs typeface="Times New Roman" panose="02020603050405020304" pitchFamily="18" charset="0"/>
                  </a:rPr>
                  <a:t>) </a:t>
                </a:r>
              </a:p>
              <a:p>
                <a14:m>
                  <m:oMath xmlns:m="http://schemas.openxmlformats.org/officeDocument/2006/math">
                    <m:r>
                      <a:rPr lang="pt-BR" sz="2800" i="1">
                        <a:latin typeface="Cambria Math" panose="02040503050406030204" pitchFamily="18" charset="0"/>
                      </a:rPr>
                      <m:t>𝑓</m:t>
                    </m:r>
                    <m:r>
                      <a:rPr lang="pt-BR" sz="2800" i="1">
                        <a:latin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a:t>
                </a:r>
                <a:r>
                  <a:rPr lang="en-US" sz="2800" err="1">
                    <a:latin typeface="Times New Roman" panose="02020603050405020304" pitchFamily="18" charset="0"/>
                    <a:cs typeface="Times New Roman" panose="02020603050405020304" pitchFamily="18" charset="0"/>
                  </a:rPr>
                  <a:t>x,y,z,t</a:t>
                </a:r>
                <a:r>
                  <a:rPr lang="en-US" sz="2800">
                    <a:latin typeface="Times New Roman" panose="02020603050405020304" pitchFamily="18" charset="0"/>
                    <a:cs typeface="Times New Roman" panose="02020603050405020304" pitchFamily="18" charset="0"/>
                  </a:rPr>
                  <a:t>) = xyzt </a:t>
                </a:r>
                <a14:m>
                  <m:oMath xmlns:m="http://schemas.openxmlformats.org/officeDocument/2006/math">
                    <m:r>
                      <a:rPr lang="en-US" sz="2800" i="1">
                        <a:latin typeface="Cambria Math" panose="02040503050406030204" pitchFamily="18" charset="0"/>
                        <a:ea typeface="Cambria Math" panose="02040503050406030204" pitchFamily="18" charset="0"/>
                      </a:rPr>
                      <m:t>∨</m:t>
                    </m:r>
                  </m:oMath>
                </a14:m>
                <a:r>
                  <a:rPr lang="en-US" sz="2800">
                    <a:latin typeface="Times New Roman" panose="02020603050405020304" pitchFamily="18" charset="0"/>
                    <a:cs typeface="Times New Roman" panose="02020603050405020304" pitchFamily="18" charset="0"/>
                  </a:rPr>
                  <a:t> x</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𝑦</m:t>
                        </m:r>
                      </m:e>
                    </m:acc>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m:t>
                    </m:r>
                  </m:oMath>
                </a14:m>
                <a:r>
                  <a:rPr lang="en-US" sz="2800">
                    <a:latin typeface="Times New Roman" panose="02020603050405020304" pitchFamily="18" charset="0"/>
                    <a:cs typeface="Times New Roman" panose="02020603050405020304" pitchFamily="18" charset="0"/>
                  </a:rPr>
                  <a:t> x</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m:t>
                        </m:r>
                      </m:e>
                    </m:acc>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yz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xy</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m:t>
                        </m:r>
                      </m:e>
                    </m:acc>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 </m:t>
                    </m:r>
                  </m:oMath>
                </a14:m>
                <a:r>
                  <a:rPr lang="en-US" sz="2800">
                    <a:latin typeface="Times New Roman" panose="02020603050405020304" pitchFamily="18" charset="0"/>
                    <a:cs typeface="Times New Roman" panose="02020603050405020304" pitchFamily="18" charset="0"/>
                  </a:rPr>
                  <a:t> xy</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oMath>
                </a14:m>
                <a:r>
                  <a:rPr lang="en-US" sz="2800">
                    <a:latin typeface="Times New Roman" panose="02020603050405020304" pitchFamily="18" charset="0"/>
                    <a:cs typeface="Times New Roman" panose="02020603050405020304" pitchFamily="18" charset="0"/>
                  </a:rPr>
                  <a:t> </a:t>
                </a:r>
              </a:p>
              <a:p>
                <a:endParaRPr lang="en-US"/>
              </a:p>
            </p:txBody>
          </p:sp>
        </mc:Choice>
        <mc:Fallback xmlns="">
          <p:sp>
            <p:nvSpPr>
              <p:cNvPr id="9" name="TextBox 8"/>
              <p:cNvSpPr txBox="1">
                <a:spLocks noRot="1" noChangeAspect="1" noMove="1" noResize="1" noEditPoints="1" noAdjustHandles="1" noChangeArrowheads="1" noChangeShapeType="1" noTextEdit="1"/>
              </p:cNvSpPr>
              <p:nvPr/>
            </p:nvSpPr>
            <p:spPr>
              <a:xfrm>
                <a:off x="573310" y="1955100"/>
                <a:ext cx="6970490" cy="1231106"/>
              </a:xfrm>
              <a:prstGeom prst="rect">
                <a:avLst/>
              </a:prstGeom>
              <a:blipFill rotWithShape="0">
                <a:blip r:embed="rId3"/>
                <a:stretch>
                  <a:fillRect l="-1748" t="-54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115079107"/>
                  </p:ext>
                </p:extLst>
              </p:nvPr>
            </p:nvGraphicFramePr>
            <p:xfrm>
              <a:off x="630746" y="3079401"/>
              <a:ext cx="6144345" cy="2520280"/>
            </p:xfrm>
            <a:graphic>
              <a:graphicData uri="http://schemas.openxmlformats.org/drawingml/2006/table">
                <a:tbl>
                  <a:tblPr firstRow="1" bandRow="1">
                    <a:tableStyleId>{5940675A-B579-460E-94D1-54222C63F5DA}</a:tableStyleId>
                  </a:tblPr>
                  <a:tblGrid>
                    <a:gridCol w="1228869">
                      <a:extLst>
                        <a:ext uri="{9D8B030D-6E8A-4147-A177-3AD203B41FA5}">
                          <a16:colId xmlns:a16="http://schemas.microsoft.com/office/drawing/2014/main" val="20000"/>
                        </a:ext>
                      </a:extLst>
                    </a:gridCol>
                    <a:gridCol w="1228869">
                      <a:extLst>
                        <a:ext uri="{9D8B030D-6E8A-4147-A177-3AD203B41FA5}">
                          <a16:colId xmlns:a16="http://schemas.microsoft.com/office/drawing/2014/main" val="20001"/>
                        </a:ext>
                      </a:extLst>
                    </a:gridCol>
                    <a:gridCol w="1228869">
                      <a:extLst>
                        <a:ext uri="{9D8B030D-6E8A-4147-A177-3AD203B41FA5}">
                          <a16:colId xmlns:a16="http://schemas.microsoft.com/office/drawing/2014/main" val="20002"/>
                        </a:ext>
                      </a:extLst>
                    </a:gridCol>
                    <a:gridCol w="1228869">
                      <a:extLst>
                        <a:ext uri="{9D8B030D-6E8A-4147-A177-3AD203B41FA5}">
                          <a16:colId xmlns:a16="http://schemas.microsoft.com/office/drawing/2014/main" val="20003"/>
                        </a:ext>
                      </a:extLst>
                    </a:gridCol>
                    <a:gridCol w="1228869">
                      <a:extLst>
                        <a:ext uri="{9D8B030D-6E8A-4147-A177-3AD203B41FA5}">
                          <a16:colId xmlns:a16="http://schemas.microsoft.com/office/drawing/2014/main" val="20004"/>
                        </a:ext>
                      </a:extLst>
                    </a:gridCol>
                  </a:tblGrid>
                  <a:tr h="515044">
                    <a:tc>
                      <a:txBody>
                        <a:bodyPr/>
                        <a:lstStyle/>
                        <a:p>
                          <a:pPr algn="ctr"/>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m:oMathPara>
                          </a14:m>
                          <a:endParaRPr lang="en-US" sz="2400"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𝑥𝑦</m:t>
                                </m:r>
                              </m:oMath>
                            </m:oMathPara>
                          </a14:m>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smtClean="0">
                                    <a:latin typeface="Cambria Math" panose="02040503050406030204" pitchFamily="18" charset="0"/>
                                  </a:rPr>
                                  <m:t>𝑦</m:t>
                                </m:r>
                              </m:oMath>
                            </m:oMathPara>
                          </a14:m>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m:oMathPara>
                          </a14:m>
                          <a:endParaRPr lang="en-US" sz="2400" b="0"/>
                        </a:p>
                      </a:txBody>
                      <a:tcPr>
                        <a:solidFill>
                          <a:schemeClr val="accent2">
                            <a:lumMod val="20000"/>
                            <a:lumOff val="80000"/>
                          </a:schemeClr>
                        </a:solidFill>
                      </a:tcPr>
                    </a:tc>
                    <a:extLst>
                      <a:ext uri="{0D108BD9-81ED-4DB2-BD59-A6C34878D82A}">
                        <a16:rowId xmlns:a16="http://schemas.microsoft.com/office/drawing/2014/main" val="10000"/>
                      </a:ext>
                    </a:extLst>
                  </a:tr>
                  <a:tr h="501309">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acc>
                                  <m:accPr>
                                    <m:chr m:val="̅"/>
                                    <m:ctrlPr>
                                      <a:rPr lang="en-US" sz="2400" b="0" i="1">
                                        <a:latin typeface="Cambria Math" panose="02040503050406030204" pitchFamily="18" charset="0"/>
                                      </a:rPr>
                                    </m:ctrlPr>
                                  </m:accPr>
                                  <m:e>
                                    <m:r>
                                      <a:rPr lang="en-US" sz="2400" b="0" i="1" smtClean="0">
                                        <a:latin typeface="Cambria Math" panose="02040503050406030204" pitchFamily="18" charset="0"/>
                                      </a:rPr>
                                      <m:t>𝑡</m:t>
                                    </m:r>
                                  </m:e>
                                </m:acc>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extLst>
                      <a:ext uri="{0D108BD9-81ED-4DB2-BD59-A6C34878D82A}">
                        <a16:rowId xmlns:a16="http://schemas.microsoft.com/office/drawing/2014/main" val="10001"/>
                      </a:ext>
                    </a:extLst>
                  </a:tr>
                  <a:tr h="501309">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𝑧𝑡</m:t>
                                </m:r>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extLst>
                      <a:ext uri="{0D108BD9-81ED-4DB2-BD59-A6C34878D82A}">
                        <a16:rowId xmlns:a16="http://schemas.microsoft.com/office/drawing/2014/main" val="10002"/>
                      </a:ext>
                    </a:extLst>
                  </a:tr>
                  <a:tr h="501309">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r>
                                  <a:rPr lang="en-US" sz="2400" b="0" i="1" smtClean="0">
                                    <a:latin typeface="Cambria Math" panose="02040503050406030204" pitchFamily="18" charset="0"/>
                                  </a:rPr>
                                  <m:t>𝑡</m:t>
                                </m:r>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tc>
                      <a:txBody>
                        <a:bodyPr/>
                        <a:lstStyle/>
                        <a:p>
                          <a:pPr algn="ctr"/>
                          <a:endParaRPr lang="en-US" sz="2400" b="0"/>
                        </a:p>
                      </a:txBody>
                      <a:tcPr/>
                    </a:tc>
                    <a:extLst>
                      <a:ext uri="{0D108BD9-81ED-4DB2-BD59-A6C34878D82A}">
                        <a16:rowId xmlns:a16="http://schemas.microsoft.com/office/drawing/2014/main" val="10003"/>
                      </a:ext>
                    </a:extLst>
                  </a:tr>
                  <a:tr h="501309">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𝑡</m:t>
                                    </m:r>
                                  </m:e>
                                </m:acc>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tc>
                      <a:txBody>
                        <a:bodyPr/>
                        <a:lstStyle/>
                        <a:p>
                          <a:pPr algn="ctr"/>
                          <a:endParaRPr lang="en-US" sz="2400" b="0"/>
                        </a:p>
                      </a:txBody>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115079107"/>
                  </p:ext>
                </p:extLst>
              </p:nvPr>
            </p:nvGraphicFramePr>
            <p:xfrm>
              <a:off x="630746" y="3079401"/>
              <a:ext cx="6144345" cy="2520280"/>
            </p:xfrm>
            <a:graphic>
              <a:graphicData uri="http://schemas.openxmlformats.org/drawingml/2006/table">
                <a:tbl>
                  <a:tblPr firstRow="1" bandRow="1">
                    <a:tableStyleId>{5940675A-B579-460E-94D1-54222C63F5DA}</a:tableStyleId>
                  </a:tblPr>
                  <a:tblGrid>
                    <a:gridCol w="1228869"/>
                    <a:gridCol w="1228869"/>
                    <a:gridCol w="1228869"/>
                    <a:gridCol w="1228869"/>
                    <a:gridCol w="1228869"/>
                  </a:tblGrid>
                  <a:tr h="515044">
                    <a:tc>
                      <a:txBody>
                        <a:bodyPr/>
                        <a:lstStyle/>
                        <a:p>
                          <a:pPr algn="ctr"/>
                          <a:endParaRPr lang="en-US" sz="2400" b="0"/>
                        </a:p>
                      </a:txBody>
                      <a:tcPr>
                        <a:solidFill>
                          <a:schemeClr val="accent2">
                            <a:lumMod val="20000"/>
                            <a:lumOff val="80000"/>
                          </a:schemeClr>
                        </a:solidFill>
                      </a:tcPr>
                    </a:tc>
                    <a:tc>
                      <a:txBody>
                        <a:bodyPr/>
                        <a:lstStyle/>
                        <a:p>
                          <a:endParaRPr lang="en-US"/>
                        </a:p>
                      </a:txBody>
                      <a:tcPr>
                        <a:blipFill rotWithShape="0">
                          <a:blip r:embed="rId4"/>
                          <a:stretch>
                            <a:fillRect l="-100495" t="-1176" r="-300495" b="-404706"/>
                          </a:stretch>
                        </a:blipFill>
                      </a:tcPr>
                    </a:tc>
                    <a:tc>
                      <a:txBody>
                        <a:bodyPr/>
                        <a:lstStyle/>
                        <a:p>
                          <a:endParaRPr lang="en-US"/>
                        </a:p>
                      </a:txBody>
                      <a:tcPr>
                        <a:blipFill rotWithShape="0">
                          <a:blip r:embed="rId4"/>
                          <a:stretch>
                            <a:fillRect l="-201493" t="-1176" r="-201990" b="-404706"/>
                          </a:stretch>
                        </a:blipFill>
                      </a:tcPr>
                    </a:tc>
                    <a:tc>
                      <a:txBody>
                        <a:bodyPr/>
                        <a:lstStyle/>
                        <a:p>
                          <a:endParaRPr lang="en-US"/>
                        </a:p>
                      </a:txBody>
                      <a:tcPr>
                        <a:blipFill rotWithShape="0">
                          <a:blip r:embed="rId4"/>
                          <a:stretch>
                            <a:fillRect l="-300000" t="-1176" r="-100990" b="-404706"/>
                          </a:stretch>
                        </a:blipFill>
                      </a:tcPr>
                    </a:tc>
                    <a:tc>
                      <a:txBody>
                        <a:bodyPr/>
                        <a:lstStyle/>
                        <a:p>
                          <a:endParaRPr lang="en-US"/>
                        </a:p>
                      </a:txBody>
                      <a:tcPr>
                        <a:blipFill rotWithShape="0">
                          <a:blip r:embed="rId4"/>
                          <a:stretch>
                            <a:fillRect l="-400000" t="-1176" r="-990" b="-404706"/>
                          </a:stretch>
                        </a:blipFill>
                      </a:tcPr>
                    </a:tc>
                  </a:tr>
                  <a:tr h="501309">
                    <a:tc>
                      <a:txBody>
                        <a:bodyPr/>
                        <a:lstStyle/>
                        <a:p>
                          <a:endParaRPr lang="en-US"/>
                        </a:p>
                      </a:txBody>
                      <a:tcPr>
                        <a:blipFill rotWithShape="0">
                          <a:blip r:embed="rId4"/>
                          <a:stretch>
                            <a:fillRect l="-495" t="-104878" r="-400495" b="-319512"/>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r>
                  <a:tr h="501309">
                    <a:tc>
                      <a:txBody>
                        <a:bodyPr/>
                        <a:lstStyle/>
                        <a:p>
                          <a:endParaRPr lang="en-US"/>
                        </a:p>
                      </a:txBody>
                      <a:tcPr>
                        <a:blipFill rotWithShape="0">
                          <a:blip r:embed="rId4"/>
                          <a:stretch>
                            <a:fillRect l="-495" t="-204878" r="-400495" b="-219512"/>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r>
                  <a:tr h="501309">
                    <a:tc>
                      <a:txBody>
                        <a:bodyPr/>
                        <a:lstStyle/>
                        <a:p>
                          <a:endParaRPr lang="en-US"/>
                        </a:p>
                      </a:txBody>
                      <a:tcPr>
                        <a:blipFill rotWithShape="0">
                          <a:blip r:embed="rId4"/>
                          <a:stretch>
                            <a:fillRect l="-495" t="-301205" r="-400495" b="-116867"/>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c>
                      <a:txBody>
                        <a:bodyPr/>
                        <a:lstStyle/>
                        <a:p>
                          <a:pPr algn="ctr"/>
                          <a:endParaRPr lang="en-US" sz="2400" b="0"/>
                        </a:p>
                      </a:txBody>
                      <a:tcPr/>
                    </a:tc>
                  </a:tr>
                  <a:tr h="501309">
                    <a:tc>
                      <a:txBody>
                        <a:bodyPr/>
                        <a:lstStyle/>
                        <a:p>
                          <a:endParaRPr lang="en-US"/>
                        </a:p>
                      </a:txBody>
                      <a:tcPr>
                        <a:blipFill rotWithShape="0">
                          <a:blip r:embed="rId4"/>
                          <a:stretch>
                            <a:fillRect l="-495" t="-406098" r="-400495" b="-18293"/>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c>
                      <a:txBody>
                        <a:bodyPr/>
                        <a:lstStyle/>
                        <a:p>
                          <a:pPr algn="ctr"/>
                          <a:endParaRPr lang="en-US" sz="2400" b="0"/>
                        </a:p>
                      </a:txBody>
                      <a:tcPr/>
                    </a:tc>
                  </a:tr>
                </a:tbl>
              </a:graphicData>
            </a:graphic>
          </p:graphicFrame>
        </mc:Fallback>
      </mc:AlternateContent>
      <p:sp>
        <p:nvSpPr>
          <p:cNvPr id="6"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1" name="Slide Number Placeholder 6"/>
          <p:cNvSpPr>
            <a:spLocks noGrp="1"/>
          </p:cNvSpPr>
          <p:nvPr>
            <p:ph type="sldNum" sz="quarter" idx="12"/>
          </p:nvPr>
        </p:nvSpPr>
        <p:spPr>
          <a:xfrm>
            <a:off x="7848600" y="6492874"/>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28</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circle(in)">
                                      <p:cBhvr>
                                        <p:cTn id="21"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820926217"/>
                  </p:ext>
                </p:extLst>
              </p:nvPr>
            </p:nvGraphicFramePr>
            <p:xfrm>
              <a:off x="678598" y="1196658"/>
              <a:ext cx="6144345" cy="2520280"/>
            </p:xfrm>
            <a:graphic>
              <a:graphicData uri="http://schemas.openxmlformats.org/drawingml/2006/table">
                <a:tbl>
                  <a:tblPr firstRow="1" bandRow="1">
                    <a:tableStyleId>{5940675A-B579-460E-94D1-54222C63F5DA}</a:tableStyleId>
                  </a:tblPr>
                  <a:tblGrid>
                    <a:gridCol w="1228869">
                      <a:extLst>
                        <a:ext uri="{9D8B030D-6E8A-4147-A177-3AD203B41FA5}">
                          <a16:colId xmlns:a16="http://schemas.microsoft.com/office/drawing/2014/main" val="20000"/>
                        </a:ext>
                      </a:extLst>
                    </a:gridCol>
                    <a:gridCol w="1228869">
                      <a:extLst>
                        <a:ext uri="{9D8B030D-6E8A-4147-A177-3AD203B41FA5}">
                          <a16:colId xmlns:a16="http://schemas.microsoft.com/office/drawing/2014/main" val="20001"/>
                        </a:ext>
                      </a:extLst>
                    </a:gridCol>
                    <a:gridCol w="1228869">
                      <a:extLst>
                        <a:ext uri="{9D8B030D-6E8A-4147-A177-3AD203B41FA5}">
                          <a16:colId xmlns:a16="http://schemas.microsoft.com/office/drawing/2014/main" val="20002"/>
                        </a:ext>
                      </a:extLst>
                    </a:gridCol>
                    <a:gridCol w="1228869">
                      <a:extLst>
                        <a:ext uri="{9D8B030D-6E8A-4147-A177-3AD203B41FA5}">
                          <a16:colId xmlns:a16="http://schemas.microsoft.com/office/drawing/2014/main" val="20003"/>
                        </a:ext>
                      </a:extLst>
                    </a:gridCol>
                    <a:gridCol w="1228869">
                      <a:extLst>
                        <a:ext uri="{9D8B030D-6E8A-4147-A177-3AD203B41FA5}">
                          <a16:colId xmlns:a16="http://schemas.microsoft.com/office/drawing/2014/main" val="20004"/>
                        </a:ext>
                      </a:extLst>
                    </a:gridCol>
                  </a:tblGrid>
                  <a:tr h="515044">
                    <a:tc>
                      <a:txBody>
                        <a:bodyPr/>
                        <a:lstStyle/>
                        <a:p>
                          <a:pPr algn="ctr"/>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m:oMathPara>
                          </a14:m>
                          <a:endParaRPr lang="en-US" sz="2400"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𝑥𝑦</m:t>
                                </m:r>
                              </m:oMath>
                            </m:oMathPara>
                          </a14:m>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smtClean="0">
                                    <a:latin typeface="Cambria Math" panose="02040503050406030204" pitchFamily="18" charset="0"/>
                                  </a:rPr>
                                  <m:t>𝑦</m:t>
                                </m:r>
                              </m:oMath>
                            </m:oMathPara>
                          </a14:m>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m:oMathPara>
                          </a14:m>
                          <a:endParaRPr lang="en-US" sz="2400" b="0"/>
                        </a:p>
                      </a:txBody>
                      <a:tcPr>
                        <a:solidFill>
                          <a:schemeClr val="accent2">
                            <a:lumMod val="20000"/>
                            <a:lumOff val="80000"/>
                          </a:schemeClr>
                        </a:solidFill>
                      </a:tcPr>
                    </a:tc>
                    <a:extLst>
                      <a:ext uri="{0D108BD9-81ED-4DB2-BD59-A6C34878D82A}">
                        <a16:rowId xmlns:a16="http://schemas.microsoft.com/office/drawing/2014/main" val="10000"/>
                      </a:ext>
                    </a:extLst>
                  </a:tr>
                  <a:tr h="501309">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acc>
                                  <m:accPr>
                                    <m:chr m:val="̅"/>
                                    <m:ctrlPr>
                                      <a:rPr lang="en-US" sz="2400" b="0" i="1">
                                        <a:latin typeface="Cambria Math" panose="02040503050406030204" pitchFamily="18" charset="0"/>
                                      </a:rPr>
                                    </m:ctrlPr>
                                  </m:accPr>
                                  <m:e>
                                    <m:r>
                                      <a:rPr lang="en-US" sz="2400" b="0" i="1" smtClean="0">
                                        <a:latin typeface="Cambria Math" panose="02040503050406030204" pitchFamily="18" charset="0"/>
                                      </a:rPr>
                                      <m:t>𝑡</m:t>
                                    </m:r>
                                  </m:e>
                                </m:acc>
                              </m:oMath>
                            </m:oMathPara>
                          </a14:m>
                          <a:endParaRPr lang="en-US" sz="2400" b="0"/>
                        </a:p>
                      </a:txBody>
                      <a:tcPr>
                        <a:solidFill>
                          <a:schemeClr val="accent2">
                            <a:lumMod val="20000"/>
                            <a:lumOff val="80000"/>
                          </a:schemeClr>
                        </a:solidFill>
                      </a:tcPr>
                    </a:tc>
                    <a:tc>
                      <a:txBody>
                        <a:bodyPr/>
                        <a:lstStyle/>
                        <a:p>
                          <a:pPr algn="ctr"/>
                          <a:r>
                            <a:rPr lang="en-US" sz="2400" b="0"/>
                            <a:t>1</a:t>
                          </a:r>
                        </a:p>
                      </a:txBody>
                      <a:tcPr>
                        <a:solidFill>
                          <a:srgbClr val="FFFF00"/>
                        </a:solidFill>
                      </a:tcPr>
                    </a:tc>
                    <a:tc>
                      <a:txBody>
                        <a:bodyPr/>
                        <a:lstStyle/>
                        <a:p>
                          <a:pPr algn="ctr"/>
                          <a:r>
                            <a:rPr lang="en-US" sz="2400" b="0"/>
                            <a:t>1</a:t>
                          </a:r>
                        </a:p>
                      </a:txBody>
                      <a:tcPr/>
                    </a:tc>
                    <a:tc>
                      <a:txBody>
                        <a:bodyPr/>
                        <a:lstStyle/>
                        <a:p>
                          <a:pPr algn="ctr"/>
                          <a:r>
                            <a:rPr lang="en-US" sz="2400" b="0"/>
                            <a:t>1</a:t>
                          </a:r>
                        </a:p>
                      </a:txBody>
                      <a:tcPr>
                        <a:solidFill>
                          <a:srgbClr val="FFFF00"/>
                        </a:solidFill>
                      </a:tcPr>
                    </a:tc>
                    <a:tc>
                      <a:txBody>
                        <a:bodyPr/>
                        <a:lstStyle/>
                        <a:p>
                          <a:pPr algn="ctr"/>
                          <a:endParaRPr lang="en-US" sz="2400" b="0"/>
                        </a:p>
                      </a:txBody>
                      <a:tcPr/>
                    </a:tc>
                    <a:extLst>
                      <a:ext uri="{0D108BD9-81ED-4DB2-BD59-A6C34878D82A}">
                        <a16:rowId xmlns:a16="http://schemas.microsoft.com/office/drawing/2014/main" val="10001"/>
                      </a:ext>
                    </a:extLst>
                  </a:tr>
                  <a:tr h="501309">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𝑧𝑡</m:t>
                                </m:r>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extLst>
                      <a:ext uri="{0D108BD9-81ED-4DB2-BD59-A6C34878D82A}">
                        <a16:rowId xmlns:a16="http://schemas.microsoft.com/office/drawing/2014/main" val="10002"/>
                      </a:ext>
                    </a:extLst>
                  </a:tr>
                  <a:tr h="501309">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r>
                                  <a:rPr lang="en-US" sz="2400" b="0" i="1" smtClean="0">
                                    <a:latin typeface="Cambria Math" panose="02040503050406030204" pitchFamily="18" charset="0"/>
                                  </a:rPr>
                                  <m:t>𝑡</m:t>
                                </m:r>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tc>
                      <a:txBody>
                        <a:bodyPr/>
                        <a:lstStyle/>
                        <a:p>
                          <a:pPr algn="ctr"/>
                          <a:endParaRPr lang="en-US" sz="2400" b="0"/>
                        </a:p>
                      </a:txBody>
                      <a:tcPr/>
                    </a:tc>
                    <a:extLst>
                      <a:ext uri="{0D108BD9-81ED-4DB2-BD59-A6C34878D82A}">
                        <a16:rowId xmlns:a16="http://schemas.microsoft.com/office/drawing/2014/main" val="10003"/>
                      </a:ext>
                    </a:extLst>
                  </a:tr>
                  <a:tr h="501309">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𝑡</m:t>
                                    </m:r>
                                  </m:e>
                                </m:acc>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tc>
                      <a:txBody>
                        <a:bodyPr/>
                        <a:lstStyle/>
                        <a:p>
                          <a:pPr algn="ctr"/>
                          <a:endParaRPr lang="en-US" sz="2400" b="0"/>
                        </a:p>
                      </a:txBody>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820926217"/>
                  </p:ext>
                </p:extLst>
              </p:nvPr>
            </p:nvGraphicFramePr>
            <p:xfrm>
              <a:off x="678598" y="1196658"/>
              <a:ext cx="6144345" cy="2520280"/>
            </p:xfrm>
            <a:graphic>
              <a:graphicData uri="http://schemas.openxmlformats.org/drawingml/2006/table">
                <a:tbl>
                  <a:tblPr firstRow="1" bandRow="1">
                    <a:tableStyleId>{5940675A-B579-460E-94D1-54222C63F5DA}</a:tableStyleId>
                  </a:tblPr>
                  <a:tblGrid>
                    <a:gridCol w="1228869"/>
                    <a:gridCol w="1228869"/>
                    <a:gridCol w="1228869"/>
                    <a:gridCol w="1228869"/>
                    <a:gridCol w="1228869"/>
                  </a:tblGrid>
                  <a:tr h="515044">
                    <a:tc>
                      <a:txBody>
                        <a:bodyPr/>
                        <a:lstStyle/>
                        <a:p>
                          <a:pPr algn="ctr"/>
                          <a:endParaRPr lang="en-US" sz="2400" b="0"/>
                        </a:p>
                      </a:txBody>
                      <a:tcPr>
                        <a:solidFill>
                          <a:schemeClr val="accent2">
                            <a:lumMod val="20000"/>
                            <a:lumOff val="80000"/>
                          </a:schemeClr>
                        </a:solidFill>
                      </a:tcPr>
                    </a:tc>
                    <a:tc>
                      <a:txBody>
                        <a:bodyPr/>
                        <a:lstStyle/>
                        <a:p>
                          <a:endParaRPr lang="en-US"/>
                        </a:p>
                      </a:txBody>
                      <a:tcPr>
                        <a:blipFill rotWithShape="0">
                          <a:blip r:embed="rId2"/>
                          <a:stretch>
                            <a:fillRect l="-100495" t="-1176" r="-300495" b="-404706"/>
                          </a:stretch>
                        </a:blipFill>
                      </a:tcPr>
                    </a:tc>
                    <a:tc>
                      <a:txBody>
                        <a:bodyPr/>
                        <a:lstStyle/>
                        <a:p>
                          <a:endParaRPr lang="en-US"/>
                        </a:p>
                      </a:txBody>
                      <a:tcPr>
                        <a:blipFill rotWithShape="0">
                          <a:blip r:embed="rId2"/>
                          <a:stretch>
                            <a:fillRect l="-201493" t="-1176" r="-201990" b="-404706"/>
                          </a:stretch>
                        </a:blipFill>
                      </a:tcPr>
                    </a:tc>
                    <a:tc>
                      <a:txBody>
                        <a:bodyPr/>
                        <a:lstStyle/>
                        <a:p>
                          <a:endParaRPr lang="en-US"/>
                        </a:p>
                      </a:txBody>
                      <a:tcPr>
                        <a:blipFill rotWithShape="0">
                          <a:blip r:embed="rId2"/>
                          <a:stretch>
                            <a:fillRect l="-300000" t="-1176" r="-100990" b="-404706"/>
                          </a:stretch>
                        </a:blipFill>
                      </a:tcPr>
                    </a:tc>
                    <a:tc>
                      <a:txBody>
                        <a:bodyPr/>
                        <a:lstStyle/>
                        <a:p>
                          <a:endParaRPr lang="en-US"/>
                        </a:p>
                      </a:txBody>
                      <a:tcPr>
                        <a:blipFill rotWithShape="0">
                          <a:blip r:embed="rId2"/>
                          <a:stretch>
                            <a:fillRect l="-400000" t="-1176" r="-990" b="-404706"/>
                          </a:stretch>
                        </a:blipFill>
                      </a:tcPr>
                    </a:tc>
                  </a:tr>
                  <a:tr h="501309">
                    <a:tc>
                      <a:txBody>
                        <a:bodyPr/>
                        <a:lstStyle/>
                        <a:p>
                          <a:endParaRPr lang="en-US"/>
                        </a:p>
                      </a:txBody>
                      <a:tcPr>
                        <a:blipFill rotWithShape="0">
                          <a:blip r:embed="rId2"/>
                          <a:stretch>
                            <a:fillRect l="-495" t="-104878" r="-400495" b="-319512"/>
                          </a:stretch>
                        </a:blipFill>
                      </a:tcPr>
                    </a:tc>
                    <a:tc>
                      <a:txBody>
                        <a:bodyPr/>
                        <a:lstStyle/>
                        <a:p>
                          <a:pPr algn="ctr"/>
                          <a:r>
                            <a:rPr lang="en-US" sz="2400" b="0" smtClean="0"/>
                            <a:t>1</a:t>
                          </a:r>
                          <a:endParaRPr lang="en-US" sz="2400" b="0"/>
                        </a:p>
                      </a:txBody>
                      <a:tcPr>
                        <a:solidFill>
                          <a:srgbClr val="FFFF00"/>
                        </a:solid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solidFill>
                          <a:srgbClr val="FFFF00"/>
                        </a:solidFill>
                      </a:tcPr>
                    </a:tc>
                    <a:tc>
                      <a:txBody>
                        <a:bodyPr/>
                        <a:lstStyle/>
                        <a:p>
                          <a:pPr algn="ctr"/>
                          <a:endParaRPr lang="en-US" sz="2400" b="0"/>
                        </a:p>
                      </a:txBody>
                      <a:tcPr/>
                    </a:tc>
                  </a:tr>
                  <a:tr h="501309">
                    <a:tc>
                      <a:txBody>
                        <a:bodyPr/>
                        <a:lstStyle/>
                        <a:p>
                          <a:endParaRPr lang="en-US"/>
                        </a:p>
                      </a:txBody>
                      <a:tcPr>
                        <a:blipFill rotWithShape="0">
                          <a:blip r:embed="rId2"/>
                          <a:stretch>
                            <a:fillRect l="-495" t="-204878" r="-400495" b="-219512"/>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r>
                  <a:tr h="501309">
                    <a:tc>
                      <a:txBody>
                        <a:bodyPr/>
                        <a:lstStyle/>
                        <a:p>
                          <a:endParaRPr lang="en-US"/>
                        </a:p>
                      </a:txBody>
                      <a:tcPr>
                        <a:blipFill rotWithShape="0">
                          <a:blip r:embed="rId2"/>
                          <a:stretch>
                            <a:fillRect l="-495" t="-301205" r="-400495" b="-116867"/>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c>
                      <a:txBody>
                        <a:bodyPr/>
                        <a:lstStyle/>
                        <a:p>
                          <a:pPr algn="ctr"/>
                          <a:endParaRPr lang="en-US" sz="2400" b="0"/>
                        </a:p>
                      </a:txBody>
                      <a:tcPr/>
                    </a:tc>
                  </a:tr>
                  <a:tr h="501309">
                    <a:tc>
                      <a:txBody>
                        <a:bodyPr/>
                        <a:lstStyle/>
                        <a:p>
                          <a:endParaRPr lang="en-US"/>
                        </a:p>
                      </a:txBody>
                      <a:tcPr>
                        <a:blipFill rotWithShape="0">
                          <a:blip r:embed="rId2"/>
                          <a:stretch>
                            <a:fillRect l="-495" t="-406098" r="-400495" b="-18293"/>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c>
                      <a:txBody>
                        <a:bodyPr/>
                        <a:lstStyle/>
                        <a:p>
                          <a:pPr algn="ctr"/>
                          <a:endParaRPr lang="en-US" sz="2400" b="0"/>
                        </a:p>
                      </a:txBody>
                      <a:tcPr/>
                    </a:tc>
                  </a:tr>
                </a:tbl>
              </a:graphicData>
            </a:graphic>
          </p:graphicFrame>
        </mc:Fallback>
      </mc:AlternateContent>
      <p:sp>
        <p:nvSpPr>
          <p:cNvPr id="8" name="Rectangle 7"/>
          <p:cNvSpPr/>
          <p:nvPr/>
        </p:nvSpPr>
        <p:spPr>
          <a:xfrm>
            <a:off x="533400" y="4267200"/>
            <a:ext cx="6434742" cy="2246769"/>
          </a:xfrm>
          <a:prstGeom prst="rect">
            <a:avLst/>
          </a:prstGeom>
        </p:spPr>
        <p:txBody>
          <a:bodyPr wrap="square">
            <a:spAutoFit/>
          </a:bodyPr>
          <a:lstStyle/>
          <a:p>
            <a:r>
              <a:rPr lang="en-US" sz="2800">
                <a:latin typeface="Times New Roman" panose="02020603050405020304" pitchFamily="18" charset="0"/>
                <a:cs typeface="Times New Roman" panose="02020603050405020304" pitchFamily="18" charset="0"/>
              </a:rPr>
              <a:t>B3: Chọn tế bào lớn nhất thiết phải chọn: (Vì chúng chứa các các ô không nằm trong tế bào nào khác – </a:t>
            </a:r>
            <a:r>
              <a:rPr lang="en-US" sz="2800" i="1">
                <a:latin typeface="Times New Roman" panose="02020603050405020304" pitchFamily="18" charset="0"/>
                <a:cs typeface="Times New Roman" panose="02020603050405020304" pitchFamily="18" charset="0"/>
              </a:rPr>
              <a:t>minh hoạ với ô vàng</a:t>
            </a:r>
            <a:r>
              <a:rPr lang="en-US" sz="2800">
                <a:latin typeface="Times New Roman" panose="02020603050405020304" pitchFamily="18" charset="0"/>
                <a:cs typeface="Times New Roman" panose="02020603050405020304" pitchFamily="18" charset="0"/>
              </a:rPr>
              <a:t>)</a:t>
            </a:r>
          </a:p>
          <a:p>
            <a:r>
              <a:rPr lang="en-US" sz="2800">
                <a:latin typeface="Times New Roman" panose="02020603050405020304" pitchFamily="18" charset="0"/>
                <a:cs typeface="Times New Roman" panose="02020603050405020304" pitchFamily="18" charset="0"/>
              </a:rPr>
              <a:t>     + chọn tế bào lớn thứ 1: </a:t>
            </a:r>
            <a:r>
              <a:rPr lang="en-US" sz="2800">
                <a:solidFill>
                  <a:srgbClr val="FF0000"/>
                </a:solidFill>
                <a:latin typeface="Times New Roman" panose="02020603050405020304" pitchFamily="18" charset="0"/>
                <a:cs typeface="Times New Roman" panose="02020603050405020304" pitchFamily="18" charset="0"/>
              </a:rPr>
              <a:t>x</a:t>
            </a:r>
          </a:p>
          <a:p>
            <a:r>
              <a:rPr lang="en-US" sz="2800">
                <a:latin typeface="Times New Roman" panose="02020603050405020304" pitchFamily="18" charset="0"/>
                <a:cs typeface="Times New Roman" panose="02020603050405020304" pitchFamily="18" charset="0"/>
              </a:rPr>
              <a:t>     + chọn tế bào lớn thứ 2: </a:t>
            </a:r>
            <a:r>
              <a:rPr lang="en-US" sz="2800">
                <a:solidFill>
                  <a:srgbClr val="0070C0"/>
                </a:solidFill>
                <a:latin typeface="Times New Roman" panose="02020603050405020304" pitchFamily="18" charset="0"/>
                <a:cs typeface="Times New Roman" panose="02020603050405020304" pitchFamily="18" charset="0"/>
              </a:rPr>
              <a:t>yz</a:t>
            </a:r>
          </a:p>
        </p:txBody>
      </p:sp>
      <p:sp>
        <p:nvSpPr>
          <p:cNvPr id="9" name="Flowchart: Alternate Process 8"/>
          <p:cNvSpPr/>
          <p:nvPr/>
        </p:nvSpPr>
        <p:spPr>
          <a:xfrm>
            <a:off x="1948568" y="1528620"/>
            <a:ext cx="2088232" cy="1856356"/>
          </a:xfrm>
          <a:prstGeom prst="flowChartAlternateProcess">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Alternate Process 9"/>
          <p:cNvSpPr/>
          <p:nvPr/>
        </p:nvSpPr>
        <p:spPr>
          <a:xfrm>
            <a:off x="3123144" y="1528621"/>
            <a:ext cx="2209800" cy="848243"/>
          </a:xfrm>
          <a:prstGeom prst="flowChartAlternateProcess">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F0"/>
                </a:solidFill>
              </a:ln>
            </a:endParaRPr>
          </a:p>
        </p:txBody>
      </p:sp>
      <p:sp>
        <p:nvSpPr>
          <p:cNvPr id="11" name="TextBox 10"/>
          <p:cNvSpPr txBox="1"/>
          <p:nvPr/>
        </p:nvSpPr>
        <p:spPr>
          <a:xfrm>
            <a:off x="533400" y="384786"/>
            <a:ext cx="6172200"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B2: Xác định tất cả các tế bào lớn của f. </a:t>
            </a:r>
          </a:p>
        </p:txBody>
      </p:sp>
      <p:sp>
        <p:nvSpPr>
          <p:cNvPr id="12"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3"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4"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29</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6" presetClass="entr" presetSubtype="16"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ircle(in)">
                                      <p:cBhvr>
                                        <p:cTn id="15" dur="2000"/>
                                        <p:tgtEl>
                                          <p:spTgt spid="10"/>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3500"/>
                            </p:stCondLst>
                            <p:childTnLst>
                              <p:par>
                                <p:cTn id="21" presetID="42"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381000"/>
            <a:ext cx="6019800" cy="523220"/>
          </a:xfrm>
          <a:prstGeom prst="rect">
            <a:avLst/>
          </a:prstGeom>
        </p:spPr>
        <p:txBody>
          <a:bodyPr wrap="square">
            <a:spAutoFit/>
          </a:bodyPr>
          <a:lstStyle/>
          <a:p>
            <a:r>
              <a:rPr lang="en-US" sz="2800">
                <a:latin typeface="Times New Roman" panose="02020603050405020304" pitchFamily="18" charset="0"/>
                <a:cs typeface="Times New Roman" panose="02020603050405020304" pitchFamily="18" charset="0"/>
              </a:rPr>
              <a:t>B4: Xác định họ phủ của các tế bào lớn:</a:t>
            </a:r>
          </a:p>
        </p:txBody>
      </p:sp>
      <mc:AlternateContent xmlns:mc="http://schemas.openxmlformats.org/markup-compatibility/2006" xmlns:a14="http://schemas.microsoft.com/office/drawing/2010/main">
        <mc:Choice Requires="a14">
          <p:sp>
            <p:nvSpPr>
              <p:cNvPr id="6" name="TextBox 5"/>
              <p:cNvSpPr txBox="1"/>
              <p:nvPr/>
            </p:nvSpPr>
            <p:spPr>
              <a:xfrm>
                <a:off x="381000" y="3549350"/>
                <a:ext cx="7559090" cy="3385542"/>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Ta </a:t>
                </a:r>
                <a:r>
                  <a:rPr lang="en-US" sz="2800" err="1">
                    <a:latin typeface="Times New Roman" panose="02020603050405020304" pitchFamily="18" charset="0"/>
                    <a:cs typeface="Times New Roman" panose="02020603050405020304" pitchFamily="18" charset="0"/>
                  </a:rPr>
                  <a:t>thấy</a:t>
                </a:r>
                <a:r>
                  <a:rPr lang="en-US" sz="2800">
                    <a:latin typeface="Times New Roman" panose="02020603050405020304" pitchFamily="18" charset="0"/>
                    <a:cs typeface="Times New Roman" panose="02020603050405020304" pitchFamily="18" charset="0"/>
                  </a:rPr>
                  <a:t> các tế bào chọn ở bước 3 đã phủ hết bảng</a:t>
                </a:r>
              </a:p>
              <a:p>
                <a:pPr marL="342900" indent="-342900">
                  <a:buFont typeface="Wingdings" panose="05000000000000000000" pitchFamily="2" charset="2"/>
                  <a:buChar char="à"/>
                </a:pPr>
                <a:r>
                  <a:rPr lang="en-US" sz="2800">
                    <a:latin typeface="Times New Roman" panose="02020603050405020304" pitchFamily="18" charset="0"/>
                    <a:cs typeface="Times New Roman" panose="02020603050405020304" pitchFamily="18" charset="0"/>
                  </a:rPr>
                  <a:t>đây là họ </a:t>
                </a:r>
                <a:r>
                  <a:rPr lang="en-US" sz="2800" err="1">
                    <a:latin typeface="Times New Roman" panose="02020603050405020304" pitchFamily="18" charset="0"/>
                    <a:cs typeface="Times New Roman" panose="02020603050405020304" pitchFamily="18" charset="0"/>
                  </a:rPr>
                  <a:t>phủ</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tối</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thiểu</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gồm</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các</a:t>
                </a:r>
                <a:r>
                  <a:rPr lang="en-US" sz="2800">
                    <a:latin typeface="Times New Roman" panose="02020603050405020304" pitchFamily="18" charset="0"/>
                    <a:cs typeface="Times New Roman" panose="02020603050405020304" pitchFamily="18" charset="0"/>
                  </a:rPr>
                  <a:t> tế bào </a:t>
                </a:r>
              </a:p>
              <a:p>
                <a:r>
                  <a:rPr lang="en-US" sz="2800">
                    <a:latin typeface="Times New Roman" panose="02020603050405020304" pitchFamily="18" charset="0"/>
                    <a:cs typeface="Times New Roman" panose="02020603050405020304" pitchFamily="18" charset="0"/>
                  </a:rPr>
                  <a:t>			Kar(</a:t>
                </a:r>
                <a14:m>
                  <m:oMath xmlns:m="http://schemas.openxmlformats.org/officeDocument/2006/math">
                    <m:r>
                      <a:rPr lang="pt-BR" sz="2800" i="1">
                        <a:latin typeface="Cambria Math" panose="02040503050406030204" pitchFamily="18" charset="0"/>
                      </a:rPr>
                      <m:t>𝑓</m:t>
                    </m:r>
                  </m:oMath>
                </a14:m>
                <a:r>
                  <a:rPr lang="en-US" sz="2800">
                    <a:latin typeface="Times New Roman" panose="02020603050405020304" pitchFamily="18" charset="0"/>
                    <a:cs typeface="Times New Roman" panose="02020603050405020304" pitchFamily="18" charset="0"/>
                  </a:rPr>
                  <a:t>): x</a:t>
                </a:r>
                <a14:m>
                  <m:oMath xmlns:m="http://schemas.openxmlformats.org/officeDocument/2006/math">
                    <m:r>
                      <a:rPr lang="en-US" sz="2800">
                        <a:latin typeface="Cambria Math" panose="02040503050406030204" pitchFamily="18" charset="0"/>
                        <a:ea typeface="Cambria Math" panose="02040503050406030204" pitchFamily="18" charset="0"/>
                        <a:cs typeface="Times New Roman" panose="020206030504050203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yz </a:t>
                </a:r>
              </a:p>
              <a:p>
                <a:r>
                  <a:rPr lang="en-US" sz="2800">
                    <a:latin typeface="Times New Roman" panose="02020603050405020304" pitchFamily="18" charset="0"/>
                    <a:cs typeface="Times New Roman" panose="02020603050405020304" pitchFamily="18" charset="0"/>
                  </a:rPr>
                  <a:t>B5: Ứng với họ phủ tối thiểu của tế bào lớn tìm được ta được duy nhất 1 công thức đa thức tối tiểu của f:</a:t>
                </a:r>
              </a:p>
              <a:p>
                <a:r>
                  <a:rPr lang="en-US" sz="2800">
                    <a:latin typeface="Times New Roman" panose="02020603050405020304" pitchFamily="18" charset="0"/>
                    <a:cs typeface="Times New Roman" panose="02020603050405020304" pitchFamily="18" charset="0"/>
                    <a:sym typeface="Wingdings" panose="05000000000000000000" pitchFamily="2" charset="2"/>
                  </a:rPr>
                  <a:t>			</a:t>
                </a:r>
                <a:r>
                  <a:rPr lang="en-US" sz="2800">
                    <a:latin typeface="Times New Roman" panose="02020603050405020304" pitchFamily="18" charset="0"/>
                    <a:cs typeface="Times New Roman" panose="02020603050405020304" pitchFamily="18" charset="0"/>
                  </a:rPr>
                  <a:t> f = x</a:t>
                </a:r>
                <a14:m>
                  <m:oMath xmlns:m="http://schemas.openxmlformats.org/officeDocument/2006/math">
                    <m:r>
                      <a:rPr lang="en-US" sz="2800">
                        <a:latin typeface="Cambria Math" panose="02040503050406030204" pitchFamily="18" charset="0"/>
                        <a:ea typeface="Cambria Math" panose="02040503050406030204" pitchFamily="18" charset="0"/>
                        <a:cs typeface="Times New Roman" panose="020206030504050203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yz</a:t>
                </a:r>
              </a:p>
              <a:p>
                <a:endParaRPr lang="en-US"/>
              </a:p>
            </p:txBody>
          </p:sp>
        </mc:Choice>
        <mc:Fallback xmlns="">
          <p:sp>
            <p:nvSpPr>
              <p:cNvPr id="6" name="TextBox 5"/>
              <p:cNvSpPr txBox="1">
                <a:spLocks noRot="1" noChangeAspect="1" noMove="1" noResize="1" noEditPoints="1" noAdjustHandles="1" noChangeArrowheads="1" noChangeShapeType="1" noTextEdit="1"/>
              </p:cNvSpPr>
              <p:nvPr/>
            </p:nvSpPr>
            <p:spPr>
              <a:xfrm>
                <a:off x="381000" y="3549350"/>
                <a:ext cx="7559090" cy="3385542"/>
              </a:xfrm>
              <a:prstGeom prst="rect">
                <a:avLst/>
              </a:prstGeom>
              <a:blipFill rotWithShape="0">
                <a:blip r:embed="rId2"/>
                <a:stretch>
                  <a:fillRect l="-1694" t="-17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012786177"/>
                  </p:ext>
                </p:extLst>
              </p:nvPr>
            </p:nvGraphicFramePr>
            <p:xfrm>
              <a:off x="694024" y="934261"/>
              <a:ext cx="6144345" cy="2520280"/>
            </p:xfrm>
            <a:graphic>
              <a:graphicData uri="http://schemas.openxmlformats.org/drawingml/2006/table">
                <a:tbl>
                  <a:tblPr firstRow="1" bandRow="1">
                    <a:tableStyleId>{5940675A-B579-460E-94D1-54222C63F5DA}</a:tableStyleId>
                  </a:tblPr>
                  <a:tblGrid>
                    <a:gridCol w="1228869">
                      <a:extLst>
                        <a:ext uri="{9D8B030D-6E8A-4147-A177-3AD203B41FA5}">
                          <a16:colId xmlns:a16="http://schemas.microsoft.com/office/drawing/2014/main" val="20000"/>
                        </a:ext>
                      </a:extLst>
                    </a:gridCol>
                    <a:gridCol w="1228869">
                      <a:extLst>
                        <a:ext uri="{9D8B030D-6E8A-4147-A177-3AD203B41FA5}">
                          <a16:colId xmlns:a16="http://schemas.microsoft.com/office/drawing/2014/main" val="20001"/>
                        </a:ext>
                      </a:extLst>
                    </a:gridCol>
                    <a:gridCol w="1228869">
                      <a:extLst>
                        <a:ext uri="{9D8B030D-6E8A-4147-A177-3AD203B41FA5}">
                          <a16:colId xmlns:a16="http://schemas.microsoft.com/office/drawing/2014/main" val="20002"/>
                        </a:ext>
                      </a:extLst>
                    </a:gridCol>
                    <a:gridCol w="1228869">
                      <a:extLst>
                        <a:ext uri="{9D8B030D-6E8A-4147-A177-3AD203B41FA5}">
                          <a16:colId xmlns:a16="http://schemas.microsoft.com/office/drawing/2014/main" val="20003"/>
                        </a:ext>
                      </a:extLst>
                    </a:gridCol>
                    <a:gridCol w="1228869">
                      <a:extLst>
                        <a:ext uri="{9D8B030D-6E8A-4147-A177-3AD203B41FA5}">
                          <a16:colId xmlns:a16="http://schemas.microsoft.com/office/drawing/2014/main" val="20004"/>
                        </a:ext>
                      </a:extLst>
                    </a:gridCol>
                  </a:tblGrid>
                  <a:tr h="515044">
                    <a:tc>
                      <a:txBody>
                        <a:bodyPr/>
                        <a:lstStyle/>
                        <a:p>
                          <a:pPr algn="ctr"/>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m:oMathPara>
                          </a14:m>
                          <a:endParaRPr lang="en-US" sz="2400"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𝑥𝑦</m:t>
                                </m:r>
                              </m:oMath>
                            </m:oMathPara>
                          </a14:m>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smtClean="0">
                                    <a:latin typeface="Cambria Math" panose="02040503050406030204" pitchFamily="18" charset="0"/>
                                  </a:rPr>
                                  <m:t>𝑦</m:t>
                                </m:r>
                              </m:oMath>
                            </m:oMathPara>
                          </a14:m>
                          <a:endParaRPr lang="en-US" sz="2400"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m:oMathPara>
                          </a14:m>
                          <a:endParaRPr lang="en-US" sz="2400" b="0"/>
                        </a:p>
                      </a:txBody>
                      <a:tcPr>
                        <a:solidFill>
                          <a:schemeClr val="accent2">
                            <a:lumMod val="20000"/>
                            <a:lumOff val="80000"/>
                          </a:schemeClr>
                        </a:solidFill>
                      </a:tcPr>
                    </a:tc>
                    <a:extLst>
                      <a:ext uri="{0D108BD9-81ED-4DB2-BD59-A6C34878D82A}">
                        <a16:rowId xmlns:a16="http://schemas.microsoft.com/office/drawing/2014/main" val="10000"/>
                      </a:ext>
                    </a:extLst>
                  </a:tr>
                  <a:tr h="501309">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acc>
                                  <m:accPr>
                                    <m:chr m:val="̅"/>
                                    <m:ctrlPr>
                                      <a:rPr lang="en-US" sz="2400" b="0" i="1">
                                        <a:latin typeface="Cambria Math" panose="02040503050406030204" pitchFamily="18" charset="0"/>
                                      </a:rPr>
                                    </m:ctrlPr>
                                  </m:accPr>
                                  <m:e>
                                    <m:r>
                                      <a:rPr lang="en-US" sz="2400" b="0" i="1" smtClean="0">
                                        <a:latin typeface="Cambria Math" panose="02040503050406030204" pitchFamily="18" charset="0"/>
                                      </a:rPr>
                                      <m:t>𝑡</m:t>
                                    </m:r>
                                  </m:e>
                                </m:acc>
                              </m:oMath>
                            </m:oMathPara>
                          </a14:m>
                          <a:endParaRPr lang="en-US" sz="2400" b="0"/>
                        </a:p>
                      </a:txBody>
                      <a:tcPr>
                        <a:solidFill>
                          <a:schemeClr val="accent2">
                            <a:lumMod val="20000"/>
                            <a:lumOff val="80000"/>
                          </a:schemeClr>
                        </a:solidFill>
                      </a:tcPr>
                    </a:tc>
                    <a:tc>
                      <a:txBody>
                        <a:bodyPr/>
                        <a:lstStyle/>
                        <a:p>
                          <a:pPr algn="ctr"/>
                          <a:r>
                            <a:rPr lang="en-US" sz="2400" b="0"/>
                            <a:t>1</a:t>
                          </a:r>
                        </a:p>
                      </a:txBody>
                      <a:tcPr>
                        <a:solidFill>
                          <a:srgbClr val="FFFF00"/>
                        </a:solidFill>
                      </a:tcPr>
                    </a:tc>
                    <a:tc>
                      <a:txBody>
                        <a:bodyPr/>
                        <a:lstStyle/>
                        <a:p>
                          <a:pPr algn="ctr"/>
                          <a:r>
                            <a:rPr lang="en-US" sz="2400" b="0"/>
                            <a:t>1</a:t>
                          </a:r>
                        </a:p>
                      </a:txBody>
                      <a:tcPr/>
                    </a:tc>
                    <a:tc>
                      <a:txBody>
                        <a:bodyPr/>
                        <a:lstStyle/>
                        <a:p>
                          <a:pPr algn="ctr"/>
                          <a:r>
                            <a:rPr lang="en-US" sz="2400" b="0"/>
                            <a:t>1</a:t>
                          </a:r>
                        </a:p>
                      </a:txBody>
                      <a:tcPr>
                        <a:solidFill>
                          <a:srgbClr val="FFFF00"/>
                        </a:solidFill>
                      </a:tcPr>
                    </a:tc>
                    <a:tc>
                      <a:txBody>
                        <a:bodyPr/>
                        <a:lstStyle/>
                        <a:p>
                          <a:pPr algn="ctr"/>
                          <a:endParaRPr lang="en-US" sz="2400" b="0"/>
                        </a:p>
                      </a:txBody>
                      <a:tcPr/>
                    </a:tc>
                    <a:extLst>
                      <a:ext uri="{0D108BD9-81ED-4DB2-BD59-A6C34878D82A}">
                        <a16:rowId xmlns:a16="http://schemas.microsoft.com/office/drawing/2014/main" val="10001"/>
                      </a:ext>
                    </a:extLst>
                  </a:tr>
                  <a:tr h="501309">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𝑧𝑡</m:t>
                                </m:r>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extLst>
                      <a:ext uri="{0D108BD9-81ED-4DB2-BD59-A6C34878D82A}">
                        <a16:rowId xmlns:a16="http://schemas.microsoft.com/office/drawing/2014/main" val="10002"/>
                      </a:ext>
                    </a:extLst>
                  </a:tr>
                  <a:tr h="501309">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r>
                                  <a:rPr lang="en-US" sz="2400" b="0" i="1" smtClean="0">
                                    <a:latin typeface="Cambria Math" panose="02040503050406030204" pitchFamily="18" charset="0"/>
                                  </a:rPr>
                                  <m:t>𝑡</m:t>
                                </m:r>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tc>
                      <a:txBody>
                        <a:bodyPr/>
                        <a:lstStyle/>
                        <a:p>
                          <a:pPr algn="ctr"/>
                          <a:endParaRPr lang="en-US" sz="2400" b="0"/>
                        </a:p>
                      </a:txBody>
                      <a:tcPr/>
                    </a:tc>
                    <a:extLst>
                      <a:ext uri="{0D108BD9-81ED-4DB2-BD59-A6C34878D82A}">
                        <a16:rowId xmlns:a16="http://schemas.microsoft.com/office/drawing/2014/main" val="10003"/>
                      </a:ext>
                    </a:extLst>
                  </a:tr>
                  <a:tr h="501309">
                    <a:tc>
                      <a:txBody>
                        <a:bodyPr/>
                        <a:lstStyle/>
                        <a:p>
                          <a:pPr algn="ct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𝑡</m:t>
                                    </m:r>
                                  </m:e>
                                </m:acc>
                              </m:oMath>
                            </m:oMathPara>
                          </a14:m>
                          <a:endParaRPr lang="en-US" sz="2400" b="0"/>
                        </a:p>
                      </a:txBody>
                      <a:tcPr>
                        <a:solidFill>
                          <a:schemeClr val="accent2">
                            <a:lumMod val="20000"/>
                            <a:lumOff val="80000"/>
                          </a:schemeClr>
                        </a:solidFill>
                      </a:tcPr>
                    </a:tc>
                    <a:tc>
                      <a:txBody>
                        <a:bodyPr/>
                        <a:lstStyle/>
                        <a:p>
                          <a:pPr algn="ctr"/>
                          <a:r>
                            <a:rPr lang="en-US" sz="2400" b="0"/>
                            <a:t>1</a:t>
                          </a:r>
                        </a:p>
                      </a:txBody>
                      <a:tcPr/>
                    </a:tc>
                    <a:tc>
                      <a:txBody>
                        <a:bodyPr/>
                        <a:lstStyle/>
                        <a:p>
                          <a:pPr algn="ctr"/>
                          <a:r>
                            <a:rPr lang="en-US" sz="2400" b="0"/>
                            <a:t>1</a:t>
                          </a:r>
                        </a:p>
                      </a:txBody>
                      <a:tcPr/>
                    </a:tc>
                    <a:tc>
                      <a:txBody>
                        <a:bodyPr/>
                        <a:lstStyle/>
                        <a:p>
                          <a:pPr algn="ctr"/>
                          <a:endParaRPr lang="en-US" sz="2400" b="0"/>
                        </a:p>
                      </a:txBody>
                      <a:tcPr/>
                    </a:tc>
                    <a:tc>
                      <a:txBody>
                        <a:bodyPr/>
                        <a:lstStyle/>
                        <a:p>
                          <a:pPr algn="ctr"/>
                          <a:endParaRPr lang="en-US" sz="2400" b="0"/>
                        </a:p>
                      </a:txBody>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012786177"/>
                  </p:ext>
                </p:extLst>
              </p:nvPr>
            </p:nvGraphicFramePr>
            <p:xfrm>
              <a:off x="694024" y="934261"/>
              <a:ext cx="6144345" cy="2520280"/>
            </p:xfrm>
            <a:graphic>
              <a:graphicData uri="http://schemas.openxmlformats.org/drawingml/2006/table">
                <a:tbl>
                  <a:tblPr firstRow="1" bandRow="1">
                    <a:tableStyleId>{5940675A-B579-460E-94D1-54222C63F5DA}</a:tableStyleId>
                  </a:tblPr>
                  <a:tblGrid>
                    <a:gridCol w="1228869"/>
                    <a:gridCol w="1228869"/>
                    <a:gridCol w="1228869"/>
                    <a:gridCol w="1228869"/>
                    <a:gridCol w="1228869"/>
                  </a:tblGrid>
                  <a:tr h="515044">
                    <a:tc>
                      <a:txBody>
                        <a:bodyPr/>
                        <a:lstStyle/>
                        <a:p>
                          <a:pPr algn="ctr"/>
                          <a:endParaRPr lang="en-US" sz="2400" b="0"/>
                        </a:p>
                      </a:txBody>
                      <a:tcPr>
                        <a:solidFill>
                          <a:schemeClr val="accent2">
                            <a:lumMod val="20000"/>
                            <a:lumOff val="80000"/>
                          </a:schemeClr>
                        </a:solidFill>
                      </a:tcPr>
                    </a:tc>
                    <a:tc>
                      <a:txBody>
                        <a:bodyPr/>
                        <a:lstStyle/>
                        <a:p>
                          <a:endParaRPr lang="en-US"/>
                        </a:p>
                      </a:txBody>
                      <a:tcPr>
                        <a:blipFill rotWithShape="0">
                          <a:blip r:embed="rId3"/>
                          <a:stretch>
                            <a:fillRect l="-100495" t="-1176" r="-300495" b="-404706"/>
                          </a:stretch>
                        </a:blipFill>
                      </a:tcPr>
                    </a:tc>
                    <a:tc>
                      <a:txBody>
                        <a:bodyPr/>
                        <a:lstStyle/>
                        <a:p>
                          <a:endParaRPr lang="en-US"/>
                        </a:p>
                      </a:txBody>
                      <a:tcPr>
                        <a:blipFill rotWithShape="0">
                          <a:blip r:embed="rId3"/>
                          <a:stretch>
                            <a:fillRect l="-201493" t="-1176" r="-201990" b="-404706"/>
                          </a:stretch>
                        </a:blipFill>
                      </a:tcPr>
                    </a:tc>
                    <a:tc>
                      <a:txBody>
                        <a:bodyPr/>
                        <a:lstStyle/>
                        <a:p>
                          <a:endParaRPr lang="en-US"/>
                        </a:p>
                      </a:txBody>
                      <a:tcPr>
                        <a:blipFill rotWithShape="0">
                          <a:blip r:embed="rId3"/>
                          <a:stretch>
                            <a:fillRect l="-300000" t="-1176" r="-100990" b="-404706"/>
                          </a:stretch>
                        </a:blipFill>
                      </a:tcPr>
                    </a:tc>
                    <a:tc>
                      <a:txBody>
                        <a:bodyPr/>
                        <a:lstStyle/>
                        <a:p>
                          <a:endParaRPr lang="en-US"/>
                        </a:p>
                      </a:txBody>
                      <a:tcPr>
                        <a:blipFill rotWithShape="0">
                          <a:blip r:embed="rId3"/>
                          <a:stretch>
                            <a:fillRect l="-400000" t="-1176" r="-990" b="-404706"/>
                          </a:stretch>
                        </a:blipFill>
                      </a:tcPr>
                    </a:tc>
                  </a:tr>
                  <a:tr h="501309">
                    <a:tc>
                      <a:txBody>
                        <a:bodyPr/>
                        <a:lstStyle/>
                        <a:p>
                          <a:endParaRPr lang="en-US"/>
                        </a:p>
                      </a:txBody>
                      <a:tcPr>
                        <a:blipFill rotWithShape="0">
                          <a:blip r:embed="rId3"/>
                          <a:stretch>
                            <a:fillRect l="-495" t="-104878" r="-400495" b="-319512"/>
                          </a:stretch>
                        </a:blipFill>
                      </a:tcPr>
                    </a:tc>
                    <a:tc>
                      <a:txBody>
                        <a:bodyPr/>
                        <a:lstStyle/>
                        <a:p>
                          <a:pPr algn="ctr"/>
                          <a:r>
                            <a:rPr lang="en-US" sz="2400" b="0" smtClean="0"/>
                            <a:t>1</a:t>
                          </a:r>
                          <a:endParaRPr lang="en-US" sz="2400" b="0"/>
                        </a:p>
                      </a:txBody>
                      <a:tcPr>
                        <a:solidFill>
                          <a:srgbClr val="FFFF00"/>
                        </a:solid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solidFill>
                          <a:srgbClr val="FFFF00"/>
                        </a:solidFill>
                      </a:tcPr>
                    </a:tc>
                    <a:tc>
                      <a:txBody>
                        <a:bodyPr/>
                        <a:lstStyle/>
                        <a:p>
                          <a:pPr algn="ctr"/>
                          <a:endParaRPr lang="en-US" sz="2400" b="0"/>
                        </a:p>
                      </a:txBody>
                      <a:tcPr/>
                    </a:tc>
                  </a:tr>
                  <a:tr h="501309">
                    <a:tc>
                      <a:txBody>
                        <a:bodyPr/>
                        <a:lstStyle/>
                        <a:p>
                          <a:endParaRPr lang="en-US"/>
                        </a:p>
                      </a:txBody>
                      <a:tcPr>
                        <a:blipFill rotWithShape="0">
                          <a:blip r:embed="rId3"/>
                          <a:stretch>
                            <a:fillRect l="-495" t="-204878" r="-400495" b="-219512"/>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r>
                  <a:tr h="501309">
                    <a:tc>
                      <a:txBody>
                        <a:bodyPr/>
                        <a:lstStyle/>
                        <a:p>
                          <a:endParaRPr lang="en-US"/>
                        </a:p>
                      </a:txBody>
                      <a:tcPr>
                        <a:blipFill rotWithShape="0">
                          <a:blip r:embed="rId3"/>
                          <a:stretch>
                            <a:fillRect l="-495" t="-301205" r="-400495" b="-116867"/>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c>
                      <a:txBody>
                        <a:bodyPr/>
                        <a:lstStyle/>
                        <a:p>
                          <a:pPr algn="ctr"/>
                          <a:endParaRPr lang="en-US" sz="2400" b="0"/>
                        </a:p>
                      </a:txBody>
                      <a:tcPr/>
                    </a:tc>
                  </a:tr>
                  <a:tr h="501309">
                    <a:tc>
                      <a:txBody>
                        <a:bodyPr/>
                        <a:lstStyle/>
                        <a:p>
                          <a:endParaRPr lang="en-US"/>
                        </a:p>
                      </a:txBody>
                      <a:tcPr>
                        <a:blipFill rotWithShape="0">
                          <a:blip r:embed="rId3"/>
                          <a:stretch>
                            <a:fillRect l="-495" t="-406098" r="-400495" b="-18293"/>
                          </a:stretch>
                        </a:blipFill>
                      </a:tcPr>
                    </a:tc>
                    <a:tc>
                      <a:txBody>
                        <a:bodyPr/>
                        <a:lstStyle/>
                        <a:p>
                          <a:pPr algn="ctr"/>
                          <a:r>
                            <a:rPr lang="en-US" sz="2400" b="0" smtClean="0"/>
                            <a:t>1</a:t>
                          </a:r>
                          <a:endParaRPr lang="en-US" sz="2400" b="0"/>
                        </a:p>
                      </a:txBody>
                      <a:tcPr/>
                    </a:tc>
                    <a:tc>
                      <a:txBody>
                        <a:bodyPr/>
                        <a:lstStyle/>
                        <a:p>
                          <a:pPr algn="ctr"/>
                          <a:r>
                            <a:rPr lang="en-US" sz="2400" b="0" smtClean="0"/>
                            <a:t>1</a:t>
                          </a:r>
                          <a:endParaRPr lang="en-US" sz="2400" b="0"/>
                        </a:p>
                      </a:txBody>
                      <a:tcPr/>
                    </a:tc>
                    <a:tc>
                      <a:txBody>
                        <a:bodyPr/>
                        <a:lstStyle/>
                        <a:p>
                          <a:pPr algn="ctr"/>
                          <a:endParaRPr lang="en-US" sz="2400" b="0"/>
                        </a:p>
                      </a:txBody>
                      <a:tcPr/>
                    </a:tc>
                    <a:tc>
                      <a:txBody>
                        <a:bodyPr/>
                        <a:lstStyle/>
                        <a:p>
                          <a:pPr algn="ctr"/>
                          <a:endParaRPr lang="en-US" sz="2400" b="0"/>
                        </a:p>
                      </a:txBody>
                      <a:tcPr/>
                    </a:tc>
                  </a:tr>
                </a:tbl>
              </a:graphicData>
            </a:graphic>
          </p:graphicFrame>
        </mc:Fallback>
      </mc:AlternateContent>
      <p:sp>
        <p:nvSpPr>
          <p:cNvPr id="8" name="Flowchart: Alternate Process 7"/>
          <p:cNvSpPr/>
          <p:nvPr/>
        </p:nvSpPr>
        <p:spPr>
          <a:xfrm>
            <a:off x="2109192" y="1476970"/>
            <a:ext cx="2088232" cy="1856356"/>
          </a:xfrm>
          <a:prstGeom prst="flowChartAlternateProcess">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Alternate Process 8"/>
          <p:cNvSpPr/>
          <p:nvPr/>
        </p:nvSpPr>
        <p:spPr>
          <a:xfrm>
            <a:off x="3283768" y="1476971"/>
            <a:ext cx="2209800" cy="848243"/>
          </a:xfrm>
          <a:prstGeom prst="flowChartAlternateProcess">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F0"/>
                </a:solidFill>
              </a:ln>
            </a:endParaRPr>
          </a:p>
        </p:txBody>
      </p:sp>
      <p:sp>
        <p:nvSpPr>
          <p:cNvPr id="10"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1"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2" name="Slide Number Placeholder 6"/>
          <p:cNvSpPr>
            <a:spLocks noGrp="1"/>
          </p:cNvSpPr>
          <p:nvPr>
            <p:ph type="sldNum" sz="quarter" idx="12"/>
          </p:nvPr>
        </p:nvSpPr>
        <p:spPr>
          <a:xfrm>
            <a:off x="7940090" y="6492874"/>
            <a:ext cx="113071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30</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ircle(in)">
                                      <p:cBhvr>
                                        <p:cTn id="15" dur="20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Box 3"/>
          <p:cNvSpPr txBox="1">
            <a:spLocks noChangeArrowheads="1"/>
          </p:cNvSpPr>
          <p:nvPr/>
        </p:nvSpPr>
        <p:spPr bwMode="auto">
          <a:xfrm>
            <a:off x="609600" y="381000"/>
            <a:ext cx="16557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sz="2800" b="1" u="sng">
                <a:solidFill>
                  <a:srgbClr val="000000"/>
                </a:solidFill>
                <a:latin typeface="Times New Roman" panose="02020603050405020304" pitchFamily="18" charset="0"/>
                <a:cs typeface="Times New Roman" panose="02020603050405020304" pitchFamily="18" charset="0"/>
              </a:rPr>
              <a:t>Ví dụ 2</a:t>
            </a:r>
            <a:endParaRPr lang="en-US" sz="2800" u="sng">
              <a:solidFill>
                <a:srgbClr val="0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p:cNvSpPr txBox="1"/>
              <p:nvPr/>
            </p:nvSpPr>
            <p:spPr>
              <a:xfrm>
                <a:off x="0" y="1178983"/>
                <a:ext cx="7631098" cy="1815882"/>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Tìm </a:t>
                </a:r>
                <a:r>
                  <a:rPr lang="en-US" sz="2800" err="1">
                    <a:latin typeface="Times New Roman" panose="02020603050405020304" pitchFamily="18" charset="0"/>
                    <a:cs typeface="Times New Roman" panose="02020603050405020304" pitchFamily="18" charset="0"/>
                  </a:rPr>
                  <a:t>các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công</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tối</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thiểu</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của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hàm</a:t>
                </a:r>
                <a:r>
                  <a:rPr lang="en-US" sz="2800">
                    <a:latin typeface="Times New Roman" panose="02020603050405020304" pitchFamily="18" charset="0"/>
                    <a:cs typeface="Times New Roman" panose="02020603050405020304" pitchFamily="18" charset="0"/>
                  </a:rPr>
                  <a:t> </a:t>
                </a:r>
                <a14:m>
                  <m:oMath xmlns:m="http://schemas.openxmlformats.org/officeDocument/2006/math">
                    <m:r>
                      <a:rPr lang="pt-BR" sz="2800" i="1">
                        <a:latin typeface="Cambria Math" panose="02040503050406030204" pitchFamily="18" charset="0"/>
                      </a:rPr>
                      <m:t>𝑓</m:t>
                    </m:r>
                  </m:oMath>
                </a14:m>
                <a:r>
                  <a:rPr lang="en-US" sz="2800">
                    <a:latin typeface="Times New Roman" panose="02020603050405020304" pitchFamily="18" charset="0"/>
                    <a:cs typeface="Times New Roman" panose="02020603050405020304" pitchFamily="18" charset="0"/>
                  </a:rPr>
                  <a:t>: </a:t>
                </a:r>
                <a:endParaRPr lang="en-US" sz="2800" i="1">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r>
                          <a:rPr lang="en-US" sz="2800" i="1">
                            <a:latin typeface="Cambria Math" panose="02040503050406030204" pitchFamily="18" charset="0"/>
                          </a:rPr>
                          <m:t>,</m:t>
                        </m:r>
                        <m:r>
                          <a:rPr lang="en-US" sz="2800" i="1">
                            <a:latin typeface="Cambria Math" panose="02040503050406030204" pitchFamily="18" charset="0"/>
                          </a:rPr>
                          <m:t>𝑦</m:t>
                        </m:r>
                        <m:r>
                          <a:rPr lang="en-US" sz="2800" i="1">
                            <a:latin typeface="Cambria Math" panose="02040503050406030204" pitchFamily="18" charset="0"/>
                          </a:rPr>
                          <m:t>,</m:t>
                        </m:r>
                        <m:r>
                          <a:rPr lang="en-US" sz="2800" i="1">
                            <a:latin typeface="Cambria Math" panose="02040503050406030204" pitchFamily="18" charset="0"/>
                          </a:rPr>
                          <m:t>𝑧</m:t>
                        </m:r>
                        <m:r>
                          <a:rPr lang="en-US" sz="2800" i="1">
                            <a:latin typeface="Cambria Math" panose="02040503050406030204" pitchFamily="18" charset="0"/>
                          </a:rPr>
                          <m:t>,</m:t>
                        </m:r>
                        <m:r>
                          <a:rPr lang="en-US" sz="2800" i="1">
                            <a:latin typeface="Cambria Math" panose="02040503050406030204" pitchFamily="18" charset="0"/>
                          </a:rPr>
                          <m:t>𝑡</m:t>
                        </m:r>
                      </m:e>
                    </m:d>
                    <m:r>
                      <a:rPr lang="en-US" sz="2800" i="1">
                        <a:latin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𝑦</m:t>
                        </m:r>
                      </m:e>
                    </m:acc>
                    <m:r>
                      <a:rPr lang="en-US" sz="2800" i="1">
                        <a:latin typeface="Cambria Math" panose="02040503050406030204" pitchFamily="18" charset="0"/>
                      </a:rPr>
                      <m:t>𝑧𝑡</m:t>
                    </m:r>
                    <m:r>
                      <a:rPr lang="en-US" sz="2800" i="1">
                        <a:latin typeface="Cambria Math" panose="02040503050406030204" pitchFamily="18" charset="0"/>
                        <a:ea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𝑦𝑧𝑡</m:t>
                        </m:r>
                      </m:e>
                    </m:acc>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𝑦</m:t>
                    </m:r>
                    <m:acc>
                      <m:accPr>
                        <m:chr m:val="̅"/>
                        <m:ctrlPr>
                          <a:rPr lang="en-US" sz="2800" i="1">
                            <a:latin typeface="Cambria Math" panose="02040503050406030204" pitchFamily="18" charset="0"/>
                          </a:rPr>
                        </m:ctrlPr>
                      </m:accPr>
                      <m:e>
                        <m:r>
                          <a:rPr lang="en-US" sz="2800" i="1">
                            <a:latin typeface="Cambria Math" panose="02040503050406030204" pitchFamily="18" charset="0"/>
                          </a:rPr>
                          <m:t>𝑧</m:t>
                        </m:r>
                      </m:e>
                    </m:acc>
                    <m:acc>
                      <m:accPr>
                        <m:chr m:val="̅"/>
                        <m:ctrlPr>
                          <a:rPr lang="en-US" sz="2800" i="1">
                            <a:latin typeface="Cambria Math" panose="02040503050406030204" pitchFamily="18" charset="0"/>
                          </a:rPr>
                        </m:ctrlPr>
                      </m:accPr>
                      <m:e>
                        <m:r>
                          <a:rPr lang="en-US" sz="2800" i="1">
                            <a:latin typeface="Cambria Math" panose="02040503050406030204" pitchFamily="18" charset="0"/>
                          </a:rPr>
                          <m:t>𝑡</m:t>
                        </m:r>
                      </m:e>
                    </m:acc>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𝑥𝑦𝑧𝑡</m:t>
                    </m:r>
                    <m:r>
                      <a:rPr lang="en-US" sz="2800" i="1">
                        <a:latin typeface="Cambria Math" panose="02040503050406030204" pitchFamily="18" charset="0"/>
                        <a:ea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oMath>
                </a14:m>
                <a:r>
                  <a:rPr lang="en-US" sz="2800">
                    <a:latin typeface="Times New Roman" panose="02020603050405020304" pitchFamily="18" charset="0"/>
                    <a:cs typeface="Times New Roman" panose="02020603050405020304" pitchFamily="18" charset="0"/>
                  </a:rPr>
                  <a:t>z</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𝑡</m:t>
                        </m:r>
                      </m:e>
                    </m:acc>
                  </m:oMath>
                </a14:m>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B1: Bảng </a:t>
                </a:r>
                <a:r>
                  <a:rPr lang="en-US" sz="2800" err="1">
                    <a:latin typeface="Times New Roman" panose="02020603050405020304" pitchFamily="18" charset="0"/>
                    <a:cs typeface="Times New Roman" panose="02020603050405020304" pitchFamily="18" charset="0"/>
                  </a:rPr>
                  <a:t>Kar</a:t>
                </a:r>
                <a:r>
                  <a:rPr lang="en-US" sz="2800">
                    <a:latin typeface="Times New Roman" panose="02020603050405020304" pitchFamily="18" charset="0"/>
                    <a:cs typeface="Times New Roman" panose="02020603050405020304" pitchFamily="18" charset="0"/>
                  </a:rPr>
                  <a:t>(</a:t>
                </a:r>
                <a14:m>
                  <m:oMath xmlns:m="http://schemas.openxmlformats.org/officeDocument/2006/math">
                    <m:r>
                      <a:rPr lang="pt-BR" sz="2800" i="1">
                        <a:latin typeface="Cambria Math" panose="02040503050406030204" pitchFamily="18" charset="0"/>
                      </a:rPr>
                      <m:t>𝑓</m:t>
                    </m:r>
                  </m:oMath>
                </a14:m>
                <a:r>
                  <a:rPr lang="en-US" sz="2800">
                    <a:latin typeface="Times New Roman" panose="02020603050405020304" pitchFamily="18" charset="0"/>
                    <a:cs typeface="Times New Roman" panose="02020603050405020304" pitchFamily="18" charset="0"/>
                  </a:rPr>
                  <a:t>)  </a:t>
                </a:r>
              </a:p>
              <a:p>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r>
                          <a:rPr lang="en-US" sz="2800" i="1">
                            <a:latin typeface="Cambria Math" panose="02040503050406030204" pitchFamily="18" charset="0"/>
                          </a:rPr>
                          <m:t>,</m:t>
                        </m:r>
                        <m:r>
                          <a:rPr lang="en-US" sz="2800" i="1">
                            <a:latin typeface="Cambria Math" panose="02040503050406030204" pitchFamily="18" charset="0"/>
                          </a:rPr>
                          <m:t>𝑦</m:t>
                        </m:r>
                        <m:r>
                          <a:rPr lang="en-US" sz="2800" i="1">
                            <a:latin typeface="Cambria Math" panose="02040503050406030204" pitchFamily="18" charset="0"/>
                          </a:rPr>
                          <m:t>,</m:t>
                        </m:r>
                        <m:r>
                          <a:rPr lang="en-US" sz="2800" i="1">
                            <a:latin typeface="Cambria Math" panose="02040503050406030204" pitchFamily="18" charset="0"/>
                          </a:rPr>
                          <m:t>𝑧</m:t>
                        </m:r>
                        <m:r>
                          <a:rPr lang="en-US" sz="2800" i="1">
                            <a:latin typeface="Cambria Math" panose="02040503050406030204" pitchFamily="18" charset="0"/>
                          </a:rPr>
                          <m:t>,</m:t>
                        </m:r>
                        <m:r>
                          <a:rPr lang="en-US" sz="2800" i="1">
                            <a:latin typeface="Cambria Math" panose="02040503050406030204" pitchFamily="18" charset="0"/>
                          </a:rPr>
                          <m:t>𝑡</m:t>
                        </m:r>
                      </m:e>
                    </m:d>
                    <m:r>
                      <a:rPr lang="en-US" sz="2800" i="1">
                        <a:latin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𝑦</m:t>
                        </m:r>
                      </m:e>
                    </m:acc>
                    <m:r>
                      <a:rPr lang="en-US" sz="2800" i="1">
                        <a:latin typeface="Cambria Math" panose="02040503050406030204" pitchFamily="18" charset="0"/>
                      </a:rPr>
                      <m:t>𝑧𝑡</m:t>
                    </m:r>
                    <m:r>
                      <a:rPr lang="en-US" sz="2800" i="1">
                        <a:latin typeface="Cambria Math" panose="02040503050406030204" pitchFamily="18" charset="0"/>
                        <a:ea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𝑦𝑧𝑡</m:t>
                        </m:r>
                      </m:e>
                    </m:acc>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𝑦</m:t>
                    </m:r>
                    <m:acc>
                      <m:accPr>
                        <m:chr m:val="̅"/>
                        <m:ctrlPr>
                          <a:rPr lang="en-US" sz="2800" i="1">
                            <a:latin typeface="Cambria Math" panose="02040503050406030204" pitchFamily="18" charset="0"/>
                          </a:rPr>
                        </m:ctrlPr>
                      </m:accPr>
                      <m:e>
                        <m:r>
                          <a:rPr lang="en-US" sz="2800" i="1">
                            <a:latin typeface="Cambria Math" panose="02040503050406030204" pitchFamily="18" charset="0"/>
                          </a:rPr>
                          <m:t>𝑧</m:t>
                        </m:r>
                      </m:e>
                    </m:acc>
                    <m:acc>
                      <m:accPr>
                        <m:chr m:val="̅"/>
                        <m:ctrlPr>
                          <a:rPr lang="en-US" sz="2800" i="1">
                            <a:latin typeface="Cambria Math" panose="02040503050406030204" pitchFamily="18" charset="0"/>
                          </a:rPr>
                        </m:ctrlPr>
                      </m:accPr>
                      <m:e>
                        <m:r>
                          <a:rPr lang="en-US" sz="2800" i="1">
                            <a:latin typeface="Cambria Math" panose="02040503050406030204" pitchFamily="18" charset="0"/>
                          </a:rPr>
                          <m:t>𝑡</m:t>
                        </m:r>
                      </m:e>
                    </m:acc>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𝑥𝑦𝑧𝑡</m:t>
                    </m:r>
                    <m:r>
                      <a:rPr lang="en-US" sz="2800" i="1">
                        <a:latin typeface="Cambria Math" panose="02040503050406030204" pitchFamily="18" charset="0"/>
                        <a:ea typeface="Cambria Math" panose="02040503050406030204" pitchFamily="18" charset="0"/>
                      </a:rPr>
                      <m:t>∨</m:t>
                    </m:r>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oMath>
                </a14:m>
                <a:r>
                  <a:rPr lang="en-US" sz="2800">
                    <a:latin typeface="Times New Roman" panose="02020603050405020304" pitchFamily="18" charset="0"/>
                    <a:cs typeface="Times New Roman" panose="02020603050405020304" pitchFamily="18" charset="0"/>
                  </a:rPr>
                  <a:t>z</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𝑡</m:t>
                        </m:r>
                      </m:e>
                    </m:acc>
                  </m:oMath>
                </a14:m>
                <a:endParaRPr lang="en-US" sz="2800">
                  <a:latin typeface="Times New Roman" panose="02020603050405020304" pitchFamily="18"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1178983"/>
                <a:ext cx="7631098" cy="1815882"/>
              </a:xfrm>
              <a:prstGeom prst="rect">
                <a:avLst/>
              </a:prstGeom>
              <a:blipFill rotWithShape="0">
                <a:blip r:embed="rId2"/>
                <a:stretch>
                  <a:fillRect l="-1597" t="-3356" b="-8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722914073"/>
                  </p:ext>
                </p:extLst>
              </p:nvPr>
            </p:nvGraphicFramePr>
            <p:xfrm>
              <a:off x="956903" y="3540224"/>
              <a:ext cx="6096000" cy="186436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81000">
                    <a:tc>
                      <a:txBody>
                        <a:bodyPr/>
                        <a:lstStyle/>
                        <a:p>
                          <a:pPr algn="ctr"/>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x</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𝑥𝑦</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m:rPr>
                                    <m:sty m:val="p"/>
                                  </m:rPr>
                                  <a:rPr lang="en-US" b="0" i="0" smtClean="0">
                                    <a:latin typeface="Cambria Math" panose="02040503050406030204" pitchFamily="18" charset="0"/>
                                  </a:rPr>
                                  <m:t>y</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z</m:t>
                                </m:r>
                                <m:acc>
                                  <m:accPr>
                                    <m:chr m:val="̅"/>
                                    <m:ctrlPr>
                                      <a:rPr lang="en-US" b="0" i="1">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r>
                            <a:rPr lang="en-US" b="0"/>
                            <a:t>1</a:t>
                          </a:r>
                        </a:p>
                      </a:txBody>
                      <a:tcPr/>
                    </a:tc>
                    <a:tc>
                      <a:txBody>
                        <a:bodyPr/>
                        <a:lstStyle/>
                        <a:p>
                          <a:pPr algn="ctr"/>
                          <a:r>
                            <a:rPr lang="en-US" b="0"/>
                            <a:t>1</a:t>
                          </a:r>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𝑧𝑡</m:t>
                                </m:r>
                              </m:oMath>
                            </m:oMathPara>
                          </a14:m>
                          <a:endParaRPr lang="en-US" b="0"/>
                        </a:p>
                      </a:txBody>
                      <a:tcPr>
                        <a:solidFill>
                          <a:schemeClr val="accent2">
                            <a:lumMod val="20000"/>
                            <a:lumOff val="80000"/>
                          </a:schemeClr>
                        </a:solidFill>
                      </a:tcPr>
                    </a:tc>
                    <a:tc>
                      <a:txBody>
                        <a:bodyPr/>
                        <a:lstStyle/>
                        <a:p>
                          <a:pPr algn="ctr"/>
                          <a:r>
                            <a:rPr lang="en-US" b="0"/>
                            <a:t>1</a:t>
                          </a:r>
                        </a:p>
                      </a:txBody>
                      <a:tcPr/>
                    </a:tc>
                    <a:tc>
                      <a:txBody>
                        <a:bodyPr/>
                        <a:lstStyle/>
                        <a:p>
                          <a:pPr algn="ctr"/>
                          <a:r>
                            <a:rPr lang="en-US" b="0"/>
                            <a:t>1</a:t>
                          </a:r>
                        </a:p>
                      </a:txBody>
                      <a:tcPr/>
                    </a:tc>
                    <a:tc>
                      <a:txBody>
                        <a:bodyPr/>
                        <a:lstStyle/>
                        <a:p>
                          <a:pPr algn="ctr"/>
                          <a:endParaRPr lang="en-US" b="0"/>
                        </a:p>
                      </a:txBody>
                      <a:tcPr/>
                    </a:tc>
                    <a:tc>
                      <a:txBody>
                        <a:bodyPr/>
                        <a:lstStyle/>
                        <a:p>
                          <a:pPr algn="ctr"/>
                          <a:r>
                            <a:rPr lang="en-US" b="0"/>
                            <a:t>1</a:t>
                          </a:r>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r>
                                  <m:rPr>
                                    <m:sty m:val="p"/>
                                  </m:rPr>
                                  <a:rPr lang="en-US" b="0" i="0" smtClean="0">
                                    <a:latin typeface="Cambria Math" panose="02040503050406030204" pitchFamily="18" charset="0"/>
                                  </a:rPr>
                                  <m:t>t</m:t>
                                </m:r>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extLst>
                      <a:ext uri="{0D108BD9-81ED-4DB2-BD59-A6C34878D82A}">
                        <a16:rowId xmlns:a16="http://schemas.microsoft.com/office/drawing/2014/main" val="10003"/>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r>
                            <a:rPr lang="en-US" b="0"/>
                            <a:t>1</a:t>
                          </a:r>
                        </a:p>
                      </a:txBody>
                      <a:tcPr/>
                    </a:tc>
                    <a:tc>
                      <a:txBody>
                        <a:bodyPr/>
                        <a:lstStyle/>
                        <a:p>
                          <a:pPr algn="ctr"/>
                          <a:r>
                            <a:rPr lang="en-US" b="0"/>
                            <a:t>1</a:t>
                          </a:r>
                        </a:p>
                      </a:txBody>
                      <a:tcPr/>
                    </a:tc>
                    <a:tc>
                      <a:txBody>
                        <a:bodyPr/>
                        <a:lstStyle/>
                        <a:p>
                          <a:pPr algn="ctr"/>
                          <a:r>
                            <a:rPr lang="en-US" b="0"/>
                            <a:t>1</a:t>
                          </a:r>
                        </a:p>
                      </a:txBody>
                      <a:tcPr/>
                    </a:tc>
                    <a:tc>
                      <a:txBody>
                        <a:bodyPr/>
                        <a:lstStyle/>
                        <a:p>
                          <a:pPr algn="ctr"/>
                          <a:r>
                            <a:rPr lang="en-US" b="0"/>
                            <a:t>1</a:t>
                          </a:r>
                        </a:p>
                      </a:txBody>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722914073"/>
                  </p:ext>
                </p:extLst>
              </p:nvPr>
            </p:nvGraphicFramePr>
            <p:xfrm>
              <a:off x="956903" y="3540224"/>
              <a:ext cx="6096000" cy="186436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81000">
                    <a:tc>
                      <a:txBody>
                        <a:bodyPr/>
                        <a:lstStyle/>
                        <a:p>
                          <a:pPr algn="ctr"/>
                          <a:endParaRPr lang="en-US" b="0"/>
                        </a:p>
                      </a:txBody>
                      <a:tcPr>
                        <a:solidFill>
                          <a:schemeClr val="accent2">
                            <a:lumMod val="20000"/>
                            <a:lumOff val="80000"/>
                          </a:schemeClr>
                        </a:solidFill>
                      </a:tcPr>
                    </a:tc>
                    <a:tc>
                      <a:txBody>
                        <a:bodyPr/>
                        <a:lstStyle/>
                        <a:p>
                          <a:endParaRPr lang="en-US"/>
                        </a:p>
                      </a:txBody>
                      <a:tcPr>
                        <a:blipFill rotWithShape="0">
                          <a:blip r:embed="rId3"/>
                          <a:stretch>
                            <a:fillRect l="-100500" t="-1587" r="-302000" b="-409524"/>
                          </a:stretch>
                        </a:blipFill>
                      </a:tcPr>
                    </a:tc>
                    <a:tc>
                      <a:txBody>
                        <a:bodyPr/>
                        <a:lstStyle/>
                        <a:p>
                          <a:endParaRPr lang="en-US"/>
                        </a:p>
                      </a:txBody>
                      <a:tcPr>
                        <a:blipFill rotWithShape="0">
                          <a:blip r:embed="rId3"/>
                          <a:stretch>
                            <a:fillRect l="-199502" t="-1587" r="-200498" b="-409524"/>
                          </a:stretch>
                        </a:blipFill>
                      </a:tcPr>
                    </a:tc>
                    <a:tc>
                      <a:txBody>
                        <a:bodyPr/>
                        <a:lstStyle/>
                        <a:p>
                          <a:endParaRPr lang="en-US"/>
                        </a:p>
                      </a:txBody>
                      <a:tcPr>
                        <a:blipFill rotWithShape="0">
                          <a:blip r:embed="rId3"/>
                          <a:stretch>
                            <a:fillRect l="-301000" t="-1587" r="-101500" b="-409524"/>
                          </a:stretch>
                        </a:blipFill>
                      </a:tcPr>
                    </a:tc>
                    <a:tc>
                      <a:txBody>
                        <a:bodyPr/>
                        <a:lstStyle/>
                        <a:p>
                          <a:endParaRPr lang="en-US"/>
                        </a:p>
                      </a:txBody>
                      <a:tcPr>
                        <a:blipFill rotWithShape="0">
                          <a:blip r:embed="rId3"/>
                          <a:stretch>
                            <a:fillRect l="-401000" t="-1587" r="-1500" b="-409524"/>
                          </a:stretch>
                        </a:blipFill>
                      </a:tcPr>
                    </a:tc>
                  </a:tr>
                  <a:tr h="370840">
                    <a:tc>
                      <a:txBody>
                        <a:bodyPr/>
                        <a:lstStyle/>
                        <a:p>
                          <a:endParaRPr lang="en-US"/>
                        </a:p>
                      </a:txBody>
                      <a:tcPr>
                        <a:blipFill rotWithShape="0">
                          <a:blip r:embed="rId3"/>
                          <a:stretch>
                            <a:fillRect l="-500" t="-104918" r="-402000" b="-322951"/>
                          </a:stretch>
                        </a:blipFill>
                      </a:tcPr>
                    </a:tc>
                    <a:tc>
                      <a:txBody>
                        <a:bodyPr/>
                        <a:lstStyle/>
                        <a:p>
                          <a:pPr algn="ctr"/>
                          <a:endParaRPr lang="en-US" b="0"/>
                        </a:p>
                      </a:txBody>
                      <a:tcPr/>
                    </a:tc>
                    <a:tc>
                      <a:txBody>
                        <a:bodyPr/>
                        <a:lstStyle/>
                        <a:p>
                          <a:pPr algn="ct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r>
                  <a:tr h="370840">
                    <a:tc>
                      <a:txBody>
                        <a:bodyPr/>
                        <a:lstStyle/>
                        <a:p>
                          <a:endParaRPr lang="en-US"/>
                        </a:p>
                      </a:txBody>
                      <a:tcPr>
                        <a:blipFill rotWithShape="0">
                          <a:blip r:embed="rId3"/>
                          <a:stretch>
                            <a:fillRect l="-500" t="-204918" r="-402000" b="-222951"/>
                          </a:stretch>
                        </a:blipFill>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endParaRPr lang="en-US" b="0"/>
                        </a:p>
                      </a:txBody>
                      <a:tcPr/>
                    </a:tc>
                    <a:tc>
                      <a:txBody>
                        <a:bodyPr/>
                        <a:lstStyle/>
                        <a:p>
                          <a:pPr algn="ctr"/>
                          <a:r>
                            <a:rPr lang="en-US" b="0" smtClean="0"/>
                            <a:t>1</a:t>
                          </a:r>
                          <a:endParaRPr lang="en-US" b="0"/>
                        </a:p>
                      </a:txBody>
                      <a:tcPr/>
                    </a:tc>
                  </a:tr>
                  <a:tr h="370840">
                    <a:tc>
                      <a:txBody>
                        <a:bodyPr/>
                        <a:lstStyle/>
                        <a:p>
                          <a:endParaRPr lang="en-US"/>
                        </a:p>
                      </a:txBody>
                      <a:tcPr>
                        <a:blipFill rotWithShape="0">
                          <a:blip r:embed="rId3"/>
                          <a:stretch>
                            <a:fillRect l="-500" t="-304918" r="-402000" b="-122951"/>
                          </a:stretch>
                        </a:blip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r>
                  <a:tr h="370840">
                    <a:tc>
                      <a:txBody>
                        <a:bodyPr/>
                        <a:lstStyle/>
                        <a:p>
                          <a:endParaRPr lang="en-US"/>
                        </a:p>
                      </a:txBody>
                      <a:tcPr>
                        <a:blipFill rotWithShape="0">
                          <a:blip r:embed="rId3"/>
                          <a:stretch>
                            <a:fillRect l="-500" t="-404918" r="-402000" b="-22951"/>
                          </a:stretch>
                        </a:blipFill>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r>
                </a:tbl>
              </a:graphicData>
            </a:graphic>
          </p:graphicFrame>
        </mc:Fallback>
      </mc:AlternateContent>
      <p:sp>
        <p:nvSpPr>
          <p:cNvPr id="5"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9" name="Slide Number Placeholder 6"/>
          <p:cNvSpPr>
            <a:spLocks noGrp="1"/>
          </p:cNvSpPr>
          <p:nvPr>
            <p:ph type="sldNum" sz="quarter" idx="12"/>
          </p:nvPr>
        </p:nvSpPr>
        <p:spPr>
          <a:xfrm>
            <a:off x="7848600" y="6492874"/>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31</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04800" y="457200"/>
            <a:ext cx="4176143" cy="523220"/>
          </a:xfrm>
          <a:prstGeom prst="rect">
            <a:avLst/>
          </a:prstGeom>
        </p:spPr>
        <p:txBody>
          <a:bodyPr wrap="none">
            <a:spAutoFit/>
          </a:bodyPr>
          <a:lstStyle/>
          <a:p>
            <a:r>
              <a:rPr lang="en-US" sz="2800">
                <a:latin typeface="Times New Roman" panose="02020603050405020304" pitchFamily="18" charset="0"/>
                <a:cs typeface="Times New Roman" panose="02020603050405020304" pitchFamily="18" charset="0"/>
              </a:rPr>
              <a:t>B2: Xác định các tế bào lớn</a:t>
            </a:r>
          </a:p>
        </p:txBody>
      </p:sp>
      <mc:AlternateContent xmlns:mc="http://schemas.openxmlformats.org/markup-compatibility/2006" xmlns:a14="http://schemas.microsoft.com/office/drawing/2010/main">
        <mc:Choice Requires="a14">
          <p:sp>
            <p:nvSpPr>
              <p:cNvPr id="9" name="TextBox 8"/>
              <p:cNvSpPr txBox="1"/>
              <p:nvPr/>
            </p:nvSpPr>
            <p:spPr>
              <a:xfrm>
                <a:off x="609600" y="3733800"/>
                <a:ext cx="5845023" cy="2800767"/>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 Tế bào </a:t>
                </a:r>
                <a:r>
                  <a:rPr lang="en-US" sz="2800" err="1">
                    <a:latin typeface="Times New Roman" panose="02020603050405020304" pitchFamily="18" charset="0"/>
                    <a:cs typeface="Times New Roman" panose="02020603050405020304" pitchFamily="18" charset="0"/>
                  </a:rPr>
                  <a:t>lớn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a:t>
                </a:r>
                <a:r>
                  <a:rPr lang="en-US" sz="2800">
                    <a:latin typeface="Times New Roman" panose="02020603050405020304" pitchFamily="18" charset="0"/>
                    <a:cs typeface="Times New Roman" panose="02020603050405020304" pitchFamily="18" charset="0"/>
                  </a:rPr>
                  <a:t> 1: </a:t>
                </a:r>
                <a14:m>
                  <m:oMath xmlns:m="http://schemas.openxmlformats.org/officeDocument/2006/math">
                    <m:acc>
                      <m:accPr>
                        <m:chr m:val="̅"/>
                        <m:ctrlPr>
                          <a:rPr lang="en-US" sz="2800" i="1">
                            <a:solidFill>
                              <a:schemeClr val="accent5"/>
                            </a:solidFill>
                            <a:latin typeface="Cambria Math" panose="02040503050406030204" pitchFamily="18" charset="0"/>
                            <a:cs typeface="Times New Roman" panose="02020603050405020304" pitchFamily="18" charset="0"/>
                          </a:rPr>
                        </m:ctrlPr>
                      </m:accPr>
                      <m:e>
                        <m:r>
                          <a:rPr lang="en-US" sz="2800" i="1">
                            <a:solidFill>
                              <a:schemeClr val="accent5"/>
                            </a:solidFill>
                            <a:latin typeface="Cambria Math" panose="02040503050406030204" pitchFamily="18" charset="0"/>
                            <a:cs typeface="Times New Roman" panose="02020603050405020304" pitchFamily="18" charset="0"/>
                          </a:rPr>
                          <m:t>𝑥</m:t>
                        </m:r>
                      </m:e>
                    </m:acc>
                    <m:acc>
                      <m:accPr>
                        <m:chr m:val="̅"/>
                        <m:ctrlPr>
                          <a:rPr lang="en-US" sz="2800" i="1">
                            <a:solidFill>
                              <a:schemeClr val="accent5"/>
                            </a:solidFill>
                            <a:latin typeface="Cambria Math" panose="02040503050406030204" pitchFamily="18" charset="0"/>
                            <a:cs typeface="Times New Roman" panose="02020603050405020304" pitchFamily="18" charset="0"/>
                          </a:rPr>
                        </m:ctrlPr>
                      </m:accPr>
                      <m:e>
                        <m:r>
                          <a:rPr lang="en-US" sz="2800" i="1">
                            <a:solidFill>
                              <a:schemeClr val="accent5"/>
                            </a:solidFill>
                            <a:latin typeface="Cambria Math" panose="02040503050406030204" pitchFamily="18" charset="0"/>
                            <a:cs typeface="Times New Roman" panose="02020603050405020304" pitchFamily="18" charset="0"/>
                          </a:rPr>
                          <m:t>𝑡</m:t>
                        </m:r>
                      </m:e>
                    </m:acc>
                  </m:oMath>
                </a14:m>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Tbào </a:t>
                </a:r>
                <a:r>
                  <a:rPr lang="en-US" sz="2800" err="1">
                    <a:latin typeface="Times New Roman" panose="02020603050405020304" pitchFamily="18" charset="0"/>
                    <a:cs typeface="Times New Roman" panose="02020603050405020304" pitchFamily="18" charset="0"/>
                  </a:rPr>
                  <a:t>lớn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a:t>
                </a:r>
                <a:r>
                  <a:rPr lang="en-US" sz="2800">
                    <a:latin typeface="Times New Roman" panose="02020603050405020304" pitchFamily="18" charset="0"/>
                    <a:cs typeface="Times New Roman" panose="02020603050405020304" pitchFamily="18" charset="0"/>
                  </a:rPr>
                  <a:t> 2: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m:t>
                        </m:r>
                      </m:e>
                    </m:acc>
                    <m:acc>
                      <m:accPr>
                        <m:chr m:val="̅"/>
                        <m:ctrlPr>
                          <a:rPr lang="en-US" sz="2800" i="1" smtClean="0">
                            <a:latin typeface="Cambria Math" panose="02040503050406030204" pitchFamily="18" charset="0"/>
                            <a:cs typeface="Times New Roman" panose="02020603050405020304" pitchFamily="18" charset="0"/>
                          </a:rPr>
                        </m:ctrlPr>
                      </m:accPr>
                      <m:e>
                        <m:r>
                          <a:rPr lang="en-US" sz="2800" b="0" i="1" smtClean="0">
                            <a:latin typeface="Cambria Math" panose="02040503050406030204" pitchFamily="18" charset="0"/>
                            <a:cs typeface="Times New Roman" panose="02020603050405020304" pitchFamily="18" charset="0"/>
                          </a:rPr>
                          <m:t>𝑦</m:t>
                        </m:r>
                      </m:e>
                    </m:acc>
                  </m:oMath>
                </a14:m>
                <a:r>
                  <a:rPr lang="en-US" sz="2800">
                    <a:latin typeface="Times New Roman" panose="02020603050405020304" pitchFamily="18" charset="0"/>
                    <a:cs typeface="Times New Roman" panose="02020603050405020304" pitchFamily="18" charset="0"/>
                  </a:rPr>
                  <a:t>z</a:t>
                </a:r>
              </a:p>
              <a:p>
                <a:r>
                  <a:rPr lang="en-US" sz="2800">
                    <a:latin typeface="Times New Roman" panose="02020603050405020304" pitchFamily="18" charset="0"/>
                    <a:cs typeface="Times New Roman" panose="02020603050405020304" pitchFamily="18" charset="0"/>
                  </a:rPr>
                  <a:t>+ Tế bào lớn </a:t>
                </a:r>
                <a:r>
                  <a:rPr lang="en-US" sz="2800" err="1">
                    <a:latin typeface="Times New Roman" panose="02020603050405020304" pitchFamily="18" charset="0"/>
                    <a:cs typeface="Times New Roman" panose="02020603050405020304" pitchFamily="18" charset="0"/>
                  </a:rPr>
                  <a:t>thứ</a:t>
                </a:r>
                <a:r>
                  <a:rPr lang="en-US" sz="2800">
                    <a:latin typeface="Times New Roman" panose="02020603050405020304" pitchFamily="18" charset="0"/>
                    <a:cs typeface="Times New Roman" panose="02020603050405020304" pitchFamily="18" charset="0"/>
                  </a:rPr>
                  <a:t> 3: </a:t>
                </a:r>
                <a14:m>
                  <m:oMath xmlns:m="http://schemas.openxmlformats.org/officeDocument/2006/math">
                    <m:acc>
                      <m:accPr>
                        <m:chr m:val="̅"/>
                        <m:ctrlPr>
                          <a:rPr lang="en-US" sz="2800" i="1">
                            <a:solidFill>
                              <a:srgbClr val="FF0000"/>
                            </a:solidFill>
                            <a:latin typeface="Cambria Math" panose="02040503050406030204" pitchFamily="18" charset="0"/>
                            <a:cs typeface="Times New Roman" panose="02020603050405020304" pitchFamily="18" charset="0"/>
                          </a:rPr>
                        </m:ctrlPr>
                      </m:accPr>
                      <m:e>
                        <m:r>
                          <a:rPr lang="en-US" sz="2800" i="1">
                            <a:solidFill>
                              <a:srgbClr val="FF0000"/>
                            </a:solidFill>
                            <a:latin typeface="Cambria Math" panose="02040503050406030204" pitchFamily="18" charset="0"/>
                            <a:cs typeface="Times New Roman" panose="02020603050405020304" pitchFamily="18" charset="0"/>
                          </a:rPr>
                          <m:t>𝑦</m:t>
                        </m:r>
                      </m:e>
                    </m:acc>
                  </m:oMath>
                </a14:m>
                <a:r>
                  <a:rPr lang="en-US" sz="2800">
                    <a:solidFill>
                      <a:srgbClr val="FF0000"/>
                    </a:solidFill>
                    <a:latin typeface="Times New Roman" panose="02020603050405020304" pitchFamily="18" charset="0"/>
                    <a:cs typeface="Times New Roman" panose="02020603050405020304" pitchFamily="18" charset="0"/>
                  </a:rPr>
                  <a:t>zt</a:t>
                </a:r>
              </a:p>
              <a:p>
                <a:r>
                  <a:rPr lang="en-US" sz="2800">
                    <a:latin typeface="Times New Roman" panose="02020603050405020304" pitchFamily="18" charset="0"/>
                    <a:cs typeface="Times New Roman" panose="02020603050405020304" pitchFamily="18" charset="0"/>
                  </a:rPr>
                  <a:t>+ Tế bào lớn thú 4:</a:t>
                </a:r>
                <a:r>
                  <a:rPr lang="en-US" sz="2800">
                    <a:solidFill>
                      <a:srgbClr val="00B0F0"/>
                    </a:solidFill>
                    <a:latin typeface="Times New Roman" panose="02020603050405020304" pitchFamily="18" charset="0"/>
                    <a:cs typeface="Times New Roman" panose="02020603050405020304" pitchFamily="18" charset="0"/>
                  </a:rPr>
                  <a:t> xzt</a:t>
                </a:r>
              </a:p>
              <a:p>
                <a:r>
                  <a:rPr lang="en-US" sz="2800">
                    <a:latin typeface="Times New Roman" panose="02020603050405020304" pitchFamily="18" charset="0"/>
                    <a:cs typeface="Times New Roman" panose="02020603050405020304" pitchFamily="18" charset="0"/>
                  </a:rPr>
                  <a:t>+ Tế bào </a:t>
                </a:r>
                <a:r>
                  <a:rPr lang="en-US" sz="2800" err="1">
                    <a:latin typeface="Times New Roman" panose="02020603050405020304" pitchFamily="18" charset="0"/>
                    <a:cs typeface="Times New Roman" panose="02020603050405020304" pitchFamily="18" charset="0"/>
                  </a:rPr>
                  <a:t>lớn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a:t>
                </a:r>
                <a:r>
                  <a:rPr lang="en-US" sz="2800">
                    <a:latin typeface="Times New Roman" panose="02020603050405020304" pitchFamily="18" charset="0"/>
                    <a:cs typeface="Times New Roman" panose="02020603050405020304" pitchFamily="18" charset="0"/>
                  </a:rPr>
                  <a:t> 5: </a:t>
                </a:r>
                <a14:m>
                  <m:oMath xmlns:m="http://schemas.openxmlformats.org/officeDocument/2006/math">
                    <m:acc>
                      <m:accPr>
                        <m:chr m:val="̅"/>
                        <m:ctrlPr>
                          <a:rPr lang="en-US" sz="2800" i="1" smtClean="0">
                            <a:solidFill>
                              <a:srgbClr val="002060"/>
                            </a:solidFill>
                            <a:latin typeface="Cambria Math" panose="02040503050406030204" pitchFamily="18" charset="0"/>
                            <a:cs typeface="Times New Roman" panose="02020603050405020304" pitchFamily="18" charset="0"/>
                          </a:rPr>
                        </m:ctrlPr>
                      </m:accPr>
                      <m:e>
                        <m:r>
                          <a:rPr lang="en-US" sz="2800" i="1">
                            <a:solidFill>
                              <a:srgbClr val="002060"/>
                            </a:solidFill>
                            <a:latin typeface="Cambria Math" panose="02040503050406030204" pitchFamily="18" charset="0"/>
                            <a:cs typeface="Times New Roman" panose="02020603050405020304" pitchFamily="18" charset="0"/>
                          </a:rPr>
                          <m:t>𝑧</m:t>
                        </m:r>
                      </m:e>
                    </m:acc>
                    <m:acc>
                      <m:accPr>
                        <m:chr m:val="̅"/>
                        <m:ctrlPr>
                          <a:rPr lang="en-US" sz="2800" i="1" smtClean="0">
                            <a:solidFill>
                              <a:srgbClr val="002060"/>
                            </a:solidFill>
                            <a:latin typeface="Cambria Math" panose="02040503050406030204" pitchFamily="18" charset="0"/>
                            <a:cs typeface="Times New Roman" panose="02020603050405020304" pitchFamily="18" charset="0"/>
                          </a:rPr>
                        </m:ctrlPr>
                      </m:accPr>
                      <m:e>
                        <m:r>
                          <a:rPr lang="en-US" sz="2800" b="0" i="1" smtClean="0">
                            <a:solidFill>
                              <a:srgbClr val="002060"/>
                            </a:solidFill>
                            <a:latin typeface="Cambria Math" panose="02040503050406030204" pitchFamily="18" charset="0"/>
                            <a:cs typeface="Times New Roman" panose="02020603050405020304" pitchFamily="18" charset="0"/>
                          </a:rPr>
                          <m:t>𝑡</m:t>
                        </m:r>
                      </m:e>
                    </m:acc>
                  </m:oMath>
                </a14:m>
                <a:endParaRPr lang="en-US" sz="2800">
                  <a:solidFill>
                    <a:srgbClr val="002060"/>
                  </a:solidFill>
                  <a:latin typeface="Times New Roman" panose="02020603050405020304" pitchFamily="18" charset="0"/>
                  <a:cs typeface="Times New Roman" panose="02020603050405020304" pitchFamily="18" charset="0"/>
                </a:endParaRPr>
              </a:p>
              <a:p>
                <a:endParaRPr lang="en-US">
                  <a:cs typeface="Times New Roman" panose="02020603050405020304" pitchFamily="18" charset="0"/>
                </a:endParaRPr>
              </a:p>
              <a:p>
                <a:endParaRPr lang="en-US"/>
              </a:p>
            </p:txBody>
          </p:sp>
        </mc:Choice>
        <mc:Fallback xmlns="">
          <p:sp>
            <p:nvSpPr>
              <p:cNvPr id="9" name="TextBox 8"/>
              <p:cNvSpPr txBox="1">
                <a:spLocks noRot="1" noChangeAspect="1" noMove="1" noResize="1" noEditPoints="1" noAdjustHandles="1" noChangeArrowheads="1" noChangeShapeType="1" noTextEdit="1"/>
              </p:cNvSpPr>
              <p:nvPr/>
            </p:nvSpPr>
            <p:spPr>
              <a:xfrm>
                <a:off x="609600" y="3733800"/>
                <a:ext cx="5845023" cy="2800767"/>
              </a:xfrm>
              <a:prstGeom prst="rect">
                <a:avLst/>
              </a:prstGeom>
              <a:blipFill rotWithShape="0">
                <a:blip r:embed="rId2"/>
                <a:stretch>
                  <a:fillRect l="-2086" t="-23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274151788"/>
                  </p:ext>
                </p:extLst>
              </p:nvPr>
            </p:nvGraphicFramePr>
            <p:xfrm>
              <a:off x="643467" y="1371600"/>
              <a:ext cx="6096000" cy="186436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81000">
                    <a:tc>
                      <a:txBody>
                        <a:bodyPr/>
                        <a:lstStyle/>
                        <a:p>
                          <a:pPr algn="ctr"/>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x</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𝑥𝑦</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m:rPr>
                                    <m:sty m:val="p"/>
                                  </m:rPr>
                                  <a:rPr lang="en-US" b="0" i="0" smtClean="0">
                                    <a:latin typeface="Cambria Math" panose="02040503050406030204" pitchFamily="18" charset="0"/>
                                  </a:rPr>
                                  <m:t>y</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z</m:t>
                                </m:r>
                                <m:acc>
                                  <m:accPr>
                                    <m:chr m:val="̅"/>
                                    <m:ctrlPr>
                                      <a:rPr lang="en-US" b="0" i="1">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r>
                            <a:rPr lang="en-US" b="0"/>
                            <a:t>1</a:t>
                          </a:r>
                        </a:p>
                      </a:txBody>
                      <a:tcPr/>
                    </a:tc>
                    <a:tc>
                      <a:txBody>
                        <a:bodyPr/>
                        <a:lstStyle/>
                        <a:p>
                          <a:pPr algn="ctr"/>
                          <a:r>
                            <a:rPr lang="en-US" b="0"/>
                            <a:t>1</a:t>
                          </a:r>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𝑧𝑡</m:t>
                                </m:r>
                              </m:oMath>
                            </m:oMathPara>
                          </a14:m>
                          <a:endParaRPr lang="en-US" b="0"/>
                        </a:p>
                      </a:txBody>
                      <a:tcPr>
                        <a:solidFill>
                          <a:schemeClr val="accent2">
                            <a:lumMod val="20000"/>
                            <a:lumOff val="80000"/>
                          </a:schemeClr>
                        </a:solidFill>
                      </a:tcPr>
                    </a:tc>
                    <a:tc>
                      <a:txBody>
                        <a:bodyPr/>
                        <a:lstStyle/>
                        <a:p>
                          <a:pPr algn="ctr"/>
                          <a:r>
                            <a:rPr lang="en-US" b="0"/>
                            <a:t>1</a:t>
                          </a:r>
                        </a:p>
                      </a:txBody>
                      <a:tcPr/>
                    </a:tc>
                    <a:tc>
                      <a:txBody>
                        <a:bodyPr/>
                        <a:lstStyle/>
                        <a:p>
                          <a:pPr algn="ctr"/>
                          <a:r>
                            <a:rPr lang="en-US" b="0"/>
                            <a:t>1</a:t>
                          </a:r>
                        </a:p>
                      </a:txBody>
                      <a:tcPr/>
                    </a:tc>
                    <a:tc>
                      <a:txBody>
                        <a:bodyPr/>
                        <a:lstStyle/>
                        <a:p>
                          <a:pPr algn="ctr"/>
                          <a:endParaRPr lang="en-US" b="0"/>
                        </a:p>
                      </a:txBody>
                      <a:tcPr/>
                    </a:tc>
                    <a:tc>
                      <a:txBody>
                        <a:bodyPr/>
                        <a:lstStyle/>
                        <a:p>
                          <a:pPr algn="ctr"/>
                          <a:r>
                            <a:rPr lang="en-US" b="0"/>
                            <a:t>1</a:t>
                          </a:r>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r>
                                  <m:rPr>
                                    <m:sty m:val="p"/>
                                  </m:rPr>
                                  <a:rPr lang="en-US" b="0" i="0" smtClean="0">
                                    <a:latin typeface="Cambria Math" panose="02040503050406030204" pitchFamily="18" charset="0"/>
                                  </a:rPr>
                                  <m:t>t</m:t>
                                </m:r>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extLst>
                      <a:ext uri="{0D108BD9-81ED-4DB2-BD59-A6C34878D82A}">
                        <a16:rowId xmlns:a16="http://schemas.microsoft.com/office/drawing/2014/main" val="10003"/>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r>
                            <a:rPr lang="en-US" b="0"/>
                            <a:t>1</a:t>
                          </a:r>
                        </a:p>
                      </a:txBody>
                      <a:tcPr/>
                    </a:tc>
                    <a:tc>
                      <a:txBody>
                        <a:bodyPr/>
                        <a:lstStyle/>
                        <a:p>
                          <a:pPr algn="ctr"/>
                          <a:r>
                            <a:rPr lang="en-US" b="0"/>
                            <a:t>1</a:t>
                          </a:r>
                        </a:p>
                      </a:txBody>
                      <a:tcPr/>
                    </a:tc>
                    <a:tc>
                      <a:txBody>
                        <a:bodyPr/>
                        <a:lstStyle/>
                        <a:p>
                          <a:pPr algn="ctr"/>
                          <a:r>
                            <a:rPr lang="en-US" b="0"/>
                            <a:t>1</a:t>
                          </a:r>
                        </a:p>
                      </a:txBody>
                      <a:tcPr/>
                    </a:tc>
                    <a:tc>
                      <a:txBody>
                        <a:bodyPr/>
                        <a:lstStyle/>
                        <a:p>
                          <a:pPr algn="ctr"/>
                          <a:r>
                            <a:rPr lang="en-US" b="0"/>
                            <a:t>1</a:t>
                          </a:r>
                        </a:p>
                      </a:txBody>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274151788"/>
                  </p:ext>
                </p:extLst>
              </p:nvPr>
            </p:nvGraphicFramePr>
            <p:xfrm>
              <a:off x="643467" y="1371600"/>
              <a:ext cx="6096000" cy="186436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81000">
                    <a:tc>
                      <a:txBody>
                        <a:bodyPr/>
                        <a:lstStyle/>
                        <a:p>
                          <a:pPr algn="ctr"/>
                          <a:endParaRPr lang="en-US" b="0"/>
                        </a:p>
                      </a:txBody>
                      <a:tcPr>
                        <a:solidFill>
                          <a:schemeClr val="accent2">
                            <a:lumMod val="20000"/>
                            <a:lumOff val="80000"/>
                          </a:schemeClr>
                        </a:solidFill>
                      </a:tcPr>
                    </a:tc>
                    <a:tc>
                      <a:txBody>
                        <a:bodyPr/>
                        <a:lstStyle/>
                        <a:p>
                          <a:endParaRPr lang="en-US"/>
                        </a:p>
                      </a:txBody>
                      <a:tcPr>
                        <a:blipFill rotWithShape="0">
                          <a:blip r:embed="rId3"/>
                          <a:stretch>
                            <a:fillRect l="-100500" t="-3175" r="-301500" b="-407937"/>
                          </a:stretch>
                        </a:blipFill>
                      </a:tcPr>
                    </a:tc>
                    <a:tc>
                      <a:txBody>
                        <a:bodyPr/>
                        <a:lstStyle/>
                        <a:p>
                          <a:endParaRPr lang="en-US"/>
                        </a:p>
                      </a:txBody>
                      <a:tcPr>
                        <a:blipFill rotWithShape="0">
                          <a:blip r:embed="rId3"/>
                          <a:stretch>
                            <a:fillRect l="-199502" t="-3175" r="-200000" b="-407937"/>
                          </a:stretch>
                        </a:blipFill>
                      </a:tcPr>
                    </a:tc>
                    <a:tc>
                      <a:txBody>
                        <a:bodyPr/>
                        <a:lstStyle/>
                        <a:p>
                          <a:endParaRPr lang="en-US"/>
                        </a:p>
                      </a:txBody>
                      <a:tcPr>
                        <a:blipFill rotWithShape="0">
                          <a:blip r:embed="rId3"/>
                          <a:stretch>
                            <a:fillRect l="-301000" t="-3175" r="-101000" b="-407937"/>
                          </a:stretch>
                        </a:blipFill>
                      </a:tcPr>
                    </a:tc>
                    <a:tc>
                      <a:txBody>
                        <a:bodyPr/>
                        <a:lstStyle/>
                        <a:p>
                          <a:endParaRPr lang="en-US"/>
                        </a:p>
                      </a:txBody>
                      <a:tcPr>
                        <a:blipFill rotWithShape="0">
                          <a:blip r:embed="rId3"/>
                          <a:stretch>
                            <a:fillRect l="-401000" t="-3175" r="-1000" b="-407937"/>
                          </a:stretch>
                        </a:blipFill>
                      </a:tcPr>
                    </a:tc>
                  </a:tr>
                  <a:tr h="370840">
                    <a:tc>
                      <a:txBody>
                        <a:bodyPr/>
                        <a:lstStyle/>
                        <a:p>
                          <a:endParaRPr lang="en-US"/>
                        </a:p>
                      </a:txBody>
                      <a:tcPr>
                        <a:blipFill rotWithShape="0">
                          <a:blip r:embed="rId3"/>
                          <a:stretch>
                            <a:fillRect l="-500" t="-108333" r="-401500" b="-328333"/>
                          </a:stretch>
                        </a:blipFill>
                      </a:tcPr>
                    </a:tc>
                    <a:tc>
                      <a:txBody>
                        <a:bodyPr/>
                        <a:lstStyle/>
                        <a:p>
                          <a:pPr algn="ctr"/>
                          <a:endParaRPr lang="en-US" b="0"/>
                        </a:p>
                      </a:txBody>
                      <a:tcPr/>
                    </a:tc>
                    <a:tc>
                      <a:txBody>
                        <a:bodyPr/>
                        <a:lstStyle/>
                        <a:p>
                          <a:pPr algn="ct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r>
                  <a:tr h="370840">
                    <a:tc>
                      <a:txBody>
                        <a:bodyPr/>
                        <a:lstStyle/>
                        <a:p>
                          <a:endParaRPr lang="en-US"/>
                        </a:p>
                      </a:txBody>
                      <a:tcPr>
                        <a:blipFill rotWithShape="0">
                          <a:blip r:embed="rId3"/>
                          <a:stretch>
                            <a:fillRect l="-500" t="-204918" r="-401500" b="-222951"/>
                          </a:stretch>
                        </a:blipFill>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endParaRPr lang="en-US" b="0"/>
                        </a:p>
                      </a:txBody>
                      <a:tcPr/>
                    </a:tc>
                    <a:tc>
                      <a:txBody>
                        <a:bodyPr/>
                        <a:lstStyle/>
                        <a:p>
                          <a:pPr algn="ctr"/>
                          <a:r>
                            <a:rPr lang="en-US" b="0" smtClean="0"/>
                            <a:t>1</a:t>
                          </a:r>
                          <a:endParaRPr lang="en-US" b="0"/>
                        </a:p>
                      </a:txBody>
                      <a:tcPr/>
                    </a:tc>
                  </a:tr>
                  <a:tr h="370840">
                    <a:tc>
                      <a:txBody>
                        <a:bodyPr/>
                        <a:lstStyle/>
                        <a:p>
                          <a:endParaRPr lang="en-US"/>
                        </a:p>
                      </a:txBody>
                      <a:tcPr>
                        <a:blipFill rotWithShape="0">
                          <a:blip r:embed="rId3"/>
                          <a:stretch>
                            <a:fillRect l="-500" t="-304918" r="-401500" b="-122951"/>
                          </a:stretch>
                        </a:blip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r>
                  <a:tr h="370840">
                    <a:tc>
                      <a:txBody>
                        <a:bodyPr/>
                        <a:lstStyle/>
                        <a:p>
                          <a:endParaRPr lang="en-US"/>
                        </a:p>
                      </a:txBody>
                      <a:tcPr>
                        <a:blipFill rotWithShape="0">
                          <a:blip r:embed="rId3"/>
                          <a:stretch>
                            <a:fillRect l="-500" t="-404918" r="-401500" b="-22951"/>
                          </a:stretch>
                        </a:blipFill>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r>
                </a:tbl>
              </a:graphicData>
            </a:graphic>
          </p:graphicFrame>
        </mc:Fallback>
      </mc:AlternateContent>
      <p:sp>
        <p:nvSpPr>
          <p:cNvPr id="11" name="Right Bracket 10"/>
          <p:cNvSpPr/>
          <p:nvPr/>
        </p:nvSpPr>
        <p:spPr>
          <a:xfrm rot="10800000">
            <a:off x="5803363" y="2069072"/>
            <a:ext cx="936104" cy="434093"/>
          </a:xfrm>
          <a:prstGeom prst="rightBracket">
            <a:avLst/>
          </a:prstGeom>
          <a:ln w="444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lowchart: Alternate Process 11"/>
          <p:cNvSpPr/>
          <p:nvPr/>
        </p:nvSpPr>
        <p:spPr>
          <a:xfrm>
            <a:off x="5909657" y="1736047"/>
            <a:ext cx="465205" cy="695523"/>
          </a:xfrm>
          <a:prstGeom prst="flowChartAlternateProcess">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Bracket 12"/>
          <p:cNvSpPr/>
          <p:nvPr/>
        </p:nvSpPr>
        <p:spPr>
          <a:xfrm rot="16200000">
            <a:off x="5226887" y="2190353"/>
            <a:ext cx="448816" cy="1905000"/>
          </a:xfrm>
          <a:prstGeom prst="rightBracket">
            <a:avLst/>
          </a:prstGeom>
          <a:ln w="444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lowchart: Alternate Process 13"/>
          <p:cNvSpPr/>
          <p:nvPr/>
        </p:nvSpPr>
        <p:spPr>
          <a:xfrm>
            <a:off x="2042923" y="2071117"/>
            <a:ext cx="2032248" cy="432048"/>
          </a:xfrm>
          <a:prstGeom prst="flowChartAlternateProcess">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Alternate Process 14"/>
          <p:cNvSpPr/>
          <p:nvPr/>
        </p:nvSpPr>
        <p:spPr>
          <a:xfrm>
            <a:off x="1986939" y="2865663"/>
            <a:ext cx="4680520" cy="357582"/>
          </a:xfrm>
          <a:prstGeom prst="flowChartAlternateProcess">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Bracket 15"/>
          <p:cNvSpPr/>
          <p:nvPr/>
        </p:nvSpPr>
        <p:spPr>
          <a:xfrm>
            <a:off x="1698907" y="2071117"/>
            <a:ext cx="941516" cy="450828"/>
          </a:xfrm>
          <a:prstGeom prst="rightBracket">
            <a:avLst/>
          </a:prstGeom>
          <a:ln w="444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t>    </a:t>
            </a:r>
          </a:p>
        </p:txBody>
      </p:sp>
      <p:sp>
        <p:nvSpPr>
          <p:cNvPr id="17" name="Right Bracket 16"/>
          <p:cNvSpPr/>
          <p:nvPr/>
        </p:nvSpPr>
        <p:spPr>
          <a:xfrm rot="5400000">
            <a:off x="5224351" y="889628"/>
            <a:ext cx="430003" cy="1928884"/>
          </a:xfrm>
          <a:prstGeom prst="rightBracket">
            <a:avLst/>
          </a:prstGeom>
          <a:ln w="444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9"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20" name="Slide Number Placeholder 6"/>
          <p:cNvSpPr>
            <a:spLocks noGrp="1"/>
          </p:cNvSpPr>
          <p:nvPr>
            <p:ph type="sldNum" sz="quarter" idx="12"/>
          </p:nvPr>
        </p:nvSpPr>
        <p:spPr>
          <a:xfrm>
            <a:off x="7772400" y="6492875"/>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32</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animEffect transition="in" filter="fade">
                                      <p:cBhvr>
                                        <p:cTn id="9" dur="500"/>
                                        <p:tgtEl>
                                          <p:spTgt spid="9">
                                            <p:txEl>
                                              <p:pRg st="0" end="0"/>
                                            </p:txEl>
                                          </p:spTgt>
                                        </p:tgtEl>
                                      </p:cBhvr>
                                    </p:animEffect>
                                  </p:childTnLst>
                                </p:cTn>
                              </p:par>
                              <p:par>
                                <p:cTn id="10" presetID="10" presetClass="entr" presetSubtype="0" fill="hold"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500"/>
                                        <p:tgtEl>
                                          <p:spTgt spid="9">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500"/>
                                        <p:tgtEl>
                                          <p:spTgt spid="9">
                                            <p:txEl>
                                              <p:pRg st="4" end="4"/>
                                            </p:txEl>
                                          </p:spTgt>
                                        </p:tgtEl>
                                      </p:cBhvr>
                                    </p:animEffect>
                                  </p:childTnLst>
                                </p:cTn>
                              </p:par>
                            </p:childTnLst>
                          </p:cTn>
                        </p:par>
                        <p:par>
                          <p:cTn id="22" fill="hold">
                            <p:stCondLst>
                              <p:cond delay="500"/>
                            </p:stCondLst>
                            <p:childTnLst>
                              <p:par>
                                <p:cTn id="23" presetID="16" presetClass="entr" presetSubtype="21"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anim calcmode="lin" valueType="num">
                                      <p:cBhvr>
                                        <p:cTn id="31" dur="1000" fill="hold"/>
                                        <p:tgtEl>
                                          <p:spTgt spid="17"/>
                                        </p:tgtEl>
                                        <p:attrNameLst>
                                          <p:attrName>ppt_x</p:attrName>
                                        </p:attrNameLst>
                                      </p:cBhvr>
                                      <p:tavLst>
                                        <p:tav tm="0">
                                          <p:val>
                                            <p:strVal val="#ppt_x"/>
                                          </p:val>
                                        </p:tav>
                                        <p:tav tm="100000">
                                          <p:val>
                                            <p:strVal val="#ppt_x"/>
                                          </p:val>
                                        </p:tav>
                                      </p:tavLst>
                                    </p:anim>
                                    <p:anim calcmode="lin" valueType="num">
                                      <p:cBhvr>
                                        <p:cTn id="32" dur="1000" fill="hold"/>
                                        <p:tgtEl>
                                          <p:spTgt spid="17"/>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anim calcmode="lin" valueType="num">
                                      <p:cBhvr>
                                        <p:cTn id="50" dur="1000" fill="hold"/>
                                        <p:tgtEl>
                                          <p:spTgt spid="16"/>
                                        </p:tgtEl>
                                        <p:attrNameLst>
                                          <p:attrName>ppt_x</p:attrName>
                                        </p:attrNameLst>
                                      </p:cBhvr>
                                      <p:tavLst>
                                        <p:tav tm="0">
                                          <p:val>
                                            <p:strVal val="#ppt_x"/>
                                          </p:val>
                                        </p:tav>
                                        <p:tav tm="100000">
                                          <p:val>
                                            <p:strVal val="#ppt_x"/>
                                          </p:val>
                                        </p:tav>
                                      </p:tavLst>
                                    </p:anim>
                                    <p:anim calcmode="lin" valueType="num">
                                      <p:cBhvr>
                                        <p:cTn id="51" dur="1000" fill="hold"/>
                                        <p:tgtEl>
                                          <p:spTgt spid="1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down)">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down)">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2" grpId="0" animBg="1"/>
      <p:bldP spid="13" grpId="0" animBg="1"/>
      <p:bldP spid="14" grpId="0" animBg="1"/>
      <p:bldP spid="15"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949335193"/>
                  </p:ext>
                </p:extLst>
              </p:nvPr>
            </p:nvGraphicFramePr>
            <p:xfrm>
              <a:off x="794568" y="1496675"/>
              <a:ext cx="6096000" cy="186436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81000">
                    <a:tc>
                      <a:txBody>
                        <a:bodyPr/>
                        <a:lstStyle/>
                        <a:p>
                          <a:pPr algn="ctr"/>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x</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𝑥𝑦</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m:rPr>
                                    <m:sty m:val="p"/>
                                  </m:rPr>
                                  <a:rPr lang="en-US" b="0" i="0" smtClean="0">
                                    <a:latin typeface="Cambria Math" panose="02040503050406030204" pitchFamily="18" charset="0"/>
                                  </a:rPr>
                                  <m:t>y</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z</m:t>
                                </m:r>
                                <m:acc>
                                  <m:accPr>
                                    <m:chr m:val="̅"/>
                                    <m:ctrlPr>
                                      <a:rPr lang="en-US" b="0" i="1">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r>
                            <a:rPr lang="en-US" b="0"/>
                            <a:t>1</a:t>
                          </a:r>
                        </a:p>
                      </a:txBody>
                      <a:tcPr>
                        <a:solidFill>
                          <a:srgbClr val="FFFF00"/>
                        </a:solidFill>
                      </a:tcPr>
                    </a:tc>
                    <a:tc>
                      <a:txBody>
                        <a:bodyPr/>
                        <a:lstStyle/>
                        <a:p>
                          <a:pPr algn="ctr"/>
                          <a:r>
                            <a:rPr lang="en-US" b="0"/>
                            <a:t>1</a:t>
                          </a:r>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𝑧𝑡</m:t>
                                </m:r>
                              </m:oMath>
                            </m:oMathPara>
                          </a14:m>
                          <a:endParaRPr lang="en-US" b="0"/>
                        </a:p>
                      </a:txBody>
                      <a:tcPr>
                        <a:solidFill>
                          <a:schemeClr val="accent2">
                            <a:lumMod val="20000"/>
                            <a:lumOff val="80000"/>
                          </a:schemeClr>
                        </a:solidFill>
                      </a:tcPr>
                    </a:tc>
                    <a:tc>
                      <a:txBody>
                        <a:bodyPr/>
                        <a:lstStyle/>
                        <a:p>
                          <a:pPr algn="ctr"/>
                          <a:r>
                            <a:rPr lang="en-US" b="0"/>
                            <a:t>1</a:t>
                          </a:r>
                        </a:p>
                      </a:txBody>
                      <a:tcPr/>
                    </a:tc>
                    <a:tc>
                      <a:txBody>
                        <a:bodyPr/>
                        <a:lstStyle/>
                        <a:p>
                          <a:pPr algn="ctr"/>
                          <a:r>
                            <a:rPr lang="en-US" b="0"/>
                            <a:t>1</a:t>
                          </a:r>
                        </a:p>
                      </a:txBody>
                      <a:tcPr>
                        <a:solidFill>
                          <a:srgbClr val="FFFF00"/>
                        </a:solidFill>
                      </a:tcPr>
                    </a:tc>
                    <a:tc>
                      <a:txBody>
                        <a:bodyPr/>
                        <a:lstStyle/>
                        <a:p>
                          <a:pPr algn="ctr"/>
                          <a:endParaRPr lang="en-US" b="0"/>
                        </a:p>
                      </a:txBody>
                      <a:tcPr/>
                    </a:tc>
                    <a:tc>
                      <a:txBody>
                        <a:bodyPr/>
                        <a:lstStyle/>
                        <a:p>
                          <a:pPr algn="ctr"/>
                          <a:r>
                            <a:rPr lang="en-US" b="0"/>
                            <a:t>1</a:t>
                          </a:r>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r>
                                  <m:rPr>
                                    <m:sty m:val="p"/>
                                  </m:rPr>
                                  <a:rPr lang="en-US" b="0" i="0" smtClean="0">
                                    <a:latin typeface="Cambria Math" panose="02040503050406030204" pitchFamily="18" charset="0"/>
                                  </a:rPr>
                                  <m:t>t</m:t>
                                </m:r>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extLst>
                      <a:ext uri="{0D108BD9-81ED-4DB2-BD59-A6C34878D82A}">
                        <a16:rowId xmlns:a16="http://schemas.microsoft.com/office/drawing/2014/main" val="10003"/>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r>
                            <a:rPr lang="en-US" b="0"/>
                            <a:t>1</a:t>
                          </a:r>
                        </a:p>
                      </a:txBody>
                      <a:tcPr>
                        <a:solidFill>
                          <a:srgbClr val="FFFF00"/>
                        </a:solidFill>
                      </a:tcPr>
                    </a:tc>
                    <a:tc>
                      <a:txBody>
                        <a:bodyPr/>
                        <a:lstStyle/>
                        <a:p>
                          <a:pPr algn="ctr"/>
                          <a:r>
                            <a:rPr lang="en-US" b="0"/>
                            <a:t>1</a:t>
                          </a:r>
                        </a:p>
                      </a:txBody>
                      <a:tcPr/>
                    </a:tc>
                    <a:tc>
                      <a:txBody>
                        <a:bodyPr/>
                        <a:lstStyle/>
                        <a:p>
                          <a:pPr algn="ctr"/>
                          <a:r>
                            <a:rPr lang="en-US" b="0"/>
                            <a:t>1</a:t>
                          </a:r>
                        </a:p>
                      </a:txBody>
                      <a:tcPr/>
                    </a:tc>
                    <a:tc>
                      <a:txBody>
                        <a:bodyPr/>
                        <a:lstStyle/>
                        <a:p>
                          <a:pPr algn="ctr"/>
                          <a:r>
                            <a:rPr lang="en-US" b="0"/>
                            <a:t>1</a:t>
                          </a:r>
                        </a:p>
                      </a:txBody>
                      <a:tcPr/>
                    </a:tc>
                    <a:extLst>
                      <a:ext uri="{0D108BD9-81ED-4DB2-BD59-A6C34878D82A}">
                        <a16:rowId xmlns:a16="http://schemas.microsoft.com/office/drawing/2014/main" val="1000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949335193"/>
                  </p:ext>
                </p:extLst>
              </p:nvPr>
            </p:nvGraphicFramePr>
            <p:xfrm>
              <a:off x="794568" y="1496675"/>
              <a:ext cx="6096000" cy="186436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81000">
                    <a:tc>
                      <a:txBody>
                        <a:bodyPr/>
                        <a:lstStyle/>
                        <a:p>
                          <a:pPr algn="ctr"/>
                          <a:endParaRPr lang="en-US" b="0"/>
                        </a:p>
                      </a:txBody>
                      <a:tcPr>
                        <a:solidFill>
                          <a:schemeClr val="accent2">
                            <a:lumMod val="20000"/>
                            <a:lumOff val="80000"/>
                          </a:schemeClr>
                        </a:solidFill>
                      </a:tcPr>
                    </a:tc>
                    <a:tc>
                      <a:txBody>
                        <a:bodyPr/>
                        <a:lstStyle/>
                        <a:p>
                          <a:endParaRPr lang="en-US"/>
                        </a:p>
                      </a:txBody>
                      <a:tcPr>
                        <a:blipFill rotWithShape="0">
                          <a:blip r:embed="rId2"/>
                          <a:stretch>
                            <a:fillRect l="-100500" t="-1587" r="-301500" b="-409524"/>
                          </a:stretch>
                        </a:blipFill>
                      </a:tcPr>
                    </a:tc>
                    <a:tc>
                      <a:txBody>
                        <a:bodyPr/>
                        <a:lstStyle/>
                        <a:p>
                          <a:endParaRPr lang="en-US"/>
                        </a:p>
                      </a:txBody>
                      <a:tcPr>
                        <a:blipFill rotWithShape="0">
                          <a:blip r:embed="rId2"/>
                          <a:stretch>
                            <a:fillRect l="-199502" t="-1587" r="-200000" b="-409524"/>
                          </a:stretch>
                        </a:blipFill>
                      </a:tcPr>
                    </a:tc>
                    <a:tc>
                      <a:txBody>
                        <a:bodyPr/>
                        <a:lstStyle/>
                        <a:p>
                          <a:endParaRPr lang="en-US"/>
                        </a:p>
                      </a:txBody>
                      <a:tcPr>
                        <a:blipFill rotWithShape="0">
                          <a:blip r:embed="rId2"/>
                          <a:stretch>
                            <a:fillRect l="-301000" t="-1587" r="-101000" b="-409524"/>
                          </a:stretch>
                        </a:blipFill>
                      </a:tcPr>
                    </a:tc>
                    <a:tc>
                      <a:txBody>
                        <a:bodyPr/>
                        <a:lstStyle/>
                        <a:p>
                          <a:endParaRPr lang="en-US"/>
                        </a:p>
                      </a:txBody>
                      <a:tcPr>
                        <a:blipFill rotWithShape="0">
                          <a:blip r:embed="rId2"/>
                          <a:stretch>
                            <a:fillRect l="-401000" t="-1587" r="-1000" b="-409524"/>
                          </a:stretch>
                        </a:blipFill>
                      </a:tcPr>
                    </a:tc>
                  </a:tr>
                  <a:tr h="370840">
                    <a:tc>
                      <a:txBody>
                        <a:bodyPr/>
                        <a:lstStyle/>
                        <a:p>
                          <a:endParaRPr lang="en-US"/>
                        </a:p>
                      </a:txBody>
                      <a:tcPr>
                        <a:blipFill rotWithShape="0">
                          <a:blip r:embed="rId2"/>
                          <a:stretch>
                            <a:fillRect l="-500" t="-104918" r="-401500" b="-322951"/>
                          </a:stretch>
                        </a:blipFill>
                      </a:tcPr>
                    </a:tc>
                    <a:tc>
                      <a:txBody>
                        <a:bodyPr/>
                        <a:lstStyle/>
                        <a:p>
                          <a:pPr algn="ctr"/>
                          <a:endParaRPr lang="en-US" b="0"/>
                        </a:p>
                      </a:txBody>
                      <a:tcPr/>
                    </a:tc>
                    <a:tc>
                      <a:txBody>
                        <a:bodyPr/>
                        <a:lstStyle/>
                        <a:p>
                          <a:pPr algn="ctr"/>
                          <a:endParaRPr lang="en-US" b="0"/>
                        </a:p>
                      </a:txBody>
                      <a:tcPr/>
                    </a:tc>
                    <a:tc>
                      <a:txBody>
                        <a:bodyPr/>
                        <a:lstStyle/>
                        <a:p>
                          <a:pPr algn="ctr"/>
                          <a:r>
                            <a:rPr lang="en-US" b="0" smtClean="0"/>
                            <a:t>1</a:t>
                          </a:r>
                          <a:endParaRPr lang="en-US" b="0"/>
                        </a:p>
                      </a:txBody>
                      <a:tcPr>
                        <a:solidFill>
                          <a:srgbClr val="FFFF00"/>
                        </a:solidFill>
                      </a:tcPr>
                    </a:tc>
                    <a:tc>
                      <a:txBody>
                        <a:bodyPr/>
                        <a:lstStyle/>
                        <a:p>
                          <a:pPr algn="ctr"/>
                          <a:r>
                            <a:rPr lang="en-US" b="0" smtClean="0"/>
                            <a:t>1</a:t>
                          </a:r>
                          <a:endParaRPr lang="en-US" b="0"/>
                        </a:p>
                      </a:txBody>
                      <a:tcPr/>
                    </a:tc>
                  </a:tr>
                  <a:tr h="370840">
                    <a:tc>
                      <a:txBody>
                        <a:bodyPr/>
                        <a:lstStyle/>
                        <a:p>
                          <a:endParaRPr lang="en-US"/>
                        </a:p>
                      </a:txBody>
                      <a:tcPr>
                        <a:blipFill rotWithShape="0">
                          <a:blip r:embed="rId2"/>
                          <a:stretch>
                            <a:fillRect l="-500" t="-204918" r="-401500" b="-222951"/>
                          </a:stretch>
                        </a:blipFill>
                      </a:tcPr>
                    </a:tc>
                    <a:tc>
                      <a:txBody>
                        <a:bodyPr/>
                        <a:lstStyle/>
                        <a:p>
                          <a:pPr algn="ctr"/>
                          <a:r>
                            <a:rPr lang="en-US" b="0" smtClean="0"/>
                            <a:t>1</a:t>
                          </a:r>
                          <a:endParaRPr lang="en-US" b="0"/>
                        </a:p>
                      </a:txBody>
                      <a:tcPr/>
                    </a:tc>
                    <a:tc>
                      <a:txBody>
                        <a:bodyPr/>
                        <a:lstStyle/>
                        <a:p>
                          <a:pPr algn="ctr"/>
                          <a:r>
                            <a:rPr lang="en-US" b="0" smtClean="0"/>
                            <a:t>1</a:t>
                          </a:r>
                          <a:endParaRPr lang="en-US" b="0"/>
                        </a:p>
                      </a:txBody>
                      <a:tcPr>
                        <a:solidFill>
                          <a:srgbClr val="FFFF00"/>
                        </a:solidFill>
                      </a:tcPr>
                    </a:tc>
                    <a:tc>
                      <a:txBody>
                        <a:bodyPr/>
                        <a:lstStyle/>
                        <a:p>
                          <a:pPr algn="ctr"/>
                          <a:endParaRPr lang="en-US" b="0"/>
                        </a:p>
                      </a:txBody>
                      <a:tcPr/>
                    </a:tc>
                    <a:tc>
                      <a:txBody>
                        <a:bodyPr/>
                        <a:lstStyle/>
                        <a:p>
                          <a:pPr algn="ctr"/>
                          <a:r>
                            <a:rPr lang="en-US" b="0" smtClean="0"/>
                            <a:t>1</a:t>
                          </a:r>
                          <a:endParaRPr lang="en-US" b="0"/>
                        </a:p>
                      </a:txBody>
                      <a:tcPr/>
                    </a:tc>
                  </a:tr>
                  <a:tr h="370840">
                    <a:tc>
                      <a:txBody>
                        <a:bodyPr/>
                        <a:lstStyle/>
                        <a:p>
                          <a:endParaRPr lang="en-US"/>
                        </a:p>
                      </a:txBody>
                      <a:tcPr>
                        <a:blipFill rotWithShape="0">
                          <a:blip r:embed="rId2"/>
                          <a:stretch>
                            <a:fillRect l="-500" t="-304918" r="-401500" b="-122951"/>
                          </a:stretch>
                        </a:blip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r>
                  <a:tr h="370840">
                    <a:tc>
                      <a:txBody>
                        <a:bodyPr/>
                        <a:lstStyle/>
                        <a:p>
                          <a:endParaRPr lang="en-US"/>
                        </a:p>
                      </a:txBody>
                      <a:tcPr>
                        <a:blipFill rotWithShape="0">
                          <a:blip r:embed="rId2"/>
                          <a:stretch>
                            <a:fillRect l="-500" t="-404918" r="-401500" b="-22951"/>
                          </a:stretch>
                        </a:blipFill>
                      </a:tcPr>
                    </a:tc>
                    <a:tc>
                      <a:txBody>
                        <a:bodyPr/>
                        <a:lstStyle/>
                        <a:p>
                          <a:pPr algn="ctr"/>
                          <a:r>
                            <a:rPr lang="en-US" b="0" smtClean="0"/>
                            <a:t>1</a:t>
                          </a:r>
                          <a:endParaRPr lang="en-US" b="0"/>
                        </a:p>
                      </a:txBody>
                      <a:tcPr>
                        <a:solidFill>
                          <a:srgbClr val="FFFF00"/>
                        </a:solidFill>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r>
                </a:tbl>
              </a:graphicData>
            </a:graphic>
          </p:graphicFrame>
        </mc:Fallback>
      </mc:AlternateContent>
      <p:sp>
        <p:nvSpPr>
          <p:cNvPr id="9" name="Right Bracket 8"/>
          <p:cNvSpPr/>
          <p:nvPr/>
        </p:nvSpPr>
        <p:spPr>
          <a:xfrm rot="16200000">
            <a:off x="5377988" y="2315428"/>
            <a:ext cx="448816" cy="1905000"/>
          </a:xfrm>
          <a:prstGeom prst="rightBracket">
            <a:avLst/>
          </a:prstGeom>
          <a:ln w="444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Flowchart: Alternate Process 9"/>
          <p:cNvSpPr/>
          <p:nvPr/>
        </p:nvSpPr>
        <p:spPr>
          <a:xfrm>
            <a:off x="2194024" y="2196192"/>
            <a:ext cx="2032248" cy="432048"/>
          </a:xfrm>
          <a:prstGeom prst="flowChartAlternateProcess">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Alternate Process 10"/>
          <p:cNvSpPr/>
          <p:nvPr/>
        </p:nvSpPr>
        <p:spPr>
          <a:xfrm>
            <a:off x="2138040" y="2990738"/>
            <a:ext cx="4680520" cy="357582"/>
          </a:xfrm>
          <a:prstGeom prst="flowChartAlternateProcess">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ket 11"/>
          <p:cNvSpPr/>
          <p:nvPr/>
        </p:nvSpPr>
        <p:spPr>
          <a:xfrm rot="5400000">
            <a:off x="5375452" y="1014703"/>
            <a:ext cx="430003" cy="1928884"/>
          </a:xfrm>
          <a:prstGeom prst="rightBracket">
            <a:avLst/>
          </a:prstGeom>
          <a:ln w="444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3859" y="461265"/>
            <a:ext cx="7086600"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B3: Xác định các tế bào lớn nhất thiết phải chọn</a:t>
            </a:r>
          </a:p>
        </p:txBody>
      </p:sp>
      <mc:AlternateContent xmlns:mc="http://schemas.openxmlformats.org/markup-compatibility/2006" xmlns:a14="http://schemas.microsoft.com/office/drawing/2010/main">
        <mc:Choice Requires="a14">
          <p:sp>
            <p:nvSpPr>
              <p:cNvPr id="14" name="TextBox 13"/>
              <p:cNvSpPr txBox="1"/>
              <p:nvPr/>
            </p:nvSpPr>
            <p:spPr>
              <a:xfrm>
                <a:off x="769888" y="3996392"/>
                <a:ext cx="6336704" cy="1661993"/>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Có 3 ô chỉ nằm trong 1 tế bào lớn</a:t>
                </a:r>
              </a:p>
              <a:p>
                <a:r>
                  <a:rPr lang="en-US" sz="2800">
                    <a:latin typeface="Times New Roman" panose="02020603050405020304" pitchFamily="18" charset="0"/>
                    <a:cs typeface="Times New Roman" panose="02020603050405020304" pitchFamily="18" charset="0"/>
                    <a:sym typeface="Wingdings" panose="05000000000000000000" pitchFamily="2" charset="2"/>
                  </a:rPr>
                  <a:t>Các tế bào lớn nhất thiết phải chọn là </a:t>
                </a:r>
              </a:p>
              <a:p>
                <a:pPr algn="ctr"/>
                <a14:m>
                  <m:oMath xmlns:m="http://schemas.openxmlformats.org/officeDocument/2006/math">
                    <m:acc>
                      <m:accPr>
                        <m:chr m:val="̅"/>
                        <m:ctrlPr>
                          <a:rPr lang="en-US" sz="2800" i="1">
                            <a:solidFill>
                              <a:schemeClr val="accent5"/>
                            </a:solidFill>
                            <a:latin typeface="Cambria Math" panose="02040503050406030204" pitchFamily="18" charset="0"/>
                            <a:cs typeface="Times New Roman" panose="02020603050405020304" pitchFamily="18" charset="0"/>
                          </a:rPr>
                        </m:ctrlPr>
                      </m:accPr>
                      <m:e>
                        <m:r>
                          <a:rPr lang="en-US" sz="2800" i="1">
                            <a:solidFill>
                              <a:schemeClr val="accent5"/>
                            </a:solidFill>
                            <a:latin typeface="Cambria Math" panose="02040503050406030204" pitchFamily="18" charset="0"/>
                            <a:cs typeface="Times New Roman" panose="02020603050405020304" pitchFamily="18" charset="0"/>
                          </a:rPr>
                          <m:t>𝑥</m:t>
                        </m:r>
                      </m:e>
                    </m:acc>
                    <m:acc>
                      <m:accPr>
                        <m:chr m:val="̅"/>
                        <m:ctrlPr>
                          <a:rPr lang="en-US" sz="2800" i="1">
                            <a:solidFill>
                              <a:schemeClr val="accent5"/>
                            </a:solidFill>
                            <a:latin typeface="Cambria Math" panose="02040503050406030204" pitchFamily="18" charset="0"/>
                            <a:cs typeface="Times New Roman" panose="02020603050405020304" pitchFamily="18" charset="0"/>
                          </a:rPr>
                        </m:ctrlPr>
                      </m:accPr>
                      <m:e>
                        <m:r>
                          <a:rPr lang="en-US" sz="2800" i="1">
                            <a:solidFill>
                              <a:schemeClr val="accent5"/>
                            </a:solidFill>
                            <a:latin typeface="Cambria Math" panose="02040503050406030204" pitchFamily="18" charset="0"/>
                            <a:cs typeface="Times New Roman" panose="02020603050405020304" pitchFamily="18" charset="0"/>
                          </a:rPr>
                          <m:t>𝑡</m:t>
                        </m:r>
                      </m:e>
                    </m:acc>
                  </m:oMath>
                </a14:m>
                <a:r>
                  <a:rPr lang="en-US" sz="2800">
                    <a:latin typeface="Times New Roman" panose="02020603050405020304" pitchFamily="18" charset="0"/>
                    <a:cs typeface="Times New Roman" panose="02020603050405020304" pitchFamily="18" charset="0"/>
                  </a:rPr>
                  <a:t> +</a:t>
                </a:r>
                <a:r>
                  <a:rPr lang="en-US" sz="2800">
                    <a:solidFill>
                      <a:srgbClr val="00B0F0"/>
                    </a:solidFill>
                    <a:latin typeface="Times New Roman" panose="02020603050405020304" pitchFamily="18" charset="0"/>
                    <a:cs typeface="Times New Roman" panose="02020603050405020304" pitchFamily="18" charset="0"/>
                  </a:rPr>
                  <a:t> xzt </a:t>
                </a:r>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solidFill>
                              <a:srgbClr val="002060"/>
                            </a:solidFill>
                            <a:latin typeface="Cambria Math" panose="02040503050406030204" pitchFamily="18" charset="0"/>
                            <a:cs typeface="Times New Roman" panose="02020603050405020304" pitchFamily="18" charset="0"/>
                          </a:rPr>
                        </m:ctrlPr>
                      </m:accPr>
                      <m:e>
                        <m:r>
                          <a:rPr lang="en-US" sz="2800" i="1">
                            <a:solidFill>
                              <a:srgbClr val="002060"/>
                            </a:solidFill>
                            <a:latin typeface="Cambria Math" panose="02040503050406030204" pitchFamily="18" charset="0"/>
                            <a:cs typeface="Times New Roman" panose="02020603050405020304" pitchFamily="18" charset="0"/>
                          </a:rPr>
                          <m:t>𝑧</m:t>
                        </m:r>
                      </m:e>
                    </m:acc>
                    <m:acc>
                      <m:accPr>
                        <m:chr m:val="̅"/>
                        <m:ctrlPr>
                          <a:rPr lang="en-US" sz="2800" i="1">
                            <a:solidFill>
                              <a:srgbClr val="002060"/>
                            </a:solidFill>
                            <a:latin typeface="Cambria Math" panose="02040503050406030204" pitchFamily="18" charset="0"/>
                            <a:cs typeface="Times New Roman" panose="02020603050405020304" pitchFamily="18" charset="0"/>
                          </a:rPr>
                        </m:ctrlPr>
                      </m:accPr>
                      <m:e>
                        <m:r>
                          <a:rPr lang="en-US" sz="2800" i="1">
                            <a:solidFill>
                              <a:srgbClr val="002060"/>
                            </a:solidFill>
                            <a:latin typeface="Cambria Math" panose="02040503050406030204" pitchFamily="18" charset="0"/>
                            <a:cs typeface="Times New Roman" panose="02020603050405020304" pitchFamily="18" charset="0"/>
                          </a:rPr>
                          <m:t>𝑡</m:t>
                        </m:r>
                      </m:e>
                    </m:acc>
                  </m:oMath>
                </a14:m>
                <a:endParaRPr lang="en-US" sz="2800">
                  <a:latin typeface="Times New Roman" panose="02020603050405020304" pitchFamily="18" charset="0"/>
                  <a:cs typeface="Times New Roman" panose="02020603050405020304" pitchFamily="18" charset="0"/>
                  <a:sym typeface="Wingdings" panose="05000000000000000000" pitchFamily="2" charset="2"/>
                </a:endParaRPr>
              </a:p>
              <a:p>
                <a:r>
                  <a:rPr lang="en-US">
                    <a:sym typeface="Wingdings" panose="05000000000000000000" pitchFamily="2" charset="2"/>
                  </a:rPr>
                  <a:t>	</a:t>
                </a:r>
              </a:p>
            </p:txBody>
          </p:sp>
        </mc:Choice>
        <mc:Fallback xmlns="">
          <p:sp>
            <p:nvSpPr>
              <p:cNvPr id="14" name="TextBox 13"/>
              <p:cNvSpPr txBox="1">
                <a:spLocks noRot="1" noChangeAspect="1" noMove="1" noResize="1" noEditPoints="1" noAdjustHandles="1" noChangeArrowheads="1" noChangeShapeType="1" noTextEdit="1"/>
              </p:cNvSpPr>
              <p:nvPr/>
            </p:nvSpPr>
            <p:spPr>
              <a:xfrm>
                <a:off x="769888" y="3996392"/>
                <a:ext cx="6336704" cy="1661993"/>
              </a:xfrm>
              <a:prstGeom prst="rect">
                <a:avLst/>
              </a:prstGeom>
              <a:blipFill rotWithShape="0">
                <a:blip r:embed="rId3"/>
                <a:stretch>
                  <a:fillRect l="-1923" t="-4044"/>
                </a:stretch>
              </a:blipFill>
            </p:spPr>
            <p:txBody>
              <a:bodyPr/>
              <a:lstStyle/>
              <a:p>
                <a:r>
                  <a:rPr lang="en-US">
                    <a:noFill/>
                  </a:rPr>
                  <a:t> </a:t>
                </a:r>
              </a:p>
            </p:txBody>
          </p:sp>
        </mc:Fallback>
      </mc:AlternateContent>
      <p:sp>
        <p:nvSpPr>
          <p:cNvPr id="15"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6"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7"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33</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ppt_y+.1"/>
                                          </p:val>
                                        </p:tav>
                                        <p:tav tm="100000">
                                          <p:val>
                                            <p:strVal val="#ppt_y"/>
                                          </p:val>
                                        </p:tav>
                                      </p:tavLst>
                                    </p:anim>
                                  </p:childTnLst>
                                </p:cTn>
                              </p:par>
                              <p:par>
                                <p:cTn id="28" presetID="22" presetClass="entr" presetSubtype="4"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down)">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3867" y="457200"/>
            <a:ext cx="7293272"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B4: Xác định họ phủ tối thiểu của các tế bào lớn:</a:t>
            </a:r>
          </a:p>
        </p:txBody>
      </p:sp>
      <mc:AlternateContent xmlns:mc="http://schemas.openxmlformats.org/markup-compatibility/2006" xmlns:a14="http://schemas.microsoft.com/office/drawing/2010/main">
        <mc:Choice Requires="a14">
          <p:sp>
            <p:nvSpPr>
              <p:cNvPr id="10" name="TextBox 9"/>
              <p:cNvSpPr txBox="1"/>
              <p:nvPr/>
            </p:nvSpPr>
            <p:spPr>
              <a:xfrm>
                <a:off x="304222" y="3314899"/>
                <a:ext cx="7468178" cy="1384995"/>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Ta </a:t>
                </a:r>
                <a:r>
                  <a:rPr lang="en-US" sz="2800" err="1">
                    <a:latin typeface="Times New Roman" panose="02020603050405020304" pitchFamily="18" charset="0"/>
                    <a:cs typeface="Times New Roman" panose="02020603050405020304" pitchFamily="18" charset="0"/>
                  </a:rPr>
                  <a:t>có</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họ</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phủ</a:t>
                </a:r>
                <a:r>
                  <a:rPr lang="en-US" sz="2800">
                    <a:latin typeface="Times New Roman" panose="02020603050405020304" pitchFamily="18" charset="0"/>
                    <a:cs typeface="Times New Roman" panose="02020603050405020304" pitchFamily="18" charset="0"/>
                  </a:rPr>
                  <a:t> :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m:t>
                        </m:r>
                      </m:e>
                    </m:acc>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xzt</a:t>
                </a:r>
              </a:p>
              <a:p>
                <a:r>
                  <a:rPr lang="en-US" sz="2800">
                    <a:latin typeface="Times New Roman" panose="02020603050405020304" pitchFamily="18" charset="0"/>
                    <a:cs typeface="Times New Roman" panose="02020603050405020304" pitchFamily="18" charset="0"/>
                  </a:rPr>
                  <a:t>Ta </a:t>
                </a:r>
                <a:r>
                  <a:rPr lang="en-US" sz="2800" err="1">
                    <a:latin typeface="Times New Roman" panose="02020603050405020304" pitchFamily="18" charset="0"/>
                    <a:cs typeface="Times New Roman" panose="02020603050405020304" pitchFamily="18" charset="0"/>
                  </a:rPr>
                  <a:t>thấy</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còn</a:t>
                </a:r>
                <a:r>
                  <a:rPr lang="en-US" sz="2800">
                    <a:latin typeface="Times New Roman" panose="02020603050405020304" pitchFamily="18" charset="0"/>
                    <a:cs typeface="Times New Roman" panose="02020603050405020304" pitchFamily="18" charset="0"/>
                  </a:rPr>
                  <a:t> </a:t>
                </a:r>
                <a:r>
                  <a:rPr lang="en-US" sz="2800" b="1" err="1">
                    <a:solidFill>
                      <a:schemeClr val="tx1">
                        <a:lumMod val="65000"/>
                        <a:lumOff val="35000"/>
                      </a:schemeClr>
                    </a:solidFill>
                    <a:latin typeface="Times New Roman" panose="02020603050405020304" pitchFamily="18" charset="0"/>
                    <a:cs typeface="Times New Roman" panose="02020603050405020304" pitchFamily="18" charset="0"/>
                  </a:rPr>
                  <a:t>một</a:t>
                </a:r>
                <a:r>
                  <a:rPr lang="en-US" sz="2800" b="1">
                    <a:solidFill>
                      <a:schemeClr val="tx1">
                        <a:lumMod val="65000"/>
                        <a:lumOff val="35000"/>
                      </a:schemeClr>
                    </a:solidFill>
                    <a:latin typeface="Times New Roman" panose="02020603050405020304" pitchFamily="18" charset="0"/>
                    <a:cs typeface="Times New Roman" panose="02020603050405020304" pitchFamily="18" charset="0"/>
                  </a:rPr>
                  <a:t> ô </a:t>
                </a:r>
                <a:r>
                  <a:rPr lang="en-US" sz="2800" err="1">
                    <a:latin typeface="Times New Roman" panose="02020603050405020304" pitchFamily="18" charset="0"/>
                    <a:cs typeface="Times New Roman" panose="02020603050405020304" pitchFamily="18" charset="0"/>
                  </a:rPr>
                  <a:t>chưa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được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phủ</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và</a:t>
                </a:r>
                <a:r>
                  <a:rPr lang="en-US" sz="2800">
                    <a:latin typeface="Times New Roman" panose="02020603050405020304" pitchFamily="18" charset="0"/>
                    <a:cs typeface="Times New Roman" panose="02020603050405020304" pitchFamily="18" charset="0"/>
                  </a:rPr>
                  <a:t> ô </a:t>
                </a:r>
                <a:r>
                  <a:rPr lang="en-US" sz="2800" err="1">
                    <a:latin typeface="Times New Roman" panose="02020603050405020304" pitchFamily="18" charset="0"/>
                    <a:cs typeface="Times New Roman" panose="02020603050405020304" pitchFamily="18" charset="0"/>
                  </a:rPr>
                  <a:t>đó</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nằm</a:t>
                </a:r>
                <a:r>
                  <a:rPr lang="en-US" sz="2800">
                    <a:latin typeface="Times New Roman" panose="02020603050405020304" pitchFamily="18" charset="0"/>
                    <a:cs typeface="Times New Roman" panose="02020603050405020304" pitchFamily="18" charset="0"/>
                  </a:rPr>
                  <a:t> ở 1 trong 2 tế bào lớn.</a:t>
                </a:r>
              </a:p>
            </p:txBody>
          </p:sp>
        </mc:Choice>
        <mc:Fallback xmlns="">
          <p:sp>
            <p:nvSpPr>
              <p:cNvPr id="10" name="TextBox 9"/>
              <p:cNvSpPr txBox="1">
                <a:spLocks noRot="1" noChangeAspect="1" noMove="1" noResize="1" noEditPoints="1" noAdjustHandles="1" noChangeArrowheads="1" noChangeShapeType="1" noTextEdit="1"/>
              </p:cNvSpPr>
              <p:nvPr/>
            </p:nvSpPr>
            <p:spPr>
              <a:xfrm>
                <a:off x="304222" y="3314899"/>
                <a:ext cx="7468178" cy="1384995"/>
              </a:xfrm>
              <a:prstGeom prst="rect">
                <a:avLst/>
              </a:prstGeom>
              <a:blipFill rotWithShape="0">
                <a:blip r:embed="rId2"/>
                <a:stretch>
                  <a:fillRect l="-1714" t="-4846" r="-1388" b="-114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728175" y="4699894"/>
                <a:ext cx="5904656" cy="1815882"/>
              </a:xfrm>
              <a:prstGeom prst="rect">
                <a:avLst/>
              </a:prstGeom>
            </p:spPr>
            <p:txBody>
              <a:bodyPr wrap="square">
                <a:spAutoFit/>
              </a:bodyPr>
              <a:lstStyle/>
              <a:p>
                <a:r>
                  <a:rPr lang="en-US" sz="2800">
                    <a:latin typeface="Times New Roman" panose="02020603050405020304" pitchFamily="18" charset="0"/>
                    <a:cs typeface="Times New Roman" panose="02020603050405020304" pitchFamily="18" charset="0"/>
                  </a:rPr>
                  <a:t>Ta có 2 cách chọn:</a:t>
                </a:r>
              </a:p>
              <a:p>
                <a:pPr marL="342900"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Cách </a:t>
                </a:r>
                <a:r>
                  <a:rPr lang="en-US" sz="2800" err="1">
                    <a:latin typeface="Times New Roman" panose="02020603050405020304" pitchFamily="18" charset="0"/>
                    <a:cs typeface="Times New Roman" panose="02020603050405020304" pitchFamily="18" charset="0"/>
                  </a:rPr>
                  <a:t>chọn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a:t>
                </a:r>
                <a:r>
                  <a:rPr lang="en-US" sz="2800">
                    <a:latin typeface="Times New Roman" panose="02020603050405020304" pitchFamily="18" charset="0"/>
                    <a:cs typeface="Times New Roman" panose="02020603050405020304" pitchFamily="18" charset="0"/>
                  </a:rPr>
                  <a:t> 1: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m:t>
                        </m:r>
                      </m:e>
                    </m:acc>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xzt</a:t>
                </a:r>
                <a14:m>
                  <m:oMath xmlns:m="http://schemas.openxmlformats.org/officeDocument/2006/math">
                    <m:r>
                      <a:rPr lang="en-US" sz="2800">
                        <a:latin typeface="Cambria Math" panose="02040503050406030204" pitchFamily="18" charset="0"/>
                        <a:ea typeface="Cambria Math" panose="02040503050406030204" pitchFamily="18" charset="0"/>
                        <a:cs typeface="Times New Roman" panose="020206030504050203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smtClean="0">
                            <a:solidFill>
                              <a:srgbClr val="008000"/>
                            </a:solidFill>
                            <a:latin typeface="Cambria Math" panose="02040503050406030204" pitchFamily="18" charset="0"/>
                            <a:cs typeface="Times New Roman" panose="02020603050405020304" pitchFamily="18" charset="0"/>
                          </a:rPr>
                        </m:ctrlPr>
                      </m:accPr>
                      <m:e>
                        <m:r>
                          <a:rPr lang="en-US" sz="2800" i="1">
                            <a:solidFill>
                              <a:srgbClr val="008000"/>
                            </a:solidFill>
                            <a:latin typeface="Cambria Math" panose="02040503050406030204" pitchFamily="18" charset="0"/>
                            <a:cs typeface="Times New Roman" panose="02020603050405020304" pitchFamily="18" charset="0"/>
                          </a:rPr>
                          <m:t>𝑥</m:t>
                        </m:r>
                      </m:e>
                    </m:acc>
                    <m:acc>
                      <m:accPr>
                        <m:chr m:val="̅"/>
                        <m:ctrlPr>
                          <a:rPr lang="en-US" sz="2800" i="1" smtClean="0">
                            <a:solidFill>
                              <a:srgbClr val="008000"/>
                            </a:solidFill>
                            <a:latin typeface="Cambria Math" panose="02040503050406030204" pitchFamily="18" charset="0"/>
                            <a:cs typeface="Times New Roman" panose="02020603050405020304" pitchFamily="18" charset="0"/>
                          </a:rPr>
                        </m:ctrlPr>
                      </m:accPr>
                      <m:e>
                        <m:r>
                          <a:rPr lang="en-US" sz="2800" b="0" i="1" smtClean="0">
                            <a:solidFill>
                              <a:srgbClr val="008000"/>
                            </a:solidFill>
                            <a:latin typeface="Cambria Math" panose="02040503050406030204" pitchFamily="18" charset="0"/>
                            <a:cs typeface="Times New Roman" panose="02020603050405020304" pitchFamily="18" charset="0"/>
                          </a:rPr>
                          <m:t>𝑦</m:t>
                        </m:r>
                      </m:e>
                    </m:acc>
                  </m:oMath>
                </a14:m>
                <a:r>
                  <a:rPr lang="en-US" sz="2800">
                    <a:solidFill>
                      <a:srgbClr val="008000"/>
                    </a:solidFill>
                    <a:latin typeface="Times New Roman" panose="02020603050405020304" pitchFamily="18" charset="0"/>
                    <a:cs typeface="Times New Roman" panose="02020603050405020304" pitchFamily="18" charset="0"/>
                  </a:rPr>
                  <a:t>z</a:t>
                </a:r>
              </a:p>
              <a:p>
                <a:pPr marL="342900"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Cách </a:t>
                </a:r>
                <a:r>
                  <a:rPr lang="en-US" sz="2800" err="1">
                    <a:latin typeface="Times New Roman" panose="02020603050405020304" pitchFamily="18" charset="0"/>
                    <a:cs typeface="Times New Roman" panose="02020603050405020304" pitchFamily="18" charset="0"/>
                  </a:rPr>
                  <a:t>chọn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a:t>
                </a:r>
                <a:r>
                  <a:rPr lang="en-US" sz="2800">
                    <a:latin typeface="Times New Roman" panose="02020603050405020304" pitchFamily="18" charset="0"/>
                    <a:cs typeface="Times New Roman" panose="02020603050405020304" pitchFamily="18" charset="0"/>
                  </a:rPr>
                  <a:t> 2: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m:t>
                        </m:r>
                      </m:e>
                    </m:acc>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xzt</a:t>
                </a:r>
                <a14:m>
                  <m:oMath xmlns:m="http://schemas.openxmlformats.org/officeDocument/2006/math">
                    <m:r>
                      <a:rPr lang="en-US" sz="2800">
                        <a:latin typeface="Cambria Math" panose="02040503050406030204" pitchFamily="18" charset="0"/>
                        <a:ea typeface="Cambria Math" panose="02040503050406030204" pitchFamily="18" charset="0"/>
                        <a:cs typeface="Times New Roman" panose="020206030504050203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smtClean="0">
                            <a:solidFill>
                              <a:srgbClr val="FF0000"/>
                            </a:solidFill>
                            <a:latin typeface="Cambria Math" panose="02040503050406030204" pitchFamily="18" charset="0"/>
                            <a:cs typeface="Times New Roman" panose="02020603050405020304" pitchFamily="18" charset="0"/>
                          </a:rPr>
                        </m:ctrlPr>
                      </m:accPr>
                      <m:e>
                        <m:r>
                          <a:rPr lang="en-US" sz="2800" i="1">
                            <a:solidFill>
                              <a:srgbClr val="FF0000"/>
                            </a:solidFill>
                            <a:latin typeface="Cambria Math" panose="02040503050406030204" pitchFamily="18" charset="0"/>
                            <a:cs typeface="Times New Roman" panose="02020603050405020304" pitchFamily="18" charset="0"/>
                          </a:rPr>
                          <m:t>𝑦</m:t>
                        </m:r>
                      </m:e>
                    </m:acc>
                  </m:oMath>
                </a14:m>
                <a:r>
                  <a:rPr lang="en-US" sz="2800">
                    <a:solidFill>
                      <a:srgbClr val="FF0000"/>
                    </a:solidFill>
                    <a:latin typeface="Times New Roman" panose="02020603050405020304" pitchFamily="18" charset="0"/>
                    <a:cs typeface="Times New Roman" panose="02020603050405020304" pitchFamily="18" charset="0"/>
                  </a:rPr>
                  <a:t>zt</a:t>
                </a:r>
              </a:p>
            </p:txBody>
          </p:sp>
        </mc:Choice>
        <mc:Fallback xmlns="">
          <p:sp>
            <p:nvSpPr>
              <p:cNvPr id="11" name="Rectangle 10"/>
              <p:cNvSpPr>
                <a:spLocks noRot="1" noChangeAspect="1" noMove="1" noResize="1" noEditPoints="1" noAdjustHandles="1" noChangeArrowheads="1" noChangeShapeType="1" noTextEdit="1"/>
              </p:cNvSpPr>
              <p:nvPr/>
            </p:nvSpPr>
            <p:spPr>
              <a:xfrm>
                <a:off x="728175" y="4699894"/>
                <a:ext cx="5904656" cy="1815882"/>
              </a:xfrm>
              <a:prstGeom prst="rect">
                <a:avLst/>
              </a:prstGeom>
              <a:blipFill rotWithShape="0">
                <a:blip r:embed="rId3"/>
                <a:stretch>
                  <a:fillRect l="-2064" t="-3691" r="-619" b="-8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780609712"/>
                  </p:ext>
                </p:extLst>
              </p:nvPr>
            </p:nvGraphicFramePr>
            <p:xfrm>
              <a:off x="728175" y="1219200"/>
              <a:ext cx="6096000" cy="186436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81000">
                    <a:tc>
                      <a:txBody>
                        <a:bodyPr/>
                        <a:lstStyle/>
                        <a:p>
                          <a:pPr algn="ctr"/>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x</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𝑥𝑦</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m:rPr>
                                    <m:sty m:val="p"/>
                                  </m:rPr>
                                  <a:rPr lang="en-US" b="0" i="0" smtClean="0">
                                    <a:latin typeface="Cambria Math" panose="02040503050406030204" pitchFamily="18" charset="0"/>
                                  </a:rPr>
                                  <m:t>y</m:t>
                                </m:r>
                              </m:oMath>
                            </m:oMathPara>
                          </a14:m>
                          <a:endParaRPr lang="en-US" b="0"/>
                        </a:p>
                      </a:txBody>
                      <a:tcPr>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b="0"/>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z</m:t>
                                </m:r>
                                <m:acc>
                                  <m:accPr>
                                    <m:chr m:val="̅"/>
                                    <m:ctrlPr>
                                      <a:rPr lang="en-US" b="0" i="1">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r>
                            <a:rPr lang="en-US" b="0"/>
                            <a:t>1</a:t>
                          </a:r>
                        </a:p>
                      </a:txBody>
                      <a:tcPr>
                        <a:solidFill>
                          <a:srgbClr val="FFFF00"/>
                        </a:solidFill>
                      </a:tcPr>
                    </a:tc>
                    <a:tc>
                      <a:txBody>
                        <a:bodyPr/>
                        <a:lstStyle/>
                        <a:p>
                          <a:pPr algn="ctr"/>
                          <a:r>
                            <a:rPr lang="en-US" b="0"/>
                            <a:t>1</a:t>
                          </a:r>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𝑧𝑡</m:t>
                                </m:r>
                              </m:oMath>
                            </m:oMathPara>
                          </a14:m>
                          <a:endParaRPr lang="en-US" b="0"/>
                        </a:p>
                      </a:txBody>
                      <a:tcPr>
                        <a:solidFill>
                          <a:schemeClr val="accent2">
                            <a:lumMod val="20000"/>
                            <a:lumOff val="80000"/>
                          </a:schemeClr>
                        </a:solidFill>
                      </a:tcPr>
                    </a:tc>
                    <a:tc>
                      <a:txBody>
                        <a:bodyPr/>
                        <a:lstStyle/>
                        <a:p>
                          <a:pPr algn="ctr"/>
                          <a:r>
                            <a:rPr lang="en-US" b="0"/>
                            <a:t>1</a:t>
                          </a:r>
                        </a:p>
                      </a:txBody>
                      <a:tcPr/>
                    </a:tc>
                    <a:tc>
                      <a:txBody>
                        <a:bodyPr/>
                        <a:lstStyle/>
                        <a:p>
                          <a:pPr algn="ctr"/>
                          <a:r>
                            <a:rPr lang="en-US" b="0"/>
                            <a:t>1</a:t>
                          </a:r>
                        </a:p>
                      </a:txBody>
                      <a:tcPr>
                        <a:solidFill>
                          <a:srgbClr val="FFFF00"/>
                        </a:solidFill>
                      </a:tcPr>
                    </a:tc>
                    <a:tc>
                      <a:txBody>
                        <a:bodyPr/>
                        <a:lstStyle/>
                        <a:p>
                          <a:pPr algn="ctr"/>
                          <a:endParaRPr lang="en-US" b="0"/>
                        </a:p>
                      </a:txBody>
                      <a:tcPr/>
                    </a:tc>
                    <a:tc>
                      <a:txBody>
                        <a:bodyPr/>
                        <a:lstStyle/>
                        <a:p>
                          <a:pPr algn="ctr"/>
                          <a:r>
                            <a:rPr lang="en-US" b="0"/>
                            <a:t>1</a:t>
                          </a:r>
                        </a:p>
                      </a:txBody>
                      <a:tcPr>
                        <a:solidFill>
                          <a:schemeClr val="bg1">
                            <a:lumMod val="75000"/>
                          </a:schemeClr>
                        </a:solidFill>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r>
                                  <m:rPr>
                                    <m:sty m:val="p"/>
                                  </m:rPr>
                                  <a:rPr lang="en-US" b="0" i="0" smtClean="0">
                                    <a:latin typeface="Cambria Math" panose="02040503050406030204" pitchFamily="18" charset="0"/>
                                  </a:rPr>
                                  <m:t>t</m:t>
                                </m:r>
                              </m:oMath>
                            </m:oMathPara>
                          </a14:m>
                          <a:endParaRPr lang="en-US" b="0"/>
                        </a:p>
                      </a:txBody>
                      <a:tcPr>
                        <a:solidFill>
                          <a:schemeClr val="accent2">
                            <a:lumMod val="20000"/>
                            <a:lumOff val="80000"/>
                          </a:schemeClr>
                        </a:solid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extLst>
                      <a:ext uri="{0D108BD9-81ED-4DB2-BD59-A6C34878D82A}">
                        <a16:rowId xmlns:a16="http://schemas.microsoft.com/office/drawing/2014/main" val="10003"/>
                      </a:ext>
                    </a:extLst>
                  </a:tr>
                  <a:tr h="370840">
                    <a:tc>
                      <a:txBody>
                        <a:bodyPr/>
                        <a:lstStyle/>
                        <a:p>
                          <a:pPr algn="ct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𝑡</m:t>
                                    </m:r>
                                  </m:e>
                                </m:acc>
                              </m:oMath>
                            </m:oMathPara>
                          </a14:m>
                          <a:endParaRPr lang="en-US" b="0"/>
                        </a:p>
                      </a:txBody>
                      <a:tcPr>
                        <a:solidFill>
                          <a:schemeClr val="accent2">
                            <a:lumMod val="20000"/>
                            <a:lumOff val="80000"/>
                          </a:schemeClr>
                        </a:solidFill>
                      </a:tcPr>
                    </a:tc>
                    <a:tc>
                      <a:txBody>
                        <a:bodyPr/>
                        <a:lstStyle/>
                        <a:p>
                          <a:pPr algn="ctr"/>
                          <a:r>
                            <a:rPr lang="en-US" b="0"/>
                            <a:t>1</a:t>
                          </a:r>
                        </a:p>
                      </a:txBody>
                      <a:tcPr>
                        <a:solidFill>
                          <a:srgbClr val="FFFF00"/>
                        </a:solidFill>
                      </a:tcPr>
                    </a:tc>
                    <a:tc>
                      <a:txBody>
                        <a:bodyPr/>
                        <a:lstStyle/>
                        <a:p>
                          <a:pPr algn="ctr"/>
                          <a:r>
                            <a:rPr lang="en-US" b="0"/>
                            <a:t>1</a:t>
                          </a:r>
                        </a:p>
                      </a:txBody>
                      <a:tcPr/>
                    </a:tc>
                    <a:tc>
                      <a:txBody>
                        <a:bodyPr/>
                        <a:lstStyle/>
                        <a:p>
                          <a:pPr algn="ctr"/>
                          <a:r>
                            <a:rPr lang="en-US" b="0"/>
                            <a:t>1</a:t>
                          </a:r>
                        </a:p>
                      </a:txBody>
                      <a:tcPr/>
                    </a:tc>
                    <a:tc>
                      <a:txBody>
                        <a:bodyPr/>
                        <a:lstStyle/>
                        <a:p>
                          <a:pPr algn="ctr"/>
                          <a:r>
                            <a:rPr lang="en-US" b="0"/>
                            <a:t>1</a:t>
                          </a:r>
                        </a:p>
                      </a:txBody>
                      <a:tcPr/>
                    </a:tc>
                    <a:extLst>
                      <a:ext uri="{0D108BD9-81ED-4DB2-BD59-A6C34878D82A}">
                        <a16:rowId xmlns:a16="http://schemas.microsoft.com/office/drawing/2014/main" val="1000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780609712"/>
                  </p:ext>
                </p:extLst>
              </p:nvPr>
            </p:nvGraphicFramePr>
            <p:xfrm>
              <a:off x="728175" y="1219200"/>
              <a:ext cx="6096000" cy="186436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81000">
                    <a:tc>
                      <a:txBody>
                        <a:bodyPr/>
                        <a:lstStyle/>
                        <a:p>
                          <a:pPr algn="ctr"/>
                          <a:endParaRPr lang="en-US" b="0"/>
                        </a:p>
                      </a:txBody>
                      <a:tcPr>
                        <a:solidFill>
                          <a:schemeClr val="accent2">
                            <a:lumMod val="20000"/>
                            <a:lumOff val="80000"/>
                          </a:schemeClr>
                        </a:solidFill>
                      </a:tcPr>
                    </a:tc>
                    <a:tc>
                      <a:txBody>
                        <a:bodyPr/>
                        <a:lstStyle/>
                        <a:p>
                          <a:endParaRPr lang="en-US"/>
                        </a:p>
                      </a:txBody>
                      <a:tcPr>
                        <a:blipFill rotWithShape="0">
                          <a:blip r:embed="rId5"/>
                          <a:stretch>
                            <a:fillRect l="-100500" t="-3175" r="-301500" b="-407937"/>
                          </a:stretch>
                        </a:blipFill>
                      </a:tcPr>
                    </a:tc>
                    <a:tc>
                      <a:txBody>
                        <a:bodyPr/>
                        <a:lstStyle/>
                        <a:p>
                          <a:endParaRPr lang="en-US"/>
                        </a:p>
                      </a:txBody>
                      <a:tcPr>
                        <a:blipFill rotWithShape="0">
                          <a:blip r:embed="rId5"/>
                          <a:stretch>
                            <a:fillRect l="-199502" t="-3175" r="-200000" b="-407937"/>
                          </a:stretch>
                        </a:blipFill>
                      </a:tcPr>
                    </a:tc>
                    <a:tc>
                      <a:txBody>
                        <a:bodyPr/>
                        <a:lstStyle/>
                        <a:p>
                          <a:endParaRPr lang="en-US"/>
                        </a:p>
                      </a:txBody>
                      <a:tcPr>
                        <a:blipFill rotWithShape="0">
                          <a:blip r:embed="rId5"/>
                          <a:stretch>
                            <a:fillRect l="-301000" t="-3175" r="-101000" b="-407937"/>
                          </a:stretch>
                        </a:blipFill>
                      </a:tcPr>
                    </a:tc>
                    <a:tc>
                      <a:txBody>
                        <a:bodyPr/>
                        <a:lstStyle/>
                        <a:p>
                          <a:endParaRPr lang="en-US"/>
                        </a:p>
                      </a:txBody>
                      <a:tcPr>
                        <a:blipFill rotWithShape="0">
                          <a:blip r:embed="rId5"/>
                          <a:stretch>
                            <a:fillRect l="-401000" t="-3175" r="-1000" b="-407937"/>
                          </a:stretch>
                        </a:blipFill>
                      </a:tcPr>
                    </a:tc>
                  </a:tr>
                  <a:tr h="370840">
                    <a:tc>
                      <a:txBody>
                        <a:bodyPr/>
                        <a:lstStyle/>
                        <a:p>
                          <a:endParaRPr lang="en-US"/>
                        </a:p>
                      </a:txBody>
                      <a:tcPr>
                        <a:blipFill rotWithShape="0">
                          <a:blip r:embed="rId5"/>
                          <a:stretch>
                            <a:fillRect l="-500" t="-108333" r="-401500" b="-328333"/>
                          </a:stretch>
                        </a:blipFill>
                      </a:tcPr>
                    </a:tc>
                    <a:tc>
                      <a:txBody>
                        <a:bodyPr/>
                        <a:lstStyle/>
                        <a:p>
                          <a:pPr algn="ctr"/>
                          <a:endParaRPr lang="en-US" b="0"/>
                        </a:p>
                      </a:txBody>
                      <a:tcPr/>
                    </a:tc>
                    <a:tc>
                      <a:txBody>
                        <a:bodyPr/>
                        <a:lstStyle/>
                        <a:p>
                          <a:pPr algn="ctr"/>
                          <a:endParaRPr lang="en-US" b="0"/>
                        </a:p>
                      </a:txBody>
                      <a:tcPr/>
                    </a:tc>
                    <a:tc>
                      <a:txBody>
                        <a:bodyPr/>
                        <a:lstStyle/>
                        <a:p>
                          <a:pPr algn="ctr"/>
                          <a:r>
                            <a:rPr lang="en-US" b="0" smtClean="0"/>
                            <a:t>1</a:t>
                          </a:r>
                          <a:endParaRPr lang="en-US" b="0"/>
                        </a:p>
                      </a:txBody>
                      <a:tcPr>
                        <a:solidFill>
                          <a:srgbClr val="FFFF00"/>
                        </a:solidFill>
                      </a:tcPr>
                    </a:tc>
                    <a:tc>
                      <a:txBody>
                        <a:bodyPr/>
                        <a:lstStyle/>
                        <a:p>
                          <a:pPr algn="ctr"/>
                          <a:r>
                            <a:rPr lang="en-US" b="0" smtClean="0"/>
                            <a:t>1</a:t>
                          </a:r>
                          <a:endParaRPr lang="en-US" b="0"/>
                        </a:p>
                      </a:txBody>
                      <a:tcPr/>
                    </a:tc>
                  </a:tr>
                  <a:tr h="370840">
                    <a:tc>
                      <a:txBody>
                        <a:bodyPr/>
                        <a:lstStyle/>
                        <a:p>
                          <a:endParaRPr lang="en-US"/>
                        </a:p>
                      </a:txBody>
                      <a:tcPr>
                        <a:blipFill rotWithShape="0">
                          <a:blip r:embed="rId5"/>
                          <a:stretch>
                            <a:fillRect l="-500" t="-204918" r="-401500" b="-222951"/>
                          </a:stretch>
                        </a:blipFill>
                      </a:tcPr>
                    </a:tc>
                    <a:tc>
                      <a:txBody>
                        <a:bodyPr/>
                        <a:lstStyle/>
                        <a:p>
                          <a:pPr algn="ctr"/>
                          <a:r>
                            <a:rPr lang="en-US" b="0" smtClean="0"/>
                            <a:t>1</a:t>
                          </a:r>
                          <a:endParaRPr lang="en-US" b="0"/>
                        </a:p>
                      </a:txBody>
                      <a:tcPr/>
                    </a:tc>
                    <a:tc>
                      <a:txBody>
                        <a:bodyPr/>
                        <a:lstStyle/>
                        <a:p>
                          <a:pPr algn="ctr"/>
                          <a:r>
                            <a:rPr lang="en-US" b="0" smtClean="0"/>
                            <a:t>1</a:t>
                          </a:r>
                          <a:endParaRPr lang="en-US" b="0"/>
                        </a:p>
                      </a:txBody>
                      <a:tcPr>
                        <a:solidFill>
                          <a:srgbClr val="FFFF00"/>
                        </a:solidFill>
                      </a:tcPr>
                    </a:tc>
                    <a:tc>
                      <a:txBody>
                        <a:bodyPr/>
                        <a:lstStyle/>
                        <a:p>
                          <a:pPr algn="ctr"/>
                          <a:endParaRPr lang="en-US" b="0"/>
                        </a:p>
                      </a:txBody>
                      <a:tcPr/>
                    </a:tc>
                    <a:tc>
                      <a:txBody>
                        <a:bodyPr/>
                        <a:lstStyle/>
                        <a:p>
                          <a:pPr algn="ctr"/>
                          <a:r>
                            <a:rPr lang="en-US" b="0" smtClean="0"/>
                            <a:t>1</a:t>
                          </a:r>
                          <a:endParaRPr lang="en-US" b="0"/>
                        </a:p>
                      </a:txBody>
                      <a:tcPr>
                        <a:solidFill>
                          <a:schemeClr val="bg1">
                            <a:lumMod val="75000"/>
                          </a:schemeClr>
                        </a:solidFill>
                      </a:tcPr>
                    </a:tc>
                  </a:tr>
                  <a:tr h="370840">
                    <a:tc>
                      <a:txBody>
                        <a:bodyPr/>
                        <a:lstStyle/>
                        <a:p>
                          <a:endParaRPr lang="en-US"/>
                        </a:p>
                      </a:txBody>
                      <a:tcPr>
                        <a:blipFill rotWithShape="0">
                          <a:blip r:embed="rId5"/>
                          <a:stretch>
                            <a:fillRect l="-500" t="-304918" r="-401500" b="-122951"/>
                          </a:stretch>
                        </a:blipFill>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c>
                      <a:txBody>
                        <a:bodyPr/>
                        <a:lstStyle/>
                        <a:p>
                          <a:pPr algn="ctr"/>
                          <a:endParaRPr lang="en-US" b="0"/>
                        </a:p>
                      </a:txBody>
                      <a:tcPr/>
                    </a:tc>
                  </a:tr>
                  <a:tr h="370840">
                    <a:tc>
                      <a:txBody>
                        <a:bodyPr/>
                        <a:lstStyle/>
                        <a:p>
                          <a:endParaRPr lang="en-US"/>
                        </a:p>
                      </a:txBody>
                      <a:tcPr>
                        <a:blipFill rotWithShape="0">
                          <a:blip r:embed="rId5"/>
                          <a:stretch>
                            <a:fillRect l="-500" t="-404918" r="-401500" b="-22951"/>
                          </a:stretch>
                        </a:blipFill>
                      </a:tcPr>
                    </a:tc>
                    <a:tc>
                      <a:txBody>
                        <a:bodyPr/>
                        <a:lstStyle/>
                        <a:p>
                          <a:pPr algn="ctr"/>
                          <a:r>
                            <a:rPr lang="en-US" b="0" smtClean="0"/>
                            <a:t>1</a:t>
                          </a:r>
                          <a:endParaRPr lang="en-US" b="0"/>
                        </a:p>
                      </a:txBody>
                      <a:tcPr>
                        <a:solidFill>
                          <a:srgbClr val="FFFF00"/>
                        </a:solidFill>
                      </a:tcPr>
                    </a:tc>
                    <a:tc>
                      <a:txBody>
                        <a:bodyPr/>
                        <a:lstStyle/>
                        <a:p>
                          <a:pPr algn="ctr"/>
                          <a:r>
                            <a:rPr lang="en-US" b="0" smtClean="0"/>
                            <a:t>1</a:t>
                          </a:r>
                          <a:endParaRPr lang="en-US" b="0"/>
                        </a:p>
                      </a:txBody>
                      <a:tcPr/>
                    </a:tc>
                    <a:tc>
                      <a:txBody>
                        <a:bodyPr/>
                        <a:lstStyle/>
                        <a:p>
                          <a:pPr algn="ctr"/>
                          <a:r>
                            <a:rPr lang="en-US" b="0" smtClean="0"/>
                            <a:t>1</a:t>
                          </a:r>
                          <a:endParaRPr lang="en-US" b="0"/>
                        </a:p>
                      </a:txBody>
                      <a:tcPr/>
                    </a:tc>
                    <a:tc>
                      <a:txBody>
                        <a:bodyPr/>
                        <a:lstStyle/>
                        <a:p>
                          <a:pPr algn="ctr"/>
                          <a:r>
                            <a:rPr lang="en-US" b="0" smtClean="0"/>
                            <a:t>1</a:t>
                          </a:r>
                          <a:endParaRPr lang="en-US" b="0"/>
                        </a:p>
                      </a:txBody>
                      <a:tcPr/>
                    </a:tc>
                  </a:tr>
                </a:tbl>
              </a:graphicData>
            </a:graphic>
          </p:graphicFrame>
        </mc:Fallback>
      </mc:AlternateContent>
      <p:sp>
        <p:nvSpPr>
          <p:cNvPr id="7" name="Flowchart: Alternate Process 6"/>
          <p:cNvSpPr/>
          <p:nvPr/>
        </p:nvSpPr>
        <p:spPr>
          <a:xfrm>
            <a:off x="2127631" y="1918717"/>
            <a:ext cx="2032248" cy="432048"/>
          </a:xfrm>
          <a:prstGeom prst="flowChartAlternateProcess">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Alternate Process 11"/>
          <p:cNvSpPr/>
          <p:nvPr/>
        </p:nvSpPr>
        <p:spPr>
          <a:xfrm>
            <a:off x="2071647" y="2713263"/>
            <a:ext cx="4680520" cy="357582"/>
          </a:xfrm>
          <a:prstGeom prst="flowChartAlternateProcess">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Bracket 12"/>
          <p:cNvSpPr/>
          <p:nvPr/>
        </p:nvSpPr>
        <p:spPr>
          <a:xfrm rot="5400000">
            <a:off x="5309059" y="737228"/>
            <a:ext cx="430003" cy="1928884"/>
          </a:xfrm>
          <a:prstGeom prst="rightBracket">
            <a:avLst/>
          </a:prstGeom>
          <a:ln w="444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ket 13"/>
          <p:cNvSpPr/>
          <p:nvPr/>
        </p:nvSpPr>
        <p:spPr>
          <a:xfrm rot="10800000">
            <a:off x="5888071" y="1916672"/>
            <a:ext cx="936104" cy="434093"/>
          </a:xfrm>
          <a:prstGeom prst="rightBracket">
            <a:avLst/>
          </a:prstGeom>
          <a:ln w="444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lowchart: Alternate Process 14"/>
          <p:cNvSpPr/>
          <p:nvPr/>
        </p:nvSpPr>
        <p:spPr>
          <a:xfrm>
            <a:off x="5994365" y="1583647"/>
            <a:ext cx="465205" cy="695523"/>
          </a:xfrm>
          <a:prstGeom prst="flowChartAlternateProcess">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Bracket 15"/>
          <p:cNvSpPr/>
          <p:nvPr/>
        </p:nvSpPr>
        <p:spPr>
          <a:xfrm>
            <a:off x="1783615" y="1918717"/>
            <a:ext cx="941516" cy="450828"/>
          </a:xfrm>
          <a:prstGeom prst="rightBracket">
            <a:avLst/>
          </a:prstGeom>
          <a:ln w="444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t>    </a:t>
            </a:r>
          </a:p>
        </p:txBody>
      </p:sp>
      <p:sp>
        <p:nvSpPr>
          <p:cNvPr id="17"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18"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9"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34</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500"/>
                                        <p:tgtEl>
                                          <p:spTgt spid="11">
                                            <p:txEl>
                                              <p:pRg st="0" end="0"/>
                                            </p:txEl>
                                          </p:spTgt>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fade">
                                      <p:cBhvr>
                                        <p:cTn id="22" dur="500"/>
                                        <p:tgtEl>
                                          <p:spTgt spid="1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animEffect transition="in" filter="fade">
                                      <p:cBhvr>
                                        <p:cTn id="27" dur="500"/>
                                        <p:tgtEl>
                                          <p:spTgt spid="11">
                                            <p:txEl>
                                              <p:pRg st="2" end="2"/>
                                            </p:txEl>
                                          </p:spTgt>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par>
                                <p:cTn id="33" presetID="10" presetClass="exit" presetSubtype="0" fill="hold" grpId="1" nodeType="withEffect">
                                  <p:stCondLst>
                                    <p:cond delay="0"/>
                                  </p:stCondLst>
                                  <p:childTnLst>
                                    <p:animEffect transition="out" filter="fade">
                                      <p:cBhvr>
                                        <p:cTn id="34" dur="500"/>
                                        <p:tgtEl>
                                          <p:spTgt spid="15"/>
                                        </p:tgtEl>
                                      </p:cBhvr>
                                    </p:animEffect>
                                    <p:set>
                                      <p:cBhvr>
                                        <p:cTn id="35" dur="1" fill="hold">
                                          <p:stCondLst>
                                            <p:cond delay="499"/>
                                          </p:stCondLst>
                                        </p:cTn>
                                        <p:tgtEl>
                                          <p:spTgt spid="15"/>
                                        </p:tgtEl>
                                        <p:attrNameLst>
                                          <p:attrName>style.visibility</p:attrName>
                                        </p:attrNameLst>
                                      </p:cBhvr>
                                      <p:to>
                                        <p:strVal val="hidden"/>
                                      </p:to>
                                    </p:set>
                                  </p:childTnLst>
                                </p:cTn>
                              </p:par>
                              <p:par>
                                <p:cTn id="36" presetID="42"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animBg="1"/>
      <p:bldP spid="15" grpId="0" animBg="1"/>
      <p:bldP spid="15" grpId="1"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381000" y="1219200"/>
                <a:ext cx="7056784" cy="3539430"/>
              </a:xfrm>
              <a:prstGeom prst="rect">
                <a:avLst/>
              </a:prstGeom>
            </p:spPr>
            <p:txBody>
              <a:bodyPr wrap="square">
                <a:spAutoFit/>
              </a:bodyPr>
              <a:lstStyle/>
              <a:p>
                <a:r>
                  <a:rPr lang="en-US" sz="2800">
                    <a:latin typeface="Times New Roman" panose="02020603050405020304" pitchFamily="18" charset="0"/>
                    <a:cs typeface="Times New Roman" panose="02020603050405020304" pitchFamily="18" charset="0"/>
                  </a:rPr>
                  <a:t>B5: Xác </a:t>
                </a:r>
                <a:r>
                  <a:rPr lang="en-US" sz="2800" err="1">
                    <a:latin typeface="Times New Roman" panose="02020603050405020304" pitchFamily="18" charset="0"/>
                    <a:cs typeface="Times New Roman" panose="02020603050405020304" pitchFamily="18" charset="0"/>
                  </a:rPr>
                  <a:t>định</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công</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cực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tiểu</a:t>
                </a:r>
                <a:r>
                  <a:rPr lang="en-US" sz="2800">
                    <a:latin typeface="Times New Roman" panose="02020603050405020304" pitchFamily="18" charset="0"/>
                    <a:cs typeface="Times New Roman" panose="02020603050405020304" pitchFamily="18" charset="0"/>
                  </a:rPr>
                  <a:t>:</a:t>
                </a:r>
              </a:p>
              <a:p>
                <a:r>
                  <a:rPr lang="en-US" sz="2800">
                    <a:latin typeface="Times New Roman" panose="02020603050405020304" pitchFamily="18" charset="0"/>
                    <a:cs typeface="Times New Roman" panose="02020603050405020304" pitchFamily="18" charset="0"/>
                  </a:rPr>
                  <a:t>    </a:t>
                </a:r>
              </a:p>
              <a:p>
                <a:r>
                  <a:rPr lang="en-US" sz="2800">
                    <a:latin typeface="Times New Roman" panose="02020603050405020304" pitchFamily="18" charset="0"/>
                    <a:cs typeface="Times New Roman" panose="02020603050405020304" pitchFamily="18" charset="0"/>
                  </a:rPr>
                  <a:t>Ta </a:t>
                </a:r>
                <a:r>
                  <a:rPr lang="en-US" sz="2800" err="1">
                    <a:latin typeface="Times New Roman" panose="02020603050405020304" pitchFamily="18" charset="0"/>
                    <a:cs typeface="Times New Roman" panose="02020603050405020304" pitchFamily="18" charset="0"/>
                  </a:rPr>
                  <a:t>thấy</a:t>
                </a:r>
                <a:r>
                  <a:rPr lang="en-US" sz="2800">
                    <a:latin typeface="Times New Roman" panose="02020603050405020304" pitchFamily="18" charset="0"/>
                    <a:cs typeface="Times New Roman" panose="02020603050405020304" pitchFamily="18" charset="0"/>
                  </a:rPr>
                  <a:t> 2 </a:t>
                </a:r>
                <a:r>
                  <a:rPr lang="en-US" sz="2800" err="1">
                    <a:latin typeface="Times New Roman" panose="02020603050405020304" pitchFamily="18" charset="0"/>
                    <a:cs typeface="Times New Roman" panose="02020603050405020304" pitchFamily="18" charset="0"/>
                  </a:rPr>
                  <a:t>công</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i="1" err="1">
                    <a:latin typeface="Times New Roman" panose="02020603050405020304" pitchFamily="18" charset="0"/>
                    <a:cs typeface="Times New Roman" panose="02020603050405020304" pitchFamily="18" charset="0"/>
                  </a:rPr>
                  <a:t>đơn</a:t>
                </a:r>
                <a:r>
                  <a:rPr lang="en-US" sz="2800" i="1">
                    <a:latin typeface="Times New Roman" panose="02020603050405020304" pitchFamily="18" charset="0"/>
                    <a:cs typeface="Times New Roman" panose="02020603050405020304" pitchFamily="18" charset="0"/>
                  </a:rPr>
                  <a:t> </a:t>
                </a:r>
                <a:r>
                  <a:rPr lang="en-US" sz="2800" i="1" err="1">
                    <a:latin typeface="Times New Roman" panose="02020603050405020304" pitchFamily="18" charset="0"/>
                    <a:cs typeface="Times New Roman" panose="02020603050405020304" pitchFamily="18" charset="0"/>
                  </a:rPr>
                  <a:t>giản</a:t>
                </a:r>
                <a:r>
                  <a:rPr lang="en-US" sz="2800" i="1">
                    <a:latin typeface="Times New Roman" panose="02020603050405020304" pitchFamily="18" charset="0"/>
                    <a:cs typeface="Times New Roman" panose="02020603050405020304" pitchFamily="18" charset="0"/>
                  </a:rPr>
                  <a:t> </a:t>
                </a:r>
                <a:r>
                  <a:rPr lang="en-US" sz="2800" i="1" err="1">
                    <a:latin typeface="Times New Roman" panose="02020603050405020304" pitchFamily="18" charset="0"/>
                    <a:cs typeface="Times New Roman" panose="02020603050405020304" pitchFamily="18" charset="0"/>
                  </a:rPr>
                  <a:t>như</a:t>
                </a:r>
                <a:r>
                  <a:rPr lang="en-US" sz="2800" i="1">
                    <a:latin typeface="Times New Roman" panose="02020603050405020304" pitchFamily="18" charset="0"/>
                    <a:cs typeface="Times New Roman" panose="02020603050405020304" pitchFamily="18" charset="0"/>
                  </a:rPr>
                  <a:t> </a:t>
                </a:r>
                <a:r>
                  <a:rPr lang="en-US" sz="2800" i="1" err="1">
                    <a:latin typeface="Times New Roman" panose="02020603050405020304" pitchFamily="18" charset="0"/>
                    <a:cs typeface="Times New Roman" panose="02020603050405020304" pitchFamily="18" charset="0"/>
                  </a:rPr>
                  <a:t>nhau</a:t>
                </a:r>
                <a:r>
                  <a:rPr lang="en-US" sz="2800" i="1">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cho</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nên</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công</a:t>
                </a:r>
                <a:r>
                  <a:rPr lang="en-US" sz="2800">
                    <a:latin typeface="Times New Roman" panose="02020603050405020304" pitchFamily="18" charset="0"/>
                    <a:cs typeface="Times New Roman" panose="02020603050405020304" pitchFamily="18" charset="0"/>
                  </a:rPr>
                  <a:t> thức </a:t>
                </a:r>
                <a:r>
                  <a:rPr lang="en-US" sz="2800" err="1">
                    <a:latin typeface="Times New Roman" panose="02020603050405020304" pitchFamily="18" charset="0"/>
                    <a:cs typeface="Times New Roman" panose="02020603050405020304" pitchFamily="18" charset="0"/>
                  </a:rPr>
                  <a:t>đa</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thức</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tối</a:t>
                </a:r>
                <a:r>
                  <a:rPr lang="en-US" sz="280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thiểu</a:t>
                </a:r>
                <a:r>
                  <a:rPr lang="en-US" sz="2800">
                    <a:latin typeface="Times New Roman" panose="02020603050405020304" pitchFamily="18" charset="0"/>
                    <a:cs typeface="Times New Roman" panose="02020603050405020304" pitchFamily="18" charset="0"/>
                  </a:rPr>
                  <a:t> của </a:t>
                </a:r>
                <a:r>
                  <a:rPr lang="en-US" sz="2800" err="1">
                    <a:latin typeface="Times New Roman" panose="02020603050405020304" pitchFamily="18" charset="0"/>
                    <a:cs typeface="Times New Roman" panose="02020603050405020304" pitchFamily="18" charset="0"/>
                  </a:rPr>
                  <a:t>hàm</a:t>
                </a:r>
                <a:r>
                  <a:rPr lang="en-US" sz="2800">
                    <a:latin typeface="Times New Roman" panose="02020603050405020304" pitchFamily="18" charset="0"/>
                    <a:cs typeface="Times New Roman" panose="02020603050405020304" pitchFamily="18" charset="0"/>
                  </a:rPr>
                  <a:t> </a:t>
                </a:r>
                <a14:m>
                  <m:oMath xmlns:m="http://schemas.openxmlformats.org/officeDocument/2006/math">
                    <m:r>
                      <a:rPr lang="en-US" sz="2800" i="1">
                        <a:latin typeface="Cambria Math" panose="02040503050406030204" pitchFamily="18" charset="0"/>
                      </a:rPr>
                      <m:t>𝑓</m:t>
                    </m:r>
                  </m:oMath>
                </a14:m>
                <a:r>
                  <a:rPr lang="en-US" sz="2800">
                    <a:latin typeface="Times New Roman" panose="02020603050405020304" pitchFamily="18" charset="0"/>
                    <a:cs typeface="Times New Roman" panose="02020603050405020304" pitchFamily="18" charset="0"/>
                  </a:rPr>
                  <a:t> là:</a:t>
                </a:r>
              </a:p>
              <a:p>
                <a:endParaRPr lang="en-US" sz="2800">
                  <a:latin typeface="Times New Roman" panose="02020603050405020304" pitchFamily="18" charset="0"/>
                  <a:cs typeface="Times New Roman" panose="02020603050405020304" pitchFamily="18" charset="0"/>
                </a:endParaRPr>
              </a:p>
              <a:p>
                <a:pPr algn="ct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m:t>
                        </m:r>
                      </m:e>
                    </m:acc>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xzt</a:t>
                </a:r>
                <a14:m>
                  <m:oMath xmlns:m="http://schemas.openxmlformats.org/officeDocument/2006/math">
                    <m:r>
                      <a:rPr lang="en-US" sz="2800">
                        <a:latin typeface="Cambria Math" panose="02040503050406030204" pitchFamily="18" charset="0"/>
                        <a:ea typeface="Cambria Math" panose="02040503050406030204" pitchFamily="18" charset="0"/>
                        <a:cs typeface="Times New Roman" panose="020206030504050203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𝑥𝑦</m:t>
                        </m:r>
                      </m:e>
                    </m:acc>
                  </m:oMath>
                </a14:m>
                <a:r>
                  <a:rPr lang="en-US" sz="2800">
                    <a:latin typeface="Times New Roman" panose="02020603050405020304" pitchFamily="18" charset="0"/>
                    <a:cs typeface="Times New Roman" panose="02020603050405020304" pitchFamily="18" charset="0"/>
                  </a:rPr>
                  <a:t>z</a:t>
                </a:r>
              </a:p>
              <a:p>
                <a:pPr algn="ctr"/>
                <a:endParaRPr lang="en-US" sz="2800">
                  <a:latin typeface="Times New Roman" panose="02020603050405020304" pitchFamily="18" charset="0"/>
                  <a:cs typeface="Times New Roman" panose="02020603050405020304" pitchFamily="18" charset="0"/>
                </a:endParaRPr>
              </a:p>
              <a:p>
                <a:pPr algn="ct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𝑧𝑡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𝑥</m:t>
                        </m:r>
                      </m:e>
                    </m:acc>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𝑡</m:t>
                        </m:r>
                      </m:e>
                    </m:acc>
                    <m:r>
                      <a:rPr lang="en-US"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a:latin typeface="Times New Roman" panose="02020603050405020304" pitchFamily="18" charset="0"/>
                    <a:cs typeface="Times New Roman" panose="02020603050405020304" pitchFamily="18" charset="0"/>
                  </a:rPr>
                  <a:t> xzt</a:t>
                </a:r>
                <a14:m>
                  <m:oMath xmlns:m="http://schemas.openxmlformats.org/officeDocument/2006/math">
                    <m:r>
                      <a:rPr lang="en-US" sz="2800">
                        <a:latin typeface="Cambria Math" panose="02040503050406030204" pitchFamily="18" charset="0"/>
                        <a:ea typeface="Cambria Math" panose="02040503050406030204" pitchFamily="18" charset="0"/>
                        <a:cs typeface="Times New Roman" panose="020206030504050203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m:t>
                    </m:r>
                    <m:r>
                      <a:rPr lang="en-US" sz="2800">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2800" i="1">
                            <a:latin typeface="Cambria Math" panose="02040503050406030204" pitchFamily="18" charset="0"/>
                            <a:cs typeface="Times New Roman" panose="02020603050405020304" pitchFamily="18" charset="0"/>
                          </a:rPr>
                        </m:ctrlPr>
                      </m:accPr>
                      <m:e>
                        <m:r>
                          <a:rPr lang="en-US" sz="2800" i="1">
                            <a:latin typeface="Cambria Math" panose="02040503050406030204" pitchFamily="18" charset="0"/>
                            <a:cs typeface="Times New Roman" panose="02020603050405020304" pitchFamily="18" charset="0"/>
                          </a:rPr>
                          <m:t>𝑦</m:t>
                        </m:r>
                      </m:e>
                    </m:acc>
                  </m:oMath>
                </a14:m>
                <a:r>
                  <a:rPr lang="en-US" sz="2800">
                    <a:latin typeface="Times New Roman" panose="02020603050405020304" pitchFamily="18" charset="0"/>
                    <a:cs typeface="Times New Roman" panose="02020603050405020304" pitchFamily="18" charset="0"/>
                  </a:rPr>
                  <a:t>zt</a:t>
                </a:r>
              </a:p>
            </p:txBody>
          </p:sp>
        </mc:Choice>
        <mc:Fallback xmlns="">
          <p:sp>
            <p:nvSpPr>
              <p:cNvPr id="3" name="Rectangle 2"/>
              <p:cNvSpPr>
                <a:spLocks noRot="1" noChangeAspect="1" noMove="1" noResize="1" noEditPoints="1" noAdjustHandles="1" noChangeArrowheads="1" noChangeShapeType="1" noTextEdit="1"/>
              </p:cNvSpPr>
              <p:nvPr/>
            </p:nvSpPr>
            <p:spPr>
              <a:xfrm>
                <a:off x="381000" y="1219200"/>
                <a:ext cx="7056784" cy="3539430"/>
              </a:xfrm>
              <a:prstGeom prst="rect">
                <a:avLst/>
              </a:prstGeom>
              <a:blipFill rotWithShape="0">
                <a:blip r:embed="rId2"/>
                <a:stretch>
                  <a:fillRect l="-1815" t="-1721" r="-691" b="-3787"/>
                </a:stretch>
              </a:blipFill>
            </p:spPr>
            <p:txBody>
              <a:bodyPr/>
              <a:lstStyle/>
              <a:p>
                <a:r>
                  <a:rPr lang="en-US">
                    <a:noFill/>
                  </a:rPr>
                  <a:t> </a:t>
                </a:r>
              </a:p>
            </p:txBody>
          </p:sp>
        </mc:Fallback>
      </mc:AlternateContent>
      <p:sp>
        <p:nvSpPr>
          <p:cNvPr id="4"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6"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35</a:t>
            </a:fld>
            <a:endParaRPr lang="en-US" sz="200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1709C-7AFA-6CFA-FAD1-C5FBE408E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6CFE1-FD88-E953-3104-AE0045A2809C}"/>
              </a:ext>
            </a:extLst>
          </p:cNvPr>
          <p:cNvSpPr>
            <a:spLocks noGrp="1"/>
          </p:cNvSpPr>
          <p:nvPr>
            <p:ph type="title"/>
          </p:nvPr>
        </p:nvSpPr>
        <p:spPr>
          <a:xfrm>
            <a:off x="609599" y="609600"/>
            <a:ext cx="6781801" cy="1320800"/>
          </a:xfrm>
        </p:spPr>
        <p:txBody>
          <a:bodyPr/>
          <a:lstStyle/>
          <a:p>
            <a:r>
              <a:rPr lang="en-US" dirty="0" err="1"/>
              <a:t>Xây</a:t>
            </a:r>
            <a:r>
              <a:rPr lang="en-US" dirty="0"/>
              <a:t> </a:t>
            </a:r>
            <a:r>
              <a:rPr lang="en-US" dirty="0" err="1"/>
              <a:t>dựng</a:t>
            </a:r>
            <a:r>
              <a:rPr lang="en-US" dirty="0"/>
              <a:t> </a:t>
            </a:r>
            <a:r>
              <a:rPr lang="en-US" dirty="0" err="1"/>
              <a:t>bản</a:t>
            </a:r>
            <a:r>
              <a:rPr lang="en-US" dirty="0"/>
              <a:t> </a:t>
            </a:r>
            <a:r>
              <a:rPr lang="en-US" dirty="0" err="1"/>
              <a:t>đồ</a:t>
            </a:r>
            <a:r>
              <a:rPr lang="en-US" dirty="0"/>
              <a:t> </a:t>
            </a:r>
            <a:r>
              <a:rPr lang="en-US" dirty="0" err="1"/>
              <a:t>theo</a:t>
            </a:r>
            <a:r>
              <a:rPr lang="en-US" dirty="0"/>
              <a:t> </a:t>
            </a:r>
            <a:r>
              <a:rPr lang="en-US" dirty="0" err="1"/>
              <a:t>mã</a:t>
            </a:r>
            <a:r>
              <a:rPr lang="en-US" dirty="0"/>
              <a:t> Gray</a:t>
            </a:r>
          </a:p>
        </p:txBody>
      </p:sp>
      <p:pic>
        <p:nvPicPr>
          <p:cNvPr id="5" name="Picture 4">
            <a:extLst>
              <a:ext uri="{FF2B5EF4-FFF2-40B4-BE49-F238E27FC236}">
                <a16:creationId xmlns:a16="http://schemas.microsoft.com/office/drawing/2014/main" id="{BF2D70F7-9926-2902-9729-8814B494B440}"/>
              </a:ext>
            </a:extLst>
          </p:cNvPr>
          <p:cNvPicPr>
            <a:picLocks noChangeAspect="1"/>
          </p:cNvPicPr>
          <p:nvPr/>
        </p:nvPicPr>
        <p:blipFill>
          <a:blip r:embed="rId2"/>
          <a:stretch>
            <a:fillRect/>
          </a:stretch>
        </p:blipFill>
        <p:spPr>
          <a:xfrm>
            <a:off x="0" y="1447800"/>
            <a:ext cx="7235243" cy="5010743"/>
          </a:xfrm>
          <a:prstGeom prst="rect">
            <a:avLst/>
          </a:prstGeom>
        </p:spPr>
      </p:pic>
    </p:spTree>
    <p:extLst>
      <p:ext uri="{BB962C8B-B14F-4D97-AF65-F5344CB8AC3E}">
        <p14:creationId xmlns:p14="http://schemas.microsoft.com/office/powerpoint/2010/main" val="32419447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766A0D-4824-60CC-7546-F0DFD05EF466}"/>
              </a:ext>
            </a:extLst>
          </p:cNvPr>
          <p:cNvPicPr>
            <a:picLocks noChangeAspect="1"/>
          </p:cNvPicPr>
          <p:nvPr/>
        </p:nvPicPr>
        <p:blipFill>
          <a:blip r:embed="rId2"/>
          <a:stretch>
            <a:fillRect/>
          </a:stretch>
        </p:blipFill>
        <p:spPr>
          <a:xfrm>
            <a:off x="457200" y="914400"/>
            <a:ext cx="6801799" cy="3515216"/>
          </a:xfrm>
          <a:prstGeom prst="rect">
            <a:avLst/>
          </a:prstGeom>
        </p:spPr>
      </p:pic>
    </p:spTree>
    <p:extLst>
      <p:ext uri="{BB962C8B-B14F-4D97-AF65-F5344CB8AC3E}">
        <p14:creationId xmlns:p14="http://schemas.microsoft.com/office/powerpoint/2010/main" val="1095793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404497-7757-54CF-54F8-0891C0FD0EA4}"/>
              </a:ext>
            </a:extLst>
          </p:cNvPr>
          <p:cNvPicPr>
            <a:picLocks noChangeAspect="1"/>
          </p:cNvPicPr>
          <p:nvPr/>
        </p:nvPicPr>
        <p:blipFill>
          <a:blip r:embed="rId2"/>
          <a:stretch>
            <a:fillRect/>
          </a:stretch>
        </p:blipFill>
        <p:spPr>
          <a:xfrm>
            <a:off x="457200" y="1143000"/>
            <a:ext cx="7354326" cy="4048690"/>
          </a:xfrm>
          <a:prstGeom prst="rect">
            <a:avLst/>
          </a:prstGeom>
        </p:spPr>
      </p:pic>
      <p:pic>
        <p:nvPicPr>
          <p:cNvPr id="7" name="Picture 6">
            <a:extLst>
              <a:ext uri="{FF2B5EF4-FFF2-40B4-BE49-F238E27FC236}">
                <a16:creationId xmlns:a16="http://schemas.microsoft.com/office/drawing/2014/main" id="{03F60683-CF04-7025-B141-4C15643FD740}"/>
              </a:ext>
            </a:extLst>
          </p:cNvPr>
          <p:cNvPicPr>
            <a:picLocks noChangeAspect="1"/>
          </p:cNvPicPr>
          <p:nvPr/>
        </p:nvPicPr>
        <p:blipFill>
          <a:blip r:embed="rId3"/>
          <a:stretch>
            <a:fillRect/>
          </a:stretch>
        </p:blipFill>
        <p:spPr>
          <a:xfrm>
            <a:off x="2133600" y="5481604"/>
            <a:ext cx="4077344" cy="842995"/>
          </a:xfrm>
          <a:prstGeom prst="rect">
            <a:avLst/>
          </a:prstGeom>
        </p:spPr>
      </p:pic>
    </p:spTree>
    <p:extLst>
      <p:ext uri="{BB962C8B-B14F-4D97-AF65-F5344CB8AC3E}">
        <p14:creationId xmlns:p14="http://schemas.microsoft.com/office/powerpoint/2010/main" val="9821564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1709D-50CC-39B9-224E-FE4FFB8504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832774-D018-44B4-D16F-AC43984DC026}"/>
              </a:ext>
            </a:extLst>
          </p:cNvPr>
          <p:cNvPicPr>
            <a:picLocks noChangeAspect="1"/>
          </p:cNvPicPr>
          <p:nvPr/>
        </p:nvPicPr>
        <p:blipFill>
          <a:blip r:embed="rId2"/>
          <a:stretch>
            <a:fillRect/>
          </a:stretch>
        </p:blipFill>
        <p:spPr>
          <a:xfrm>
            <a:off x="609600" y="990600"/>
            <a:ext cx="6566852" cy="3276600"/>
          </a:xfrm>
          <a:prstGeom prst="rect">
            <a:avLst/>
          </a:prstGeom>
        </p:spPr>
      </p:pic>
    </p:spTree>
    <p:extLst>
      <p:ext uri="{BB962C8B-B14F-4D97-AF65-F5344CB8AC3E}">
        <p14:creationId xmlns:p14="http://schemas.microsoft.com/office/powerpoint/2010/main" val="37696609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E4DFE-9B9A-EB09-F952-01D04FA7C2C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6FD102-41F6-C00A-D0C3-B90A927CC2FA}"/>
              </a:ext>
            </a:extLst>
          </p:cNvPr>
          <p:cNvPicPr>
            <a:picLocks noChangeAspect="1"/>
          </p:cNvPicPr>
          <p:nvPr/>
        </p:nvPicPr>
        <p:blipFill>
          <a:blip r:embed="rId2"/>
          <a:stretch>
            <a:fillRect/>
          </a:stretch>
        </p:blipFill>
        <p:spPr>
          <a:xfrm>
            <a:off x="0" y="609600"/>
            <a:ext cx="8526065" cy="2743583"/>
          </a:xfrm>
          <a:prstGeom prst="rect">
            <a:avLst/>
          </a:prstGeom>
        </p:spPr>
      </p:pic>
      <p:pic>
        <p:nvPicPr>
          <p:cNvPr id="5" name="Picture 4">
            <a:extLst>
              <a:ext uri="{FF2B5EF4-FFF2-40B4-BE49-F238E27FC236}">
                <a16:creationId xmlns:a16="http://schemas.microsoft.com/office/drawing/2014/main" id="{C8505AB3-F253-69F4-E41A-B5A146E4152F}"/>
              </a:ext>
            </a:extLst>
          </p:cNvPr>
          <p:cNvPicPr>
            <a:picLocks noChangeAspect="1"/>
          </p:cNvPicPr>
          <p:nvPr/>
        </p:nvPicPr>
        <p:blipFill>
          <a:blip r:embed="rId3"/>
          <a:stretch>
            <a:fillRect/>
          </a:stretch>
        </p:blipFill>
        <p:spPr>
          <a:xfrm>
            <a:off x="0" y="3534126"/>
            <a:ext cx="9144000" cy="3267056"/>
          </a:xfrm>
          <a:prstGeom prst="rect">
            <a:avLst/>
          </a:prstGeom>
        </p:spPr>
      </p:pic>
    </p:spTree>
    <p:extLst>
      <p:ext uri="{BB962C8B-B14F-4D97-AF65-F5344CB8AC3E}">
        <p14:creationId xmlns:p14="http://schemas.microsoft.com/office/powerpoint/2010/main" val="9926931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46FF7-4226-675B-89BE-25F0E0ACBC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D6C5701-10C7-F92C-6B5D-DA2DB7A4D2A8}"/>
              </a:ext>
            </a:extLst>
          </p:cNvPr>
          <p:cNvPicPr>
            <a:picLocks noChangeAspect="1"/>
          </p:cNvPicPr>
          <p:nvPr/>
        </p:nvPicPr>
        <p:blipFill>
          <a:blip r:embed="rId2"/>
          <a:stretch>
            <a:fillRect/>
          </a:stretch>
        </p:blipFill>
        <p:spPr>
          <a:xfrm>
            <a:off x="304800" y="3429000"/>
            <a:ext cx="6548554" cy="2209800"/>
          </a:xfrm>
          <a:prstGeom prst="rect">
            <a:avLst/>
          </a:prstGeom>
        </p:spPr>
      </p:pic>
      <p:pic>
        <p:nvPicPr>
          <p:cNvPr id="5" name="Picture 4">
            <a:extLst>
              <a:ext uri="{FF2B5EF4-FFF2-40B4-BE49-F238E27FC236}">
                <a16:creationId xmlns:a16="http://schemas.microsoft.com/office/drawing/2014/main" id="{878D4787-AF39-447C-92E0-99AB3FF0D258}"/>
              </a:ext>
            </a:extLst>
          </p:cNvPr>
          <p:cNvPicPr>
            <a:picLocks noChangeAspect="1"/>
          </p:cNvPicPr>
          <p:nvPr/>
        </p:nvPicPr>
        <p:blipFill>
          <a:blip r:embed="rId3"/>
          <a:stretch>
            <a:fillRect/>
          </a:stretch>
        </p:blipFill>
        <p:spPr>
          <a:xfrm>
            <a:off x="1523999" y="76200"/>
            <a:ext cx="4671673" cy="3352800"/>
          </a:xfrm>
          <a:prstGeom prst="rect">
            <a:avLst/>
          </a:prstGeom>
        </p:spPr>
      </p:pic>
    </p:spTree>
    <p:extLst>
      <p:ext uri="{BB962C8B-B14F-4D97-AF65-F5344CB8AC3E}">
        <p14:creationId xmlns:p14="http://schemas.microsoft.com/office/powerpoint/2010/main" val="11276543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36DB90-5F1E-5988-FBDB-98C5B56F4C29}"/>
              </a:ext>
            </a:extLst>
          </p:cNvPr>
          <p:cNvPicPr>
            <a:picLocks noChangeAspect="1"/>
          </p:cNvPicPr>
          <p:nvPr/>
        </p:nvPicPr>
        <p:blipFill>
          <a:blip r:embed="rId2"/>
          <a:stretch>
            <a:fillRect/>
          </a:stretch>
        </p:blipFill>
        <p:spPr>
          <a:xfrm>
            <a:off x="685800" y="838200"/>
            <a:ext cx="6211167" cy="2924583"/>
          </a:xfrm>
          <a:prstGeom prst="rect">
            <a:avLst/>
          </a:prstGeom>
        </p:spPr>
      </p:pic>
    </p:spTree>
    <p:extLst>
      <p:ext uri="{BB962C8B-B14F-4D97-AF65-F5344CB8AC3E}">
        <p14:creationId xmlns:p14="http://schemas.microsoft.com/office/powerpoint/2010/main" val="42397777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67285-49A4-278D-D834-85895B59605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0C95DC-DC0A-E10C-4EDE-640457961110}"/>
              </a:ext>
            </a:extLst>
          </p:cNvPr>
          <p:cNvPicPr>
            <a:picLocks noChangeAspect="1"/>
          </p:cNvPicPr>
          <p:nvPr/>
        </p:nvPicPr>
        <p:blipFill>
          <a:blip r:embed="rId2"/>
          <a:stretch>
            <a:fillRect/>
          </a:stretch>
        </p:blipFill>
        <p:spPr>
          <a:xfrm>
            <a:off x="0" y="855223"/>
            <a:ext cx="9144000" cy="5147553"/>
          </a:xfrm>
          <a:prstGeom prst="rect">
            <a:avLst/>
          </a:prstGeom>
        </p:spPr>
      </p:pic>
    </p:spTree>
    <p:extLst>
      <p:ext uri="{BB962C8B-B14F-4D97-AF65-F5344CB8AC3E}">
        <p14:creationId xmlns:p14="http://schemas.microsoft.com/office/powerpoint/2010/main" val="36454262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E4785-7064-2817-8A64-61FB97772A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8596AE-AF57-40DF-9202-28A80F3667A5}"/>
              </a:ext>
            </a:extLst>
          </p:cNvPr>
          <p:cNvPicPr>
            <a:picLocks noChangeAspect="1"/>
          </p:cNvPicPr>
          <p:nvPr/>
        </p:nvPicPr>
        <p:blipFill>
          <a:blip r:embed="rId2"/>
          <a:stretch>
            <a:fillRect/>
          </a:stretch>
        </p:blipFill>
        <p:spPr>
          <a:xfrm>
            <a:off x="152400" y="304800"/>
            <a:ext cx="8668960" cy="485843"/>
          </a:xfrm>
          <a:prstGeom prst="rect">
            <a:avLst/>
          </a:prstGeom>
        </p:spPr>
      </p:pic>
      <p:pic>
        <p:nvPicPr>
          <p:cNvPr id="7" name="Picture 6">
            <a:extLst>
              <a:ext uri="{FF2B5EF4-FFF2-40B4-BE49-F238E27FC236}">
                <a16:creationId xmlns:a16="http://schemas.microsoft.com/office/drawing/2014/main" id="{C331CA1A-14A4-0355-4300-64EDF6C3ADD7}"/>
              </a:ext>
            </a:extLst>
          </p:cNvPr>
          <p:cNvPicPr>
            <a:picLocks noChangeAspect="1"/>
          </p:cNvPicPr>
          <p:nvPr/>
        </p:nvPicPr>
        <p:blipFill>
          <a:blip r:embed="rId3"/>
          <a:stretch>
            <a:fillRect/>
          </a:stretch>
        </p:blipFill>
        <p:spPr>
          <a:xfrm>
            <a:off x="2209800" y="1371600"/>
            <a:ext cx="4495800" cy="3946475"/>
          </a:xfrm>
          <a:prstGeom prst="rect">
            <a:avLst/>
          </a:prstGeom>
        </p:spPr>
      </p:pic>
    </p:spTree>
    <p:extLst>
      <p:ext uri="{BB962C8B-B14F-4D97-AF65-F5344CB8AC3E}">
        <p14:creationId xmlns:p14="http://schemas.microsoft.com/office/powerpoint/2010/main" val="42148009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96F4-334B-45A2-C74F-AA97BAAB983E}"/>
            </a:ext>
          </a:extLst>
        </p:cNvPr>
        <p:cNvGrpSpPr/>
        <p:nvPr/>
      </p:nvGrpSpPr>
      <p:grpSpPr>
        <a:xfrm>
          <a:off x="0" y="0"/>
          <a:ext cx="0" cy="0"/>
          <a:chOff x="0" y="0"/>
          <a:chExt cx="0" cy="0"/>
        </a:xfrm>
      </p:grpSpPr>
    </p:spTree>
    <p:extLst>
      <p:ext uri="{BB962C8B-B14F-4D97-AF65-F5344CB8AC3E}">
        <p14:creationId xmlns:p14="http://schemas.microsoft.com/office/powerpoint/2010/main" val="7729649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289775" y="1295400"/>
            <a:ext cx="7101625" cy="4525963"/>
          </a:xfrm>
        </p:spPr>
        <p:txBody>
          <a:bodyPr rtlCol="0">
            <a:normAutofit/>
          </a:bodyPr>
          <a:lstStyle/>
          <a:p>
            <a:pPr marL="82550" indent="0" algn="just">
              <a:lnSpc>
                <a:spcPct val="150000"/>
              </a:lnSpc>
              <a:buNone/>
              <a:defRPr/>
            </a:pPr>
            <a:r>
              <a:rPr lang="en-US" dirty="0">
                <a:solidFill>
                  <a:srgbClr val="002060"/>
                </a:solidFill>
                <a:cs typeface="Arial" pitchFamily="34" charset="0"/>
              </a:rPr>
              <a:t>	</a:t>
            </a:r>
            <a:r>
              <a:rPr lang="vi-VN" sz="2800" dirty="0">
                <a:solidFill>
                  <a:schemeClr val="tx1"/>
                </a:solidFill>
                <a:latin typeface="Times New Roman" panose="02020603050405020304" pitchFamily="18" charset="0"/>
                <a:cs typeface="Times New Roman" panose="02020603050405020304" pitchFamily="18" charset="0"/>
              </a:rPr>
              <a:t>Phương pháp Quine-McCluskey là một kỹ thuật hệ thống để tối giản hàm Boolean, đặc biệt hữu ích khi số lượng biến lớn hơn 4, khiến phương pháp Karnaugh Map (K-map) trở nên khó khăn hoặc không hiệu quả</a:t>
            </a:r>
            <a:r>
              <a:rPr lang="en-US" sz="2800" dirty="0">
                <a:solidFill>
                  <a:schemeClr val="tx1"/>
                </a:solidFill>
                <a:latin typeface="Times New Roman" panose="02020603050405020304" pitchFamily="18" charset="0"/>
                <a:cs typeface="Times New Roman" panose="02020603050405020304" pitchFamily="18" charset="0"/>
              </a:rPr>
              <a:t>.</a:t>
            </a:r>
            <a:r>
              <a:rPr lang="vi-VN" sz="2800" dirty="0">
                <a:solidFill>
                  <a:schemeClr val="tx1"/>
                </a:solidFill>
                <a:latin typeface="Times New Roman" panose="02020603050405020304" pitchFamily="18" charset="0"/>
                <a:cs typeface="Times New Roman" panose="02020603050405020304" pitchFamily="18" charset="0"/>
              </a:rPr>
              <a:t> </a:t>
            </a:r>
            <a:endParaRPr lang="en-US" sz="2800" dirty="0">
              <a:solidFill>
                <a:schemeClr val="tx1"/>
              </a:solidFill>
              <a:latin typeface="Times New Roman" panose="02020603050405020304" pitchFamily="18" charset="0"/>
              <a:cs typeface="Times New Roman" panose="02020603050405020304" pitchFamily="18" charset="0"/>
            </a:endParaRPr>
          </a:p>
          <a:p>
            <a:pPr fontAlgn="auto">
              <a:lnSpc>
                <a:spcPct val="150000"/>
              </a:lnSpc>
              <a:spcAft>
                <a:spcPts val="0"/>
              </a:spcAft>
              <a:defRPr/>
            </a:pPr>
            <a:endParaRPr lang="en-US" dirty="0">
              <a:solidFill>
                <a:srgbClr val="002060"/>
              </a:solidFill>
            </a:endParaRPr>
          </a:p>
        </p:txBody>
      </p:sp>
      <p:sp>
        <p:nvSpPr>
          <p:cNvPr id="5" name="Title 1"/>
          <p:cNvSpPr txBox="1">
            <a:spLocks/>
          </p:cNvSpPr>
          <p:nvPr/>
        </p:nvSpPr>
        <p:spPr bwMode="auto">
          <a:xfrm>
            <a:off x="228600" y="3404"/>
            <a:ext cx="74977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rebuchet MS" pitchFamily="34" charset="0"/>
              </a:defRPr>
            </a:lvl2pPr>
            <a:lvl3pPr algn="ctr" rtl="0" eaLnBrk="1" fontAlgn="base" hangingPunct="1">
              <a:spcBef>
                <a:spcPct val="0"/>
              </a:spcBef>
              <a:spcAft>
                <a:spcPct val="0"/>
              </a:spcAft>
              <a:defRPr sz="3600">
                <a:solidFill>
                  <a:schemeClr val="tx2"/>
                </a:solidFill>
                <a:latin typeface="Trebuchet MS" pitchFamily="34" charset="0"/>
              </a:defRPr>
            </a:lvl3pPr>
            <a:lvl4pPr algn="ctr" rtl="0" eaLnBrk="1" fontAlgn="base" hangingPunct="1">
              <a:spcBef>
                <a:spcPct val="0"/>
              </a:spcBef>
              <a:spcAft>
                <a:spcPct val="0"/>
              </a:spcAft>
              <a:defRPr sz="3600">
                <a:solidFill>
                  <a:schemeClr val="tx2"/>
                </a:solidFill>
                <a:latin typeface="Trebuchet MS" pitchFamily="34" charset="0"/>
              </a:defRPr>
            </a:lvl4pPr>
            <a:lvl5pPr algn="ctr" rtl="0" eaLnBrk="1" fontAlgn="base" hangingPunct="1">
              <a:spcBef>
                <a:spcPct val="0"/>
              </a:spcBef>
              <a:spcAft>
                <a:spcPct val="0"/>
              </a:spcAft>
              <a:defRPr sz="3600">
                <a:solidFill>
                  <a:schemeClr val="tx2"/>
                </a:solidFill>
                <a:latin typeface="Trebuchet MS" pitchFamily="34" charset="0"/>
              </a:defRPr>
            </a:lvl5pPr>
            <a:lvl6pPr marL="457200" algn="ctr" rtl="0" eaLnBrk="1" fontAlgn="base" hangingPunct="1">
              <a:spcBef>
                <a:spcPct val="0"/>
              </a:spcBef>
              <a:spcAft>
                <a:spcPct val="0"/>
              </a:spcAft>
              <a:defRPr sz="3600">
                <a:solidFill>
                  <a:schemeClr val="tx2"/>
                </a:solidFill>
                <a:latin typeface="Trebuchet MS" pitchFamily="34" charset="0"/>
              </a:defRPr>
            </a:lvl6pPr>
            <a:lvl7pPr marL="914400" algn="ctr" rtl="0" eaLnBrk="1" fontAlgn="base" hangingPunct="1">
              <a:spcBef>
                <a:spcPct val="0"/>
              </a:spcBef>
              <a:spcAft>
                <a:spcPct val="0"/>
              </a:spcAft>
              <a:defRPr sz="3600">
                <a:solidFill>
                  <a:schemeClr val="tx2"/>
                </a:solidFill>
                <a:latin typeface="Trebuchet MS" pitchFamily="34" charset="0"/>
              </a:defRPr>
            </a:lvl7pPr>
            <a:lvl8pPr marL="1371600" algn="ctr" rtl="0" eaLnBrk="1" fontAlgn="base" hangingPunct="1">
              <a:spcBef>
                <a:spcPct val="0"/>
              </a:spcBef>
              <a:spcAft>
                <a:spcPct val="0"/>
              </a:spcAft>
              <a:defRPr sz="3600">
                <a:solidFill>
                  <a:schemeClr val="tx2"/>
                </a:solidFill>
                <a:latin typeface="Trebuchet MS" pitchFamily="34" charset="0"/>
              </a:defRPr>
            </a:lvl8pPr>
            <a:lvl9pPr marL="1828800" algn="ctr" rtl="0" eaLnBrk="1" fontAlgn="base" hangingPunct="1">
              <a:spcBef>
                <a:spcPct val="0"/>
              </a:spcBef>
              <a:spcAft>
                <a:spcPct val="0"/>
              </a:spcAft>
              <a:defRPr sz="3600">
                <a:solidFill>
                  <a:schemeClr val="tx2"/>
                </a:solidFill>
                <a:latin typeface="Trebuchet MS" pitchFamily="34" charset="0"/>
              </a:defRPr>
            </a:lvl9pPr>
          </a:lstStyle>
          <a:p>
            <a:pPr algn="l" fontAlgn="auto">
              <a:spcAft>
                <a:spcPts val="0"/>
              </a:spcAft>
              <a:defRPr/>
            </a:pPr>
            <a:r>
              <a:rPr lang="en-US" sz="3200" b="1" dirty="0" err="1">
                <a:solidFill>
                  <a:schemeClr val="accent1"/>
                </a:solidFill>
                <a:latin typeface="Times New Roman" panose="02020603050405020304" pitchFamily="18" charset="0"/>
                <a:cs typeface="Times New Roman" panose="02020603050405020304" pitchFamily="18" charset="0"/>
              </a:rPr>
              <a:t>Phương</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pháp</a:t>
            </a:r>
            <a:r>
              <a:rPr lang="en-US" sz="3200" b="1" dirty="0">
                <a:solidFill>
                  <a:schemeClr val="accent1"/>
                </a:solidFill>
                <a:latin typeface="Times New Roman" panose="02020603050405020304" pitchFamily="18" charset="0"/>
                <a:cs typeface="Times New Roman" panose="02020603050405020304" pitchFamily="18" charset="0"/>
              </a:rPr>
              <a:t> Quine-McCluskey</a:t>
            </a:r>
          </a:p>
        </p:txBody>
      </p:sp>
      <p:sp>
        <p:nvSpPr>
          <p:cNvPr id="6"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46</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771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8147-3076-7298-C145-A38E22F8CB14}"/>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E67C17F-226B-4422-CC59-5F67AF5F74FB}"/>
              </a:ext>
            </a:extLst>
          </p:cNvPr>
          <p:cNvSpPr>
            <a:spLocks noGrp="1"/>
          </p:cNvSpPr>
          <p:nvPr>
            <p:ph idx="1"/>
          </p:nvPr>
        </p:nvSpPr>
        <p:spPr>
          <a:xfrm>
            <a:off x="289775" y="1295400"/>
            <a:ext cx="7101625" cy="4525963"/>
          </a:xfrm>
        </p:spPr>
        <p:txBody>
          <a:bodyPr rtlCol="0">
            <a:normAutofit/>
          </a:bodyPr>
          <a:lstStyle/>
          <a:p>
            <a:pPr marL="82550" indent="0" algn="just">
              <a:lnSpc>
                <a:spcPct val="150000"/>
              </a:lnSpc>
              <a:buNone/>
              <a:defRPr/>
            </a:pPr>
            <a:r>
              <a:rPr lang="en-US" dirty="0">
                <a:solidFill>
                  <a:srgbClr val="002060"/>
                </a:solidFill>
                <a:cs typeface="Arial" pitchFamily="34" charset="0"/>
              </a:rPr>
              <a:t>	</a:t>
            </a:r>
            <a:r>
              <a:rPr lang="vi-VN" sz="2800" dirty="0">
                <a:solidFill>
                  <a:schemeClr val="tx1"/>
                </a:solidFill>
                <a:latin typeface="Times New Roman" panose="02020603050405020304" pitchFamily="18" charset="0"/>
                <a:cs typeface="Times New Roman" panose="02020603050405020304" pitchFamily="18" charset="0"/>
              </a:rPr>
              <a:t>Về cơ bản, phương pháp Quine-McCluskey có hai phần. Phần đầu là tìm các số hạng là ứng viên để đưa vào khai triển cực tiểu của hàm Boole như dưới </a:t>
            </a:r>
            <a:r>
              <a:rPr lang="vi-VN" sz="2800" b="1" dirty="0">
                <a:solidFill>
                  <a:schemeClr val="tx1"/>
                </a:solidFill>
                <a:latin typeface="Times New Roman" panose="02020603050405020304" pitchFamily="18" charset="0"/>
                <a:cs typeface="Times New Roman" panose="02020603050405020304" pitchFamily="18" charset="0"/>
              </a:rPr>
              <a:t>dạng chuẩn tắc tuyển</a:t>
            </a:r>
            <a:r>
              <a:rPr lang="vi-VN" sz="2800" dirty="0">
                <a:solidFill>
                  <a:schemeClr val="tx1"/>
                </a:solidFill>
                <a:latin typeface="Times New Roman" panose="02020603050405020304" pitchFamily="18" charset="0"/>
                <a:cs typeface="Times New Roman" panose="02020603050405020304" pitchFamily="18" charset="0"/>
              </a:rPr>
              <a:t>.</a:t>
            </a:r>
            <a:endParaRPr lang="en-US" dirty="0">
              <a:solidFill>
                <a:srgbClr val="002060"/>
              </a:solidFill>
            </a:endParaRPr>
          </a:p>
        </p:txBody>
      </p:sp>
      <p:sp>
        <p:nvSpPr>
          <p:cNvPr id="5" name="Title 1">
            <a:extLst>
              <a:ext uri="{FF2B5EF4-FFF2-40B4-BE49-F238E27FC236}">
                <a16:creationId xmlns:a16="http://schemas.microsoft.com/office/drawing/2014/main" id="{57E2050F-8F65-94A3-7B4E-039009851E9A}"/>
              </a:ext>
            </a:extLst>
          </p:cNvPr>
          <p:cNvSpPr txBox="1">
            <a:spLocks/>
          </p:cNvSpPr>
          <p:nvPr/>
        </p:nvSpPr>
        <p:spPr bwMode="auto">
          <a:xfrm>
            <a:off x="228600" y="3404"/>
            <a:ext cx="74977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rebuchet MS" pitchFamily="34" charset="0"/>
              </a:defRPr>
            </a:lvl2pPr>
            <a:lvl3pPr algn="ctr" rtl="0" eaLnBrk="1" fontAlgn="base" hangingPunct="1">
              <a:spcBef>
                <a:spcPct val="0"/>
              </a:spcBef>
              <a:spcAft>
                <a:spcPct val="0"/>
              </a:spcAft>
              <a:defRPr sz="3600">
                <a:solidFill>
                  <a:schemeClr val="tx2"/>
                </a:solidFill>
                <a:latin typeface="Trebuchet MS" pitchFamily="34" charset="0"/>
              </a:defRPr>
            </a:lvl3pPr>
            <a:lvl4pPr algn="ctr" rtl="0" eaLnBrk="1" fontAlgn="base" hangingPunct="1">
              <a:spcBef>
                <a:spcPct val="0"/>
              </a:spcBef>
              <a:spcAft>
                <a:spcPct val="0"/>
              </a:spcAft>
              <a:defRPr sz="3600">
                <a:solidFill>
                  <a:schemeClr val="tx2"/>
                </a:solidFill>
                <a:latin typeface="Trebuchet MS" pitchFamily="34" charset="0"/>
              </a:defRPr>
            </a:lvl4pPr>
            <a:lvl5pPr algn="ctr" rtl="0" eaLnBrk="1" fontAlgn="base" hangingPunct="1">
              <a:spcBef>
                <a:spcPct val="0"/>
              </a:spcBef>
              <a:spcAft>
                <a:spcPct val="0"/>
              </a:spcAft>
              <a:defRPr sz="3600">
                <a:solidFill>
                  <a:schemeClr val="tx2"/>
                </a:solidFill>
                <a:latin typeface="Trebuchet MS" pitchFamily="34" charset="0"/>
              </a:defRPr>
            </a:lvl5pPr>
            <a:lvl6pPr marL="457200" algn="ctr" rtl="0" eaLnBrk="1" fontAlgn="base" hangingPunct="1">
              <a:spcBef>
                <a:spcPct val="0"/>
              </a:spcBef>
              <a:spcAft>
                <a:spcPct val="0"/>
              </a:spcAft>
              <a:defRPr sz="3600">
                <a:solidFill>
                  <a:schemeClr val="tx2"/>
                </a:solidFill>
                <a:latin typeface="Trebuchet MS" pitchFamily="34" charset="0"/>
              </a:defRPr>
            </a:lvl6pPr>
            <a:lvl7pPr marL="914400" algn="ctr" rtl="0" eaLnBrk="1" fontAlgn="base" hangingPunct="1">
              <a:spcBef>
                <a:spcPct val="0"/>
              </a:spcBef>
              <a:spcAft>
                <a:spcPct val="0"/>
              </a:spcAft>
              <a:defRPr sz="3600">
                <a:solidFill>
                  <a:schemeClr val="tx2"/>
                </a:solidFill>
                <a:latin typeface="Trebuchet MS" pitchFamily="34" charset="0"/>
              </a:defRPr>
            </a:lvl7pPr>
            <a:lvl8pPr marL="1371600" algn="ctr" rtl="0" eaLnBrk="1" fontAlgn="base" hangingPunct="1">
              <a:spcBef>
                <a:spcPct val="0"/>
              </a:spcBef>
              <a:spcAft>
                <a:spcPct val="0"/>
              </a:spcAft>
              <a:defRPr sz="3600">
                <a:solidFill>
                  <a:schemeClr val="tx2"/>
                </a:solidFill>
                <a:latin typeface="Trebuchet MS" pitchFamily="34" charset="0"/>
              </a:defRPr>
            </a:lvl8pPr>
            <a:lvl9pPr marL="1828800" algn="ctr" rtl="0" eaLnBrk="1" fontAlgn="base" hangingPunct="1">
              <a:spcBef>
                <a:spcPct val="0"/>
              </a:spcBef>
              <a:spcAft>
                <a:spcPct val="0"/>
              </a:spcAft>
              <a:defRPr sz="3600">
                <a:solidFill>
                  <a:schemeClr val="tx2"/>
                </a:solidFill>
                <a:latin typeface="Trebuchet MS" pitchFamily="34" charset="0"/>
              </a:defRPr>
            </a:lvl9pPr>
          </a:lstStyle>
          <a:p>
            <a:pPr algn="l" fontAlgn="auto">
              <a:spcAft>
                <a:spcPts val="0"/>
              </a:spcAft>
              <a:defRPr/>
            </a:pPr>
            <a:r>
              <a:rPr lang="en-US" sz="3200" b="1" dirty="0" err="1">
                <a:solidFill>
                  <a:schemeClr val="accent1"/>
                </a:solidFill>
                <a:latin typeface="Times New Roman" panose="02020603050405020304" pitchFamily="18" charset="0"/>
                <a:cs typeface="Times New Roman" panose="02020603050405020304" pitchFamily="18" charset="0"/>
              </a:rPr>
              <a:t>Phương</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pháp</a:t>
            </a:r>
            <a:r>
              <a:rPr lang="en-US" sz="3200" b="1" dirty="0">
                <a:solidFill>
                  <a:schemeClr val="accent1"/>
                </a:solidFill>
                <a:latin typeface="Times New Roman" panose="02020603050405020304" pitchFamily="18" charset="0"/>
                <a:cs typeface="Times New Roman" panose="02020603050405020304" pitchFamily="18" charset="0"/>
              </a:rPr>
              <a:t> Quine-McCluskey</a:t>
            </a:r>
          </a:p>
        </p:txBody>
      </p:sp>
      <p:sp>
        <p:nvSpPr>
          <p:cNvPr id="6" name="Date Placeholder 2">
            <a:extLst>
              <a:ext uri="{FF2B5EF4-FFF2-40B4-BE49-F238E27FC236}">
                <a16:creationId xmlns:a16="http://schemas.microsoft.com/office/drawing/2014/main" id="{A077C2F3-4F64-E3E5-8A8B-54148D94A636}"/>
              </a:ext>
            </a:extLst>
          </p:cNvPr>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a:extLst>
              <a:ext uri="{FF2B5EF4-FFF2-40B4-BE49-F238E27FC236}">
                <a16:creationId xmlns:a16="http://schemas.microsoft.com/office/drawing/2014/main" id="{24E2EA0B-EA1B-3CED-F2F1-69151EEE6F8F}"/>
              </a:ext>
            </a:extLst>
          </p:cNvPr>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a:extLst>
              <a:ext uri="{FF2B5EF4-FFF2-40B4-BE49-F238E27FC236}">
                <a16:creationId xmlns:a16="http://schemas.microsoft.com/office/drawing/2014/main" id="{0384BC98-0669-EBDB-4EC1-DFA7C48CEB7B}"/>
              </a:ext>
            </a:extLst>
          </p:cNvPr>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47</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5448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23BC-B6B8-339B-B04D-AB844296450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CFDFF59-010D-B772-A577-B54CC80CF67C}"/>
              </a:ext>
            </a:extLst>
          </p:cNvPr>
          <p:cNvSpPr txBox="1">
            <a:spLocks/>
          </p:cNvSpPr>
          <p:nvPr/>
        </p:nvSpPr>
        <p:spPr bwMode="auto">
          <a:xfrm>
            <a:off x="228600" y="3404"/>
            <a:ext cx="74977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rebuchet MS" pitchFamily="34" charset="0"/>
              </a:defRPr>
            </a:lvl2pPr>
            <a:lvl3pPr algn="ctr" rtl="0" eaLnBrk="1" fontAlgn="base" hangingPunct="1">
              <a:spcBef>
                <a:spcPct val="0"/>
              </a:spcBef>
              <a:spcAft>
                <a:spcPct val="0"/>
              </a:spcAft>
              <a:defRPr sz="3600">
                <a:solidFill>
                  <a:schemeClr val="tx2"/>
                </a:solidFill>
                <a:latin typeface="Trebuchet MS" pitchFamily="34" charset="0"/>
              </a:defRPr>
            </a:lvl3pPr>
            <a:lvl4pPr algn="ctr" rtl="0" eaLnBrk="1" fontAlgn="base" hangingPunct="1">
              <a:spcBef>
                <a:spcPct val="0"/>
              </a:spcBef>
              <a:spcAft>
                <a:spcPct val="0"/>
              </a:spcAft>
              <a:defRPr sz="3600">
                <a:solidFill>
                  <a:schemeClr val="tx2"/>
                </a:solidFill>
                <a:latin typeface="Trebuchet MS" pitchFamily="34" charset="0"/>
              </a:defRPr>
            </a:lvl4pPr>
            <a:lvl5pPr algn="ctr" rtl="0" eaLnBrk="1" fontAlgn="base" hangingPunct="1">
              <a:spcBef>
                <a:spcPct val="0"/>
              </a:spcBef>
              <a:spcAft>
                <a:spcPct val="0"/>
              </a:spcAft>
              <a:defRPr sz="3600">
                <a:solidFill>
                  <a:schemeClr val="tx2"/>
                </a:solidFill>
                <a:latin typeface="Trebuchet MS" pitchFamily="34" charset="0"/>
              </a:defRPr>
            </a:lvl5pPr>
            <a:lvl6pPr marL="457200" algn="ctr" rtl="0" eaLnBrk="1" fontAlgn="base" hangingPunct="1">
              <a:spcBef>
                <a:spcPct val="0"/>
              </a:spcBef>
              <a:spcAft>
                <a:spcPct val="0"/>
              </a:spcAft>
              <a:defRPr sz="3600">
                <a:solidFill>
                  <a:schemeClr val="tx2"/>
                </a:solidFill>
                <a:latin typeface="Trebuchet MS" pitchFamily="34" charset="0"/>
              </a:defRPr>
            </a:lvl6pPr>
            <a:lvl7pPr marL="914400" algn="ctr" rtl="0" eaLnBrk="1" fontAlgn="base" hangingPunct="1">
              <a:spcBef>
                <a:spcPct val="0"/>
              </a:spcBef>
              <a:spcAft>
                <a:spcPct val="0"/>
              </a:spcAft>
              <a:defRPr sz="3600">
                <a:solidFill>
                  <a:schemeClr val="tx2"/>
                </a:solidFill>
                <a:latin typeface="Trebuchet MS" pitchFamily="34" charset="0"/>
              </a:defRPr>
            </a:lvl7pPr>
            <a:lvl8pPr marL="1371600" algn="ctr" rtl="0" eaLnBrk="1" fontAlgn="base" hangingPunct="1">
              <a:spcBef>
                <a:spcPct val="0"/>
              </a:spcBef>
              <a:spcAft>
                <a:spcPct val="0"/>
              </a:spcAft>
              <a:defRPr sz="3600">
                <a:solidFill>
                  <a:schemeClr val="tx2"/>
                </a:solidFill>
                <a:latin typeface="Trebuchet MS" pitchFamily="34" charset="0"/>
              </a:defRPr>
            </a:lvl8pPr>
            <a:lvl9pPr marL="1828800" algn="ctr" rtl="0" eaLnBrk="1" fontAlgn="base" hangingPunct="1">
              <a:spcBef>
                <a:spcPct val="0"/>
              </a:spcBef>
              <a:spcAft>
                <a:spcPct val="0"/>
              </a:spcAft>
              <a:defRPr sz="3600">
                <a:solidFill>
                  <a:schemeClr val="tx2"/>
                </a:solidFill>
                <a:latin typeface="Trebuchet MS" pitchFamily="34" charset="0"/>
              </a:defRPr>
            </a:lvl9pPr>
          </a:lstStyle>
          <a:p>
            <a:pPr algn="l" fontAlgn="auto">
              <a:spcAft>
                <a:spcPts val="0"/>
              </a:spcAft>
              <a:defRPr/>
            </a:pPr>
            <a:r>
              <a:rPr lang="en-US" sz="3200" b="1" dirty="0" err="1">
                <a:solidFill>
                  <a:schemeClr val="accent1"/>
                </a:solidFill>
                <a:latin typeface="Times New Roman" panose="02020603050405020304" pitchFamily="18" charset="0"/>
                <a:cs typeface="Times New Roman" panose="02020603050405020304" pitchFamily="18" charset="0"/>
              </a:rPr>
              <a:t>Dạng</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chuẩn</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tắc</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tuyển</a:t>
            </a:r>
            <a:endParaRPr lang="en-US" sz="3200" b="1" dirty="0">
              <a:solidFill>
                <a:schemeClr val="accent1"/>
              </a:solidFill>
              <a:latin typeface="Times New Roman" panose="02020603050405020304" pitchFamily="18" charset="0"/>
              <a:cs typeface="Times New Roman" panose="02020603050405020304" pitchFamily="18" charset="0"/>
            </a:endParaRPr>
          </a:p>
        </p:txBody>
      </p:sp>
      <p:sp>
        <p:nvSpPr>
          <p:cNvPr id="6" name="Date Placeholder 2">
            <a:extLst>
              <a:ext uri="{FF2B5EF4-FFF2-40B4-BE49-F238E27FC236}">
                <a16:creationId xmlns:a16="http://schemas.microsoft.com/office/drawing/2014/main" id="{C719D5CC-E1E7-05FD-5AFF-C3CBB90C2E97}"/>
              </a:ext>
            </a:extLst>
          </p:cNvPr>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a:extLst>
              <a:ext uri="{FF2B5EF4-FFF2-40B4-BE49-F238E27FC236}">
                <a16:creationId xmlns:a16="http://schemas.microsoft.com/office/drawing/2014/main" id="{D99DCD9B-430D-10AB-ECA3-492A0012AB96}"/>
              </a:ext>
            </a:extLst>
          </p:cNvPr>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a:extLst>
              <a:ext uri="{FF2B5EF4-FFF2-40B4-BE49-F238E27FC236}">
                <a16:creationId xmlns:a16="http://schemas.microsoft.com/office/drawing/2014/main" id="{EEDBFDA6-3911-B45C-01E7-A3CDCBEE7E7D}"/>
              </a:ext>
            </a:extLst>
          </p:cNvPr>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48</a:t>
            </a:fld>
            <a:endParaRPr lang="en-US" sz="2000">
              <a:solidFill>
                <a:schemeClr val="tx2"/>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5EB081C6-9C72-370F-F340-9BB138D732C7}"/>
              </a:ext>
            </a:extLst>
          </p:cNvPr>
          <p:cNvPicPr>
            <a:picLocks noChangeAspect="1"/>
          </p:cNvPicPr>
          <p:nvPr/>
        </p:nvPicPr>
        <p:blipFill>
          <a:blip r:embed="rId2"/>
          <a:stretch>
            <a:fillRect/>
          </a:stretch>
        </p:blipFill>
        <p:spPr>
          <a:xfrm>
            <a:off x="380998" y="2886355"/>
            <a:ext cx="6805107" cy="2714929"/>
          </a:xfrm>
          <a:prstGeom prst="rect">
            <a:avLst/>
          </a:prstGeom>
        </p:spPr>
      </p:pic>
      <p:pic>
        <p:nvPicPr>
          <p:cNvPr id="14" name="Picture 13">
            <a:extLst>
              <a:ext uri="{FF2B5EF4-FFF2-40B4-BE49-F238E27FC236}">
                <a16:creationId xmlns:a16="http://schemas.microsoft.com/office/drawing/2014/main" id="{B934D1A2-E34F-CE1F-E21C-404C09E78403}"/>
              </a:ext>
            </a:extLst>
          </p:cNvPr>
          <p:cNvPicPr>
            <a:picLocks noChangeAspect="1"/>
          </p:cNvPicPr>
          <p:nvPr/>
        </p:nvPicPr>
        <p:blipFill>
          <a:blip r:embed="rId3"/>
          <a:stretch>
            <a:fillRect/>
          </a:stretch>
        </p:blipFill>
        <p:spPr>
          <a:xfrm>
            <a:off x="615687" y="5601284"/>
            <a:ext cx="6335731" cy="875670"/>
          </a:xfrm>
          <a:prstGeom prst="rect">
            <a:avLst/>
          </a:prstGeom>
        </p:spPr>
      </p:pic>
      <p:sp>
        <p:nvSpPr>
          <p:cNvPr id="15" name="Content Placeholder 2">
            <a:extLst>
              <a:ext uri="{FF2B5EF4-FFF2-40B4-BE49-F238E27FC236}">
                <a16:creationId xmlns:a16="http://schemas.microsoft.com/office/drawing/2014/main" id="{2843DA0A-D7F2-DC2F-5D83-AB12502629CA}"/>
              </a:ext>
            </a:extLst>
          </p:cNvPr>
          <p:cNvSpPr>
            <a:spLocks noGrp="1"/>
          </p:cNvSpPr>
          <p:nvPr>
            <p:ph idx="1"/>
          </p:nvPr>
        </p:nvSpPr>
        <p:spPr>
          <a:xfrm>
            <a:off x="198455" y="914401"/>
            <a:ext cx="7101625" cy="1371600"/>
          </a:xfrm>
        </p:spPr>
        <p:txBody>
          <a:bodyPr rtlCol="0">
            <a:normAutofit/>
          </a:bodyPr>
          <a:lstStyle/>
          <a:p>
            <a:pPr marL="82550" indent="0" algn="just">
              <a:lnSpc>
                <a:spcPct val="150000"/>
              </a:lnSpc>
              <a:buNone/>
              <a:defRPr/>
            </a:pPr>
            <a:r>
              <a:rPr lang="en-US" sz="2800" dirty="0">
                <a:solidFill>
                  <a:schemeClr val="tx1"/>
                </a:solidFill>
                <a:latin typeface="Times New Roman" panose="02020603050405020304" pitchFamily="18" charset="0"/>
                <a:cs typeface="Times New Roman" panose="02020603050405020304" pitchFamily="18" charset="0"/>
              </a:rPr>
              <a:t>L</a:t>
            </a:r>
            <a:r>
              <a:rPr lang="vi-VN" sz="2800" dirty="0">
                <a:solidFill>
                  <a:schemeClr val="tx1"/>
                </a:solidFill>
                <a:latin typeface="Times New Roman" panose="02020603050405020304" pitchFamily="18" charset="0"/>
                <a:cs typeface="Times New Roman" panose="02020603050405020304" pitchFamily="18" charset="0"/>
              </a:rPr>
              <a:t>à một biểu diễn của hàm Boolean dưới dạng tổng (OR) của các tích chuẩn tắc</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hội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sơ</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cấp</a:t>
            </a:r>
            <a:r>
              <a:rPr lang="en-US" sz="28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141623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78EC7-F461-63BE-EB13-8102D9095DA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D2B9B3-E3BD-C53F-3B27-AE5BC2B6AAC3}"/>
              </a:ext>
            </a:extLst>
          </p:cNvPr>
          <p:cNvSpPr txBox="1">
            <a:spLocks/>
          </p:cNvSpPr>
          <p:nvPr/>
        </p:nvSpPr>
        <p:spPr bwMode="auto">
          <a:xfrm>
            <a:off x="228600" y="3404"/>
            <a:ext cx="74977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Trebuchet MS" pitchFamily="34" charset="0"/>
              </a:defRPr>
            </a:lvl2pPr>
            <a:lvl3pPr algn="ctr" rtl="0" eaLnBrk="1" fontAlgn="base" hangingPunct="1">
              <a:spcBef>
                <a:spcPct val="0"/>
              </a:spcBef>
              <a:spcAft>
                <a:spcPct val="0"/>
              </a:spcAft>
              <a:defRPr sz="3600">
                <a:solidFill>
                  <a:schemeClr val="tx2"/>
                </a:solidFill>
                <a:latin typeface="Trebuchet MS" pitchFamily="34" charset="0"/>
              </a:defRPr>
            </a:lvl3pPr>
            <a:lvl4pPr algn="ctr" rtl="0" eaLnBrk="1" fontAlgn="base" hangingPunct="1">
              <a:spcBef>
                <a:spcPct val="0"/>
              </a:spcBef>
              <a:spcAft>
                <a:spcPct val="0"/>
              </a:spcAft>
              <a:defRPr sz="3600">
                <a:solidFill>
                  <a:schemeClr val="tx2"/>
                </a:solidFill>
                <a:latin typeface="Trebuchet MS" pitchFamily="34" charset="0"/>
              </a:defRPr>
            </a:lvl4pPr>
            <a:lvl5pPr algn="ctr" rtl="0" eaLnBrk="1" fontAlgn="base" hangingPunct="1">
              <a:spcBef>
                <a:spcPct val="0"/>
              </a:spcBef>
              <a:spcAft>
                <a:spcPct val="0"/>
              </a:spcAft>
              <a:defRPr sz="3600">
                <a:solidFill>
                  <a:schemeClr val="tx2"/>
                </a:solidFill>
                <a:latin typeface="Trebuchet MS" pitchFamily="34" charset="0"/>
              </a:defRPr>
            </a:lvl5pPr>
            <a:lvl6pPr marL="457200" algn="ctr" rtl="0" eaLnBrk="1" fontAlgn="base" hangingPunct="1">
              <a:spcBef>
                <a:spcPct val="0"/>
              </a:spcBef>
              <a:spcAft>
                <a:spcPct val="0"/>
              </a:spcAft>
              <a:defRPr sz="3600">
                <a:solidFill>
                  <a:schemeClr val="tx2"/>
                </a:solidFill>
                <a:latin typeface="Trebuchet MS" pitchFamily="34" charset="0"/>
              </a:defRPr>
            </a:lvl6pPr>
            <a:lvl7pPr marL="914400" algn="ctr" rtl="0" eaLnBrk="1" fontAlgn="base" hangingPunct="1">
              <a:spcBef>
                <a:spcPct val="0"/>
              </a:spcBef>
              <a:spcAft>
                <a:spcPct val="0"/>
              </a:spcAft>
              <a:defRPr sz="3600">
                <a:solidFill>
                  <a:schemeClr val="tx2"/>
                </a:solidFill>
                <a:latin typeface="Trebuchet MS" pitchFamily="34" charset="0"/>
              </a:defRPr>
            </a:lvl7pPr>
            <a:lvl8pPr marL="1371600" algn="ctr" rtl="0" eaLnBrk="1" fontAlgn="base" hangingPunct="1">
              <a:spcBef>
                <a:spcPct val="0"/>
              </a:spcBef>
              <a:spcAft>
                <a:spcPct val="0"/>
              </a:spcAft>
              <a:defRPr sz="3600">
                <a:solidFill>
                  <a:schemeClr val="tx2"/>
                </a:solidFill>
                <a:latin typeface="Trebuchet MS" pitchFamily="34" charset="0"/>
              </a:defRPr>
            </a:lvl8pPr>
            <a:lvl9pPr marL="1828800" algn="ctr" rtl="0" eaLnBrk="1" fontAlgn="base" hangingPunct="1">
              <a:spcBef>
                <a:spcPct val="0"/>
              </a:spcBef>
              <a:spcAft>
                <a:spcPct val="0"/>
              </a:spcAft>
              <a:defRPr sz="3600">
                <a:solidFill>
                  <a:schemeClr val="tx2"/>
                </a:solidFill>
                <a:latin typeface="Trebuchet MS" pitchFamily="34" charset="0"/>
              </a:defRPr>
            </a:lvl9pPr>
          </a:lstStyle>
          <a:p>
            <a:pPr algn="l" fontAlgn="auto">
              <a:spcAft>
                <a:spcPts val="0"/>
              </a:spcAft>
              <a:defRPr/>
            </a:pPr>
            <a:r>
              <a:rPr lang="en-US" sz="3200" b="1" dirty="0" err="1">
                <a:solidFill>
                  <a:schemeClr val="accent1"/>
                </a:solidFill>
                <a:latin typeface="Times New Roman" panose="02020603050405020304" pitchFamily="18" charset="0"/>
                <a:cs typeface="Times New Roman" panose="02020603050405020304" pitchFamily="18" charset="0"/>
              </a:rPr>
              <a:t>Ký</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hiệu</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hội</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sơ</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cấp</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và</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phép</a:t>
            </a:r>
            <a:r>
              <a:rPr lang="en-US" sz="3200" b="1" dirty="0">
                <a:solidFill>
                  <a:schemeClr val="accent1"/>
                </a:solidFill>
                <a:latin typeface="Times New Roman" panose="02020603050405020304" pitchFamily="18" charset="0"/>
                <a:cs typeface="Times New Roman" panose="02020603050405020304" pitchFamily="18" charset="0"/>
              </a:rPr>
              <a:t> </a:t>
            </a:r>
            <a:r>
              <a:rPr lang="en-US" sz="3200" b="1" dirty="0" err="1">
                <a:solidFill>
                  <a:schemeClr val="accent1"/>
                </a:solidFill>
                <a:latin typeface="Times New Roman" panose="02020603050405020304" pitchFamily="18" charset="0"/>
                <a:cs typeface="Times New Roman" panose="02020603050405020304" pitchFamily="18" charset="0"/>
              </a:rPr>
              <a:t>dán</a:t>
            </a:r>
            <a:endParaRPr lang="en-US" sz="3200" b="1" dirty="0">
              <a:solidFill>
                <a:schemeClr val="accent1"/>
              </a:solidFill>
              <a:latin typeface="Times New Roman" panose="02020603050405020304" pitchFamily="18" charset="0"/>
              <a:cs typeface="Times New Roman" panose="02020603050405020304" pitchFamily="18" charset="0"/>
            </a:endParaRPr>
          </a:p>
        </p:txBody>
      </p:sp>
      <p:sp>
        <p:nvSpPr>
          <p:cNvPr id="6" name="Date Placeholder 2">
            <a:extLst>
              <a:ext uri="{FF2B5EF4-FFF2-40B4-BE49-F238E27FC236}">
                <a16:creationId xmlns:a16="http://schemas.microsoft.com/office/drawing/2014/main" id="{F807902D-C376-5824-759B-439679C91AF6}"/>
              </a:ext>
            </a:extLst>
          </p:cNvPr>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7" name="Footer Placeholder 5">
            <a:extLst>
              <a:ext uri="{FF2B5EF4-FFF2-40B4-BE49-F238E27FC236}">
                <a16:creationId xmlns:a16="http://schemas.microsoft.com/office/drawing/2014/main" id="{0864406E-FF05-509F-5418-F257DE018C74}"/>
              </a:ext>
            </a:extLst>
          </p:cNvPr>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8" name="Slide Number Placeholder 6">
            <a:extLst>
              <a:ext uri="{FF2B5EF4-FFF2-40B4-BE49-F238E27FC236}">
                <a16:creationId xmlns:a16="http://schemas.microsoft.com/office/drawing/2014/main" id="{E139317D-BF9E-41D9-A969-69151BF2D0DF}"/>
              </a:ext>
            </a:extLst>
          </p:cNvPr>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49</a:t>
            </a:fld>
            <a:endParaRPr lang="en-US" sz="2000">
              <a:solidFill>
                <a:schemeClr val="tx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FB464CF-6044-BA5F-C94C-0D2190A7A44F}"/>
              </a:ext>
            </a:extLst>
          </p:cNvPr>
          <p:cNvPicPr>
            <a:picLocks noChangeAspect="1"/>
          </p:cNvPicPr>
          <p:nvPr/>
        </p:nvPicPr>
        <p:blipFill>
          <a:blip r:embed="rId2"/>
          <a:stretch>
            <a:fillRect/>
          </a:stretch>
        </p:blipFill>
        <p:spPr>
          <a:xfrm>
            <a:off x="457200" y="1447800"/>
            <a:ext cx="4896533" cy="600116"/>
          </a:xfrm>
          <a:prstGeom prst="rect">
            <a:avLst/>
          </a:prstGeom>
        </p:spPr>
      </p:pic>
      <p:sp>
        <p:nvSpPr>
          <p:cNvPr id="4" name="Content Placeholder 2">
            <a:extLst>
              <a:ext uri="{FF2B5EF4-FFF2-40B4-BE49-F238E27FC236}">
                <a16:creationId xmlns:a16="http://schemas.microsoft.com/office/drawing/2014/main" id="{C0A94702-2398-2E22-7986-C92588122B83}"/>
              </a:ext>
            </a:extLst>
          </p:cNvPr>
          <p:cNvSpPr>
            <a:spLocks noGrp="1"/>
          </p:cNvSpPr>
          <p:nvPr>
            <p:ph idx="1"/>
          </p:nvPr>
        </p:nvSpPr>
        <p:spPr>
          <a:xfrm>
            <a:off x="8010" y="2328633"/>
            <a:ext cx="7101625" cy="2167167"/>
          </a:xfrm>
        </p:spPr>
        <p:txBody>
          <a:bodyPr rtlCol="0">
            <a:normAutofit/>
          </a:bodyPr>
          <a:lstStyle/>
          <a:p>
            <a:pPr marL="82550" indent="0" algn="just">
              <a:lnSpc>
                <a:spcPct val="150000"/>
              </a:lnSpc>
              <a:buNone/>
              <a:defRPr/>
            </a:pPr>
            <a:r>
              <a:rPr lang="vi-VN" sz="2800" dirty="0">
                <a:solidFill>
                  <a:srgbClr val="002060"/>
                </a:solidFill>
                <a:latin typeface="Times New Roman" panose="02020603050405020304" pitchFamily="18" charset="0"/>
                <a:cs typeface="Times New Roman" panose="02020603050405020304" pitchFamily="18" charset="0"/>
              </a:rPr>
              <a:t>Phép dán là quá trình kết hợp các </a:t>
            </a:r>
            <a:r>
              <a:rPr lang="en-US" sz="2800" dirty="0" err="1">
                <a:solidFill>
                  <a:srgbClr val="002060"/>
                </a:solidFill>
                <a:latin typeface="Times New Roman" panose="02020603050405020304" pitchFamily="18" charset="0"/>
                <a:cs typeface="Times New Roman" panose="02020603050405020304" pitchFamily="18" charset="0"/>
              </a:rPr>
              <a:t>hội</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sơ</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cấp</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khác</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nhau</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đúng</a:t>
            </a:r>
            <a:r>
              <a:rPr lang="en-US" sz="2800" dirty="0">
                <a:solidFill>
                  <a:srgbClr val="002060"/>
                </a:solidFill>
                <a:latin typeface="Times New Roman" panose="02020603050405020304" pitchFamily="18" charset="0"/>
                <a:cs typeface="Times New Roman" panose="02020603050405020304" pitchFamily="18" charset="0"/>
              </a:rPr>
              <a:t> </a:t>
            </a:r>
            <a:r>
              <a:rPr lang="en-US" sz="2800" dirty="0" err="1">
                <a:solidFill>
                  <a:srgbClr val="002060"/>
                </a:solidFill>
                <a:latin typeface="Times New Roman" panose="02020603050405020304" pitchFamily="18" charset="0"/>
                <a:cs typeface="Times New Roman" panose="02020603050405020304" pitchFamily="18" charset="0"/>
              </a:rPr>
              <a:t>một</a:t>
            </a:r>
            <a:r>
              <a:rPr lang="en-US" sz="2800" dirty="0">
                <a:solidFill>
                  <a:srgbClr val="002060"/>
                </a:solidFill>
                <a:latin typeface="Times New Roman" panose="02020603050405020304" pitchFamily="18" charset="0"/>
                <a:cs typeface="Times New Roman" panose="02020603050405020304" pitchFamily="18" charset="0"/>
              </a:rPr>
              <a:t> bit</a:t>
            </a:r>
            <a:r>
              <a:rPr lang="vi-VN" sz="2800" dirty="0">
                <a:solidFill>
                  <a:srgbClr val="002060"/>
                </a:solidFill>
                <a:latin typeface="Times New Roman" panose="02020603050405020304" pitchFamily="18" charset="0"/>
                <a:cs typeface="Times New Roman" panose="02020603050405020304" pitchFamily="18" charset="0"/>
              </a:rPr>
              <a:t> có thể rút gọn để tạo ra các biểu thức đơn giản hơn.</a:t>
            </a:r>
            <a:endParaRPr lang="en-US" sz="2800" dirty="0">
              <a:solidFill>
                <a:srgbClr val="00206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755B3DE-C43B-4886-0385-37F9FCAA9DD8}"/>
              </a:ext>
            </a:extLst>
          </p:cNvPr>
          <p:cNvPicPr>
            <a:picLocks noChangeAspect="1"/>
          </p:cNvPicPr>
          <p:nvPr/>
        </p:nvPicPr>
        <p:blipFill>
          <a:blip r:embed="rId3"/>
          <a:stretch>
            <a:fillRect/>
          </a:stretch>
        </p:blipFill>
        <p:spPr>
          <a:xfrm>
            <a:off x="2667000" y="4609153"/>
            <a:ext cx="2981699" cy="871841"/>
          </a:xfrm>
          <a:prstGeom prst="rect">
            <a:avLst/>
          </a:prstGeom>
        </p:spPr>
      </p:pic>
    </p:spTree>
    <p:extLst>
      <p:ext uri="{BB962C8B-B14F-4D97-AF65-F5344CB8AC3E}">
        <p14:creationId xmlns:p14="http://schemas.microsoft.com/office/powerpoint/2010/main" val="33351554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0" y="1066800"/>
            <a:ext cx="7499350" cy="4343400"/>
          </a:xfrm>
        </p:spPr>
        <p:txBody>
          <a:bodyPr>
            <a:normAutofit/>
          </a:bodyPr>
          <a:lstStyle/>
          <a:p>
            <a:pPr marL="82550" indent="0">
              <a:buFont typeface="Wingdings 2" panose="05020102010507070707" pitchFamily="18" charset="2"/>
              <a:buNone/>
            </a:pPr>
            <a:r>
              <a:rPr lang="vi-VN" sz="2800" b="1" dirty="0">
                <a:solidFill>
                  <a:schemeClr val="accent2"/>
                </a:solidFill>
                <a:latin typeface="Times New Roman" panose="02020603050405020304" pitchFamily="18" charset="0"/>
                <a:cs typeface="Times New Roman" panose="02020603050405020304" pitchFamily="18" charset="0"/>
              </a:rPr>
              <a:t>Ph</a:t>
            </a:r>
            <a:r>
              <a:rPr lang="en-US" sz="2800" b="1" dirty="0">
                <a:solidFill>
                  <a:schemeClr val="accent2"/>
                </a:solidFill>
                <a:latin typeface="Times New Roman" panose="02020603050405020304" pitchFamily="18" charset="0"/>
                <a:cs typeface="Times New Roman" panose="02020603050405020304" pitchFamily="18" charset="0"/>
              </a:rPr>
              <a:t>ư</a:t>
            </a:r>
            <a:r>
              <a:rPr lang="vi-VN" sz="2800" b="1" dirty="0">
                <a:solidFill>
                  <a:schemeClr val="accent2"/>
                </a:solidFill>
                <a:latin typeface="Times New Roman" panose="02020603050405020304" pitchFamily="18" charset="0"/>
                <a:cs typeface="Times New Roman" panose="02020603050405020304" pitchFamily="18" charset="0"/>
              </a:rPr>
              <a:t>ơng pháp Quine-McCluskey tìm dạng tổng chuẩn tắc thu gọn: </a:t>
            </a:r>
            <a:endParaRPr lang="en-US" sz="2800" b="1" dirty="0">
              <a:solidFill>
                <a:schemeClr val="accent2"/>
              </a:solidFill>
              <a:latin typeface="Times New Roman" panose="02020603050405020304" pitchFamily="18" charset="0"/>
              <a:cs typeface="Times New Roman" panose="02020603050405020304" pitchFamily="18" charset="0"/>
            </a:endParaRPr>
          </a:p>
          <a:p>
            <a:pPr marL="82550" indent="0">
              <a:buFont typeface="Wingdings 2" panose="05020102010507070707" pitchFamily="18" charset="2"/>
              <a:buNone/>
            </a:pPr>
            <a:r>
              <a:rPr lang="vi-VN" sz="2800" b="1" u="sng" dirty="0">
                <a:latin typeface="Times New Roman" panose="02020603050405020304" pitchFamily="18" charset="0"/>
                <a:cs typeface="Times New Roman" panose="02020603050405020304" pitchFamily="18" charset="0"/>
              </a:rPr>
              <a:t>B</a:t>
            </a:r>
            <a:r>
              <a:rPr lang="en-US" sz="2800" b="1" u="sng" dirty="0">
                <a:latin typeface="Times New Roman" panose="02020603050405020304" pitchFamily="18" charset="0"/>
                <a:cs typeface="Times New Roman" panose="02020603050405020304" pitchFamily="18" charset="0"/>
              </a:rPr>
              <a:t>ư</a:t>
            </a:r>
            <a:r>
              <a:rPr lang="vi-VN" sz="2800" b="1" u="sng" dirty="0">
                <a:latin typeface="Times New Roman" panose="02020603050405020304" pitchFamily="18" charset="0"/>
                <a:cs typeface="Times New Roman" panose="02020603050405020304" pitchFamily="18" charset="0"/>
              </a:rPr>
              <a:t>ớc 1: </a:t>
            </a:r>
            <a:r>
              <a:rPr lang="vi-VN" sz="2800" dirty="0">
                <a:latin typeface="Times New Roman" panose="02020603050405020304" pitchFamily="18" charset="0"/>
                <a:cs typeface="Times New Roman" panose="02020603050405020304" pitchFamily="18" charset="0"/>
              </a:rPr>
              <a:t>Viết vào cột thứ nhất các biểu diễn của các nguyên nhân hạng n của hàm Boole </a:t>
            </a:r>
            <a:r>
              <a:rPr lang="vi-VN" sz="2800" i="1" dirty="0">
                <a:latin typeface="Times New Roman" panose="02020603050405020304" pitchFamily="18" charset="0"/>
                <a:cs typeface="Times New Roman" panose="02020603050405020304" pitchFamily="18" charset="0"/>
              </a:rPr>
              <a:t>F</a:t>
            </a:r>
            <a:r>
              <a:rPr lang="vi-VN" sz="2800" dirty="0">
                <a:latin typeface="Times New Roman" panose="02020603050405020304" pitchFamily="18" charset="0"/>
                <a:cs typeface="Times New Roman" panose="02020603050405020304" pitchFamily="18" charset="0"/>
              </a:rPr>
              <a:t>. Các biểu diễn được chia thành từng nhóm, các biểu diễn trong mỗi nhóm có số các ký hiệu 1 bằng nhau và các nhóm xếp theo thứ tự số các ký hiệu 1 tăng dần. </a:t>
            </a:r>
          </a:p>
        </p:txBody>
      </p:sp>
      <p:sp>
        <p:nvSpPr>
          <p:cNvPr id="3"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4"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5"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50</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66350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81000" y="838200"/>
            <a:ext cx="7086600" cy="5254396"/>
          </a:xfrm>
        </p:spPr>
        <p:txBody>
          <a:bodyPr rtlCol="0">
            <a:normAutofit lnSpcReduction="10000"/>
          </a:bodyPr>
          <a:lstStyle/>
          <a:p>
            <a:pPr marL="0" indent="0" fontAlgn="auto">
              <a:spcAft>
                <a:spcPts val="0"/>
              </a:spcAft>
              <a:buFont typeface="Arial" panose="020B0604020202020204" pitchFamily="34" charset="0"/>
              <a:buNone/>
              <a:defRPr/>
            </a:pPr>
            <a:r>
              <a:rPr lang="vi-VN" sz="2800" b="1" u="sng" dirty="0">
                <a:latin typeface="Times New Roman" panose="02020603050405020304" pitchFamily="18" charset="0"/>
                <a:cs typeface="Times New Roman" panose="02020603050405020304" pitchFamily="18" charset="0"/>
              </a:rPr>
              <a:t>B</a:t>
            </a:r>
            <a:r>
              <a:rPr lang="en-US" sz="2800" b="1" u="sng" dirty="0">
                <a:latin typeface="Times New Roman" panose="02020603050405020304" pitchFamily="18" charset="0"/>
                <a:cs typeface="Times New Roman" panose="02020603050405020304" pitchFamily="18" charset="0"/>
              </a:rPr>
              <a:t>ư</a:t>
            </a:r>
            <a:r>
              <a:rPr lang="vi-VN" sz="2800" b="1" u="sng" dirty="0">
                <a:latin typeface="Times New Roman" panose="02020603050405020304" pitchFamily="18" charset="0"/>
                <a:cs typeface="Times New Roman" panose="02020603050405020304" pitchFamily="18" charset="0"/>
              </a:rPr>
              <a:t>ớc 2:</a:t>
            </a:r>
            <a:r>
              <a:rPr lang="vi-VN" sz="2800" b="1"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Lần lượt thực hiện tất cả các phép dán các biểu diễn trong nhóm i với các biểu diễn trong nhóm i+1 (i=1, 2, …). </a:t>
            </a:r>
            <a:endParaRPr lang="en-US" sz="2800" dirty="0">
              <a:latin typeface="Times New Roman" panose="02020603050405020304" pitchFamily="18" charset="0"/>
              <a:cs typeface="Times New Roman" panose="02020603050405020304" pitchFamily="18" charset="0"/>
            </a:endParaRPr>
          </a:p>
          <a:p>
            <a:pPr fontAlgn="auto">
              <a:spcAft>
                <a:spcPts val="0"/>
              </a:spcAft>
              <a:buFontTx/>
              <a:buChar char="-"/>
              <a:defRPr/>
            </a:pPr>
            <a:r>
              <a:rPr lang="vi-VN" sz="2800" dirty="0">
                <a:latin typeface="Times New Roman" panose="02020603050405020304" pitchFamily="18" charset="0"/>
                <a:cs typeface="Times New Roman" panose="02020603050405020304" pitchFamily="18" charset="0"/>
              </a:rPr>
              <a:t>Biểu diễn nào tham gia ít nhất một phép dán sẽ được ghi nhận một dấu * bên cạnh. </a:t>
            </a:r>
            <a:endParaRPr lang="en-US" sz="2800" dirty="0">
              <a:latin typeface="Times New Roman" panose="02020603050405020304" pitchFamily="18" charset="0"/>
              <a:cs typeface="Times New Roman" panose="02020603050405020304" pitchFamily="18" charset="0"/>
            </a:endParaRPr>
          </a:p>
          <a:p>
            <a:pPr fontAlgn="auto">
              <a:spcAft>
                <a:spcPts val="0"/>
              </a:spcAft>
              <a:buFontTx/>
              <a:buChar char="-"/>
              <a:defRPr/>
            </a:pPr>
            <a:r>
              <a:rPr lang="vi-VN" sz="2800" dirty="0">
                <a:latin typeface="Times New Roman" panose="02020603050405020304" pitchFamily="18" charset="0"/>
                <a:cs typeface="Times New Roman" panose="02020603050405020304" pitchFamily="18" charset="0"/>
              </a:rPr>
              <a:t>Kết quả dán được ghi vào cột tiếp theo. </a:t>
            </a:r>
            <a:endParaRPr lang="en-US" sz="2800" dirty="0">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defRPr/>
            </a:pPr>
            <a:endParaRPr lang="vi-VN" sz="2800" dirty="0">
              <a:latin typeface="Times New Roman" panose="02020603050405020304" pitchFamily="18" charset="0"/>
              <a:cs typeface="Times New Roman" panose="02020603050405020304" pitchFamily="18" charset="0"/>
            </a:endParaRPr>
          </a:p>
          <a:p>
            <a:pPr marL="0" indent="0" fontAlgn="auto">
              <a:spcAft>
                <a:spcPts val="0"/>
              </a:spcAft>
              <a:buFont typeface="Arial" panose="020B0604020202020204" pitchFamily="34" charset="0"/>
              <a:buNone/>
              <a:defRPr/>
            </a:pPr>
            <a:r>
              <a:rPr lang="vi-VN" sz="2800" b="1" u="sng" dirty="0">
                <a:latin typeface="Times New Roman" panose="02020603050405020304" pitchFamily="18" charset="0"/>
                <a:cs typeface="Times New Roman" panose="02020603050405020304" pitchFamily="18" charset="0"/>
              </a:rPr>
              <a:t>B</a:t>
            </a:r>
            <a:r>
              <a:rPr lang="en-US" sz="2800" b="1" u="sng" dirty="0">
                <a:latin typeface="Times New Roman" panose="02020603050405020304" pitchFamily="18" charset="0"/>
                <a:cs typeface="Times New Roman" panose="02020603050405020304" pitchFamily="18" charset="0"/>
              </a:rPr>
              <a:t>ư</a:t>
            </a:r>
            <a:r>
              <a:rPr lang="vi-VN" sz="2800" b="1" u="sng" dirty="0">
                <a:latin typeface="Times New Roman" panose="02020603050405020304" pitchFamily="18" charset="0"/>
                <a:cs typeface="Times New Roman" panose="02020603050405020304" pitchFamily="18" charset="0"/>
              </a:rPr>
              <a:t>ớc 3: </a:t>
            </a:r>
            <a:r>
              <a:rPr lang="vi-VN" sz="2800" dirty="0">
                <a:latin typeface="Times New Roman" panose="02020603050405020304" pitchFamily="18" charset="0"/>
                <a:cs typeface="Times New Roman" panose="02020603050405020304" pitchFamily="18" charset="0"/>
              </a:rPr>
              <a:t>Lặp lại Bước 2 cho cột kế tiếp cho đến khi không thu thêm được cột nào mới. Khi đó tất cả các biểu diễn không có dấu * sẽ cho ta tất cả các nguyên nhân nguyên tố của </a:t>
            </a:r>
            <a:r>
              <a:rPr lang="vi-VN" sz="2800" i="1" dirty="0">
                <a:latin typeface="Times New Roman" panose="02020603050405020304" pitchFamily="18" charset="0"/>
                <a:cs typeface="Times New Roman" panose="02020603050405020304" pitchFamily="18" charset="0"/>
              </a:rPr>
              <a:t>F</a:t>
            </a:r>
            <a:r>
              <a:rPr lang="vi-VN"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5"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6" name="Slide Number Placeholder 6"/>
          <p:cNvSpPr>
            <a:spLocks noGrp="1"/>
          </p:cNvSpPr>
          <p:nvPr>
            <p:ph type="sldNum" sz="quarter" idx="12"/>
          </p:nvPr>
        </p:nvSpPr>
        <p:spPr>
          <a:xfrm>
            <a:off x="7848600" y="6492874"/>
            <a:ext cx="12222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51</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8624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down)">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4876800"/>
            <a:ext cx="7516494" cy="70707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609600"/>
            <a:ext cx="7772400" cy="950897"/>
          </a:xfrm>
          <a:prstGeom prst="rect">
            <a:avLst/>
          </a:prstGeom>
        </p:spPr>
      </p:pic>
      <p:sp>
        <p:nvSpPr>
          <p:cNvPr id="8"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9"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10"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52</a:t>
            </a:fld>
            <a:endParaRPr lang="en-US" sz="2000">
              <a:solidFill>
                <a:schemeClr val="tx2"/>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1495742"/>
            <a:ext cx="7010400" cy="3381058"/>
          </a:xfrm>
          <a:prstGeom prst="rect">
            <a:avLst/>
          </a:prstGeom>
        </p:spPr>
      </p:pic>
    </p:spTree>
    <p:extLst>
      <p:ext uri="{BB962C8B-B14F-4D97-AF65-F5344CB8AC3E}">
        <p14:creationId xmlns:p14="http://schemas.microsoft.com/office/powerpoint/2010/main" val="39694486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6"/>
          <p:cNvSpPr>
            <a:spLocks noGrp="1"/>
          </p:cNvSpPr>
          <p:nvPr>
            <p:ph idx="1"/>
          </p:nvPr>
        </p:nvSpPr>
        <p:spPr>
          <a:xfrm>
            <a:off x="0" y="304800"/>
            <a:ext cx="7499350" cy="5867400"/>
          </a:xfrm>
        </p:spPr>
        <p:txBody>
          <a:bodyPr/>
          <a:lstStyle/>
          <a:p>
            <a:pPr marL="82550" indent="0">
              <a:buFont typeface="Wingdings 2" panose="05020102010507070707" pitchFamily="18" charset="2"/>
              <a:buNone/>
            </a:pPr>
            <a:r>
              <a:rPr lang="vi-VN" sz="2800" b="1" dirty="0">
                <a:solidFill>
                  <a:schemeClr val="accent1"/>
                </a:solidFill>
              </a:rPr>
              <a:t>Ph</a:t>
            </a:r>
            <a:r>
              <a:rPr lang="en-US" sz="2800" b="1" dirty="0">
                <a:solidFill>
                  <a:schemeClr val="accent1"/>
                </a:solidFill>
              </a:rPr>
              <a:t>ư</a:t>
            </a:r>
            <a:r>
              <a:rPr lang="vi-VN" sz="2800" b="1" dirty="0">
                <a:solidFill>
                  <a:schemeClr val="accent1"/>
                </a:solidFill>
              </a:rPr>
              <a:t>ơng pháp Quine-McCluskey tìm dạng tổng chuẩn tắc tối thiểu: </a:t>
            </a:r>
            <a:endParaRPr lang="en-US" sz="2800" b="1" dirty="0">
              <a:solidFill>
                <a:schemeClr val="accent1"/>
              </a:solidFill>
            </a:endParaRPr>
          </a:p>
          <a:p>
            <a:pPr marL="82550" indent="0">
              <a:buFont typeface="Wingdings 2" panose="05020102010507070707" pitchFamily="18" charset="2"/>
              <a:buNone/>
            </a:pPr>
            <a:r>
              <a:rPr lang="en-US" sz="2800" b="1" dirty="0"/>
              <a:t>	</a:t>
            </a:r>
            <a:r>
              <a:rPr lang="en-US" sz="2800" b="1" dirty="0" err="1"/>
              <a:t>Bước</a:t>
            </a:r>
            <a:r>
              <a:rPr lang="en-US" sz="2800" b="1" dirty="0"/>
              <a:t> 1: </a:t>
            </a:r>
            <a:r>
              <a:rPr lang="en-US" sz="2800" dirty="0" err="1"/>
              <a:t>Phát</a:t>
            </a:r>
            <a:r>
              <a:rPr lang="en-US" sz="2800" dirty="0"/>
              <a:t> </a:t>
            </a:r>
            <a:r>
              <a:rPr lang="en-US" sz="2800" dirty="0" err="1"/>
              <a:t>hiện</a:t>
            </a:r>
            <a:r>
              <a:rPr lang="en-US" sz="2800" dirty="0"/>
              <a:t> </a:t>
            </a:r>
            <a:r>
              <a:rPr lang="en-US" sz="2800" dirty="0" err="1"/>
              <a:t>tất</a:t>
            </a:r>
            <a:r>
              <a:rPr lang="en-US" sz="2800" dirty="0"/>
              <a:t> </a:t>
            </a:r>
            <a:r>
              <a:rPr lang="en-US" sz="2800" dirty="0" err="1"/>
              <a:t>cả</a:t>
            </a:r>
            <a:r>
              <a:rPr lang="en-US" sz="2800" dirty="0"/>
              <a:t> </a:t>
            </a:r>
            <a:r>
              <a:rPr lang="en-US" sz="2800" dirty="0" err="1"/>
              <a:t>các</a:t>
            </a:r>
            <a:r>
              <a:rPr lang="en-US" sz="2800" dirty="0"/>
              <a:t> </a:t>
            </a:r>
            <a:r>
              <a:rPr lang="en-US" sz="2800" dirty="0" err="1"/>
              <a:t>nguyên</a:t>
            </a:r>
            <a:r>
              <a:rPr lang="en-US" sz="2800" dirty="0"/>
              <a:t> </a:t>
            </a:r>
            <a:r>
              <a:rPr lang="en-US" sz="2800" dirty="0" err="1"/>
              <a:t>nhân</a:t>
            </a:r>
            <a:r>
              <a:rPr lang="en-US" sz="2800" dirty="0"/>
              <a:t> </a:t>
            </a:r>
            <a:r>
              <a:rPr lang="en-US" sz="2800" dirty="0" err="1">
                <a:solidFill>
                  <a:schemeClr val="accent5"/>
                </a:solidFill>
              </a:rPr>
              <a:t>nguyên</a:t>
            </a:r>
            <a:r>
              <a:rPr lang="en-US" sz="2800" dirty="0">
                <a:solidFill>
                  <a:schemeClr val="accent5"/>
                </a:solidFill>
              </a:rPr>
              <a:t> </a:t>
            </a:r>
            <a:r>
              <a:rPr lang="en-US" sz="2800" dirty="0" err="1">
                <a:solidFill>
                  <a:schemeClr val="accent5"/>
                </a:solidFill>
              </a:rPr>
              <a:t>tố</a:t>
            </a:r>
            <a:r>
              <a:rPr lang="en-US" sz="2800" dirty="0">
                <a:solidFill>
                  <a:schemeClr val="accent5"/>
                </a:solidFill>
              </a:rPr>
              <a:t> </a:t>
            </a:r>
            <a:r>
              <a:rPr lang="en-US" sz="2800" dirty="0" err="1">
                <a:solidFill>
                  <a:schemeClr val="accent5"/>
                </a:solidFill>
              </a:rPr>
              <a:t>cốt</a:t>
            </a:r>
            <a:r>
              <a:rPr lang="en-US" sz="2800" dirty="0">
                <a:solidFill>
                  <a:schemeClr val="accent5"/>
                </a:solidFill>
              </a:rPr>
              <a:t> </a:t>
            </a:r>
            <a:r>
              <a:rPr lang="en-US" sz="2800" dirty="0" err="1">
                <a:solidFill>
                  <a:schemeClr val="accent5"/>
                </a:solidFill>
              </a:rPr>
              <a:t>yếu</a:t>
            </a:r>
            <a:r>
              <a:rPr lang="en-US" sz="2800" dirty="0"/>
              <a:t>. </a:t>
            </a:r>
          </a:p>
          <a:p>
            <a:pPr marL="82550" indent="0">
              <a:buFont typeface="Wingdings 2" panose="05020102010507070707" pitchFamily="18" charset="2"/>
              <a:buNone/>
            </a:pPr>
            <a:r>
              <a:rPr lang="en-US" sz="2800" b="1" dirty="0"/>
              <a:t>	</a:t>
            </a:r>
            <a:r>
              <a:rPr lang="vi-VN" sz="2800" b="1" dirty="0"/>
              <a:t>B</a:t>
            </a:r>
            <a:r>
              <a:rPr lang="en-US" sz="2800" b="1" dirty="0"/>
              <a:t>ư</a:t>
            </a:r>
            <a:r>
              <a:rPr lang="vi-VN" sz="2800" b="1" dirty="0"/>
              <a:t>ớc 2: </a:t>
            </a:r>
            <a:r>
              <a:rPr lang="vi-VN" sz="2800" dirty="0"/>
              <a:t>Xoá tất cả các cột được phủ bởi các nguyên nhân nguyên tố cốt yếu. </a:t>
            </a:r>
          </a:p>
          <a:p>
            <a:pPr marL="82550" indent="0">
              <a:buFont typeface="Wingdings 2" panose="05020102010507070707" pitchFamily="18" charset="2"/>
              <a:buNone/>
            </a:pPr>
            <a:r>
              <a:rPr lang="en-US" sz="2800" b="1" dirty="0"/>
              <a:t>	</a:t>
            </a:r>
            <a:r>
              <a:rPr lang="vi-VN" sz="2800" b="1" dirty="0"/>
              <a:t>B</a:t>
            </a:r>
            <a:r>
              <a:rPr lang="en-US" sz="2800" b="1" dirty="0"/>
              <a:t>ư</a:t>
            </a:r>
            <a:r>
              <a:rPr lang="vi-VN" sz="2800" b="1" dirty="0"/>
              <a:t>ớc 3: </a:t>
            </a:r>
            <a:r>
              <a:rPr lang="vi-VN" sz="2800" dirty="0"/>
              <a:t>Trong bảng còn lại, xoá nốt những dòng không còn dấu + và sau đó nếu có hai cột giống nhau thì xoá bớt một cột. </a:t>
            </a:r>
          </a:p>
          <a:p>
            <a:pPr marL="82550" indent="0">
              <a:buFont typeface="Wingdings 2" panose="05020102010507070707" pitchFamily="18" charset="2"/>
              <a:buNone/>
            </a:pPr>
            <a:r>
              <a:rPr lang="en-US" sz="2800" b="1" dirty="0"/>
              <a:t>	</a:t>
            </a:r>
            <a:r>
              <a:rPr lang="vi-VN" sz="2800" b="1" dirty="0"/>
              <a:t>B</a:t>
            </a:r>
            <a:r>
              <a:rPr lang="en-US" sz="2800" b="1" dirty="0"/>
              <a:t>ư</a:t>
            </a:r>
            <a:r>
              <a:rPr lang="vi-VN" sz="2800" b="1" dirty="0"/>
              <a:t>ớc 4: </a:t>
            </a:r>
            <a:r>
              <a:rPr lang="vi-VN" sz="2800" dirty="0"/>
              <a:t>Sau các bước trên, tìm một hệ S các nguyên nhân nguyên tố với số biến ít nhất phủ các cột còn lại</a:t>
            </a:r>
            <a:r>
              <a:rPr lang="vi-VN" dirty="0"/>
              <a:t>. </a:t>
            </a:r>
            <a:endParaRPr lang="en-US" dirty="0"/>
          </a:p>
        </p:txBody>
      </p:sp>
      <p:sp>
        <p:nvSpPr>
          <p:cNvPr id="3"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4"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5"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53</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5813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Vertic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Vertic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arn(inVertic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arn(inVertical)">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45981343"/>
              </p:ext>
            </p:extLst>
          </p:nvPr>
        </p:nvGraphicFramePr>
        <p:xfrm>
          <a:off x="381000" y="2362200"/>
          <a:ext cx="7044264" cy="2209800"/>
        </p:xfrm>
        <a:graphic>
          <a:graphicData uri="http://schemas.openxmlformats.org/drawingml/2006/table">
            <a:tbl>
              <a:tblPr firstRow="1" bandRow="1">
                <a:tableStyleId>{5C22544A-7EE6-4342-B048-85BDC9FD1C3A}</a:tableStyleId>
              </a:tblPr>
              <a:tblGrid>
                <a:gridCol w="880533">
                  <a:extLst>
                    <a:ext uri="{9D8B030D-6E8A-4147-A177-3AD203B41FA5}">
                      <a16:colId xmlns:a16="http://schemas.microsoft.com/office/drawing/2014/main" val="20000"/>
                    </a:ext>
                  </a:extLst>
                </a:gridCol>
                <a:gridCol w="880533">
                  <a:extLst>
                    <a:ext uri="{9D8B030D-6E8A-4147-A177-3AD203B41FA5}">
                      <a16:colId xmlns:a16="http://schemas.microsoft.com/office/drawing/2014/main" val="20001"/>
                    </a:ext>
                  </a:extLst>
                </a:gridCol>
                <a:gridCol w="880533">
                  <a:extLst>
                    <a:ext uri="{9D8B030D-6E8A-4147-A177-3AD203B41FA5}">
                      <a16:colId xmlns:a16="http://schemas.microsoft.com/office/drawing/2014/main" val="20002"/>
                    </a:ext>
                  </a:extLst>
                </a:gridCol>
                <a:gridCol w="863598">
                  <a:extLst>
                    <a:ext uri="{9D8B030D-6E8A-4147-A177-3AD203B41FA5}">
                      <a16:colId xmlns:a16="http://schemas.microsoft.com/office/drawing/2014/main" val="20003"/>
                    </a:ext>
                  </a:extLst>
                </a:gridCol>
                <a:gridCol w="897468">
                  <a:extLst>
                    <a:ext uri="{9D8B030D-6E8A-4147-A177-3AD203B41FA5}">
                      <a16:colId xmlns:a16="http://schemas.microsoft.com/office/drawing/2014/main" val="20004"/>
                    </a:ext>
                  </a:extLst>
                </a:gridCol>
                <a:gridCol w="880533">
                  <a:extLst>
                    <a:ext uri="{9D8B030D-6E8A-4147-A177-3AD203B41FA5}">
                      <a16:colId xmlns:a16="http://schemas.microsoft.com/office/drawing/2014/main" val="20005"/>
                    </a:ext>
                  </a:extLst>
                </a:gridCol>
                <a:gridCol w="880533">
                  <a:extLst>
                    <a:ext uri="{9D8B030D-6E8A-4147-A177-3AD203B41FA5}">
                      <a16:colId xmlns:a16="http://schemas.microsoft.com/office/drawing/2014/main" val="20006"/>
                    </a:ext>
                  </a:extLst>
                </a:gridCol>
                <a:gridCol w="880533">
                  <a:extLst>
                    <a:ext uri="{9D8B030D-6E8A-4147-A177-3AD203B41FA5}">
                      <a16:colId xmlns:a16="http://schemas.microsoft.com/office/drawing/2014/main" val="20007"/>
                    </a:ext>
                  </a:extLst>
                </a:gridCol>
              </a:tblGrid>
              <a:tr h="552450">
                <a:tc>
                  <a:txBody>
                    <a:bodyPr/>
                    <a:lstStyle/>
                    <a:p>
                      <a:endParaRPr lang="en-US" dirty="0"/>
                    </a:p>
                  </a:txBody>
                  <a:tcPr/>
                </a:tc>
                <a:tc>
                  <a:txBody>
                    <a:bodyPr/>
                    <a:lstStyle/>
                    <a:p>
                      <a:endParaRPr lang="en-US"/>
                    </a:p>
                  </a:txBody>
                  <a:tcPr>
                    <a:blipFill rotWithShape="1">
                      <a:blip r:embed="rId2"/>
                      <a:stretch>
                        <a:fillRect l="-100694" t="-6593" r="-602083" b="-297802"/>
                      </a:stretch>
                    </a:blipFill>
                  </a:tcPr>
                </a:tc>
                <a:tc>
                  <a:txBody>
                    <a:bodyPr/>
                    <a:lstStyle/>
                    <a:p>
                      <a:endParaRPr lang="en-US"/>
                    </a:p>
                  </a:txBody>
                  <a:tcPr>
                    <a:blipFill rotWithShape="1">
                      <a:blip r:embed="rId2"/>
                      <a:stretch>
                        <a:fillRect l="-199310" t="-6593" r="-497931" b="-297802"/>
                      </a:stretch>
                    </a:blipFill>
                  </a:tcPr>
                </a:tc>
                <a:tc>
                  <a:txBody>
                    <a:bodyPr/>
                    <a:lstStyle/>
                    <a:p>
                      <a:endParaRPr lang="en-US"/>
                    </a:p>
                  </a:txBody>
                  <a:tcPr>
                    <a:blipFill rotWithShape="1">
                      <a:blip r:embed="rId2"/>
                      <a:stretch>
                        <a:fillRect l="-307801" t="-6593" r="-412057" b="-297802"/>
                      </a:stretch>
                    </a:blipFill>
                  </a:tcPr>
                </a:tc>
                <a:tc>
                  <a:txBody>
                    <a:bodyPr/>
                    <a:lstStyle/>
                    <a:p>
                      <a:endParaRPr lang="en-US"/>
                    </a:p>
                  </a:txBody>
                  <a:tcPr>
                    <a:blipFill rotWithShape="1">
                      <a:blip r:embed="rId2"/>
                      <a:stretch>
                        <a:fillRect l="-388514" t="-6593" r="-292568" b="-297802"/>
                      </a:stretch>
                    </a:blipFill>
                  </a:tcPr>
                </a:tc>
                <a:tc>
                  <a:txBody>
                    <a:bodyPr/>
                    <a:lstStyle/>
                    <a:p>
                      <a:endParaRPr lang="en-US"/>
                    </a:p>
                  </a:txBody>
                  <a:tcPr>
                    <a:blipFill rotWithShape="1">
                      <a:blip r:embed="rId2"/>
                      <a:stretch>
                        <a:fillRect l="-502083" t="-6593" r="-200694" b="-297802"/>
                      </a:stretch>
                    </a:blipFill>
                  </a:tcPr>
                </a:tc>
                <a:tc>
                  <a:txBody>
                    <a:bodyPr/>
                    <a:lstStyle/>
                    <a:p>
                      <a:endParaRPr lang="en-US"/>
                    </a:p>
                  </a:txBody>
                  <a:tcPr>
                    <a:blipFill rotWithShape="1">
                      <a:blip r:embed="rId2"/>
                      <a:stretch>
                        <a:fillRect l="-597931" t="-6593" r="-99310" b="-297802"/>
                      </a:stretch>
                    </a:blipFill>
                  </a:tcPr>
                </a:tc>
                <a:tc>
                  <a:txBody>
                    <a:bodyPr/>
                    <a:lstStyle/>
                    <a:p>
                      <a:r>
                        <a:rPr lang="en-US" b="0" i="0" dirty="0" err="1"/>
                        <a:t>wxyz</a:t>
                      </a:r>
                      <a:endParaRPr lang="en-US" b="0" i="0" dirty="0"/>
                    </a:p>
                  </a:txBody>
                  <a:tcPr/>
                </a:tc>
                <a:extLst>
                  <a:ext uri="{0D108BD9-81ED-4DB2-BD59-A6C34878D82A}">
                    <a16:rowId xmlns:a16="http://schemas.microsoft.com/office/drawing/2014/main" val="10000"/>
                  </a:ext>
                </a:extLst>
              </a:tr>
              <a:tr h="552450">
                <a:tc>
                  <a:txBody>
                    <a:bodyPr/>
                    <a:lstStyle/>
                    <a:p>
                      <a:endParaRPr lang="en-US"/>
                    </a:p>
                  </a:txBody>
                  <a:tcPr>
                    <a:blipFill rotWithShape="1">
                      <a:blip r:embed="rId2"/>
                      <a:stretch>
                        <a:fillRect t="-107778" r="-697241" b="-201111"/>
                      </a:stretch>
                    </a:blipFill>
                  </a:tcPr>
                </a:tc>
                <a:tc>
                  <a:txBody>
                    <a:bodyPr/>
                    <a:lstStyle/>
                    <a:p>
                      <a:pPr algn="ctr"/>
                      <a:r>
                        <a:rPr lang="en-US" dirty="0"/>
                        <a:t>+</a:t>
                      </a:r>
                    </a:p>
                  </a:txBody>
                  <a:tcPr/>
                </a:tc>
                <a:tc>
                  <a:txBody>
                    <a:bodyPr/>
                    <a:lstStyle/>
                    <a:p>
                      <a:pPr algn="ctr"/>
                      <a:r>
                        <a:rPr lang="en-US" dirty="0">
                          <a:solidFill>
                            <a:schemeClr val="accent5"/>
                          </a:solidFill>
                        </a:rPr>
                        <a:t>+</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a:p>
                  </a:txBody>
                  <a:tcPr/>
                </a:tc>
                <a:tc>
                  <a:txBody>
                    <a:bodyPr/>
                    <a:lstStyle/>
                    <a:p>
                      <a:pPr algn="ctr"/>
                      <a:r>
                        <a:rPr lang="en-US"/>
                        <a:t>+</a:t>
                      </a:r>
                    </a:p>
                  </a:txBody>
                  <a:tcPr/>
                </a:tc>
                <a:tc>
                  <a:txBody>
                    <a:bodyPr/>
                    <a:lstStyle/>
                    <a:p>
                      <a:pPr algn="ctr"/>
                      <a:endParaRPr lang="en-US"/>
                    </a:p>
                  </a:txBody>
                  <a:tcPr/>
                </a:tc>
                <a:extLst>
                  <a:ext uri="{0D108BD9-81ED-4DB2-BD59-A6C34878D82A}">
                    <a16:rowId xmlns:a16="http://schemas.microsoft.com/office/drawing/2014/main" val="10001"/>
                  </a:ext>
                </a:extLst>
              </a:tr>
              <a:tr h="552450">
                <a:tc>
                  <a:txBody>
                    <a:bodyPr/>
                    <a:lstStyle/>
                    <a:p>
                      <a:endParaRPr lang="en-US"/>
                    </a:p>
                  </a:txBody>
                  <a:tcPr>
                    <a:blipFill rotWithShape="1">
                      <a:blip r:embed="rId2"/>
                      <a:stretch>
                        <a:fillRect t="-205495" r="-697241" b="-98901"/>
                      </a:stretch>
                    </a:blipFill>
                  </a:tcPr>
                </a:tc>
                <a:tc>
                  <a:txBody>
                    <a:bodyPr/>
                    <a:lstStyle/>
                    <a:p>
                      <a:pPr algn="ctr"/>
                      <a:r>
                        <a:rPr lang="en-US" dirty="0"/>
                        <a:t>+</a:t>
                      </a:r>
                    </a:p>
                  </a:txBody>
                  <a:tcPr/>
                </a:tc>
                <a:tc>
                  <a:txBody>
                    <a:bodyPr/>
                    <a:lstStyle/>
                    <a:p>
                      <a:pPr algn="ctr"/>
                      <a:endParaRPr lang="en-US"/>
                    </a:p>
                  </a:txBody>
                  <a:tcPr/>
                </a:tc>
                <a:tc>
                  <a:txBody>
                    <a:bodyPr/>
                    <a:lstStyle/>
                    <a:p>
                      <a:pPr algn="ctr"/>
                      <a:r>
                        <a:rPr lang="en-US" dirty="0"/>
                        <a:t>+</a:t>
                      </a:r>
                    </a:p>
                  </a:txBody>
                  <a:tcPr/>
                </a:tc>
                <a:tc>
                  <a:txBody>
                    <a:bodyPr/>
                    <a:lstStyle/>
                    <a:p>
                      <a:pPr algn="ctr"/>
                      <a:r>
                        <a:rPr lang="en-US" dirty="0">
                          <a:solidFill>
                            <a:schemeClr val="accent5"/>
                          </a:solidFill>
                        </a:rPr>
                        <a:t>+</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a:p>
                  </a:txBody>
                  <a:tcPr/>
                </a:tc>
                <a:extLst>
                  <a:ext uri="{0D108BD9-81ED-4DB2-BD59-A6C34878D82A}">
                    <a16:rowId xmlns:a16="http://schemas.microsoft.com/office/drawing/2014/main" val="10002"/>
                  </a:ext>
                </a:extLst>
              </a:tr>
              <a:tr h="552450">
                <a:tc>
                  <a:txBody>
                    <a:bodyPr/>
                    <a:lstStyle/>
                    <a:p>
                      <a:endParaRPr lang="en-US"/>
                    </a:p>
                  </a:txBody>
                  <a:tcPr>
                    <a:blipFill rotWithShape="1">
                      <a:blip r:embed="rId2"/>
                      <a:stretch>
                        <a:fillRect t="-308889" r="-697241"/>
                      </a:stretch>
                    </a:blipFill>
                  </a:tcPr>
                </a:tc>
                <a:tc>
                  <a:txBody>
                    <a:bodyPr/>
                    <a:lstStyle/>
                    <a:p>
                      <a:pPr algn="ctr"/>
                      <a:endParaRPr lang="en-US" dirty="0"/>
                    </a:p>
                  </a:txBody>
                  <a:tcPr/>
                </a:tc>
                <a:tc>
                  <a:txBody>
                    <a:bodyPr/>
                    <a:lstStyle/>
                    <a:p>
                      <a:pPr algn="ctr"/>
                      <a:endParaRPr lang="en-US"/>
                    </a:p>
                  </a:txBody>
                  <a:tcPr/>
                </a:tc>
                <a:tc>
                  <a:txBody>
                    <a:bodyPr/>
                    <a:lstStyle/>
                    <a:p>
                      <a:pPr algn="ctr"/>
                      <a:r>
                        <a:rPr lang="en-US" dirty="0"/>
                        <a:t>+</a:t>
                      </a:r>
                    </a:p>
                  </a:txBody>
                  <a:tcPr/>
                </a:tc>
                <a:tc>
                  <a:txBody>
                    <a:bodyPr/>
                    <a:lstStyle/>
                    <a:p>
                      <a:pPr algn="ctr"/>
                      <a:endParaRPr lang="en-US"/>
                    </a:p>
                  </a:txBody>
                  <a:tcPr/>
                </a:tc>
                <a:tc>
                  <a:txBody>
                    <a:bodyPr/>
                    <a:lstStyle/>
                    <a:p>
                      <a:pPr algn="ctr"/>
                      <a:r>
                        <a:rPr lang="en-US" dirty="0"/>
                        <a:t>+</a:t>
                      </a:r>
                    </a:p>
                  </a:txBody>
                  <a:tcPr/>
                </a:tc>
                <a:tc>
                  <a:txBody>
                    <a:bodyPr/>
                    <a:lstStyle/>
                    <a:p>
                      <a:pPr algn="ctr"/>
                      <a:r>
                        <a:rPr lang="en-US" dirty="0"/>
                        <a:t>+</a:t>
                      </a:r>
                    </a:p>
                  </a:txBody>
                  <a:tcPr/>
                </a:tc>
                <a:tc>
                  <a:txBody>
                    <a:bodyPr/>
                    <a:lstStyle/>
                    <a:p>
                      <a:pPr algn="ctr"/>
                      <a:r>
                        <a:rPr lang="en-US" dirty="0">
                          <a:solidFill>
                            <a:schemeClr val="accent5"/>
                          </a:solidFill>
                        </a:rPr>
                        <a:t>+</a:t>
                      </a:r>
                    </a:p>
                  </a:txBody>
                  <a:tcP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2" y="228600"/>
            <a:ext cx="7613275" cy="19383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255" y="4724400"/>
            <a:ext cx="5869963" cy="828988"/>
          </a:xfrm>
          <a:prstGeom prst="rect">
            <a:avLst/>
          </a:prstGeom>
        </p:spPr>
      </p:pic>
      <p:sp>
        <p:nvSpPr>
          <p:cNvPr id="7" name="Date Placeholder 2"/>
          <p:cNvSpPr>
            <a:spLocks noGrp="1"/>
          </p:cNvSpPr>
          <p:nvPr>
            <p:ph type="dt" sz="half" idx="10"/>
          </p:nvPr>
        </p:nvSpPr>
        <p:spPr>
          <a:xfrm>
            <a:off x="0" y="6492875"/>
            <a:ext cx="1341967" cy="365125"/>
          </a:xfrm>
        </p:spPr>
        <p:txBody>
          <a:bodyPr/>
          <a:lstStyle/>
          <a:p>
            <a:fld id="{2427EAB0-2476-4074-8F6C-AB2A1AC3F0F9}" type="datetime1">
              <a:rPr lang="en-US" sz="2000" smtClean="0">
                <a:solidFill>
                  <a:schemeClr val="tx2"/>
                </a:solidFill>
                <a:latin typeface="Times New Roman" panose="02020603050405020304" pitchFamily="18" charset="0"/>
                <a:cs typeface="Times New Roman" panose="02020603050405020304" pitchFamily="18" charset="0"/>
              </a:rPr>
              <a:t>11/10/2024</a:t>
            </a:fld>
            <a:endParaRPr lang="en-US" sz="2000">
              <a:solidFill>
                <a:schemeClr val="tx2"/>
              </a:solidFill>
              <a:latin typeface="Times New Roman" panose="02020603050405020304" pitchFamily="18" charset="0"/>
              <a:cs typeface="Times New Roman" panose="02020603050405020304" pitchFamily="18" charset="0"/>
            </a:endParaRPr>
          </a:p>
        </p:txBody>
      </p:sp>
      <p:sp>
        <p:nvSpPr>
          <p:cNvPr id="8" name="Footer Placeholder 5"/>
          <p:cNvSpPr>
            <a:spLocks noGrp="1"/>
          </p:cNvSpPr>
          <p:nvPr>
            <p:ph type="ftr" sz="quarter" idx="11"/>
          </p:nvPr>
        </p:nvSpPr>
        <p:spPr>
          <a:xfrm>
            <a:off x="3505200" y="6492875"/>
            <a:ext cx="1761066"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Đại Số Boole</a:t>
            </a:r>
          </a:p>
        </p:txBody>
      </p:sp>
      <p:sp>
        <p:nvSpPr>
          <p:cNvPr id="9" name="Slide Number Placeholder 6"/>
          <p:cNvSpPr>
            <a:spLocks noGrp="1"/>
          </p:cNvSpPr>
          <p:nvPr>
            <p:ph type="sldNum" sz="quarter" idx="12"/>
          </p:nvPr>
        </p:nvSpPr>
        <p:spPr>
          <a:xfrm>
            <a:off x="7924800" y="6492874"/>
            <a:ext cx="1146002" cy="365125"/>
          </a:xfrm>
        </p:spPr>
        <p:txBody>
          <a:bodyPr/>
          <a:lstStyle/>
          <a:p>
            <a:r>
              <a:rPr lang="en-US" sz="2000">
                <a:solidFill>
                  <a:schemeClr val="tx2"/>
                </a:solidFill>
                <a:latin typeface="Times New Roman" panose="02020603050405020304" pitchFamily="18" charset="0"/>
                <a:cs typeface="Times New Roman" panose="02020603050405020304" pitchFamily="18" charset="0"/>
              </a:rPr>
              <a:t>Trang </a:t>
            </a:r>
            <a:fld id="{8F363797-7495-404A-BEF8-43617C67D576}" type="slidenum">
              <a:rPr lang="en-US" sz="2000" smtClean="0">
                <a:solidFill>
                  <a:schemeClr val="tx2"/>
                </a:solidFill>
                <a:latin typeface="Times New Roman" panose="02020603050405020304" pitchFamily="18" charset="0"/>
                <a:cs typeface="Times New Roman" panose="02020603050405020304" pitchFamily="18" charset="0"/>
              </a:rPr>
              <a:t>54</a:t>
            </a:fld>
            <a:endParaRPr lang="en-US" sz="20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96851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CE365F-B2EB-A507-5B18-B25E8DCE3FA7}"/>
              </a:ext>
            </a:extLst>
          </p:cNvPr>
          <p:cNvPicPr>
            <a:picLocks noChangeAspect="1"/>
          </p:cNvPicPr>
          <p:nvPr/>
        </p:nvPicPr>
        <p:blipFill>
          <a:blip r:embed="rId2"/>
          <a:stretch>
            <a:fillRect/>
          </a:stretch>
        </p:blipFill>
        <p:spPr>
          <a:xfrm>
            <a:off x="0" y="1432160"/>
            <a:ext cx="9144000" cy="3993680"/>
          </a:xfrm>
          <a:prstGeom prst="rect">
            <a:avLst/>
          </a:prstGeom>
        </p:spPr>
      </p:pic>
    </p:spTree>
    <p:extLst>
      <p:ext uri="{BB962C8B-B14F-4D97-AF65-F5344CB8AC3E}">
        <p14:creationId xmlns:p14="http://schemas.microsoft.com/office/powerpoint/2010/main" val="22737432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079F-BC59-D02B-394F-8799F83744E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6B5F25-F149-8ADB-5176-D227B997CA9E}"/>
              </a:ext>
            </a:extLst>
          </p:cNvPr>
          <p:cNvPicPr>
            <a:picLocks noChangeAspect="1"/>
          </p:cNvPicPr>
          <p:nvPr/>
        </p:nvPicPr>
        <p:blipFill>
          <a:blip r:embed="rId2"/>
          <a:stretch>
            <a:fillRect/>
          </a:stretch>
        </p:blipFill>
        <p:spPr>
          <a:xfrm>
            <a:off x="0" y="1390338"/>
            <a:ext cx="9144000" cy="4077324"/>
          </a:xfrm>
          <a:prstGeom prst="rect">
            <a:avLst/>
          </a:prstGeom>
        </p:spPr>
      </p:pic>
    </p:spTree>
    <p:extLst>
      <p:ext uri="{BB962C8B-B14F-4D97-AF65-F5344CB8AC3E}">
        <p14:creationId xmlns:p14="http://schemas.microsoft.com/office/powerpoint/2010/main" val="9113814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5EAA2-D043-C27B-F51D-1D8D68B816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4EE73A-058F-ED94-3DB1-DF276A3214D5}"/>
              </a:ext>
            </a:extLst>
          </p:cNvPr>
          <p:cNvPicPr>
            <a:picLocks noChangeAspect="1"/>
          </p:cNvPicPr>
          <p:nvPr/>
        </p:nvPicPr>
        <p:blipFill>
          <a:blip r:embed="rId2"/>
          <a:stretch>
            <a:fillRect/>
          </a:stretch>
        </p:blipFill>
        <p:spPr>
          <a:xfrm>
            <a:off x="0" y="1316789"/>
            <a:ext cx="9144000" cy="4224421"/>
          </a:xfrm>
          <a:prstGeom prst="rect">
            <a:avLst/>
          </a:prstGeom>
        </p:spPr>
      </p:pic>
    </p:spTree>
    <p:extLst>
      <p:ext uri="{BB962C8B-B14F-4D97-AF65-F5344CB8AC3E}">
        <p14:creationId xmlns:p14="http://schemas.microsoft.com/office/powerpoint/2010/main" val="25154240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B892-3CA8-DE60-0D63-081D8D046A5C}"/>
            </a:ext>
          </a:extLst>
        </p:cNvPr>
        <p:cNvGrpSpPr/>
        <p:nvPr/>
      </p:nvGrpSpPr>
      <p:grpSpPr>
        <a:xfrm>
          <a:off x="0" y="0"/>
          <a:ext cx="0" cy="0"/>
          <a:chOff x="0" y="0"/>
          <a:chExt cx="0" cy="0"/>
        </a:xfrm>
      </p:grpSpPr>
    </p:spTree>
    <p:extLst>
      <p:ext uri="{BB962C8B-B14F-4D97-AF65-F5344CB8AC3E}">
        <p14:creationId xmlns:p14="http://schemas.microsoft.com/office/powerpoint/2010/main" val="8769321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3367</TotalTime>
  <Words>2736</Words>
  <Application>Microsoft Office PowerPoint</Application>
  <PresentationFormat>On-screen Show (4:3)</PresentationFormat>
  <Paragraphs>496</Paragraphs>
  <Slides>58</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Arial</vt:lpstr>
      <vt:lpstr>Cambria Math</vt:lpstr>
      <vt:lpstr>Courier New</vt:lpstr>
      <vt:lpstr>Symbol</vt:lpstr>
      <vt:lpstr>Tahoma</vt:lpstr>
      <vt:lpstr>Times New Roman</vt:lpstr>
      <vt:lpstr>Trebuchet MS</vt:lpstr>
      <vt:lpstr>Wingdings</vt:lpstr>
      <vt:lpstr>Wingdings 2</vt:lpstr>
      <vt:lpstr>Wingdings 3</vt:lpstr>
      <vt:lpstr>Facet</vt:lpstr>
      <vt:lpstr>Mã Gray (Gray Code)</vt:lpstr>
      <vt:lpstr>PowerPoint Presentation</vt:lpstr>
      <vt:lpstr>PowerPoint Presentation</vt:lpstr>
      <vt:lpstr>Bản đồ Karnaugh</vt:lpstr>
      <vt:lpstr>PowerPoint Presentation</vt:lpstr>
      <vt:lpstr>Xây dựng bản đồ: </vt:lpstr>
      <vt:lpstr>Xây dựng bản đồ theo mã Gray</vt:lpstr>
      <vt:lpstr>PowerPoint Presentation</vt:lpstr>
      <vt:lpstr>Quy tắc gom nhóm: </vt:lpstr>
      <vt:lpstr>Karnaugh 2 biến </vt:lpstr>
      <vt:lpstr>Karnaugh 2 biến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Phủ tối tiểu của một tập</vt:lpstr>
      <vt:lpstr>PowerPoint Presentation</vt:lpstr>
      <vt:lpstr>Ví dụ</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Xây dựng bản đồ theo mã Gray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Nguyen Kim Khoang</dc:creator>
  <cp:lastModifiedBy>Trang Nguyen Thuy</cp:lastModifiedBy>
  <cp:revision>504</cp:revision>
  <dcterms:created xsi:type="dcterms:W3CDTF">2007-05-12T16:09:44Z</dcterms:created>
  <dcterms:modified xsi:type="dcterms:W3CDTF">2024-11-10T13:28:34Z</dcterms:modified>
</cp:coreProperties>
</file>